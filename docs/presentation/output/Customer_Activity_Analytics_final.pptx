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exercise produced a product result and a delivery-system result.</a:t>
            </a:r>
            <a:endParaRPr sz="1400"/>
          </a:p>
          <a:p>
            <a:endParaRPr sz="1400"/>
          </a:p>
          <a:p>
            <a:r>
              <a:rPr sz="1400">
                <a:latin typeface="Arial"/>
                <a:ea typeface="Arial"/>
                <a:cs typeface="Arial"/>
              </a:rPr>
              <a:t>SCRIPT</a:t>
            </a:r>
            <a:endParaRPr sz="1400"/>
          </a:p>
          <a:p>
            <a:r>
              <a:rPr sz="1400">
                <a:latin typeface="Arial"/>
                <a:ea typeface="Arial"/>
                <a:cs typeface="Arial"/>
              </a:rPr>
              <a:t>I will start with the answer. Customer Activity Analytics runs a complete customer-activity review path. The same work also exercises a controlled way for one accountable engineer to coordinate several AI agents through specifications, GitHub work state, deterministic checks and review evidence.</a:t>
            </a:r>
            <a:endParaRPr sz="1400"/>
          </a:p>
          <a:p>
            <a:endParaRPr sz="1400"/>
          </a:p>
          <a:p>
            <a:r>
              <a:rPr sz="1400">
                <a:latin typeface="Arial"/>
                <a:ea typeface="Arial"/>
                <a:cs typeface="Arial"/>
              </a:rPr>
              <a:t>DO NOT SAY</a:t>
            </a:r>
            <a:endParaRPr sz="1400"/>
          </a:p>
          <a:p>
            <a:r>
              <a:rPr sz="1400">
                <a:latin typeface="Arial"/>
                <a:ea typeface="Arial"/>
                <a:cs typeface="Arial"/>
              </a:rPr>
              <a:t>Do not start with frameworks, algorithms or issue numbers. Do not claim production readiness.</a:t>
            </a:r>
            <a:endParaRPr sz="1400"/>
          </a:p>
          <a:p>
            <a:endParaRPr sz="1400"/>
          </a:p>
          <a:p>
            <a:r>
              <a:rPr sz="1400">
                <a:latin typeface="Arial"/>
                <a:ea typeface="Arial"/>
                <a:cs typeface="Arial"/>
              </a:rPr>
              <a:t>TRANSITION</a:t>
            </a:r>
            <a:endParaRPr sz="1400"/>
          </a:p>
          <a:p>
            <a:r>
              <a:rPr sz="1400">
                <a:latin typeface="Arial"/>
                <a:ea typeface="Arial"/>
                <a:cs typeface="Arial"/>
              </a:rPr>
              <a:t>The next slide states both results before the supporting detail.</a:t>
            </a:r>
            <a:endParaRPr sz="1400"/>
          </a:p>
          <a:p>
            <a:endParaRPr sz="1400"/>
          </a:p>
          <a:p>
            <a:r>
              <a:rPr sz="1400">
                <a:latin typeface="Arial"/>
                <a:ea typeface="Arial"/>
                <a:cs typeface="Arial"/>
              </a:rPr>
              <a:t>TIME</a:t>
            </a:r>
            <a:endParaRPr sz="1400"/>
          </a:p>
          <a:p>
            <a:r>
              <a:rPr sz="1400">
                <a:latin typeface="Arial"/>
                <a:ea typeface="Arial"/>
                <a:cs typeface="Arial"/>
              </a:rPr>
              <a:t>00:20</a:t>
            </a:r>
            <a:endParaRPr sz="1400"/>
          </a:p>
          <a:p>
            <a:endParaRPr sz="1400"/>
          </a:p>
          <a:p>
            <a:r>
              <a:rPr sz="1400">
                <a:latin typeface="Arial"/>
                <a:ea typeface="Arial"/>
                <a:cs typeface="Arial"/>
              </a:rPr>
              <a:t>LIKELY QUESTION</a:t>
            </a:r>
            <a:endParaRPr sz="1400"/>
          </a:p>
          <a:p>
            <a:r>
              <a:rPr sz="1400">
                <a:latin typeface="Arial"/>
                <a:ea typeface="Arial"/>
                <a:cs typeface="Arial"/>
              </a:rPr>
              <a:t>What exactly did the exercise produce?</a:t>
            </a:r>
            <a:endParaRPr sz="1400"/>
          </a:p>
          <a:p>
            <a:endParaRPr sz="1400"/>
          </a:p>
          <a:p>
            <a:r>
              <a:rPr sz="1400">
                <a:latin typeface="Arial"/>
                <a:ea typeface="Arial"/>
                <a:cs typeface="Arial"/>
              </a:rPr>
              <a:t>DIRECT ANSWER</a:t>
            </a:r>
            <a:endParaRPr sz="1400"/>
          </a:p>
          <a:p>
            <a:r>
              <a:rPr sz="1400">
                <a:latin typeface="Arial"/>
                <a:ea typeface="Arial"/>
                <a:cs typeface="Arial"/>
              </a:rPr>
              <a:t>A production-shaped application demonstrator and a reviewable engineering method for building it with AI assistance.</a:t>
            </a:r>
            <a:endParaRPr sz="1400"/>
          </a:p>
          <a:p>
            <a:endParaRPr sz="1400"/>
          </a:p>
          <a:p>
            <a:r>
              <a:rPr sz="1400">
                <a:latin typeface="Arial"/>
                <a:ea typeface="Arial"/>
                <a:cs typeface="Arial"/>
              </a:rPr>
              <a:t>SOURCES</a:t>
            </a:r>
            <a:endParaRPr sz="1400"/>
          </a:p>
          <a:p>
            <a:r>
              <a:rPr sz="1400">
                <a:latin typeface="Arial"/>
                <a:ea typeface="Arial"/>
                <a:cs typeface="Arial"/>
              </a:rPr>
              <a:t>GitHub issue #229</a:t>
            </a:r>
            <a:endParaRPr sz="1400"/>
          </a:p>
          <a:p>
            <a:r>
              <a:rPr sz="1400">
                <a:latin typeface="Arial"/>
                <a:ea typeface="Arial"/>
                <a:cs typeface="Arial"/>
              </a:rPr>
              <a:t>README.md</a:t>
            </a:r>
            <a:endParaRPr sz="1400"/>
          </a:p>
          <a:p>
            <a:r>
              <a:rPr sz="1400">
                <a:latin typeface="Arial"/>
                <a:ea typeface="Arial"/>
                <a:cs typeface="Arial"/>
              </a:rPr>
              <a:t>docs/assignment/Inception/Inception.md</a:t>
            </a:r>
            <a:endParaRPr sz="1400"/>
          </a:p>
          <a:p>
            <a:r>
              <a:rPr sz="1400">
                <a:latin typeface="Arial"/>
                <a:ea typeface="Arial"/>
                <a:cs typeface="Arial"/>
              </a:rPr>
              <a:t>https://barbaraminto.com/</a:t>
            </a:r>
            <a:endParaRPr sz="1400"/>
          </a:p>
          <a:p>
            <a:r>
              <a:rPr sz="1400">
                <a:latin typeface="Arial"/>
                <a:ea typeface="Arial"/>
                <a:cs typeface="Arial"/>
              </a:rPr>
              <a:t>https://www.assertion-evidence.com/</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Two results answer the exercise before any architecture detail.</a:t>
            </a:r>
            <a:endParaRPr sz="1400"/>
          </a:p>
          <a:p>
            <a:endParaRPr sz="1400"/>
          </a:p>
          <a:p>
            <a:r>
              <a:rPr sz="1400">
                <a:latin typeface="Arial"/>
                <a:ea typeface="Arial"/>
                <a:cs typeface="Arial"/>
              </a:rPr>
              <a:t>SCRIPT</a:t>
            </a:r>
            <a:endParaRPr sz="1400"/>
          </a:p>
          <a:p>
            <a:r>
              <a:rPr sz="1400">
                <a:latin typeface="Arial"/>
                <a:ea typeface="Arial"/>
                <a:cs typeface="Arial"/>
              </a:rPr>
              <a:t>The first result is visible in the browser. The second is visible in the repository and its GitHub work graph. The two belong together because a financial-services demonstration needs reviewable evidence for both the recommendation and the way the software change was accepted.</a:t>
            </a:r>
            <a:endParaRPr sz="1400"/>
          </a:p>
          <a:p>
            <a:endParaRPr sz="1400"/>
          </a:p>
          <a:p>
            <a:r>
              <a:rPr sz="1400">
                <a:latin typeface="Arial"/>
                <a:ea typeface="Arial"/>
                <a:cs typeface="Arial"/>
              </a:rPr>
              <a:t>DO NOT SAY</a:t>
            </a:r>
            <a:endParaRPr sz="1400"/>
          </a:p>
          <a:p>
            <a:r>
              <a:rPr sz="1400">
                <a:latin typeface="Arial"/>
                <a:ea typeface="Arial"/>
                <a:cs typeface="Arial"/>
              </a:rPr>
              <a:t>Do not imply that AI agents accept their own work. The human accepts the change and the operator retains the decision.</a:t>
            </a:r>
            <a:endParaRPr sz="1400"/>
          </a:p>
          <a:p>
            <a:endParaRPr sz="1400"/>
          </a:p>
          <a:p>
            <a:r>
              <a:rPr sz="1400">
                <a:latin typeface="Arial"/>
                <a:ea typeface="Arial"/>
                <a:cs typeface="Arial"/>
              </a:rPr>
              <a:t>TRANSITION</a:t>
            </a:r>
            <a:endParaRPr sz="1400"/>
          </a:p>
          <a:p>
            <a:r>
              <a:rPr sz="1400">
                <a:latin typeface="Arial"/>
                <a:ea typeface="Arial"/>
                <a:cs typeface="Arial"/>
              </a:rPr>
              <a:t>I will first show the operator loop, then explain the trust architecture and finally the delivery control plane.</a:t>
            </a:r>
            <a:endParaRPr sz="1400"/>
          </a:p>
          <a:p>
            <a:endParaRPr sz="1400"/>
          </a:p>
          <a:p>
            <a:r>
              <a:rPr sz="1400">
                <a:latin typeface="Arial"/>
                <a:ea typeface="Arial"/>
                <a:cs typeface="Arial"/>
              </a:rPr>
              <a:t>TIME</a:t>
            </a:r>
            <a:endParaRPr sz="1400"/>
          </a:p>
          <a:p>
            <a:r>
              <a:rPr sz="1400">
                <a:latin typeface="Arial"/>
                <a:ea typeface="Arial"/>
                <a:cs typeface="Arial"/>
              </a:rPr>
              <a:t>00:45</a:t>
            </a:r>
            <a:endParaRPr sz="1400"/>
          </a:p>
          <a:p>
            <a:endParaRPr sz="1400"/>
          </a:p>
          <a:p>
            <a:r>
              <a:rPr sz="1400">
                <a:latin typeface="Arial"/>
                <a:ea typeface="Arial"/>
                <a:cs typeface="Arial"/>
              </a:rPr>
              <a:t>LIKELY QUESTION</a:t>
            </a:r>
            <a:endParaRPr sz="1400"/>
          </a:p>
          <a:p>
            <a:r>
              <a:rPr sz="1400">
                <a:latin typeface="Arial"/>
                <a:ea typeface="Arial"/>
                <a:cs typeface="Arial"/>
              </a:rPr>
              <a:t>Why present the engineering process as a result?</a:t>
            </a:r>
            <a:endParaRPr sz="1400"/>
          </a:p>
          <a:p>
            <a:endParaRPr sz="1400"/>
          </a:p>
          <a:p>
            <a:r>
              <a:rPr sz="1400">
                <a:latin typeface="Arial"/>
                <a:ea typeface="Arial"/>
                <a:cs typeface="Arial"/>
              </a:rPr>
              <a:t>DIRECT ANSWER</a:t>
            </a:r>
            <a:endParaRPr sz="1400"/>
          </a:p>
          <a:p>
            <a:r>
              <a:rPr sz="1400">
                <a:latin typeface="Arial"/>
                <a:ea typeface="Arial"/>
                <a:cs typeface="Arial"/>
              </a:rPr>
              <a:t>The role is a pilot. The repeatable delivery cell matters alongside the application because other engineers could later use the same controlled pattern.</a:t>
            </a:r>
            <a:endParaRPr sz="1400"/>
          </a:p>
          <a:p>
            <a:endParaRPr sz="1400"/>
          </a:p>
          <a:p>
            <a:r>
              <a:rPr sz="1400">
                <a:latin typeface="Arial"/>
                <a:ea typeface="Arial"/>
                <a:cs typeface="Arial"/>
              </a:rPr>
              <a:t>SOURCES</a:t>
            </a:r>
            <a:endParaRPr sz="1400"/>
          </a:p>
          <a:p>
            <a:r>
              <a:rPr sz="1400">
                <a:latin typeface="Arial"/>
                <a:ea typeface="Arial"/>
                <a:cs typeface="Arial"/>
              </a:rPr>
              <a:t>docs/assignment/Inception/Inception.md sections 1, 24 and 28</a:t>
            </a:r>
            <a:endParaRPr sz="1400"/>
          </a:p>
          <a:p>
            <a:r>
              <a:rPr sz="1400">
                <a:latin typeface="Arial"/>
                <a:ea typeface="Arial"/>
                <a:cs typeface="Arial"/>
              </a:rPr>
              <a:t>GitHub issue #229</a:t>
            </a:r>
            <a:endParaRPr sz="1400"/>
          </a:p>
          <a:p>
            <a:r>
              <a:rPr sz="1400">
                <a:latin typeface="Arial"/>
                <a:ea typeface="Arial"/>
                <a:cs typeface="Arial"/>
              </a:rPr>
              <a:t>Authentic R4 Playwright artifact 9856114241</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product is a human review loop with memory.</a:t>
            </a:r>
            <a:endParaRPr sz="1400"/>
          </a:p>
          <a:p>
            <a:endParaRPr sz="1400"/>
          </a:p>
          <a:p>
            <a:r>
              <a:rPr sz="1400">
                <a:latin typeface="Arial"/>
                <a:ea typeface="Arial"/>
                <a:cs typeface="Arial"/>
              </a:rPr>
              <a:t>SCRIPT</a:t>
            </a:r>
            <a:endParaRPr sz="1400"/>
          </a:p>
          <a:p>
            <a:r>
              <a:rPr sz="1400">
                <a:latin typeface="Arial"/>
                <a:ea typeface="Arial"/>
                <a:cs typeface="Arial"/>
              </a:rPr>
              <a:t>The main reading direction is left to right. The loop closes only after a completed analysis has been persisted. A later operator review reopens the same customer context, recommendation, grounding and provenance instead of starting from an isolated generated sentence.</a:t>
            </a:r>
            <a:endParaRPr sz="1400"/>
          </a:p>
          <a:p>
            <a:endParaRPr sz="1400"/>
          </a:p>
          <a:p>
            <a:r>
              <a:rPr sz="1400">
                <a:latin typeface="Arial"/>
                <a:ea typeface="Arial"/>
                <a:cs typeface="Arial"/>
              </a:rPr>
              <a:t>DO NOT SAY</a:t>
            </a:r>
            <a:endParaRPr sz="1400"/>
          </a:p>
          <a:p>
            <a:r>
              <a:rPr sz="1400">
                <a:latin typeface="Arial"/>
                <a:ea typeface="Arial"/>
                <a:cs typeface="Arial"/>
              </a:rPr>
              <a:t>Do not describe this as an automated customer decision or as continuous transaction monitoring.</a:t>
            </a:r>
            <a:endParaRPr sz="1400"/>
          </a:p>
          <a:p>
            <a:endParaRPr sz="1400"/>
          </a:p>
          <a:p>
            <a:r>
              <a:rPr sz="1400">
                <a:latin typeface="Arial"/>
                <a:ea typeface="Arial"/>
                <a:cs typeface="Arial"/>
              </a:rPr>
              <a:t>TRANSITION</a:t>
            </a:r>
            <a:endParaRPr sz="1400"/>
          </a:p>
          <a:p>
            <a:r>
              <a:rPr sz="1400">
                <a:latin typeface="Arial"/>
                <a:ea typeface="Arial"/>
                <a:cs typeface="Arial"/>
              </a:rPr>
              <a:t>The browser exposes the same chain directly.</a:t>
            </a:r>
            <a:endParaRPr sz="1400"/>
          </a:p>
          <a:p>
            <a:endParaRPr sz="1400"/>
          </a:p>
          <a:p>
            <a:r>
              <a:rPr sz="1400">
                <a:latin typeface="Arial"/>
                <a:ea typeface="Arial"/>
                <a:cs typeface="Arial"/>
              </a:rPr>
              <a:t>TIME</a:t>
            </a:r>
            <a:endParaRPr sz="1400"/>
          </a:p>
          <a:p>
            <a:r>
              <a:rPr sz="1400">
                <a:latin typeface="Arial"/>
                <a:ea typeface="Arial"/>
                <a:cs typeface="Arial"/>
              </a:rPr>
              <a:t>00:45</a:t>
            </a:r>
            <a:endParaRPr sz="1400"/>
          </a:p>
          <a:p>
            <a:endParaRPr sz="1400"/>
          </a:p>
          <a:p>
            <a:r>
              <a:rPr sz="1400">
                <a:latin typeface="Arial"/>
                <a:ea typeface="Arial"/>
                <a:cs typeface="Arial"/>
              </a:rPr>
              <a:t>LIKELY QUESTION</a:t>
            </a:r>
            <a:endParaRPr sz="1400"/>
          </a:p>
          <a:p>
            <a:r>
              <a:rPr sz="1400">
                <a:latin typeface="Arial"/>
                <a:ea typeface="Arial"/>
                <a:cs typeface="Arial"/>
              </a:rPr>
              <a:t>Where is the human in the loop?</a:t>
            </a:r>
            <a:endParaRPr sz="1400"/>
          </a:p>
          <a:p>
            <a:endParaRPr sz="1400"/>
          </a:p>
          <a:p>
            <a:r>
              <a:rPr sz="1400">
                <a:latin typeface="Arial"/>
                <a:ea typeface="Arial"/>
                <a:cs typeface="Arial"/>
              </a:rPr>
              <a:t>DIRECT ANSWER</a:t>
            </a:r>
            <a:endParaRPr sz="1400"/>
          </a:p>
          <a:p>
            <a:r>
              <a:rPr sz="1400">
                <a:latin typeface="Arial"/>
                <a:ea typeface="Arial"/>
                <a:cs typeface="Arial"/>
              </a:rPr>
              <a:t>The operator decides how to use the recommendation. The system supplies a reviewable trail and never writes generated content back as source risk truth.</a:t>
            </a:r>
            <a:endParaRPr sz="1400"/>
          </a:p>
          <a:p>
            <a:endParaRPr sz="1400"/>
          </a:p>
          <a:p>
            <a:r>
              <a:rPr sz="1400">
                <a:latin typeface="Arial"/>
                <a:ea typeface="Arial"/>
                <a:cs typeface="Arial"/>
              </a:rPr>
              <a:t>SOURCES</a:t>
            </a:r>
            <a:endParaRPr sz="1400"/>
          </a:p>
          <a:p>
            <a:r>
              <a:rPr sz="1400">
                <a:latin typeface="Arial"/>
                <a:ea typeface="Arial"/>
                <a:cs typeface="Arial"/>
              </a:rPr>
              <a:t>docs/assignment/SRS/SRS.md</a:t>
            </a:r>
            <a:endParaRPr sz="1400"/>
          </a:p>
          <a:p>
            <a:r>
              <a:rPr sz="1400">
                <a:latin typeface="Arial"/>
                <a:ea typeface="Arial"/>
                <a:cs typeface="Arial"/>
              </a:rPr>
              <a:t>docs/assignment/SDD/diagrams/activity-customer-review.puml</a:t>
            </a:r>
            <a:endParaRPr sz="1400"/>
          </a:p>
          <a:p>
            <a:r>
              <a:rPr sz="1400">
                <a:latin typeface="Arial"/>
                <a:ea typeface="Arial"/>
                <a:cs typeface="Arial"/>
              </a:rPr>
              <a:t>docs/assignment/SDD/diagrams/activity-grounded-analysis.puml</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live demo follows the evidence chain already shown.</a:t>
            </a:r>
            <a:endParaRPr sz="1400"/>
          </a:p>
          <a:p>
            <a:endParaRPr sz="1400"/>
          </a:p>
          <a:p>
            <a:r>
              <a:rPr sz="1400">
                <a:latin typeface="Arial"/>
                <a:ea typeface="Arial"/>
                <a:cs typeface="Arial"/>
              </a:rPr>
              <a:t>SCRIPT</a:t>
            </a:r>
            <a:endParaRPr sz="1400"/>
          </a:p>
          <a:p>
            <a:r>
              <a:rPr sz="1400">
                <a:latin typeface="Arial"/>
                <a:ea typeface="Arial"/>
                <a:cs typeface="Arial"/>
              </a:rPr>
              <a:t>Presenter rail: log in as operator-alpha, search customer 444, inspect CARD, PAYMENT and CRYPTO facts, point to source risk evidence, run deterministic analysis, show pgvector and all-MiniLM-L6-v2 provenance, then reopen the persisted history. Stop after those checkpoints and return to the deck.</a:t>
            </a:r>
            <a:endParaRPr sz="1400"/>
          </a:p>
          <a:p>
            <a:endParaRPr sz="1400"/>
          </a:p>
          <a:p>
            <a:r>
              <a:rPr sz="1400">
                <a:latin typeface="Arial"/>
                <a:ea typeface="Arial"/>
                <a:cs typeface="Arial"/>
              </a:rPr>
              <a:t>DO NOT SAY</a:t>
            </a:r>
            <a:endParaRPr sz="1400"/>
          </a:p>
          <a:p>
            <a:r>
              <a:rPr sz="1400">
                <a:latin typeface="Arial"/>
                <a:ea typeface="Arial"/>
                <a:cs typeface="Arial"/>
              </a:rPr>
              <a:t>Do not compare every backend during the live path. Do not read UUIDs aloud. Do not leave the rail on the slide. Use the notes as the prompt.</a:t>
            </a:r>
            <a:endParaRPr sz="1400"/>
          </a:p>
          <a:p>
            <a:endParaRPr sz="1400"/>
          </a:p>
          <a:p>
            <a:r>
              <a:rPr sz="1400">
                <a:latin typeface="Arial"/>
                <a:ea typeface="Arial"/>
                <a:cs typeface="Arial"/>
              </a:rPr>
              <a:t>TRANSITION</a:t>
            </a:r>
            <a:endParaRPr sz="1400"/>
          </a:p>
          <a:p>
            <a:r>
              <a:rPr sz="1400">
                <a:latin typeface="Arial"/>
                <a:ea typeface="Arial"/>
                <a:cs typeface="Arial"/>
              </a:rPr>
              <a:t>The next slide explains why those visible sections remain distinct inside the application.</a:t>
            </a:r>
            <a:endParaRPr sz="1400"/>
          </a:p>
          <a:p>
            <a:endParaRPr sz="1400"/>
          </a:p>
          <a:p>
            <a:r>
              <a:rPr sz="1400">
                <a:latin typeface="Arial"/>
                <a:ea typeface="Arial"/>
                <a:cs typeface="Arial"/>
              </a:rPr>
              <a:t>TIME</a:t>
            </a:r>
            <a:endParaRPr sz="1400"/>
          </a:p>
          <a:p>
            <a:r>
              <a:rPr sz="1400">
                <a:latin typeface="Arial"/>
                <a:ea typeface="Arial"/>
                <a:cs typeface="Arial"/>
              </a:rPr>
              <a:t>04:30 including browser switch</a:t>
            </a:r>
            <a:endParaRPr sz="1400"/>
          </a:p>
          <a:p>
            <a:endParaRPr sz="1400"/>
          </a:p>
          <a:p>
            <a:r>
              <a:rPr sz="1400">
                <a:latin typeface="Arial"/>
                <a:ea typeface="Arial"/>
                <a:cs typeface="Arial"/>
              </a:rPr>
              <a:t>LIKELY QUESTION</a:t>
            </a:r>
            <a:endParaRPr sz="1400"/>
          </a:p>
          <a:p>
            <a:r>
              <a:rPr sz="1400">
                <a:latin typeface="Arial"/>
                <a:ea typeface="Arial"/>
                <a:cs typeface="Arial"/>
              </a:rPr>
              <a:t>How do I know this path is not a mockup?</a:t>
            </a:r>
            <a:endParaRPr sz="1400"/>
          </a:p>
          <a:p>
            <a:endParaRPr sz="1400"/>
          </a:p>
          <a:p>
            <a:r>
              <a:rPr sz="1400">
                <a:latin typeface="Arial"/>
                <a:ea typeface="Arial"/>
                <a:cs typeface="Arial"/>
              </a:rPr>
              <a:t>DIRECT ANSWER</a:t>
            </a:r>
            <a:endParaRPr sz="1400"/>
          </a:p>
          <a:p>
            <a:r>
              <a:rPr sz="1400">
                <a:latin typeface="Arial"/>
                <a:ea typeface="Arial"/>
                <a:cs typeface="Arial"/>
              </a:rPr>
              <a:t>The images come from Playwright execution against the packaged application and real PostgreSQL/pgvector topology. The appendix retains the ring-by-ring captures and artifact provenance.</a:t>
            </a:r>
            <a:endParaRPr sz="1400"/>
          </a:p>
          <a:p>
            <a:endParaRPr sz="1400"/>
          </a:p>
          <a:p>
            <a:r>
              <a:rPr sz="1400">
                <a:latin typeface="Arial"/>
                <a:ea typeface="Arial"/>
                <a:cs typeface="Arial"/>
              </a:rPr>
              <a:t>SOURCES</a:t>
            </a:r>
            <a:endParaRPr sz="1400"/>
          </a:p>
          <a:p>
            <a:r>
              <a:rPr sz="1400">
                <a:latin typeface="Arial"/>
                <a:ea typeface="Arial"/>
                <a:cs typeface="Arial"/>
              </a:rPr>
              <a:t>docs/reviewer/screenshot-manifest.md</a:t>
            </a:r>
            <a:endParaRPr sz="1400"/>
          </a:p>
          <a:p>
            <a:r>
              <a:rPr sz="1400">
                <a:latin typeface="Arial"/>
                <a:ea typeface="Arial"/>
                <a:cs typeface="Arial"/>
              </a:rPr>
              <a:t>docs/reviewer/demo-fallback.md</a:t>
            </a:r>
            <a:endParaRPr sz="1400"/>
          </a:p>
          <a:p>
            <a:r>
              <a:rPr sz="1400">
                <a:latin typeface="Arial"/>
                <a:ea typeface="Arial"/>
                <a:cs typeface="Arial"/>
              </a:rPr>
              <a:t>R4 workflow run 33653841308</a:t>
            </a:r>
            <a:endParaRPr sz="1400"/>
          </a:p>
          <a:p>
            <a:r>
              <a:rPr sz="1400">
                <a:latin typeface="Arial"/>
                <a:ea typeface="Arial"/>
                <a:cs typeface="Arial"/>
              </a:rPr>
              <a:t>Artifact 9856114241</a:t>
            </a:r>
            <a:endParaRPr sz="1400"/>
          </a:p>
          <a:p>
            <a:r>
              <a:rPr sz="1400">
                <a:latin typeface="Arial"/>
                <a:ea typeface="Arial"/>
                <a:cs typeface="Arial"/>
              </a:rPr>
              <a:t>Source SHA 9d44021d95ea052d19ff67152f3af093c4cf8b49</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Each stage answers a different question and produces a different evidence type.</a:t>
            </a:r>
            <a:endParaRPr sz="1400"/>
          </a:p>
          <a:p>
            <a:endParaRPr sz="1400"/>
          </a:p>
          <a:p>
            <a:r>
              <a:rPr sz="1400">
                <a:latin typeface="Arial"/>
                <a:ea typeface="Arial"/>
                <a:cs typeface="Arial"/>
              </a:rPr>
              <a:t>SCRIPT</a:t>
            </a:r>
            <a:endParaRPr sz="1400"/>
          </a:p>
          <a:p>
            <a:r>
              <a:rPr sz="1400">
                <a:latin typeface="Arial"/>
                <a:ea typeface="Arial"/>
                <a:cs typeface="Arial"/>
              </a:rPr>
              <a:t>Stage 1 produces advisory detector signals. Stage 2 retrieves contextual policy. The application assembles a bounded AnalysisEvidenceEnvelope. Stage 3 returns one provider-neutral structured result. A grounding validator rejects unsupported evidence references before persistence. Only a valid completed result reaches history.</a:t>
            </a:r>
            <a:endParaRPr sz="1400"/>
          </a:p>
          <a:p>
            <a:endParaRPr sz="1400"/>
          </a:p>
          <a:p>
            <a:r>
              <a:rPr sz="1400">
                <a:latin typeface="Arial"/>
                <a:ea typeface="Arial"/>
                <a:cs typeface="Arial"/>
              </a:rPr>
              <a:t>DO NOT SAY</a:t>
            </a:r>
            <a:endParaRPr sz="1400"/>
          </a:p>
          <a:p>
            <a:r>
              <a:rPr sz="1400">
                <a:latin typeface="Arial"/>
                <a:ea typeface="Arial"/>
                <a:cs typeface="Arial"/>
              </a:rPr>
              <a:t>Do not describe detector scores as source risk truth. Do not describe policy retrieval as model training.</a:t>
            </a:r>
            <a:endParaRPr sz="1400"/>
          </a:p>
          <a:p>
            <a:endParaRPr sz="1400"/>
          </a:p>
          <a:p>
            <a:r>
              <a:rPr sz="1400">
                <a:latin typeface="Arial"/>
                <a:ea typeface="Arial"/>
                <a:cs typeface="Arial"/>
              </a:rPr>
              <a:t>TRANSITION</a:t>
            </a:r>
            <a:endParaRPr sz="1400"/>
          </a:p>
          <a:p>
            <a:r>
              <a:rPr sz="1400">
                <a:latin typeface="Arial"/>
                <a:ea typeface="Arial"/>
                <a:cs typeface="Arial"/>
              </a:rPr>
              <a:t>These stages stay replaceable because the application owns the ports between them.</a:t>
            </a:r>
            <a:endParaRPr sz="1400"/>
          </a:p>
          <a:p>
            <a:endParaRPr sz="1400"/>
          </a:p>
          <a:p>
            <a:r>
              <a:rPr sz="1400">
                <a:latin typeface="Arial"/>
                <a:ea typeface="Arial"/>
                <a:cs typeface="Arial"/>
              </a:rPr>
              <a:t>TIME</a:t>
            </a:r>
            <a:endParaRPr sz="1400"/>
          </a:p>
          <a:p>
            <a:r>
              <a:rPr sz="1400">
                <a:latin typeface="Arial"/>
                <a:ea typeface="Arial"/>
                <a:cs typeface="Arial"/>
              </a:rPr>
              <a:t>01:00</a:t>
            </a:r>
            <a:endParaRPr sz="1400"/>
          </a:p>
          <a:p>
            <a:endParaRPr sz="1400"/>
          </a:p>
          <a:p>
            <a:r>
              <a:rPr sz="1400">
                <a:latin typeface="Arial"/>
                <a:ea typeface="Arial"/>
                <a:cs typeface="Arial"/>
              </a:rPr>
              <a:t>LIKELY QUESTION</a:t>
            </a:r>
            <a:endParaRPr sz="1400"/>
          </a:p>
          <a:p>
            <a:r>
              <a:rPr sz="1400">
                <a:latin typeface="Arial"/>
                <a:ea typeface="Arial"/>
                <a:cs typeface="Arial"/>
              </a:rPr>
              <a:t>Why not send all transactions directly to one language model?</a:t>
            </a:r>
            <a:endParaRPr sz="1400"/>
          </a:p>
          <a:p>
            <a:endParaRPr sz="1400"/>
          </a:p>
          <a:p>
            <a:r>
              <a:rPr sz="1400">
                <a:latin typeface="Arial"/>
                <a:ea typeface="Arial"/>
                <a:cs typeface="Arial"/>
              </a:rPr>
              <a:t>DIRECT ANSWER</a:t>
            </a:r>
            <a:endParaRPr sz="1400"/>
          </a:p>
          <a:p>
            <a:r>
              <a:rPr sz="1400">
                <a:latin typeface="Arial"/>
                <a:ea typeface="Arial"/>
                <a:cs typeface="Arial"/>
              </a:rPr>
              <a:t>The staged flow keeps source facts, derived signals, policy context and generated wording independently testable and attributable.</a:t>
            </a:r>
            <a:endParaRPr sz="1400"/>
          </a:p>
          <a:p>
            <a:endParaRPr sz="1400"/>
          </a:p>
          <a:p>
            <a:r>
              <a:rPr sz="1400">
                <a:latin typeface="Arial"/>
                <a:ea typeface="Arial"/>
                <a:cs typeface="Arial"/>
              </a:rPr>
              <a:t>SOURCES</a:t>
            </a:r>
            <a:endParaRPr sz="1400"/>
          </a:p>
          <a:p>
            <a:r>
              <a:rPr sz="1400">
                <a:latin typeface="Arial"/>
                <a:ea typeface="Arial"/>
                <a:cs typeface="Arial"/>
              </a:rPr>
              <a:t>backend/src/main/java/dev/specgraph/reference/analysis/AnalysisService.java</a:t>
            </a:r>
            <a:endParaRPr sz="1400"/>
          </a:p>
          <a:p>
            <a:r>
              <a:rPr sz="1400">
                <a:latin typeface="Arial"/>
                <a:ea typeface="Arial"/>
                <a:cs typeface="Arial"/>
              </a:rPr>
              <a:t>docs/assignment/SDD/SDD.md sections 6 and 9</a:t>
            </a:r>
            <a:endParaRPr sz="1400"/>
          </a:p>
          <a:p>
            <a:r>
              <a:rPr sz="1400">
                <a:latin typeface="Arial"/>
                <a:ea typeface="Arial"/>
                <a:cs typeface="Arial"/>
              </a:rPr>
              <a:t>docs/assignment/ADR/ADR-002-provider-neutral-analysis.md</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a:latin typeface="Arial"/>
                <a:ea typeface="Arial"/>
                <a:cs typeface="Arial"/>
              </a:rPr>
              <a:t>ANCHOR</a:t>
            </a:r>
          </a:p>
          <a:p>
            <a:r>
              <a:rPr lang="en-US" sz="1400">
                <a:latin typeface="Arial"/>
                <a:ea typeface="Arial"/>
                <a:cs typeface="Arial"/>
              </a:rPr>
              <a:t>The analytical pipeline supports several implementations without becoming several applications.</a:t>
            </a:r>
          </a:p>
          <a:p>
            <a:endParaRPr lang="en-US" sz="1400">
              <a:latin typeface="Arial"/>
              <a:ea typeface="Arial"/>
              <a:cs typeface="Arial"/>
            </a:endParaRPr>
          </a:p>
          <a:p>
            <a:r>
              <a:rPr lang="en-US" sz="1400">
                <a:latin typeface="Arial"/>
                <a:ea typeface="Arial"/>
                <a:cs typeface="Arial"/>
              </a:rPr>
              <a:t>SCRIPT</a:t>
            </a:r>
          </a:p>
          <a:p>
            <a:r>
              <a:rPr lang="en-US" sz="1400">
                <a:latin typeface="Arial"/>
                <a:ea typeface="Arial"/>
                <a:cs typeface="Arial"/>
              </a:rPr>
              <a:t>Read the slide left to right. Stage 1 includes landed Bayesian, fuzzy, Composite and Random Forest mechanisms. The packaged Tribuo forest contains 31 uniformly weighted trees. Stage 2 offers static and local pgvector plus MiniLM grounding. Stage 3 delivers typed selection across deterministic, opt-in OpenAI and optional private-network LM Studio implementations. Calibrated heterogeneous fusion is excluded because the fixture cannot support an honest performance comparison.</a:t>
            </a:r>
          </a:p>
          <a:p>
            <a:endParaRPr lang="en-US" sz="1400">
              <a:latin typeface="Arial"/>
              <a:ea typeface="Arial"/>
              <a:cs typeface="Arial"/>
            </a:endParaRPr>
          </a:p>
          <a:p>
            <a:r>
              <a:rPr lang="en-US" sz="1400">
                <a:latin typeface="Arial"/>
                <a:ea typeface="Arial"/>
                <a:cs typeface="Arial"/>
              </a:rPr>
              <a:t>DO NOT SAY</a:t>
            </a:r>
          </a:p>
          <a:p>
            <a:r>
              <a:rPr lang="en-US" sz="1400">
                <a:latin typeface="Arial"/>
                <a:ea typeface="Arial"/>
                <a:cs typeface="Arial"/>
              </a:rPr>
              <a:t>Do not call the Composite a calibrated ensemble. Do not call the Random Forest vote share a calibrated probability. The dataset-ceiling analysis reached a no-go for production performance benchmarking.</a:t>
            </a:r>
          </a:p>
          <a:p>
            <a:endParaRPr lang="en-US" sz="1400">
              <a:latin typeface="Arial"/>
              <a:ea typeface="Arial"/>
              <a:cs typeface="Arial"/>
            </a:endParaRPr>
          </a:p>
          <a:p>
            <a:r>
              <a:rPr lang="en-US" sz="1400">
                <a:latin typeface="Arial"/>
                <a:ea typeface="Arial"/>
                <a:cs typeface="Arial"/>
              </a:rPr>
              <a:t>TRANSITION</a:t>
            </a:r>
          </a:p>
          <a:p>
            <a:r>
              <a:rPr lang="en-US" sz="1400">
                <a:latin typeface="Arial"/>
                <a:ea typeface="Arial"/>
                <a:cs typeface="Arial"/>
              </a:rPr>
              <a:t>The next slide shows the ports that make this portfolio replaceable without moving application semantics.</a:t>
            </a:r>
          </a:p>
          <a:p>
            <a:endParaRPr lang="en-US" sz="1400">
              <a:latin typeface="Arial"/>
              <a:ea typeface="Arial"/>
              <a:cs typeface="Arial"/>
            </a:endParaRPr>
          </a:p>
          <a:p>
            <a:r>
              <a:rPr lang="en-US" sz="1400">
                <a:latin typeface="Arial"/>
                <a:ea typeface="Arial"/>
                <a:cs typeface="Arial"/>
              </a:rPr>
              <a:t>TIME</a:t>
            </a:r>
          </a:p>
          <a:p>
            <a:r>
              <a:rPr lang="en-US" sz="1400">
                <a:latin typeface="Arial"/>
                <a:ea typeface="Arial"/>
                <a:cs typeface="Arial"/>
              </a:rPr>
              <a:t>01:15</a:t>
            </a:r>
          </a:p>
          <a:p>
            <a:endParaRPr lang="en-US" sz="1400">
              <a:latin typeface="Arial"/>
              <a:ea typeface="Arial"/>
              <a:cs typeface="Arial"/>
            </a:endParaRPr>
          </a:p>
          <a:p>
            <a:r>
              <a:rPr lang="en-US" sz="1400">
                <a:latin typeface="Arial"/>
                <a:ea typeface="Arial"/>
                <a:cs typeface="Arial"/>
              </a:rPr>
              <a:t>LIKELY QUESTION</a:t>
            </a:r>
          </a:p>
          <a:p>
            <a:r>
              <a:rPr lang="en-US" sz="1400">
                <a:latin typeface="Arial"/>
                <a:ea typeface="Arial"/>
                <a:cs typeface="Arial"/>
              </a:rPr>
              <a:t>Why introduce several analytical implementations in a five-day pilot?</a:t>
            </a:r>
          </a:p>
          <a:p>
            <a:endParaRPr lang="en-US" sz="1400">
              <a:latin typeface="Arial"/>
              <a:ea typeface="Arial"/>
              <a:cs typeface="Arial"/>
            </a:endParaRPr>
          </a:p>
          <a:p>
            <a:r>
              <a:rPr lang="en-US" sz="1400">
                <a:latin typeface="Arial"/>
                <a:ea typeface="Arial"/>
                <a:cs typeface="Arial"/>
              </a:rPr>
              <a:t>DIRECT ANSWER</a:t>
            </a:r>
          </a:p>
          <a:p>
            <a:r>
              <a:rPr lang="en-US" sz="1400">
                <a:latin typeface="Arial"/>
                <a:ea typeface="Arial"/>
                <a:cs typeface="Arial"/>
              </a:rPr>
              <a:t>They test different uncertainty and failure assumptions behind one bounded contract. The stable port lets the team compare or replace them without duplicating orchestration, grounding, persistence or the operator journey.</a:t>
            </a:r>
          </a:p>
          <a:p>
            <a:endParaRPr lang="en-US" sz="1400">
              <a:latin typeface="Arial"/>
              <a:ea typeface="Arial"/>
              <a:cs typeface="Arial"/>
            </a:endParaRPr>
          </a:p>
          <a:p>
            <a:r>
              <a:rPr lang="en-US" sz="1400">
                <a:latin typeface="Arial"/>
                <a:ea typeface="Arial"/>
                <a:cs typeface="Arial"/>
              </a:rPr>
              <a:t>SOURCES</a:t>
            </a:r>
          </a:p>
          <a:p>
            <a:r>
              <a:rPr lang="en-US" sz="1400">
                <a:latin typeface="Arial"/>
                <a:ea typeface="Arial"/>
                <a:cs typeface="Arial"/>
              </a:rPr>
              <a:t>docs/assignment/SDD/SDD.md and docs/assignment/SDD/diagrams/</a:t>
            </a:r>
          </a:p>
          <a:p>
            <a:r>
              <a:rPr lang="en-US" sz="1400">
                <a:latin typeface="Arial"/>
                <a:ea typeface="Arial"/>
                <a:cs typeface="Arial"/>
              </a:rPr>
              <a:t>https://github.com/jdoe-dev-159753/specgraph-reference-app/pull/263</a:t>
            </a:r>
          </a:p>
          <a:p>
            <a:r>
              <a:rPr lang="en-US" sz="1400">
                <a:latin typeface="Arial"/>
                <a:ea typeface="Arial"/>
                <a:cs typeface="Arial"/>
              </a:rPr>
              <a:t>https://github.com/jdoe-dev-159753/specgraph-reference-app/issues/223</a:t>
            </a:r>
          </a:p>
          <a:p>
            <a:r>
              <a:rPr lang="en-US" sz="1400">
                <a:latin typeface="Arial"/>
                <a:ea typeface="Arial"/>
                <a:cs typeface="Arial"/>
              </a:rPr>
              <a:t>https://github.com/jdoe-dev-159753/specgraph-reference-app/pull/384</a:t>
            </a:r>
          </a:p>
          <a:p>
            <a:r>
              <a:rPr lang="en-US" sz="1400">
                <a:latin typeface="Arial"/>
                <a:ea typeface="Arial"/>
                <a:cs typeface="Arial"/>
              </a:rPr>
              <a:t>docs/analysis/dataset-ceiling.md</a:t>
            </a:r>
          </a:p>
          <a:p>
            <a:r>
              <a:rPr lang="en-US" sz="1400">
                <a:latin typeface="Arial"/>
                <a:ea typeface="Arial"/>
                <a:cs typeface="Arial"/>
              </a:rPr>
              <a:t>https://github.com/jdoe-dev-159753/specgraph-reference-app/pull/326</a:t>
            </a:r>
          </a:p>
          <a:p>
            <a:r>
              <a:rPr lang="en-US" sz="1400">
                <a:latin typeface="Arial"/>
                <a:ea typeface="Arial"/>
                <a:cs typeface="Arial"/>
              </a:rPr>
              <a:t>docs/assignment/Presentation/appendix/submodels.md from PR #423 / issue #268</a:t>
            </a:r>
          </a:p>
          <a:p>
            <a:r>
              <a:rPr lang="en-US" sz="1400">
                <a:latin typeface="Arial"/>
                <a:ea typeface="Arial"/>
                <a:cs typeface="Arial"/>
              </a:rPr>
              <a:t>RiskSignalDetectorPort, PolicyKnowledgePort and AnalysisModelPort</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architecture spends complexity only at boundaries expected to change.</a:t>
            </a:r>
            <a:endParaRPr sz="1400"/>
          </a:p>
          <a:p>
            <a:endParaRPr sz="1400"/>
          </a:p>
          <a:p>
            <a:r>
              <a:rPr sz="1400">
                <a:latin typeface="Arial"/>
                <a:ea typeface="Arial"/>
                <a:cs typeface="Arial"/>
              </a:rPr>
              <a:t>SCRIPT</a:t>
            </a:r>
            <a:endParaRPr sz="1400"/>
          </a:p>
          <a:p>
            <a:r>
              <a:rPr sz="1400">
                <a:latin typeface="Arial"/>
                <a:ea typeface="Arial"/>
                <a:cs typeface="Arial"/>
              </a:rPr>
              <a:t>The application core owns use cases and project values. Identity, activity storage, detection, retrieval, synthesis and history each connect through a project-owned port. The adapters can change independently while failure semantics and the operator contract stay stable.</a:t>
            </a:r>
            <a:endParaRPr sz="1400"/>
          </a:p>
          <a:p>
            <a:endParaRPr sz="1400"/>
          </a:p>
          <a:p>
            <a:r>
              <a:rPr sz="1400">
                <a:latin typeface="Arial"/>
                <a:ea typeface="Arial"/>
                <a:cs typeface="Arial"/>
              </a:rPr>
              <a:t>DO NOT SAY</a:t>
            </a:r>
            <a:endParaRPr sz="1400"/>
          </a:p>
          <a:p>
            <a:r>
              <a:rPr sz="1400">
                <a:latin typeface="Arial"/>
                <a:ea typeface="Arial"/>
                <a:cs typeface="Arial"/>
              </a:rPr>
              <a:t>Do not present hexagonal architecture as a visual pattern or as proof of production readiness. Its value here is concrete substitution and test isolation.</a:t>
            </a:r>
            <a:endParaRPr sz="1400"/>
          </a:p>
          <a:p>
            <a:endParaRPr sz="1400"/>
          </a:p>
          <a:p>
            <a:r>
              <a:rPr sz="1400">
                <a:latin typeface="Arial"/>
                <a:ea typeface="Arial"/>
                <a:cs typeface="Arial"/>
              </a:rPr>
              <a:t>TRANSITION</a:t>
            </a:r>
            <a:endParaRPr sz="1400"/>
          </a:p>
          <a:p>
            <a:r>
              <a:rPr sz="1400">
                <a:latin typeface="Arial"/>
                <a:ea typeface="Arial"/>
                <a:cs typeface="Arial"/>
              </a:rPr>
              <a:t>The delivery rings used those seams to replace capability incrementally.</a:t>
            </a:r>
            <a:endParaRPr sz="1400"/>
          </a:p>
          <a:p>
            <a:endParaRPr sz="1400"/>
          </a:p>
          <a:p>
            <a:r>
              <a:rPr sz="1400">
                <a:latin typeface="Arial"/>
                <a:ea typeface="Arial"/>
                <a:cs typeface="Arial"/>
              </a:rPr>
              <a:t>TIME</a:t>
            </a:r>
            <a:endParaRPr sz="1400"/>
          </a:p>
          <a:p>
            <a:r>
              <a:rPr sz="1400">
                <a:latin typeface="Arial"/>
                <a:ea typeface="Arial"/>
                <a:cs typeface="Arial"/>
              </a:rPr>
              <a:t>00:55</a:t>
            </a:r>
            <a:endParaRPr sz="1400"/>
          </a:p>
          <a:p>
            <a:endParaRPr sz="1400"/>
          </a:p>
          <a:p>
            <a:r>
              <a:rPr sz="1400">
                <a:latin typeface="Arial"/>
                <a:ea typeface="Arial"/>
                <a:cs typeface="Arial"/>
              </a:rPr>
              <a:t>LIKELY QUESTION</a:t>
            </a:r>
            <a:endParaRPr sz="1400"/>
          </a:p>
          <a:p>
            <a:r>
              <a:rPr sz="1400">
                <a:latin typeface="Arial"/>
                <a:ea typeface="Arial"/>
                <a:cs typeface="Arial"/>
              </a:rPr>
              <a:t>Why was this architecture justified for a short exercise?</a:t>
            </a:r>
            <a:endParaRPr sz="1400"/>
          </a:p>
          <a:p>
            <a:endParaRPr sz="1400"/>
          </a:p>
          <a:p>
            <a:r>
              <a:rPr sz="1400">
                <a:latin typeface="Arial"/>
                <a:ea typeface="Arial"/>
                <a:cs typeface="Arial"/>
              </a:rPr>
              <a:t>DIRECT ANSWER</a:t>
            </a:r>
            <a:endParaRPr sz="1400"/>
          </a:p>
          <a:p>
            <a:r>
              <a:rPr sz="1400">
                <a:latin typeface="Arial"/>
                <a:ea typeface="Arial"/>
                <a:cs typeface="Arial"/>
              </a:rPr>
              <a:t>Detector, retrieval and model choices change at different rates. Stable ports prevented those experiments from redefining the application contract.</a:t>
            </a:r>
            <a:endParaRPr sz="1400"/>
          </a:p>
          <a:p>
            <a:endParaRPr sz="1400"/>
          </a:p>
          <a:p>
            <a:r>
              <a:rPr sz="1400">
                <a:latin typeface="Arial"/>
                <a:ea typeface="Arial"/>
                <a:cs typeface="Arial"/>
              </a:rPr>
              <a:t>SOURCES</a:t>
            </a:r>
            <a:endParaRPr sz="1400"/>
          </a:p>
          <a:p>
            <a:r>
              <a:rPr sz="1400">
                <a:latin typeface="Arial"/>
                <a:ea typeface="Arial"/>
                <a:cs typeface="Arial"/>
              </a:rPr>
              <a:t>docs/assignment/ADR/ADR-001-modular-monolith-hexagonal.md</a:t>
            </a:r>
            <a:endParaRPr sz="1400"/>
          </a:p>
          <a:p>
            <a:r>
              <a:rPr sz="1400">
                <a:latin typeface="Arial"/>
                <a:ea typeface="Arial"/>
                <a:cs typeface="Arial"/>
              </a:rPr>
              <a:t>docs/assignment/ADR/ADR-002-provider-neutral-analysis.md</a:t>
            </a:r>
            <a:endParaRPr sz="1400"/>
          </a:p>
          <a:p>
            <a:r>
              <a:rPr sz="1400">
                <a:latin typeface="Arial"/>
                <a:ea typeface="Arial"/>
                <a:cs typeface="Arial"/>
              </a:rPr>
              <a:t>docs/assignment/SDD/diagrams/hexagonal-architecture.puml</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Every ring preserved a coherent demonstrable application.</a:t>
            </a:r>
            <a:endParaRPr sz="1400"/>
          </a:p>
          <a:p>
            <a:endParaRPr sz="1400"/>
          </a:p>
          <a:p>
            <a:r>
              <a:rPr sz="1400">
                <a:latin typeface="Arial"/>
                <a:ea typeface="Arial"/>
                <a:cs typeface="Arial"/>
              </a:rPr>
              <a:t>SCRIPT</a:t>
            </a:r>
            <a:endParaRPr sz="1400"/>
          </a:p>
          <a:p>
            <a:r>
              <a:rPr sz="1400">
                <a:latin typeface="Arial"/>
                <a:ea typeface="Arial"/>
                <a:cs typeface="Arial"/>
              </a:rPr>
              <a:t>R0 established the real shell. R1 made the customer review meaningful. R2 changed storage. R3 added deterministic analysis and history. R4 added authentication and real retrieval. R5 delivers bounded hardening and optional differentiation, including the packaged forest and typed model backends. Rings describe capability maturity. J1 to J5 remain the calendar dimension.</a:t>
            </a:r>
            <a:endParaRPr sz="1400"/>
          </a:p>
          <a:p>
            <a:endParaRPr sz="1400"/>
          </a:p>
          <a:p>
            <a:r>
              <a:rPr sz="1400">
                <a:latin typeface="Arial"/>
                <a:ea typeface="Arial"/>
                <a:cs typeface="Arial"/>
              </a:rPr>
              <a:t>DO NOT SAY</a:t>
            </a:r>
            <a:endParaRPr sz="1400"/>
          </a:p>
          <a:p>
            <a:r>
              <a:rPr sz="1400">
                <a:latin typeface="Arial"/>
                <a:ea typeface="Arial"/>
                <a:cs typeface="Arial"/>
              </a:rPr>
              <a:t>Do not describe the forest vote share as calibrated or the synthetic fixture as production evidence. Calibrated fusion remains excluded.</a:t>
            </a:r>
            <a:endParaRPr sz="1400"/>
          </a:p>
          <a:p>
            <a:endParaRPr sz="1400"/>
          </a:p>
          <a:p>
            <a:r>
              <a:rPr sz="1400">
                <a:latin typeface="Arial"/>
                <a:ea typeface="Arial"/>
                <a:cs typeface="Arial"/>
              </a:rPr>
              <a:t>TRANSITION</a:t>
            </a:r>
            <a:endParaRPr sz="1400"/>
          </a:p>
          <a:p>
            <a:r>
              <a:rPr sz="1400">
                <a:latin typeface="Arial"/>
                <a:ea typeface="Arial"/>
                <a:cs typeface="Arial"/>
              </a:rPr>
              <a:t>The same discipline governed the parallel work through GitHub.</a:t>
            </a:r>
            <a:endParaRPr sz="1400"/>
          </a:p>
          <a:p>
            <a:endParaRPr sz="1400"/>
          </a:p>
          <a:p>
            <a:r>
              <a:rPr sz="1400">
                <a:latin typeface="Arial"/>
                <a:ea typeface="Arial"/>
                <a:cs typeface="Arial"/>
              </a:rPr>
              <a:t>TIME</a:t>
            </a:r>
            <a:endParaRPr sz="1400"/>
          </a:p>
          <a:p>
            <a:r>
              <a:rPr sz="1400">
                <a:latin typeface="Arial"/>
                <a:ea typeface="Arial"/>
                <a:cs typeface="Arial"/>
              </a:rPr>
              <a:t>00:50</a:t>
            </a:r>
            <a:endParaRPr sz="1400"/>
          </a:p>
          <a:p>
            <a:endParaRPr sz="1400"/>
          </a:p>
          <a:p>
            <a:r>
              <a:rPr sz="1400">
                <a:latin typeface="Arial"/>
                <a:ea typeface="Arial"/>
                <a:cs typeface="Arial"/>
              </a:rPr>
              <a:t>LIKELY QUESTION</a:t>
            </a:r>
            <a:endParaRPr sz="1400"/>
          </a:p>
          <a:p>
            <a:r>
              <a:rPr sz="1400">
                <a:latin typeface="Arial"/>
                <a:ea typeface="Arial"/>
                <a:cs typeface="Arial"/>
              </a:rPr>
              <a:t>Why keep earlier rings after R4 exists?</a:t>
            </a:r>
            <a:endParaRPr sz="1400"/>
          </a:p>
          <a:p>
            <a:endParaRPr sz="1400"/>
          </a:p>
          <a:p>
            <a:r>
              <a:rPr sz="1400">
                <a:latin typeface="Arial"/>
                <a:ea typeface="Arial"/>
                <a:cs typeface="Arial"/>
              </a:rPr>
              <a:t>DIRECT ANSWER</a:t>
            </a:r>
            <a:endParaRPr sz="1400"/>
          </a:p>
          <a:p>
            <a:r>
              <a:rPr sz="1400">
                <a:latin typeface="Arial"/>
                <a:ea typeface="Arial"/>
                <a:cs typeface="Arial"/>
              </a:rPr>
              <a:t>They prove that adapters changed without replacing the shell and provide executable checkpoints for compatibility and demonstration fallback.</a:t>
            </a:r>
            <a:endParaRPr sz="1400"/>
          </a:p>
          <a:p>
            <a:endParaRPr sz="1400"/>
          </a:p>
          <a:p>
            <a:r>
              <a:rPr sz="1400">
                <a:latin typeface="Arial"/>
                <a:ea typeface="Arial"/>
                <a:cs typeface="Arial"/>
              </a:rPr>
              <a:t>SOURCES</a:t>
            </a:r>
            <a:endParaRPr sz="1400"/>
          </a:p>
          <a:p>
            <a:r>
              <a:rPr sz="1400">
                <a:latin typeface="Arial"/>
                <a:ea typeface="Arial"/>
                <a:cs typeface="Arial"/>
              </a:rPr>
              <a:t>docs/assignment/SDD/diagrams/delivery-rings.dot</a:t>
            </a:r>
            <a:endParaRPr sz="1400"/>
          </a:p>
          <a:p>
            <a:r>
              <a:rPr sz="1400">
                <a:latin typeface="Arial"/>
                <a:ea typeface="Arial"/>
                <a:cs typeface="Arial"/>
              </a:rPr>
              <a:t>docs/assignment/Inception/Inception.md section 18</a:t>
            </a:r>
            <a:endParaRPr sz="1400"/>
          </a:p>
          <a:p>
            <a:r>
              <a:rPr sz="1400">
                <a:latin typeface="Arial"/>
                <a:ea typeface="Arial"/>
                <a:cs typeface="Arial"/>
              </a:rPr>
              <a:t>README.md section Delivery rings</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GitHub supplied the shared state that neither chat transcripts nor one agent memory could provide.</a:t>
            </a:r>
            <a:endParaRPr sz="1400"/>
          </a:p>
          <a:p>
            <a:endParaRPr sz="1400"/>
          </a:p>
          <a:p>
            <a:r>
              <a:rPr sz="1400">
                <a:latin typeface="Arial"/>
                <a:ea typeface="Arial"/>
                <a:cs typeface="Arial"/>
              </a:rPr>
              <a:t>SCRIPT</a:t>
            </a:r>
            <a:endParaRPr sz="1400"/>
          </a:p>
          <a:p>
            <a:r>
              <a:rPr sz="1400">
                <a:latin typeface="Arial"/>
                <a:ea typeface="Arial"/>
                <a:cs typeface="Arial"/>
              </a:rPr>
              <a:t>The human chose priorities, resolved trade-offs and accepted results. Agents received bounded work, published change and evidence, and reviewed each other through the same durable graph. Native GitHub relations carried ownership and dependency. Two typed Project fields added only the planning dimensions GitHub does not represent natively.</a:t>
            </a:r>
            <a:endParaRPr sz="1400"/>
          </a:p>
          <a:p>
            <a:endParaRPr sz="1400"/>
          </a:p>
          <a:p>
            <a:r>
              <a:rPr sz="1400">
                <a:latin typeface="Arial"/>
                <a:ea typeface="Arial"/>
                <a:cs typeface="Arial"/>
              </a:rPr>
              <a:t>DO NOT SAY</a:t>
            </a:r>
            <a:endParaRPr sz="1400"/>
          </a:p>
          <a:p>
            <a:r>
              <a:rPr sz="1400">
                <a:latin typeface="Arial"/>
                <a:ea typeface="Arial"/>
                <a:cs typeface="Arial"/>
              </a:rPr>
              <a:t>Do not claim enterprise integration. Do not present labels or prose as lifecycle state. Do not imply that an agent can merge its own unreviewed result.</a:t>
            </a:r>
            <a:endParaRPr sz="1400"/>
          </a:p>
          <a:p>
            <a:endParaRPr sz="1400"/>
          </a:p>
          <a:p>
            <a:r>
              <a:rPr sz="1400">
                <a:latin typeface="Arial"/>
                <a:ea typeface="Arial"/>
                <a:cs typeface="Arial"/>
              </a:rPr>
              <a:t>TRANSITION</a:t>
            </a:r>
            <a:endParaRPr sz="1400"/>
          </a:p>
          <a:p>
            <a:r>
              <a:rPr sz="1400">
                <a:latin typeface="Arial"/>
                <a:ea typeface="Arial"/>
                <a:cs typeface="Arial"/>
              </a:rPr>
              <a:t>The same graph can be projected for different management conversations.</a:t>
            </a:r>
            <a:endParaRPr sz="1400"/>
          </a:p>
          <a:p>
            <a:endParaRPr sz="1400"/>
          </a:p>
          <a:p>
            <a:r>
              <a:rPr sz="1400">
                <a:latin typeface="Arial"/>
                <a:ea typeface="Arial"/>
                <a:cs typeface="Arial"/>
              </a:rPr>
              <a:t>TIME</a:t>
            </a:r>
            <a:endParaRPr sz="1400"/>
          </a:p>
          <a:p>
            <a:r>
              <a:rPr sz="1400">
                <a:latin typeface="Arial"/>
                <a:ea typeface="Arial"/>
                <a:cs typeface="Arial"/>
              </a:rPr>
              <a:t>01:00</a:t>
            </a:r>
            <a:endParaRPr sz="1400"/>
          </a:p>
          <a:p>
            <a:endParaRPr sz="1400"/>
          </a:p>
          <a:p>
            <a:r>
              <a:rPr sz="1400">
                <a:latin typeface="Arial"/>
                <a:ea typeface="Arial"/>
                <a:cs typeface="Arial"/>
              </a:rPr>
              <a:t>LIKELY QUESTION</a:t>
            </a:r>
            <a:endParaRPr sz="1400"/>
          </a:p>
          <a:p>
            <a:r>
              <a:rPr sz="1400">
                <a:latin typeface="Arial"/>
                <a:ea typeface="Arial"/>
                <a:cs typeface="Arial"/>
              </a:rPr>
              <a:t>Why use GitHub as the control plane instead of a custom agent dashboard?</a:t>
            </a:r>
            <a:endParaRPr sz="1400"/>
          </a:p>
          <a:p>
            <a:endParaRPr sz="1400"/>
          </a:p>
          <a:p>
            <a:r>
              <a:rPr sz="1400">
                <a:latin typeface="Arial"/>
                <a:ea typeface="Arial"/>
                <a:cs typeface="Arial"/>
              </a:rPr>
              <a:t>DIRECT ANSWER</a:t>
            </a:r>
            <a:endParaRPr sz="1400"/>
          </a:p>
          <a:p>
            <a:r>
              <a:rPr sz="1400">
                <a:latin typeface="Arial"/>
                <a:ea typeface="Arial"/>
                <a:cs typeface="Arial"/>
              </a:rPr>
              <a:t>GitHub already owns review, code identity, issues, pull requests and most work relationships. Reusing it reduced custom machinery and kept the human in familiar controls.</a:t>
            </a:r>
            <a:endParaRPr sz="1400"/>
          </a:p>
          <a:p>
            <a:endParaRPr sz="1400"/>
          </a:p>
          <a:p>
            <a:r>
              <a:rPr sz="1400">
                <a:latin typeface="Arial"/>
                <a:ea typeface="Arial"/>
                <a:cs typeface="Arial"/>
              </a:rPr>
              <a:t>SOURCES</a:t>
            </a:r>
            <a:endParaRPr sz="1400"/>
          </a:p>
          <a:p>
            <a:r>
              <a:rPr sz="1400">
                <a:latin typeface="Arial"/>
                <a:ea typeface="Arial"/>
                <a:cs typeface="Arial"/>
              </a:rPr>
              <a:t>AGENTS.md</a:t>
            </a:r>
            <a:endParaRPr sz="1400"/>
          </a:p>
          <a:p>
            <a:r>
              <a:rPr sz="1400">
                <a:latin typeface="Arial"/>
                <a:ea typeface="Arial"/>
                <a:cs typeface="Arial"/>
              </a:rPr>
              <a:t>docs/assignment/Inception/Inception.md section 22</a:t>
            </a:r>
            <a:endParaRPr sz="1400"/>
          </a:p>
          <a:p>
            <a:r>
              <a:rPr sz="1400">
                <a:latin typeface="Arial"/>
                <a:ea typeface="Arial"/>
                <a:cs typeface="Arial"/>
              </a:rPr>
              <a:t>https://github.com/jdoe-dev-159753/specgraph-harness/issues/28</a:t>
            </a:r>
            <a:endParaRPr sz="1400"/>
          </a:p>
          <a:p>
            <a:r>
              <a:rPr sz="1400">
                <a:latin typeface="Arial"/>
                <a:ea typeface="Arial"/>
                <a:cs typeface="Arial"/>
              </a:rPr>
              <a:t>scripts/work_graph_guard.py</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graph supports four views without creating four sources of truth.</a:t>
            </a:r>
            <a:endParaRPr sz="1400"/>
          </a:p>
          <a:p>
            <a:endParaRPr sz="1400"/>
          </a:p>
          <a:p>
            <a:r>
              <a:rPr sz="1400">
                <a:latin typeface="Arial"/>
                <a:ea typeface="Arial"/>
                <a:cs typeface="Arial"/>
              </a:rPr>
              <a:t>SCRIPT</a:t>
            </a:r>
            <a:endParaRPr sz="1400"/>
          </a:p>
          <a:p>
            <a:r>
              <a:rPr sz="1400">
                <a:latin typeface="Arial"/>
                <a:ea typeface="Arial"/>
                <a:cs typeface="Arial"/>
              </a:rPr>
              <a:t>WorkGraph answers structure and dependency. Delivery answers current execution. Milestones answer time sequencing. Burn-up separates completed work from changing scope. These conceptual projections explain the management model without disclosing a private Project capture.</a:t>
            </a:r>
            <a:endParaRPr sz="1400"/>
          </a:p>
          <a:p>
            <a:endParaRPr sz="1400"/>
          </a:p>
          <a:p>
            <a:r>
              <a:rPr sz="1400">
                <a:latin typeface="Arial"/>
                <a:ea typeface="Arial"/>
                <a:cs typeface="Arial"/>
              </a:rPr>
              <a:t>DO NOT SAY</a:t>
            </a:r>
            <a:endParaRPr sz="1400"/>
          </a:p>
          <a:p>
            <a:r>
              <a:rPr sz="1400">
                <a:latin typeface="Arial"/>
                <a:ea typeface="Arial"/>
                <a:cs typeface="Arial"/>
              </a:rPr>
              <a:t>Do not present these diagrams as a live Project snapshot. Do not infer priority from the Kanban or milestone dates.</a:t>
            </a:r>
            <a:endParaRPr sz="1400"/>
          </a:p>
          <a:p>
            <a:endParaRPr sz="1400"/>
          </a:p>
          <a:p>
            <a:r>
              <a:rPr sz="1400">
                <a:latin typeface="Arial"/>
                <a:ea typeface="Arial"/>
                <a:cs typeface="Arial"/>
              </a:rPr>
              <a:t>TRANSITION</a:t>
            </a:r>
            <a:endParaRPr sz="1400"/>
          </a:p>
          <a:p>
            <a:r>
              <a:rPr sz="1400">
                <a:latin typeface="Arial"/>
                <a:ea typeface="Arial"/>
                <a:cs typeface="Arial"/>
              </a:rPr>
              <a:t>The next slide shows how deterministic feedback constrains the work before human acceptance.</a:t>
            </a:r>
            <a:endParaRPr sz="1400"/>
          </a:p>
          <a:p>
            <a:endParaRPr sz="1400"/>
          </a:p>
          <a:p>
            <a:r>
              <a:rPr sz="1400">
                <a:latin typeface="Arial"/>
                <a:ea typeface="Arial"/>
                <a:cs typeface="Arial"/>
              </a:rPr>
              <a:t>TIME</a:t>
            </a:r>
            <a:endParaRPr sz="1400"/>
          </a:p>
          <a:p>
            <a:r>
              <a:rPr sz="1400">
                <a:latin typeface="Arial"/>
                <a:ea typeface="Arial"/>
                <a:cs typeface="Arial"/>
              </a:rPr>
              <a:t>00:45</a:t>
            </a:r>
            <a:endParaRPr sz="1400"/>
          </a:p>
          <a:p>
            <a:endParaRPr sz="1400"/>
          </a:p>
          <a:p>
            <a:r>
              <a:rPr sz="1400">
                <a:latin typeface="Arial"/>
                <a:ea typeface="Arial"/>
                <a:cs typeface="Arial"/>
              </a:rPr>
              <a:t>LIKELY QUESTION</a:t>
            </a:r>
            <a:endParaRPr sz="1400"/>
          </a:p>
          <a:p>
            <a:r>
              <a:rPr sz="1400">
                <a:latin typeface="Arial"/>
                <a:ea typeface="Arial"/>
                <a:cs typeface="Arial"/>
              </a:rPr>
              <a:t>Why keep multiple views if the underlying items are the same?</a:t>
            </a:r>
            <a:endParaRPr sz="1400"/>
          </a:p>
          <a:p>
            <a:endParaRPr sz="1400"/>
          </a:p>
          <a:p>
            <a:r>
              <a:rPr sz="1400">
                <a:latin typeface="Arial"/>
                <a:ea typeface="Arial"/>
                <a:cs typeface="Arial"/>
              </a:rPr>
              <a:t>DIRECT ANSWER</a:t>
            </a:r>
            <a:endParaRPr sz="1400"/>
          </a:p>
          <a:p>
            <a:r>
              <a:rPr sz="1400">
                <a:latin typeface="Arial"/>
                <a:ea typeface="Arial"/>
                <a:cs typeface="Arial"/>
              </a:rPr>
              <a:t>Each view answers a different management question while preserving one underlying issue and pull-request graph.</a:t>
            </a:r>
            <a:endParaRPr sz="1400"/>
          </a:p>
          <a:p>
            <a:endParaRPr sz="1400"/>
          </a:p>
          <a:p>
            <a:r>
              <a:rPr sz="1400">
                <a:latin typeface="Arial"/>
                <a:ea typeface="Arial"/>
                <a:cs typeface="Arial"/>
              </a:rPr>
              <a:t>SOURCES</a:t>
            </a:r>
            <a:endParaRPr sz="1400"/>
          </a:p>
          <a:p>
            <a:r>
              <a:rPr sz="1400">
                <a:latin typeface="Arial"/>
                <a:ea typeface="Arial"/>
                <a:cs typeface="Arial"/>
              </a:rPr>
              <a:t>AGENTS.md sections Delivery priority, Discovery disposition and Project status</a:t>
            </a:r>
            <a:endParaRPr sz="1400"/>
          </a:p>
          <a:p>
            <a:r>
              <a:rPr sz="1400">
                <a:latin typeface="Arial"/>
                <a:ea typeface="Arial"/>
                <a:cs typeface="Arial"/>
              </a:rPr>
              <a:t>GitHub issue #49</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feedback hierarchy separates speed from authority.</a:t>
            </a:r>
            <a:endParaRPr sz="1400"/>
          </a:p>
          <a:p>
            <a:endParaRPr sz="1400"/>
          </a:p>
          <a:p>
            <a:r>
              <a:rPr sz="1400">
                <a:latin typeface="Arial"/>
                <a:ea typeface="Arial"/>
                <a:cs typeface="Arial"/>
              </a:rPr>
              <a:t>SCRIPT</a:t>
            </a:r>
            <a:endParaRPr sz="1400"/>
          </a:p>
          <a:p>
            <a:r>
              <a:rPr sz="1400">
                <a:latin typeface="Arial"/>
                <a:ea typeface="Arial"/>
                <a:cs typeface="Arial"/>
              </a:rPr>
              <a:t>Repository instructions constrain generation before tool use. The harness roadmap experiments with the earliest supported post-edit hook and a shared pre-commit command. Those faster layers reduce correction latency but remain bypassable. The reference application already uses exact-head design, test, security, Playwright and work-graph gates. One fresh Codex review binds to the frozen head. The human accepts only that reviewed SHA.</a:t>
            </a:r>
            <a:endParaRPr sz="1400"/>
          </a:p>
          <a:p>
            <a:endParaRPr sz="1400"/>
          </a:p>
          <a:p>
            <a:r>
              <a:rPr sz="1400">
                <a:latin typeface="Arial"/>
                <a:ea typeface="Arial"/>
                <a:cs typeface="Arial"/>
              </a:rPr>
              <a:t>DO NOT SAY</a:t>
            </a:r>
            <a:endParaRPr sz="1400"/>
          </a:p>
          <a:p>
            <a:r>
              <a:rPr sz="1400">
                <a:latin typeface="Arial"/>
                <a:ea typeface="Arial"/>
                <a:cs typeface="Arial"/>
              </a:rPr>
              <a:t>Do not present the post-edit or pre-commit harness experiments as landed here. Do not call a pre-use hook a type checker for code that does not exist yet.</a:t>
            </a:r>
            <a:endParaRPr sz="1400"/>
          </a:p>
          <a:p>
            <a:endParaRPr sz="1400"/>
          </a:p>
          <a:p>
            <a:r>
              <a:rPr sz="1400">
                <a:latin typeface="Arial"/>
                <a:ea typeface="Arial"/>
                <a:cs typeface="Arial"/>
              </a:rPr>
              <a:t>TRANSITION</a:t>
            </a:r>
            <a:endParaRPr sz="1400"/>
          </a:p>
          <a:p>
            <a:r>
              <a:rPr sz="1400">
                <a:latin typeface="Arial"/>
                <a:ea typeface="Arial"/>
                <a:cs typeface="Arial"/>
              </a:rPr>
              <a:t>This control loop leads to the scale hypothesis for the pilot.</a:t>
            </a:r>
            <a:endParaRPr sz="1400"/>
          </a:p>
          <a:p>
            <a:endParaRPr sz="1400"/>
          </a:p>
          <a:p>
            <a:r>
              <a:rPr sz="1400">
                <a:latin typeface="Arial"/>
                <a:ea typeface="Arial"/>
                <a:cs typeface="Arial"/>
              </a:rPr>
              <a:t>TIME</a:t>
            </a:r>
            <a:endParaRPr sz="1400"/>
          </a:p>
          <a:p>
            <a:r>
              <a:rPr sz="1400">
                <a:latin typeface="Arial"/>
                <a:ea typeface="Arial"/>
                <a:cs typeface="Arial"/>
              </a:rPr>
              <a:t>00:55</a:t>
            </a:r>
            <a:endParaRPr sz="1400"/>
          </a:p>
          <a:p>
            <a:endParaRPr sz="1400"/>
          </a:p>
          <a:p>
            <a:r>
              <a:rPr sz="1400">
                <a:latin typeface="Arial"/>
                <a:ea typeface="Arial"/>
                <a:cs typeface="Arial"/>
              </a:rPr>
              <a:t>LIKELY QUESTION</a:t>
            </a:r>
            <a:endParaRPr sz="1400"/>
          </a:p>
          <a:p>
            <a:r>
              <a:rPr sz="1400">
                <a:latin typeface="Arial"/>
                <a:ea typeface="Arial"/>
                <a:cs typeface="Arial"/>
              </a:rPr>
              <a:t>Why use both deterministic checks and an AI review?</a:t>
            </a:r>
            <a:endParaRPr sz="1400"/>
          </a:p>
          <a:p>
            <a:endParaRPr sz="1400"/>
          </a:p>
          <a:p>
            <a:r>
              <a:rPr sz="1400">
                <a:latin typeface="Arial"/>
                <a:ea typeface="Arial"/>
                <a:cs typeface="Arial"/>
              </a:rPr>
              <a:t>DIRECT ANSWER</a:t>
            </a:r>
            <a:endParaRPr sz="1400"/>
          </a:p>
          <a:p>
            <a:r>
              <a:rPr sz="1400">
                <a:latin typeface="Arial"/>
                <a:ea typeface="Arial"/>
                <a:cs typeface="Arial"/>
              </a:rPr>
              <a:t>Checks own mechanically decidable rules. AI review focuses on ambiguity, architecture, counterexamples and missing evidence. The human reconciles findings and accepts the final head.</a:t>
            </a:r>
            <a:endParaRPr sz="1400"/>
          </a:p>
          <a:p>
            <a:endParaRPr sz="1400"/>
          </a:p>
          <a:p>
            <a:r>
              <a:rPr sz="1400">
                <a:latin typeface="Arial"/>
                <a:ea typeface="Arial"/>
                <a:cs typeface="Arial"/>
              </a:rPr>
              <a:t>SOURCES</a:t>
            </a:r>
            <a:endParaRPr sz="1400"/>
          </a:p>
          <a:p>
            <a:r>
              <a:rPr sz="1400">
                <a:latin typeface="Arial"/>
                <a:ea typeface="Arial"/>
                <a:cs typeface="Arial"/>
              </a:rPr>
              <a:t>AGENTS.md section Freeze, validation, review and merge sequencing</a:t>
            </a:r>
            <a:endParaRPr sz="1400"/>
          </a:p>
          <a:p>
            <a:r>
              <a:rPr sz="1400">
                <a:latin typeface="Arial"/>
                <a:ea typeface="Arial"/>
                <a:cs typeface="Arial"/>
              </a:rPr>
              <a:t>.github/workflows/application-ci.yml</a:t>
            </a:r>
            <a:endParaRPr sz="1400"/>
          </a:p>
          <a:p>
            <a:r>
              <a:rPr sz="1400">
                <a:latin typeface="Arial"/>
                <a:ea typeface="Arial"/>
                <a:cs typeface="Arial"/>
              </a:rPr>
              <a:t>.github/workflows/work-graph-guard.yml</a:t>
            </a:r>
            <a:endParaRPr sz="1400"/>
          </a:p>
          <a:p>
            <a:r>
              <a:rPr sz="1400">
                <a:latin typeface="Arial"/>
                <a:ea typeface="Arial"/>
                <a:cs typeface="Arial"/>
              </a:rPr>
              <a:t>https://github.com/jdoe-dev-159753/specgraph-harness/issues/74</a:t>
            </a:r>
            <a:endParaRPr sz="1400"/>
          </a:p>
          <a:p>
            <a:r>
              <a:rPr sz="1400">
                <a:latin typeface="Arial"/>
                <a:ea typeface="Arial"/>
                <a:cs typeface="Arial"/>
              </a:rPr>
              <a:t>https://github.com/jdoe-dev-159753/specgraph-harness/issues/35</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credible conclusion is a scale experiment, not a production claim.</a:t>
            </a:r>
            <a:endParaRPr sz="1400"/>
          </a:p>
          <a:p>
            <a:endParaRPr sz="1400"/>
          </a:p>
          <a:p>
            <a:r>
              <a:rPr sz="1400">
                <a:latin typeface="Arial"/>
                <a:ea typeface="Arial"/>
                <a:cs typeface="Arial"/>
              </a:rPr>
              <a:t>SCRIPT</a:t>
            </a:r>
            <a:endParaRPr sz="1400"/>
          </a:p>
          <a:p>
            <a:r>
              <a:rPr sz="1400">
                <a:latin typeface="Arial"/>
                <a:ea typeface="Arial"/>
                <a:cs typeface="Arial"/>
              </a:rPr>
              <a:t>This pilot demonstrates one complete delivery cell: an accountable engineer, bounded agents, a GitHub control plane, deterministic acceptance and one reviewable product path. The next test is whether the same method improves several real teams while fitting Swissquote process vocabulary, operational constraints and quality expectations.</a:t>
            </a:r>
            <a:endParaRPr sz="1400"/>
          </a:p>
          <a:p>
            <a:endParaRPr sz="1400"/>
          </a:p>
          <a:p>
            <a:r>
              <a:rPr sz="1400">
                <a:latin typeface="Arial"/>
                <a:ea typeface="Arial"/>
                <a:cs typeface="Arial"/>
              </a:rPr>
              <a:t>DO NOT SAY</a:t>
            </a:r>
            <a:endParaRPr sz="1400"/>
          </a:p>
          <a:p>
            <a:r>
              <a:rPr sz="1400">
                <a:latin typeface="Arial"/>
                <a:ea typeface="Arial"/>
                <a:cs typeface="Arial"/>
              </a:rPr>
              <a:t>Do not claim production AML performance, regulatory adequacy, enterprise integration, high availability or measured productivity improvement.</a:t>
            </a:r>
            <a:endParaRPr sz="1400"/>
          </a:p>
          <a:p>
            <a:endParaRPr sz="1400"/>
          </a:p>
          <a:p>
            <a:r>
              <a:rPr sz="1400">
                <a:latin typeface="Arial"/>
                <a:ea typeface="Arial"/>
                <a:cs typeface="Arial"/>
              </a:rPr>
              <a:t>TRANSITION</a:t>
            </a:r>
            <a:endParaRPr sz="1400"/>
          </a:p>
          <a:p>
            <a:r>
              <a:rPr sz="1400">
                <a:latin typeface="Arial"/>
                <a:ea typeface="Arial"/>
                <a:cs typeface="Arial"/>
              </a:rPr>
              <a:t>Invite questions and use the appendix for mechanism-level drill-down.</a:t>
            </a:r>
            <a:endParaRPr sz="1400"/>
          </a:p>
          <a:p>
            <a:endParaRPr sz="1400"/>
          </a:p>
          <a:p>
            <a:r>
              <a:rPr sz="1400">
                <a:latin typeface="Arial"/>
                <a:ea typeface="Arial"/>
                <a:cs typeface="Arial"/>
              </a:rPr>
              <a:t>TIME</a:t>
            </a:r>
            <a:endParaRPr sz="1400"/>
          </a:p>
          <a:p>
            <a:r>
              <a:rPr sz="1400">
                <a:latin typeface="Arial"/>
                <a:ea typeface="Arial"/>
                <a:cs typeface="Arial"/>
              </a:rPr>
              <a:t>00:35</a:t>
            </a:r>
            <a:endParaRPr sz="1400"/>
          </a:p>
          <a:p>
            <a:endParaRPr sz="1400"/>
          </a:p>
          <a:p>
            <a:r>
              <a:rPr sz="1400">
                <a:latin typeface="Arial"/>
                <a:ea typeface="Arial"/>
                <a:cs typeface="Arial"/>
              </a:rPr>
              <a:t>LIKELY QUESTION</a:t>
            </a:r>
            <a:endParaRPr sz="1400"/>
          </a:p>
          <a:p>
            <a:r>
              <a:rPr sz="1400">
                <a:latin typeface="Arial"/>
                <a:ea typeface="Arial"/>
                <a:cs typeface="Arial"/>
              </a:rPr>
              <a:t>What would you test before scaling this role?</a:t>
            </a:r>
            <a:endParaRPr sz="1400"/>
          </a:p>
          <a:p>
            <a:endParaRPr sz="1400"/>
          </a:p>
          <a:p>
            <a:r>
              <a:rPr sz="1400">
                <a:latin typeface="Arial"/>
                <a:ea typeface="Arial"/>
                <a:cs typeface="Arial"/>
              </a:rPr>
              <a:t>DIRECT ANSWER</a:t>
            </a:r>
            <a:endParaRPr sz="1400"/>
          </a:p>
          <a:p>
            <a:r>
              <a:rPr sz="1400">
                <a:latin typeface="Arial"/>
                <a:ea typeface="Arial"/>
                <a:cs typeface="Arial"/>
              </a:rPr>
              <a:t>Measure delivery throughput, escaped defects, review effort, model quality and operating cost across several bounded product increments, then adapt the control plane to existing enterprise systems.</a:t>
            </a:r>
            <a:endParaRPr sz="1400"/>
          </a:p>
          <a:p>
            <a:endParaRPr sz="1400"/>
          </a:p>
          <a:p>
            <a:r>
              <a:rPr sz="1400">
                <a:latin typeface="Arial"/>
                <a:ea typeface="Arial"/>
                <a:cs typeface="Arial"/>
              </a:rPr>
              <a:t>SOURCES</a:t>
            </a:r>
            <a:endParaRPr sz="1400"/>
          </a:p>
          <a:p>
            <a:r>
              <a:rPr sz="1400">
                <a:latin typeface="Arial"/>
                <a:ea typeface="Arial"/>
                <a:cs typeface="Arial"/>
              </a:rPr>
              <a:t>docs/assignment/Inception/Inception.md success criterion</a:t>
            </a:r>
            <a:endParaRPr sz="1400"/>
          </a:p>
          <a:p>
            <a:r>
              <a:rPr sz="1400">
                <a:latin typeface="Arial"/>
                <a:ea typeface="Arial"/>
                <a:cs typeface="Arial"/>
              </a:rPr>
              <a:t>GitHub issue #229 audience and narrative</a:t>
            </a:r>
            <a:endParaRPr sz="1400"/>
          </a:p>
          <a:p>
            <a:r>
              <a:rPr sz="1400">
                <a:latin typeface="Arial"/>
                <a:ea typeface="Arial"/>
                <a:cs typeface="Arial"/>
              </a:rPr>
              <a:t>GitHub issue #74</a:t>
            </a:r>
            <a:endParaRPr sz="1400"/>
          </a:p>
          <a:p>
            <a:r>
              <a:rPr sz="1400">
                <a:latin typeface="Arial"/>
                <a:ea typeface="Arial"/>
                <a:cs typeface="Arial"/>
              </a:rPr>
              <a:t>GitHub issue #250</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These are crops from authentic Playwright screenshots, not reconstructed mockups.</a:t>
            </a:r>
            <a:endParaRPr sz="1400"/>
          </a:p>
          <a:p>
            <a:endParaRPr sz="1400"/>
          </a:p>
          <a:p>
            <a:r>
              <a:rPr sz="1400">
                <a:latin typeface="Arial"/>
                <a:ea typeface="Arial"/>
                <a:cs typeface="Arial"/>
              </a:rPr>
              <a:t>SCRIPT</a:t>
            </a:r>
            <a:endParaRPr sz="1400"/>
          </a:p>
          <a:p>
            <a:r>
              <a:rPr sz="1400">
                <a:latin typeface="Arial"/>
                <a:ea typeface="Arial"/>
                <a:cs typeface="Arial"/>
              </a:rPr>
              <a:t>R1 shows the synthetic customer review. R2 shows storage substitution through the same visible contract. R3 adds deterministic analysis and history. R4 adds authenticated operator identity and real pgvector retrieval. These retained crops and their manifest form the mandatory fallback when the live path is unavailable; a short recording is optional.</a:t>
            </a:r>
            <a:endParaRPr sz="1400"/>
          </a:p>
          <a:p>
            <a:endParaRPr sz="1400"/>
          </a:p>
          <a:p>
            <a:r>
              <a:rPr sz="1400">
                <a:latin typeface="Arial"/>
                <a:ea typeface="Arial"/>
                <a:cs typeface="Arial"/>
              </a:rPr>
              <a:t>DO NOT SAY</a:t>
            </a:r>
            <a:endParaRPr sz="1400"/>
          </a:p>
          <a:p>
            <a:r>
              <a:rPr sz="1400">
                <a:latin typeface="Arial"/>
                <a:ea typeface="Arial"/>
                <a:cs typeface="Arial"/>
              </a:rPr>
              <a:t>Do not treat image recency as newer than the source SHA in the manifest. Do not present these crops as GitHub Project views.</a:t>
            </a:r>
            <a:endParaRPr sz="1400"/>
          </a:p>
          <a:p>
            <a:endParaRPr sz="1400"/>
          </a:p>
          <a:p>
            <a:r>
              <a:rPr sz="1400">
                <a:latin typeface="Arial"/>
                <a:ea typeface="Arial"/>
                <a:cs typeface="Arial"/>
              </a:rPr>
              <a:t>TRANSITION</a:t>
            </a:r>
            <a:endParaRPr sz="1400"/>
          </a:p>
          <a:p>
            <a:r>
              <a:rPr sz="1400">
                <a:latin typeface="Arial"/>
                <a:ea typeface="Arial"/>
                <a:cs typeface="Arial"/>
              </a:rPr>
              <a:t>Return to the relevant main slide or continue to the architecture appendix.</a:t>
            </a:r>
            <a:endParaRPr sz="1400"/>
          </a:p>
          <a:p>
            <a:endParaRPr sz="1400"/>
          </a:p>
          <a:p>
            <a:r>
              <a:rPr sz="1400">
                <a:latin typeface="Arial"/>
                <a:ea typeface="Arial"/>
                <a:cs typeface="Arial"/>
              </a:rPr>
              <a:t>TIME</a:t>
            </a:r>
            <a:endParaRPr sz="1400"/>
          </a:p>
          <a:p>
            <a:r>
              <a:rPr sz="1400">
                <a:latin typeface="Arial"/>
                <a:ea typeface="Arial"/>
                <a:cs typeface="Arial"/>
              </a:rPr>
              <a:t>As needed</a:t>
            </a:r>
            <a:endParaRPr sz="1400"/>
          </a:p>
          <a:p>
            <a:endParaRPr sz="1400"/>
          </a:p>
          <a:p>
            <a:r>
              <a:rPr sz="1400">
                <a:latin typeface="Arial"/>
                <a:ea typeface="Arial"/>
                <a:cs typeface="Arial"/>
              </a:rPr>
              <a:t>LIKELY QUESTION</a:t>
            </a:r>
            <a:endParaRPr sz="1400"/>
          </a:p>
          <a:p>
            <a:r>
              <a:rPr sz="1400">
                <a:latin typeface="Arial"/>
                <a:ea typeface="Arial"/>
                <a:cs typeface="Arial"/>
              </a:rPr>
              <a:t>Why trust these screenshots?</a:t>
            </a:r>
            <a:endParaRPr sz="1400"/>
          </a:p>
          <a:p>
            <a:endParaRPr sz="1400"/>
          </a:p>
          <a:p>
            <a:r>
              <a:rPr sz="1400">
                <a:latin typeface="Arial"/>
                <a:ea typeface="Arial"/>
                <a:cs typeface="Arial"/>
              </a:rPr>
              <a:t>DIRECT ANSWER</a:t>
            </a:r>
            <a:endParaRPr sz="1400"/>
          </a:p>
          <a:p>
            <a:r>
              <a:rPr sz="1400">
                <a:latin typeface="Arial"/>
                <a:ea typeface="Arial"/>
                <a:cs typeface="Arial"/>
              </a:rPr>
              <a:t>The workflows assert the ring-specific behavior before retaining the Playwright artifact, and the manifest records run, artifact, digest, customer and source revision.</a:t>
            </a:r>
            <a:endParaRPr sz="1400"/>
          </a:p>
          <a:p>
            <a:endParaRPr sz="1400"/>
          </a:p>
          <a:p>
            <a:r>
              <a:rPr sz="1400">
                <a:latin typeface="Arial"/>
                <a:ea typeface="Arial"/>
                <a:cs typeface="Arial"/>
              </a:rPr>
              <a:t>SOURCES</a:t>
            </a:r>
            <a:endParaRPr sz="1400"/>
          </a:p>
          <a:p>
            <a:r>
              <a:rPr sz="1400">
                <a:latin typeface="Arial"/>
                <a:ea typeface="Arial"/>
                <a:cs typeface="Arial"/>
              </a:rPr>
              <a:t>docs/reviewer/screenshot-manifest.md</a:t>
            </a:r>
            <a:endParaRPr sz="1400"/>
          </a:p>
          <a:p>
            <a:r>
              <a:rPr sz="1400">
                <a:latin typeface="Arial"/>
                <a:ea typeface="Arial"/>
                <a:cs typeface="Arial"/>
              </a:rPr>
              <a:t>R1/R2/R3 artifact 9844165175</a:t>
            </a:r>
            <a:endParaRPr sz="1400"/>
          </a:p>
          <a:p>
            <a:r>
              <a:rPr sz="1400">
                <a:latin typeface="Arial"/>
                <a:ea typeface="Arial"/>
                <a:cs typeface="Arial"/>
              </a:rPr>
              <a:t>R4 artifact 9856114241</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ADRs preserve the why behind choices that would otherwise look arbitrary.</a:t>
            </a:r>
            <a:endParaRPr sz="1400"/>
          </a:p>
          <a:p>
            <a:endParaRPr sz="1400"/>
          </a:p>
          <a:p>
            <a:r>
              <a:rPr sz="1400">
                <a:latin typeface="Arial"/>
                <a:ea typeface="Arial"/>
                <a:cs typeface="Arial"/>
              </a:rPr>
              <a:t>SCRIPT</a:t>
            </a:r>
            <a:endParaRPr sz="1400"/>
          </a:p>
          <a:p>
            <a:r>
              <a:rPr sz="1400">
                <a:latin typeface="Arial"/>
                <a:ea typeface="Arial"/>
                <a:cs typeface="Arial"/>
              </a:rPr>
              <a:t>Open the individual links when a reviewer challenges a trade-off. The ADRs cover module shape, AI trust boundaries, persistence, stack reuse, packaging, distribution, relational access and public product identity. They record rejected alternatives and consequences rather than repeating the SDD.</a:t>
            </a:r>
            <a:endParaRPr sz="1400"/>
          </a:p>
          <a:p>
            <a:endParaRPr sz="1400"/>
          </a:p>
          <a:p>
            <a:r>
              <a:rPr sz="1400">
                <a:latin typeface="Arial"/>
                <a:ea typeface="Arial"/>
                <a:cs typeface="Arial"/>
              </a:rPr>
              <a:t>DO NOT SAY</a:t>
            </a:r>
            <a:endParaRPr sz="1400"/>
          </a:p>
          <a:p>
            <a:r>
              <a:rPr sz="1400">
                <a:latin typeface="Arial"/>
                <a:ea typeface="Arial"/>
                <a:cs typeface="Arial"/>
              </a:rPr>
              <a:t>Do not treat ADRs as current execution evidence. Tests, code and workflow results own current behavior.</a:t>
            </a:r>
            <a:endParaRPr sz="1400"/>
          </a:p>
          <a:p>
            <a:endParaRPr sz="1400"/>
          </a:p>
          <a:p>
            <a:r>
              <a:rPr sz="1400">
                <a:latin typeface="Arial"/>
                <a:ea typeface="Arial"/>
                <a:cs typeface="Arial"/>
              </a:rPr>
              <a:t>TRANSITION</a:t>
            </a:r>
            <a:endParaRPr sz="1400"/>
          </a:p>
          <a:p>
            <a:r>
              <a:rPr sz="1400">
                <a:latin typeface="Arial"/>
                <a:ea typeface="Arial"/>
                <a:cs typeface="Arial"/>
              </a:rPr>
              <a:t>Use the submodel slides only for mechanism-level questions.</a:t>
            </a:r>
            <a:endParaRPr sz="1400"/>
          </a:p>
          <a:p>
            <a:endParaRPr sz="1400"/>
          </a:p>
          <a:p>
            <a:r>
              <a:rPr sz="1400">
                <a:latin typeface="Arial"/>
                <a:ea typeface="Arial"/>
                <a:cs typeface="Arial"/>
              </a:rPr>
              <a:t>TIME</a:t>
            </a:r>
            <a:endParaRPr sz="1400"/>
          </a:p>
          <a:p>
            <a:r>
              <a:rPr sz="1400">
                <a:latin typeface="Arial"/>
                <a:ea typeface="Arial"/>
                <a:cs typeface="Arial"/>
              </a:rPr>
              <a:t>As needed</a:t>
            </a:r>
            <a:endParaRPr sz="1400"/>
          </a:p>
          <a:p>
            <a:endParaRPr sz="1400"/>
          </a:p>
          <a:p>
            <a:r>
              <a:rPr sz="1400">
                <a:latin typeface="Arial"/>
                <a:ea typeface="Arial"/>
                <a:cs typeface="Arial"/>
              </a:rPr>
              <a:t>LIKELY QUESTION</a:t>
            </a:r>
            <a:endParaRPr sz="1400"/>
          </a:p>
          <a:p>
            <a:r>
              <a:rPr sz="1400">
                <a:latin typeface="Arial"/>
                <a:ea typeface="Arial"/>
                <a:cs typeface="Arial"/>
              </a:rPr>
              <a:t>Why eight ADRs for a five-day exercise?</a:t>
            </a:r>
            <a:endParaRPr sz="1400"/>
          </a:p>
          <a:p>
            <a:endParaRPr sz="1400"/>
          </a:p>
          <a:p>
            <a:r>
              <a:rPr sz="1400">
                <a:latin typeface="Arial"/>
                <a:ea typeface="Arial"/>
                <a:cs typeface="Arial"/>
              </a:rPr>
              <a:t>DIRECT ANSWER</a:t>
            </a:r>
            <a:endParaRPr sz="1400"/>
          </a:p>
          <a:p>
            <a:r>
              <a:rPr sz="1400">
                <a:latin typeface="Arial"/>
                <a:ea typeface="Arial"/>
                <a:cs typeface="Arial"/>
              </a:rPr>
              <a:t>Only choices with durable alternatives received an ADR. The records make substitution and later review cheaper without turning every implementation detail into architecture.</a:t>
            </a:r>
            <a:endParaRPr sz="1400"/>
          </a:p>
          <a:p>
            <a:endParaRPr sz="1400"/>
          </a:p>
          <a:p>
            <a:r>
              <a:rPr sz="1400">
                <a:latin typeface="Arial"/>
                <a:ea typeface="Arial"/>
                <a:cs typeface="Arial"/>
              </a:rPr>
              <a:t>SOURCES</a:t>
            </a:r>
            <a:endParaRPr sz="1400"/>
          </a:p>
          <a:p>
            <a:r>
              <a:rPr sz="1400">
                <a:latin typeface="Arial"/>
                <a:ea typeface="Arial"/>
                <a:cs typeface="Arial"/>
              </a:rPr>
              <a:t>docs/assignment/ADR/</a:t>
            </a:r>
            <a:endParaRPr sz="1400"/>
          </a:p>
          <a:p>
            <a:r>
              <a:rPr sz="1400">
                <a:latin typeface="Arial"/>
                <a:ea typeface="Arial"/>
                <a:cs typeface="Arial"/>
              </a:rPr>
              <a:t>docs/assignment/SDD/SDD.md section 13</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plot shows how evidence changes the whole distribution, not only the final scalar.</a:t>
            </a:r>
            <a:endParaRPr sz="1400"/>
          </a:p>
          <a:p>
            <a:endParaRPr sz="1400"/>
          </a:p>
          <a:p>
            <a:r>
              <a:rPr sz="1400">
                <a:latin typeface="Arial"/>
                <a:ea typeface="Arial"/>
                <a:cs typeface="Arial"/>
              </a:rPr>
              <a:t>SCRIPT</a:t>
            </a:r>
            <a:endParaRPr sz="1400"/>
          </a:p>
          <a:p>
            <a:r>
              <a:rPr sz="1400">
                <a:latin typeface="Arial"/>
                <a:ea typeface="Arial"/>
                <a:cs typeface="Arial"/>
              </a:rPr>
              <a:t>The blue curve is the explicit Beta one-four prior. This test case maps three of four activities to review-elevated observations, producing Beta four-five. The red posterior shifts its mean from 0.20 to 0.44. The shaded area above the fixed 0.40 reference equals 0.594 and becomes the emitted signal.</a:t>
            </a:r>
            <a:endParaRPr sz="1400"/>
          </a:p>
          <a:p>
            <a:endParaRPr sz="1400"/>
          </a:p>
          <a:p>
            <a:r>
              <a:rPr sz="1400">
                <a:latin typeface="Arial"/>
                <a:ea typeface="Arial"/>
                <a:cs typeface="Arial"/>
              </a:rPr>
              <a:t>DO NOT SAY</a:t>
            </a:r>
            <a:endParaRPr sz="1400"/>
          </a:p>
          <a:p>
            <a:r>
              <a:rPr sz="1400">
                <a:latin typeface="Arial"/>
                <a:ea typeface="Arial"/>
                <a:cs typeface="Arial"/>
              </a:rPr>
              <a:t>Do not call the result a probability of fraud or money laundering. Do not claim production calibration.</a:t>
            </a:r>
            <a:endParaRPr sz="1400"/>
          </a:p>
          <a:p>
            <a:endParaRPr sz="1400"/>
          </a:p>
          <a:p>
            <a:r>
              <a:rPr sz="1400">
                <a:latin typeface="Arial"/>
                <a:ea typeface="Arial"/>
                <a:cs typeface="Arial"/>
              </a:rPr>
              <a:t>TRANSITION</a:t>
            </a:r>
            <a:endParaRPr sz="1400"/>
          </a:p>
          <a:p>
            <a:r>
              <a:rPr sz="1400">
                <a:latin typeface="Arial"/>
                <a:ea typeface="Arial"/>
                <a:cs typeface="Arial"/>
              </a:rPr>
              <a:t>The fuzzy alternative expresses graded thresholds instead of a binary observation mapping.</a:t>
            </a:r>
            <a:endParaRPr sz="1400"/>
          </a:p>
          <a:p>
            <a:endParaRPr sz="1400"/>
          </a:p>
          <a:p>
            <a:r>
              <a:rPr sz="1400">
                <a:latin typeface="Arial"/>
                <a:ea typeface="Arial"/>
                <a:cs typeface="Arial"/>
              </a:rPr>
              <a:t>TIME</a:t>
            </a:r>
            <a:endParaRPr sz="1400"/>
          </a:p>
          <a:p>
            <a:r>
              <a:rPr sz="1400">
                <a:latin typeface="Arial"/>
                <a:ea typeface="Arial"/>
                <a:cs typeface="Arial"/>
              </a:rPr>
              <a:t>00:60 if asked</a:t>
            </a:r>
            <a:endParaRPr sz="1400"/>
          </a:p>
          <a:p>
            <a:endParaRPr sz="1400"/>
          </a:p>
          <a:p>
            <a:r>
              <a:rPr sz="1400">
                <a:latin typeface="Arial"/>
                <a:ea typeface="Arial"/>
                <a:cs typeface="Arial"/>
              </a:rPr>
              <a:t>LIKELY QUESTION</a:t>
            </a:r>
            <a:endParaRPr sz="1400"/>
          </a:p>
          <a:p>
            <a:r>
              <a:rPr sz="1400">
                <a:latin typeface="Arial"/>
                <a:ea typeface="Arial"/>
                <a:cs typeface="Arial"/>
              </a:rPr>
              <a:t>What does the Bayesian score mean?</a:t>
            </a:r>
            <a:endParaRPr sz="1400"/>
          </a:p>
          <a:p>
            <a:endParaRPr sz="1400"/>
          </a:p>
          <a:p>
            <a:r>
              <a:rPr sz="1400">
                <a:latin typeface="Arial"/>
                <a:ea typeface="Arial"/>
                <a:cs typeface="Arial"/>
              </a:rPr>
              <a:t>DIRECT ANSWER</a:t>
            </a:r>
            <a:endParaRPr sz="1400"/>
          </a:p>
          <a:p>
            <a:r>
              <a:rPr sz="1400">
                <a:latin typeface="Arial"/>
                <a:ea typeface="Arial"/>
                <a:cs typeface="Arial"/>
              </a:rPr>
              <a:t>It means the posterior probability that this synthetic review-elevated observation rate exceeds the fixed 0.40 reference, under the explicit Beta prior and mapping.</a:t>
            </a:r>
            <a:endParaRPr sz="1400"/>
          </a:p>
          <a:p>
            <a:endParaRPr sz="1400"/>
          </a:p>
          <a:p>
            <a:r>
              <a:rPr sz="1400">
                <a:latin typeface="Arial"/>
                <a:ea typeface="Arial"/>
                <a:cs typeface="Arial"/>
              </a:rPr>
              <a:t>SOURCES</a:t>
            </a:r>
            <a:endParaRPr sz="1400"/>
          </a:p>
          <a:p>
            <a:r>
              <a:rPr sz="1400">
                <a:latin typeface="Arial"/>
                <a:ea typeface="Arial"/>
                <a:cs typeface="Arial"/>
              </a:rPr>
              <a:t>backend/src/main/java/dev/specgraph/reference/analysis/BayesianSequentialRiskSignalDetectorAdapter.java</a:t>
            </a:r>
            <a:endParaRPr sz="1400"/>
          </a:p>
          <a:p>
            <a:r>
              <a:rPr sz="1400">
                <a:latin typeface="Arial"/>
                <a:ea typeface="Arial"/>
                <a:cs typeface="Arial"/>
              </a:rPr>
              <a:t>backend/src/test/java/dev/specgraph/reference/analysis/BayesianSequentialRiskSignalDetectorAdapterTests.java</a:t>
            </a:r>
            <a:endParaRPr sz="1400"/>
          </a:p>
          <a:p>
            <a:r>
              <a:rPr sz="1400">
                <a:latin typeface="Arial"/>
                <a:ea typeface="Arial"/>
                <a:cs typeface="Arial"/>
              </a:rPr>
              <a:t>https://docs.scipy.org/doc/scipy/reference/generated/scipy.stats.beta.html</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These are linear right-shoulder membership functions, not probability distributions.</a:t>
            </a:r>
            <a:endParaRPr sz="1400"/>
          </a:p>
          <a:p>
            <a:endParaRPr sz="1400"/>
          </a:p>
          <a:p>
            <a:r>
              <a:rPr sz="1400">
                <a:latin typeface="Arial"/>
                <a:ea typeface="Arial"/>
                <a:cs typeface="Arial"/>
              </a:rPr>
              <a:t>SCRIPT</a:t>
            </a:r>
            <a:endParaRPr sz="1400"/>
          </a:p>
          <a:p>
            <a:r>
              <a:rPr sz="1400">
                <a:latin typeface="Arial"/>
                <a:ea typeface="Arial"/>
                <a:cs typeface="Arial"/>
              </a:rPr>
              <a:t>The implementation calls this function rising. Values at or below a receive zero membership. The interval from a to b gives graded activation. Values at or above b receive full activation. The cross-border plus source-risk rule takes the minimum of both memberships. A monotonic weighted singleton mean then combines the baseline and positive rules.</a:t>
            </a:r>
            <a:endParaRPr sz="1400"/>
          </a:p>
          <a:p>
            <a:endParaRPr sz="1400"/>
          </a:p>
          <a:p>
            <a:r>
              <a:rPr sz="1400">
                <a:latin typeface="Arial"/>
                <a:ea typeface="Arial"/>
                <a:cs typeface="Arial"/>
              </a:rPr>
              <a:t>DO NOT SAY</a:t>
            </a:r>
            <a:endParaRPr sz="1400"/>
          </a:p>
          <a:p>
            <a:r>
              <a:rPr sz="1400">
                <a:latin typeface="Arial"/>
                <a:ea typeface="Arial"/>
                <a:cs typeface="Arial"/>
              </a:rPr>
              <a:t>Do not call fuzzy membership a statistical probability. Do not claim these synthetic thresholds are institutional policy.</a:t>
            </a:r>
            <a:endParaRPr sz="1400"/>
          </a:p>
          <a:p>
            <a:endParaRPr sz="1400"/>
          </a:p>
          <a:p>
            <a:r>
              <a:rPr sz="1400">
                <a:latin typeface="Arial"/>
                <a:ea typeface="Arial"/>
                <a:cs typeface="Arial"/>
              </a:rPr>
              <a:t>TRANSITION</a:t>
            </a:r>
            <a:endParaRPr sz="1400"/>
          </a:p>
          <a:p>
            <a:r>
              <a:rPr sz="1400">
                <a:latin typeface="Arial"/>
                <a:ea typeface="Arial"/>
                <a:cs typeface="Arial"/>
              </a:rPr>
              <a:t>The next conditional slide explains how different detector families could be arbitrated after their semantics become comparable.</a:t>
            </a:r>
            <a:endParaRPr sz="1400"/>
          </a:p>
          <a:p>
            <a:endParaRPr sz="1400"/>
          </a:p>
          <a:p>
            <a:r>
              <a:rPr sz="1400">
                <a:latin typeface="Arial"/>
                <a:ea typeface="Arial"/>
                <a:cs typeface="Arial"/>
              </a:rPr>
              <a:t>TIME</a:t>
            </a:r>
            <a:endParaRPr sz="1400"/>
          </a:p>
          <a:p>
            <a:r>
              <a:rPr sz="1400">
                <a:latin typeface="Arial"/>
                <a:ea typeface="Arial"/>
                <a:cs typeface="Arial"/>
              </a:rPr>
              <a:t>00:60 if asked</a:t>
            </a:r>
            <a:endParaRPr sz="1400"/>
          </a:p>
          <a:p>
            <a:endParaRPr sz="1400"/>
          </a:p>
          <a:p>
            <a:r>
              <a:rPr sz="1400">
                <a:latin typeface="Arial"/>
                <a:ea typeface="Arial"/>
                <a:cs typeface="Arial"/>
              </a:rPr>
              <a:t>LIKELY QUESTION</a:t>
            </a:r>
            <a:endParaRPr sz="1400"/>
          </a:p>
          <a:p>
            <a:r>
              <a:rPr sz="1400">
                <a:latin typeface="Arial"/>
                <a:ea typeface="Arial"/>
                <a:cs typeface="Arial"/>
              </a:rPr>
              <a:t>Are the plateau values validated risk thresholds?</a:t>
            </a:r>
            <a:endParaRPr sz="1400"/>
          </a:p>
          <a:p>
            <a:endParaRPr sz="1400"/>
          </a:p>
          <a:p>
            <a:r>
              <a:rPr sz="1400">
                <a:latin typeface="Arial"/>
                <a:ea typeface="Arial"/>
                <a:cs typeface="Arial"/>
              </a:rPr>
              <a:t>DIRECT ANSWER</a:t>
            </a:r>
            <a:endParaRPr sz="1400"/>
          </a:p>
          <a:p>
            <a:r>
              <a:rPr sz="1400">
                <a:latin typeface="Arial"/>
                <a:ea typeface="Arial"/>
                <a:cs typeface="Arial"/>
              </a:rPr>
              <a:t>No. They are synthetic demonstration parameters chosen to give a bounded monotonic response. A production setting would need policy ownership, empirical evaluation and versioned approval.</a:t>
            </a:r>
            <a:endParaRPr sz="1400"/>
          </a:p>
          <a:p>
            <a:endParaRPr sz="1400"/>
          </a:p>
          <a:p>
            <a:r>
              <a:rPr sz="1400">
                <a:latin typeface="Arial"/>
                <a:ea typeface="Arial"/>
                <a:cs typeface="Arial"/>
              </a:rPr>
              <a:t>SOURCES</a:t>
            </a:r>
            <a:endParaRPr sz="1400"/>
          </a:p>
          <a:p>
            <a:r>
              <a:rPr sz="1400">
                <a:latin typeface="Arial"/>
                <a:ea typeface="Arial"/>
                <a:cs typeface="Arial"/>
              </a:rPr>
              <a:t>backend/src/main/java/dev/specgraph/reference/analysis/FuzzyRiskSignalDetectorAdapter.java</a:t>
            </a:r>
            <a:endParaRPr sz="1400"/>
          </a:p>
          <a:p>
            <a:r>
              <a:rPr sz="1400">
                <a:latin typeface="Arial"/>
                <a:ea typeface="Arial"/>
                <a:cs typeface="Arial"/>
              </a:rPr>
              <a:t>backend/src/test/java/dev/specgraph/reference/analysis/FuzzyRiskSignalDetectorAdapterTests.java</a:t>
            </a:r>
            <a:endParaRPr sz="1400"/>
          </a:p>
          <a:p>
            <a:r>
              <a:rPr sz="1400">
                <a:latin typeface="Arial"/>
                <a:ea typeface="Arial"/>
                <a:cs typeface="Arial"/>
              </a:rPr>
              <a:t>https://www.mathworks.com/help/fuzzy/linearsshapedmf.html</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final scope excludes calibrated late fusion.</a:t>
            </a:r>
            <a:endParaRPr sz="1400"/>
          </a:p>
          <a:p>
            <a:endParaRPr sz="1400"/>
          </a:p>
          <a:p>
            <a:r>
              <a:rPr sz="1400">
                <a:latin typeface="Arial"/>
                <a:ea typeface="Arial"/>
                <a:cs typeface="Arial"/>
              </a:rPr>
              <a:t>SCRIPT</a:t>
            </a:r>
            <a:endParaRPr sz="1400"/>
          </a:p>
          <a:p>
            <a:r>
              <a:rPr sz="1400">
                <a:latin typeface="Arial"/>
                <a:ea typeface="Arial"/>
                <a:cs typeface="Arial"/>
              </a:rPr>
              <a:t>Composite execution preserves unlike child evidence without combining scores. The dataset ceiling found four designed scenarios, no verified outcomes and generator leakage, so the project cannot measure a defensible fusion gain. Issue #254 therefore remains outside the delivered model portfolio.</a:t>
            </a:r>
            <a:endParaRPr sz="1400"/>
          </a:p>
          <a:p>
            <a:endParaRPr sz="1400"/>
          </a:p>
          <a:p>
            <a:r>
              <a:rPr sz="1400">
                <a:latin typeface="Arial"/>
                <a:ea typeface="Arial"/>
                <a:cs typeface="Arial"/>
              </a:rPr>
              <a:t>DO NOT SAY</a:t>
            </a:r>
            <a:endParaRPr sz="1400"/>
          </a:p>
          <a:p>
            <a:r>
              <a:rPr sz="1400">
                <a:latin typeface="Arial"/>
                <a:ea typeface="Arial"/>
                <a:cs typeface="Arial"/>
              </a:rPr>
              <a:t>Do not present current Composite execution as calibrated fusion. Do not claim accuracy improvement without a frozen benchmark.</a:t>
            </a:r>
            <a:endParaRPr sz="1400"/>
          </a:p>
          <a:p>
            <a:endParaRPr sz="1400"/>
          </a:p>
          <a:p>
            <a:r>
              <a:rPr sz="1400">
                <a:latin typeface="Arial"/>
                <a:ea typeface="Arial"/>
                <a:cs typeface="Arial"/>
              </a:rPr>
              <a:t>TRANSITION</a:t>
            </a:r>
            <a:endParaRPr sz="1400"/>
          </a:p>
          <a:p>
            <a:r>
              <a:rPr sz="1400">
                <a:latin typeface="Arial"/>
                <a:ea typeface="Arial"/>
                <a:cs typeface="Arial"/>
              </a:rPr>
              <a:t>The forest slide explains the delivered learned specialist.</a:t>
            </a:r>
            <a:endParaRPr sz="1400"/>
          </a:p>
          <a:p>
            <a:endParaRPr sz="1400"/>
          </a:p>
          <a:p>
            <a:r>
              <a:rPr sz="1400">
                <a:latin typeface="Arial"/>
                <a:ea typeface="Arial"/>
                <a:cs typeface="Arial"/>
              </a:rPr>
              <a:t>TIME</a:t>
            </a:r>
            <a:endParaRPr sz="1400"/>
          </a:p>
          <a:p>
            <a:r>
              <a:rPr sz="1400">
                <a:latin typeface="Arial"/>
                <a:ea typeface="Arial"/>
                <a:cs typeface="Arial"/>
              </a:rPr>
              <a:t>00:55 if asked</a:t>
            </a:r>
            <a:endParaRPr sz="1400"/>
          </a:p>
          <a:p>
            <a:endParaRPr sz="1400"/>
          </a:p>
          <a:p>
            <a:r>
              <a:rPr sz="1400">
                <a:latin typeface="Arial"/>
                <a:ea typeface="Arial"/>
                <a:cs typeface="Arial"/>
              </a:rPr>
              <a:t>LIKELY QUESTION</a:t>
            </a:r>
            <a:endParaRPr sz="1400"/>
          </a:p>
          <a:p>
            <a:r>
              <a:rPr sz="1400">
                <a:latin typeface="Arial"/>
                <a:ea typeface="Arial"/>
                <a:cs typeface="Arial"/>
              </a:rPr>
              <a:t>Why combine several weak detectors?</a:t>
            </a:r>
            <a:endParaRPr sz="1400"/>
          </a:p>
          <a:p>
            <a:endParaRPr sz="1400"/>
          </a:p>
          <a:p>
            <a:r>
              <a:rPr sz="1400">
                <a:latin typeface="Arial"/>
                <a:ea typeface="Arial"/>
                <a:cs typeface="Arial"/>
              </a:rPr>
              <a:t>DIRECT ANSWER</a:t>
            </a:r>
            <a:endParaRPr sz="1400"/>
          </a:p>
          <a:p>
            <a:r>
              <a:rPr sz="1400">
                <a:latin typeface="Arial"/>
                <a:ea typeface="Arial"/>
                <a:cs typeface="Arial"/>
              </a:rPr>
              <a:t>Specialists can make different errors. Fusion is useful only if comparable semantics and evaluation show that those differences improve the final signal.</a:t>
            </a:r>
            <a:endParaRPr sz="1400"/>
          </a:p>
          <a:p>
            <a:endParaRPr sz="1400"/>
          </a:p>
          <a:p>
            <a:r>
              <a:rPr sz="1400">
                <a:latin typeface="Arial"/>
                <a:ea typeface="Arial"/>
                <a:cs typeface="Arial"/>
              </a:rPr>
              <a:t>SOURCES</a:t>
            </a:r>
            <a:endParaRPr sz="1400"/>
          </a:p>
          <a:p>
            <a:r>
              <a:rPr sz="1400">
                <a:latin typeface="Arial"/>
                <a:ea typeface="Arial"/>
                <a:cs typeface="Arial"/>
              </a:rPr>
              <a:t>GitHub issue #224</a:t>
            </a:r>
            <a:endParaRPr sz="1400"/>
          </a:p>
          <a:p>
            <a:r>
              <a:rPr sz="1400">
                <a:latin typeface="Arial"/>
                <a:ea typeface="Arial"/>
                <a:cs typeface="Arial"/>
              </a:rPr>
              <a:t>GitHub issue #254 closed as not planned</a:t>
            </a:r>
            <a:endParaRPr sz="1400"/>
          </a:p>
          <a:p>
            <a:r>
              <a:rPr sz="1400">
                <a:latin typeface="Arial"/>
                <a:ea typeface="Arial"/>
                <a:cs typeface="Arial"/>
              </a:rPr>
              <a:t>docs/analysis/dataset-ceiling.md</a:t>
            </a:r>
            <a:endParaRPr sz="1400"/>
          </a:p>
          <a:p>
            <a:r>
              <a:rPr sz="1400">
                <a:latin typeface="Arial"/>
                <a:ea typeface="Arial"/>
                <a:cs typeface="Arial"/>
              </a:rPr>
              <a:t>docs/assignment/Presentation/appendix/submodels.md from PR #423 / issue #268</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The forest visual shows actual trees and the runtime aggregation semantics.</a:t>
            </a:r>
            <a:endParaRPr sz="1400"/>
          </a:p>
          <a:p>
            <a:endParaRPr sz="1400"/>
          </a:p>
          <a:p>
            <a:r>
              <a:rPr sz="1400">
                <a:latin typeface="Arial"/>
                <a:ea typeface="Arial"/>
                <a:cs typeface="Arial"/>
              </a:rPr>
              <a:t>SCRIPT</a:t>
            </a:r>
            <a:endParaRPr sz="1400"/>
          </a:p>
          <a:p>
            <a:r>
              <a:rPr sz="1400">
                <a:latin typeface="Arial"/>
                <a:ea typeface="Arial"/>
                <a:cs typeface="Arial"/>
              </a:rPr>
              <a:t>Each of the 31 Tribuo trees splits the bounded four-feature vector and emits one class vote. The runtime averages uniformly weighted REVIEW_ELEVATED votes. The fixed protobuf model and manifest carry SHA-256, trainer and feature-contract provenance. The adapter remains behind RiskSignalDetectorPort, so Tribuo types do not enter downstream contracts.</a:t>
            </a:r>
            <a:endParaRPr sz="1400"/>
          </a:p>
          <a:p>
            <a:endParaRPr sz="1400"/>
          </a:p>
          <a:p>
            <a:r>
              <a:rPr sz="1400">
                <a:latin typeface="Arial"/>
                <a:ea typeface="Arial"/>
                <a:cs typeface="Arial"/>
              </a:rPr>
              <a:t>DO NOT SAY</a:t>
            </a:r>
            <a:endParaRPr sz="1400"/>
          </a:p>
          <a:p>
            <a:r>
              <a:rPr sz="1400">
                <a:latin typeface="Arial"/>
                <a:ea typeface="Arial"/>
                <a:cs typeface="Arial"/>
              </a:rPr>
              <a:t>Do not call the vote share a calibrated probability. The dataset-ceiling no-go prevents production AML performance claims.</a:t>
            </a:r>
            <a:endParaRPr sz="1400"/>
          </a:p>
          <a:p>
            <a:endParaRPr sz="1400"/>
          </a:p>
          <a:p>
            <a:r>
              <a:rPr sz="1400">
                <a:latin typeface="Arial"/>
                <a:ea typeface="Arial"/>
                <a:cs typeface="Arial"/>
              </a:rPr>
              <a:t>TRANSITION</a:t>
            </a:r>
            <a:endParaRPr sz="1400"/>
          </a:p>
          <a:p>
            <a:r>
              <a:rPr sz="1400">
                <a:latin typeface="Arial"/>
                <a:ea typeface="Arial"/>
                <a:cs typeface="Arial"/>
              </a:rPr>
              <a:t>Return to the implementation landscape after explaining this delivered mechanism.</a:t>
            </a:r>
            <a:endParaRPr sz="1400"/>
          </a:p>
          <a:p>
            <a:endParaRPr sz="1400"/>
          </a:p>
          <a:p>
            <a:r>
              <a:rPr sz="1400">
                <a:latin typeface="Arial"/>
                <a:ea typeface="Arial"/>
                <a:cs typeface="Arial"/>
              </a:rPr>
              <a:t>TIME</a:t>
            </a:r>
            <a:endParaRPr sz="1400"/>
          </a:p>
          <a:p>
            <a:r>
              <a:rPr sz="1400">
                <a:latin typeface="Arial"/>
                <a:ea typeface="Arial"/>
                <a:cs typeface="Arial"/>
              </a:rPr>
              <a:t>00:55 if asked</a:t>
            </a:r>
            <a:endParaRPr sz="1400"/>
          </a:p>
          <a:p>
            <a:endParaRPr sz="1400"/>
          </a:p>
          <a:p>
            <a:r>
              <a:rPr sz="1400">
                <a:latin typeface="Arial"/>
                <a:ea typeface="Arial"/>
                <a:cs typeface="Arial"/>
              </a:rPr>
              <a:t>LIKELY QUESTION</a:t>
            </a:r>
            <a:endParaRPr sz="1400"/>
          </a:p>
          <a:p>
            <a:r>
              <a:rPr sz="1400">
                <a:latin typeface="Arial"/>
                <a:ea typeface="Arial"/>
                <a:cs typeface="Arial"/>
              </a:rPr>
              <a:t>Why Random Forest after Bayesian and fuzzy detectors?</a:t>
            </a:r>
            <a:endParaRPr sz="1400"/>
          </a:p>
          <a:p>
            <a:endParaRPr sz="1400"/>
          </a:p>
          <a:p>
            <a:r>
              <a:rPr sz="1400">
                <a:latin typeface="Arial"/>
                <a:ea typeface="Arial"/>
                <a:cs typeface="Arial"/>
              </a:rPr>
              <a:t>DIRECT ANSWER</a:t>
            </a:r>
            <a:endParaRPr sz="1400"/>
          </a:p>
          <a:p>
            <a:r>
              <a:rPr sz="1400">
                <a:latin typeface="Arial"/>
                <a:ea typeface="Arial"/>
                <a:cs typeface="Arial"/>
              </a:rPr>
              <a:t>It adds a learned non-neural baseline with different inductive assumptions while keeping the same bounded features and evidence contract.</a:t>
            </a:r>
            <a:endParaRPr sz="1400"/>
          </a:p>
          <a:p>
            <a:endParaRPr sz="1400"/>
          </a:p>
          <a:p>
            <a:r>
              <a:rPr sz="1400">
                <a:latin typeface="Arial"/>
                <a:ea typeface="Arial"/>
                <a:cs typeface="Arial"/>
              </a:rPr>
              <a:t>SOURCES</a:t>
            </a:r>
            <a:endParaRPr sz="1400"/>
          </a:p>
          <a:p>
            <a:r>
              <a:rPr sz="1400">
                <a:latin typeface="Arial"/>
                <a:ea typeface="Arial"/>
                <a:cs typeface="Arial"/>
              </a:rPr>
              <a:t>GitHub issue #223</a:t>
            </a:r>
            <a:endParaRPr sz="1400"/>
          </a:p>
          <a:p>
            <a:r>
              <a:rPr sz="1400">
                <a:latin typeface="Arial"/>
                <a:ea typeface="Arial"/>
                <a:cs typeface="Arial"/>
              </a:rPr>
              <a:t>docs/analysis/dataset-ceiling.md</a:t>
            </a:r>
            <a:endParaRPr sz="1400"/>
          </a:p>
          <a:p>
            <a:r>
              <a:rPr sz="1400">
                <a:latin typeface="Arial"/>
                <a:ea typeface="Arial"/>
                <a:cs typeface="Arial"/>
              </a:rPr>
              <a:t>docs/assignment/Presentation/appendix/submodels.md from PR #423 / issue #268</a:t>
            </a:r>
            <a:endParaRPr sz="1400"/>
          </a:p>
          <a:p>
            <a:r>
              <a:rPr sz="1400">
                <a:latin typeface="Arial"/>
                <a:ea typeface="Arial"/>
                <a:cs typeface="Arial"/>
              </a:rPr>
              <a:t>RandomForestRiskSignalDetectorAdapter and packaged manifest</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Stage 3 selection is a factory concern, not application semantics.</a:t>
            </a:r>
            <a:endParaRPr sz="1400"/>
          </a:p>
          <a:p>
            <a:endParaRPr sz="1400"/>
          </a:p>
          <a:p>
            <a:r>
              <a:rPr sz="1400">
                <a:latin typeface="Arial"/>
                <a:ea typeface="Arial"/>
                <a:cs typeface="Arial"/>
              </a:rPr>
              <a:t>SCRIPT</a:t>
            </a:r>
            <a:endParaRPr sz="1400"/>
          </a:p>
          <a:p>
            <a:r>
              <a:rPr sz="1400">
                <a:latin typeface="Arial"/>
                <a:ea typeface="Arial"/>
                <a:cs typeface="Arial"/>
              </a:rPr>
              <a:t>The bounded envelope enters one delivered typed selection point. Deterministic execution remains the safe default. OpenAI is an explicit external option. LM Studio is an explicit private-network option with an IP-literal endpoint restriction. Every adapter returns the same structured result and model provenance. The grounding validator and history contract remain unchanged.</a:t>
            </a:r>
            <a:endParaRPr sz="1400"/>
          </a:p>
          <a:p>
            <a:endParaRPr sz="1400"/>
          </a:p>
          <a:p>
            <a:r>
              <a:rPr sz="1400">
                <a:latin typeface="Arial"/>
                <a:ea typeface="Arial"/>
                <a:cs typeface="Arial"/>
              </a:rPr>
              <a:t>DO NOT SAY</a:t>
            </a:r>
            <a:endParaRPr sz="1400"/>
          </a:p>
          <a:p>
            <a:r>
              <a:rPr sz="1400">
                <a:latin typeface="Arial"/>
                <a:ea typeface="Arial"/>
                <a:cs typeface="Arial"/>
              </a:rPr>
              <a:t>Do not imply equivalent output quality across backends. Optional model execution does not change source-fact authority.</a:t>
            </a:r>
            <a:endParaRPr sz="1400"/>
          </a:p>
          <a:p>
            <a:endParaRPr sz="1400"/>
          </a:p>
          <a:p>
            <a:r>
              <a:rPr sz="1400">
                <a:latin typeface="Arial"/>
                <a:ea typeface="Arial"/>
                <a:cs typeface="Arial"/>
              </a:rPr>
              <a:t>TRANSITION</a:t>
            </a:r>
            <a:endParaRPr sz="1400"/>
          </a:p>
          <a:p>
            <a:r>
              <a:rPr sz="1400">
                <a:latin typeface="Arial"/>
                <a:ea typeface="Arial"/>
                <a:cs typeface="Arial"/>
              </a:rPr>
              <a:t>The final appendix slide maps behaviors to the evidence level that proves them.</a:t>
            </a:r>
            <a:endParaRPr sz="1400"/>
          </a:p>
          <a:p>
            <a:endParaRPr sz="1400"/>
          </a:p>
          <a:p>
            <a:r>
              <a:rPr sz="1400">
                <a:latin typeface="Arial"/>
                <a:ea typeface="Arial"/>
                <a:cs typeface="Arial"/>
              </a:rPr>
              <a:t>TIME</a:t>
            </a:r>
            <a:endParaRPr sz="1400"/>
          </a:p>
          <a:p>
            <a:r>
              <a:rPr sz="1400">
                <a:latin typeface="Arial"/>
                <a:ea typeface="Arial"/>
                <a:cs typeface="Arial"/>
              </a:rPr>
              <a:t>00:55 if asked</a:t>
            </a:r>
            <a:endParaRPr sz="1400"/>
          </a:p>
          <a:p>
            <a:endParaRPr sz="1400"/>
          </a:p>
          <a:p>
            <a:r>
              <a:rPr sz="1400">
                <a:latin typeface="Arial"/>
                <a:ea typeface="Arial"/>
                <a:cs typeface="Arial"/>
              </a:rPr>
              <a:t>LIKELY QUESTION</a:t>
            </a:r>
            <a:endParaRPr sz="1400"/>
          </a:p>
          <a:p>
            <a:r>
              <a:rPr sz="1400">
                <a:latin typeface="Arial"/>
                <a:ea typeface="Arial"/>
                <a:cs typeface="Arial"/>
              </a:rPr>
              <a:t>Why retain the deterministic backend after adding a live model?</a:t>
            </a:r>
            <a:endParaRPr sz="1400"/>
          </a:p>
          <a:p>
            <a:endParaRPr sz="1400"/>
          </a:p>
          <a:p>
            <a:r>
              <a:rPr sz="1400">
                <a:latin typeface="Arial"/>
                <a:ea typeface="Arial"/>
                <a:cs typeface="Arial"/>
              </a:rPr>
              <a:t>DIRECT ANSWER</a:t>
            </a:r>
            <a:endParaRPr sz="1400"/>
          </a:p>
          <a:p>
            <a:r>
              <a:rPr sz="1400">
                <a:latin typeface="Arial"/>
                <a:ea typeface="Arial"/>
                <a:cs typeface="Arial"/>
              </a:rPr>
              <a:t>It keeps mandatory verification reproducible, isolates retrieval and orchestration failures, and provides a supported fallback without changing the operator workflow.</a:t>
            </a:r>
            <a:endParaRPr sz="1400"/>
          </a:p>
          <a:p>
            <a:endParaRPr sz="1400"/>
          </a:p>
          <a:p>
            <a:r>
              <a:rPr sz="1400">
                <a:latin typeface="Arial"/>
                <a:ea typeface="Arial"/>
                <a:cs typeface="Arial"/>
              </a:rPr>
              <a:t>SOURCES</a:t>
            </a:r>
            <a:endParaRPr sz="1400"/>
          </a:p>
          <a:p>
            <a:r>
              <a:rPr sz="1400">
                <a:latin typeface="Arial"/>
                <a:ea typeface="Arial"/>
                <a:cs typeface="Arial"/>
              </a:rPr>
              <a:t>AnalysisModelPort</a:t>
            </a:r>
            <a:endParaRPr sz="1400"/>
          </a:p>
          <a:p>
            <a:r>
              <a:rPr sz="1400">
                <a:latin typeface="Arial"/>
                <a:ea typeface="Arial"/>
                <a:cs typeface="Arial"/>
              </a:rPr>
              <a:t>AnalysisEvidenceEnvelope</a:t>
            </a:r>
            <a:endParaRPr sz="1400"/>
          </a:p>
          <a:p>
            <a:r>
              <a:rPr sz="1400">
                <a:latin typeface="Arial"/>
                <a:ea typeface="Arial"/>
                <a:cs typeface="Arial"/>
              </a:rPr>
              <a:t>GitHub issues #163, #251 and #253</a:t>
            </a:r>
            <a:endParaRPr sz="1400"/>
          </a:p>
          <a:p>
            <a:r>
              <a:rPr sz="1400">
                <a:latin typeface="Arial"/>
                <a:ea typeface="Arial"/>
                <a:cs typeface="Arial"/>
              </a:rPr>
              <a:t>docs/assignment/Presentation/appendix/submodels.md from PR #423 / issue #268</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400">
                <a:latin typeface="Arial"/>
                <a:ea typeface="Arial"/>
                <a:cs typeface="Arial"/>
              </a:rPr>
              <a:t>ANCHOR</a:t>
            </a:r>
            <a:endParaRPr sz="1400"/>
          </a:p>
          <a:p>
            <a:r>
              <a:rPr sz="1400">
                <a:latin typeface="Arial"/>
                <a:ea typeface="Arial"/>
                <a:cs typeface="Arial"/>
              </a:rPr>
              <a:t>Evidence strength follows the behavior being claimed.</a:t>
            </a:r>
            <a:endParaRPr sz="1400"/>
          </a:p>
          <a:p>
            <a:endParaRPr sz="1400"/>
          </a:p>
          <a:p>
            <a:r>
              <a:rPr sz="1400">
                <a:latin typeface="Arial"/>
                <a:ea typeface="Arial"/>
                <a:cs typeface="Arial"/>
              </a:rPr>
              <a:t>SCRIPT</a:t>
            </a:r>
            <a:endParaRPr sz="1400"/>
          </a:p>
          <a:p>
            <a:r>
              <a:rPr sz="1400">
                <a:latin typeface="Arial"/>
                <a:ea typeface="Arial"/>
                <a:cs typeface="Arial"/>
              </a:rPr>
              <a:t>Unit and property tests own value and algorithm invariants. Port contracts own substitution. Integration tests own real database, security and retrieval semantics. Playwright and deployment evidence own visible composition. Stable requirement and design IDs, test markers, workflow artifacts and exact source SHAs keep the path traceable.</a:t>
            </a:r>
            <a:endParaRPr sz="1400"/>
          </a:p>
          <a:p>
            <a:endParaRPr sz="1400"/>
          </a:p>
          <a:p>
            <a:r>
              <a:rPr sz="1400">
                <a:latin typeface="Arial"/>
                <a:ea typeface="Arial"/>
                <a:cs typeface="Arial"/>
              </a:rPr>
              <a:t>DO NOT SAY</a:t>
            </a:r>
            <a:endParaRPr sz="1400"/>
          </a:p>
          <a:p>
            <a:r>
              <a:rPr sz="1400">
                <a:latin typeface="Arial"/>
                <a:ea typeface="Arial"/>
                <a:cs typeface="Arial"/>
              </a:rPr>
              <a:t>Do not use a test count or an old green workflow as a quality claim. Evidence remains bound to its behavior and source revision.</a:t>
            </a:r>
            <a:endParaRPr sz="1400"/>
          </a:p>
          <a:p>
            <a:endParaRPr sz="1400"/>
          </a:p>
          <a:p>
            <a:r>
              <a:rPr sz="1400">
                <a:latin typeface="Arial"/>
                <a:ea typeface="Arial"/>
                <a:cs typeface="Arial"/>
              </a:rPr>
              <a:t>TRANSITION</a:t>
            </a:r>
            <a:endParaRPr sz="1400"/>
          </a:p>
          <a:p>
            <a:r>
              <a:rPr sz="1400">
                <a:latin typeface="Arial"/>
                <a:ea typeface="Arial"/>
                <a:cs typeface="Arial"/>
              </a:rPr>
              <a:t>Return to the main conclusion.</a:t>
            </a:r>
            <a:endParaRPr sz="1400"/>
          </a:p>
          <a:p>
            <a:endParaRPr sz="1400"/>
          </a:p>
          <a:p>
            <a:r>
              <a:rPr sz="1400">
                <a:latin typeface="Arial"/>
                <a:ea typeface="Arial"/>
                <a:cs typeface="Arial"/>
              </a:rPr>
              <a:t>TIME</a:t>
            </a:r>
            <a:endParaRPr sz="1400"/>
          </a:p>
          <a:p>
            <a:r>
              <a:rPr sz="1400">
                <a:latin typeface="Arial"/>
                <a:ea typeface="Arial"/>
                <a:cs typeface="Arial"/>
              </a:rPr>
              <a:t>As needed</a:t>
            </a:r>
            <a:endParaRPr sz="1400"/>
          </a:p>
          <a:p>
            <a:endParaRPr sz="1400"/>
          </a:p>
          <a:p>
            <a:r>
              <a:rPr sz="1400">
                <a:latin typeface="Arial"/>
                <a:ea typeface="Arial"/>
                <a:cs typeface="Arial"/>
              </a:rPr>
              <a:t>LIKELY QUESTION</a:t>
            </a:r>
            <a:endParaRPr sz="1400"/>
          </a:p>
          <a:p>
            <a:r>
              <a:rPr sz="1400">
                <a:latin typeface="Arial"/>
                <a:ea typeface="Arial"/>
                <a:cs typeface="Arial"/>
              </a:rPr>
              <a:t>Why retain browser evidence if integration tests pass?</a:t>
            </a:r>
            <a:endParaRPr sz="1400"/>
          </a:p>
          <a:p>
            <a:endParaRPr sz="1400"/>
          </a:p>
          <a:p>
            <a:r>
              <a:rPr sz="1400">
                <a:latin typeface="Arial"/>
                <a:ea typeface="Arial"/>
                <a:cs typeface="Arial"/>
              </a:rPr>
              <a:t>DIRECT ANSWER</a:t>
            </a:r>
            <a:endParaRPr sz="1400"/>
          </a:p>
          <a:p>
            <a:r>
              <a:rPr sz="1400">
                <a:latin typeface="Arial"/>
                <a:ea typeface="Arial"/>
                <a:cs typeface="Arial"/>
              </a:rPr>
              <a:t>Authentication, navigation, visible provenance and later history are operator-visible behaviors that lower test layers cannot prove in composition. When the live path is unavailable, the retained Playwright screenshots and source-bound manifest are the mandatory fallback; video is optional.</a:t>
            </a:r>
            <a:endParaRPr sz="1400"/>
          </a:p>
          <a:p>
            <a:endParaRPr sz="1400"/>
          </a:p>
          <a:p>
            <a:r>
              <a:rPr sz="1400">
                <a:latin typeface="Arial"/>
                <a:ea typeface="Arial"/>
                <a:cs typeface="Arial"/>
              </a:rPr>
              <a:t>SOURCES</a:t>
            </a:r>
            <a:endParaRPr sz="1400"/>
          </a:p>
          <a:p>
            <a:r>
              <a:rPr sz="1400">
                <a:latin typeface="Arial"/>
                <a:ea typeface="Arial"/>
                <a:cs typeface="Arial"/>
              </a:rPr>
              <a:t>docs/assignment/VV/VV.md</a:t>
            </a:r>
            <a:endParaRPr sz="1400"/>
          </a:p>
          <a:p>
            <a:r>
              <a:rPr sz="1400">
                <a:latin typeface="Arial"/>
                <a:ea typeface="Arial"/>
                <a:cs typeface="Arial"/>
              </a:rPr>
              <a:t>docs/assignment/VV/verification.yaml</a:t>
            </a:r>
            <a:endParaRPr sz="1400"/>
          </a:p>
          <a:p>
            <a:r>
              <a:rPr sz="1400">
                <a:latin typeface="Arial"/>
                <a:ea typeface="Arial"/>
                <a:cs typeface="Arial"/>
              </a:rPr>
              <a:t>docs/reviewer/screenshot-manifest.md</a:t>
            </a:r>
            <a:endParaRPr sz="1400"/>
          </a:p>
          <a:p>
            <a:r>
              <a:rPr sz="1400">
                <a:latin typeface="Arial"/>
                <a:ea typeface="Arial"/>
                <a:cs typeface="Arial"/>
              </a:rPr>
              <a:t>docs/reviewer/demo-fallback.md</a:t>
            </a:r>
            <a:endParaRPr sz="1400"/>
          </a:p>
          <a:p>
            <a:r>
              <a:rPr sz="1400">
                <a:latin typeface="Arial"/>
                <a:ea typeface="Arial"/>
                <a:cs typeface="Arial"/>
              </a:rPr>
              <a:t>Lucide icon library, ISC license</a:t>
            </a:r>
            <a:endParaRPr sz="14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cGraph 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buNone/>
        <a:defRPr sz="3200" b="1"/>
      </a:lvl1pPr>
    </p:titleStyle>
    <p:bodyStyle>
      <a:lvl1pPr>
        <a:buNone/>
        <a:defRPr sz="1800"/>
      </a:lvl1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5.png"/><Relationship Id="rId18" Type="http://schemas.openxmlformats.org/officeDocument/2006/relationships/hyperlink" Target="https://github.com/jdoe-dev-159753/specgraph-reference-app/pull/221" TargetMode="External"/><Relationship Id="rId3" Type="http://schemas.openxmlformats.org/officeDocument/2006/relationships/image" Target="../media/image18.png"/><Relationship Id="rId21" Type="http://schemas.openxmlformats.org/officeDocument/2006/relationships/hyperlink" Target="https://github.com/jdoe-dev-159753/specgraph-reference-app/pull/326" TargetMode="External"/><Relationship Id="rId7" Type="http://schemas.openxmlformats.org/officeDocument/2006/relationships/image" Target="../media/image22.png"/><Relationship Id="rId12" Type="http://schemas.openxmlformats.org/officeDocument/2006/relationships/image" Target="../media/image11.png"/><Relationship Id="rId17" Type="http://schemas.openxmlformats.org/officeDocument/2006/relationships/image" Target="../media/image28.png"/><Relationship Id="rId2" Type="http://schemas.openxmlformats.org/officeDocument/2006/relationships/notesSlide" Target="../notesSlides/notesSlide6.xml"/><Relationship Id="rId16" Type="http://schemas.openxmlformats.org/officeDocument/2006/relationships/image" Target="../media/image14.png"/><Relationship Id="rId20" Type="http://schemas.openxmlformats.org/officeDocument/2006/relationships/hyperlink" Target="https://github.com/jdoe-dev-159753/specgraph-reference-app/issues/251" TargetMode="Externa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hyperlink" Target="https://github.com/jdoe-dev-159753/specgraph-reference-app/issues/254" TargetMode="External"/><Relationship Id="rId5" Type="http://schemas.openxmlformats.org/officeDocument/2006/relationships/image" Target="../media/image20.png"/><Relationship Id="rId15" Type="http://schemas.openxmlformats.org/officeDocument/2006/relationships/image" Target="../media/image27.png"/><Relationship Id="rId10" Type="http://schemas.openxmlformats.org/officeDocument/2006/relationships/image" Target="../media/image24.png"/><Relationship Id="rId19" Type="http://schemas.openxmlformats.org/officeDocument/2006/relationships/image" Target="../media/image29.png"/><Relationship Id="rId4" Type="http://schemas.openxmlformats.org/officeDocument/2006/relationships/image" Target="../media/image19.png"/><Relationship Id="rId9" Type="http://schemas.openxmlformats.org/officeDocument/2006/relationships/hyperlink" Target="https://github.com/jdoe-dev-159753/specgraph-reference-app/pull/263" TargetMode="External"/><Relationship Id="rId1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0.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1.png"/><Relationship Id="rId4" Type="http://schemas.openxmlformats.org/officeDocument/2006/relationships/image" Target="../media/image2.png"/><Relationship Id="rId9" Type="http://schemas.openxmlformats.org/officeDocument/2006/relationships/image" Target="../media/image3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3.png"/><Relationship Id="rId7"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49.png"/></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4.xml.rels><?xml version="1.0" encoding="UTF-8" standalone="yes"?>
<Relationships xmlns="http://schemas.openxmlformats.org/package/2006/relationships"><Relationship Id="rId8" Type="http://schemas.openxmlformats.org/officeDocument/2006/relationships/hyperlink" Target="https://github.com/jdoe-dev-159753/specgraph-reference-app/blob/main/docs/assignment/ADR/ADR-006-compose-oci-multi-platform-distribution.md" TargetMode="External"/><Relationship Id="rId3" Type="http://schemas.openxmlformats.org/officeDocument/2006/relationships/hyperlink" Target="https://github.com/jdoe-dev-159753/specgraph-reference-app/blob/main/docs/assignment/ADR/ADR-001-modular-monolith-hexagonal.md" TargetMode="External"/><Relationship Id="rId7" Type="http://schemas.openxmlformats.org/officeDocument/2006/relationships/hyperlink" Target="https://github.com/jdoe-dev-159753/specgraph-reference-app/blob/main/docs/assignment/ADR/ADR-005-prebuilt-demo-container-packaging.md"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github.com/jdoe-dev-159753/specgraph-reference-app/blob/main/docs/assignment/ADR/ADR-004-baseline-web-stack.md" TargetMode="External"/><Relationship Id="rId11" Type="http://schemas.openxmlformats.org/officeDocument/2006/relationships/hyperlink" Target="https://github.com/jdoe-dev-159753/specgraph-reference-app/tree/main/docs/assignment/ADR" TargetMode="External"/><Relationship Id="rId5" Type="http://schemas.openxmlformats.org/officeDocument/2006/relationships/hyperlink" Target="https://github.com/jdoe-dev-159753/specgraph-reference-app/blob/main/docs/assignment/ADR/ADR-003-postgresql-pgvector-persistence.md" TargetMode="External"/><Relationship Id="rId10" Type="http://schemas.openxmlformats.org/officeDocument/2006/relationships/hyperlink" Target="https://github.com/jdoe-dev-159753/specgraph-reference-app/blob/main/docs/assignment/ADR/ADR-008-customer-activity-analytics-identity.md" TargetMode="External"/><Relationship Id="rId4" Type="http://schemas.openxmlformats.org/officeDocument/2006/relationships/hyperlink" Target="https://github.com/jdoe-dev-159753/specgraph-reference-app/blob/main/docs/assignment/ADR/ADR-002-provider-neutral-analysis.md" TargetMode="External"/><Relationship Id="rId9" Type="http://schemas.openxmlformats.org/officeDocument/2006/relationships/hyperlink" Target="https://github.com/jdoe-dev-159753/specgraph-reference-app/blob/main/docs/assignment/ADR/ADR-007-spring-jdbc-relational-adapters.md"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6.png"/></Relationships>
</file>

<file path=ppt/slides/_rels/slide2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2.png"/><Relationship Id="rId7"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5.png"/><Relationship Id="rId10" Type="http://schemas.openxmlformats.org/officeDocument/2006/relationships/image" Target="../media/image54.png"/><Relationship Id="rId4" Type="http://schemas.openxmlformats.org/officeDocument/2006/relationships/image" Target="../media/image67.png"/><Relationship Id="rId9"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Connector 2">
            <a:extLst>
              <a:ext uri="{FF2B5EF4-FFF2-40B4-BE49-F238E27FC236}">
                <a16:creationId xmlns:a16="http://schemas.microsoft.com/office/drawing/2014/main" id="{0F446FE3-2CEF-41C3-B9A7-3DEC15C166B9}"/>
              </a:ext>
            </a:extLst>
          </p:cNvPr>
          <p:cNvSpPr>
            <a:spLocks noGrp="1"/>
          </p:cNvSpPr>
          <p:nvPr/>
        </p:nvSpPr>
        <p:spPr>
          <a:xfrm>
            <a:off x="609600" y="685800"/>
            <a:ext cx="838200" cy="0"/>
          </a:xfrm>
          <a:prstGeom prst="line">
            <a:avLst/>
          </a:prstGeom>
          <a:ln w="63500">
            <a:solidFill>
              <a:srgbClr val="D71920"/>
            </a:solidFill>
          </a:ln>
        </p:spPr>
      </p:sp>
      <p:sp>
        <p:nvSpPr>
          <p:cNvPr id="3" name="Text 3">
            <a:extLst>
              <a:ext uri="{FF2B5EF4-FFF2-40B4-BE49-F238E27FC236}">
                <a16:creationId xmlns:a16="http://schemas.microsoft.com/office/drawing/2014/main" id="{9DB1F103-552F-4E5A-9065-0FEBC6C6E3E4}"/>
              </a:ext>
            </a:extLst>
          </p:cNvPr>
          <p:cNvSpPr>
            <a:spLocks noGrp="1"/>
          </p:cNvSpPr>
          <p:nvPr/>
        </p:nvSpPr>
        <p:spPr>
          <a:xfrm>
            <a:off x="609600" y="1047750"/>
            <a:ext cx="7239000" cy="266700"/>
          </a:xfrm>
          <a:prstGeom prst="rect">
            <a:avLst/>
          </a:prstGeom>
          <a:noFill/>
          <a:ln>
            <a:noFill/>
          </a:ln>
        </p:spPr>
        <p:txBody>
          <a:bodyPr wrap="square" lIns="0" tIns="0" rIns="0" bIns="0" anchor="t"/>
          <a:lstStyle/>
          <a:p>
            <a:pPr algn="l">
              <a:buNone/>
            </a:pPr>
            <a:r>
              <a:rPr sz="1500" b="1" spc="220">
                <a:solidFill>
                  <a:srgbClr val="981B1E"/>
                </a:solidFill>
                <a:latin typeface="Arial"/>
                <a:ea typeface="Arial"/>
                <a:cs typeface="Arial"/>
              </a:rPr>
              <a:t>CUSTOMER ACTIVITY ANALYTICS</a:t>
            </a:r>
            <a:endParaRPr sz="1500"/>
          </a:p>
        </p:txBody>
      </p:sp>
      <p:sp>
        <p:nvSpPr>
          <p:cNvPr id="4" name="Text 4">
            <a:extLst>
              <a:ext uri="{FF2B5EF4-FFF2-40B4-BE49-F238E27FC236}">
                <a16:creationId xmlns:a16="http://schemas.microsoft.com/office/drawing/2014/main" id="{32E003F6-2548-490A-B44A-47D5995917A9}"/>
              </a:ext>
            </a:extLst>
          </p:cNvPr>
          <p:cNvSpPr>
            <a:spLocks noGrp="1"/>
          </p:cNvSpPr>
          <p:nvPr/>
        </p:nvSpPr>
        <p:spPr>
          <a:xfrm>
            <a:off x="590550" y="1600200"/>
            <a:ext cx="10287000" cy="1447800"/>
          </a:xfrm>
          <a:prstGeom prst="rect">
            <a:avLst/>
          </a:prstGeom>
          <a:noFill/>
          <a:ln>
            <a:noFill/>
          </a:ln>
        </p:spPr>
        <p:txBody>
          <a:bodyPr wrap="square" lIns="0" tIns="0" rIns="0" bIns="0" anchor="t"/>
          <a:lstStyle/>
          <a:p>
            <a:pPr algn="l">
              <a:buNone/>
            </a:pPr>
            <a:r>
              <a:rPr sz="4300" b="1">
                <a:solidFill>
                  <a:srgbClr val="17212B"/>
                </a:solidFill>
                <a:latin typeface="Arial"/>
                <a:ea typeface="Arial"/>
                <a:cs typeface="Arial"/>
              </a:rPr>
              <a:t>A working operator path built through a controlled human-agent system</a:t>
            </a:r>
            <a:endParaRPr sz="4300"/>
          </a:p>
        </p:txBody>
      </p:sp>
      <p:sp>
        <p:nvSpPr>
          <p:cNvPr id="5" name="Text 5">
            <a:extLst>
              <a:ext uri="{FF2B5EF4-FFF2-40B4-BE49-F238E27FC236}">
                <a16:creationId xmlns:a16="http://schemas.microsoft.com/office/drawing/2014/main" id="{6EF7F94D-A002-4C25-BCDE-DDC117DA732F}"/>
              </a:ext>
            </a:extLst>
          </p:cNvPr>
          <p:cNvSpPr>
            <a:spLocks noGrp="1"/>
          </p:cNvSpPr>
          <p:nvPr/>
        </p:nvSpPr>
        <p:spPr>
          <a:xfrm>
            <a:off x="628650" y="3333750"/>
            <a:ext cx="8953500" cy="495300"/>
          </a:xfrm>
          <a:prstGeom prst="rect">
            <a:avLst/>
          </a:prstGeom>
          <a:noFill/>
          <a:ln>
            <a:noFill/>
          </a:ln>
        </p:spPr>
        <p:txBody>
          <a:bodyPr wrap="square" lIns="0" tIns="0" rIns="0" bIns="0" anchor="t"/>
          <a:lstStyle/>
          <a:p>
            <a:pPr algn="l">
              <a:buNone/>
            </a:pPr>
            <a:r>
              <a:rPr sz="2200" b="0">
                <a:solidFill>
                  <a:srgbClr val="5D6873"/>
                </a:solidFill>
                <a:latin typeface="Arial"/>
                <a:ea typeface="Arial"/>
                <a:cs typeface="Arial"/>
              </a:rPr>
              <a:t>Five-day, production-shaped demonstrator for a Swissquote interview exercise</a:t>
            </a:r>
            <a:endParaRPr sz="2200"/>
          </a:p>
        </p:txBody>
      </p:sp>
      <p:sp>
        <p:nvSpPr>
          <p:cNvPr id="6" name="Connector 6">
            <a:extLst>
              <a:ext uri="{FF2B5EF4-FFF2-40B4-BE49-F238E27FC236}">
                <a16:creationId xmlns:a16="http://schemas.microsoft.com/office/drawing/2014/main" id="{F7E1E09F-5216-4A1E-BCB1-D12D792BB846}"/>
              </a:ext>
            </a:extLst>
          </p:cNvPr>
          <p:cNvSpPr>
            <a:spLocks noGrp="1"/>
          </p:cNvSpPr>
          <p:nvPr/>
        </p:nvSpPr>
        <p:spPr>
          <a:xfrm>
            <a:off x="628650" y="4476750"/>
            <a:ext cx="10839450" cy="0"/>
          </a:xfrm>
          <a:prstGeom prst="line">
            <a:avLst/>
          </a:prstGeom>
          <a:ln w="12700">
            <a:solidFill>
              <a:srgbClr val="D9DEE3"/>
            </a:solidFill>
          </a:ln>
        </p:spPr>
      </p:sp>
      <p:sp>
        <p:nvSpPr>
          <p:cNvPr id="7" name="Text 7">
            <a:extLst>
              <a:ext uri="{FF2B5EF4-FFF2-40B4-BE49-F238E27FC236}">
                <a16:creationId xmlns:a16="http://schemas.microsoft.com/office/drawing/2014/main" id="{F9B6D819-8922-4D55-9B66-8B37A49446DB}"/>
              </a:ext>
            </a:extLst>
          </p:cNvPr>
          <p:cNvSpPr>
            <a:spLocks noGrp="1"/>
          </p:cNvSpPr>
          <p:nvPr/>
        </p:nvSpPr>
        <p:spPr>
          <a:xfrm>
            <a:off x="628650" y="4800600"/>
            <a:ext cx="3143250" cy="247650"/>
          </a:xfrm>
          <a:prstGeom prst="rect">
            <a:avLst/>
          </a:prstGeom>
          <a:noFill/>
          <a:ln>
            <a:noFill/>
          </a:ln>
        </p:spPr>
        <p:txBody>
          <a:bodyPr wrap="square" lIns="0" tIns="0" rIns="0" bIns="0" anchor="t"/>
          <a:lstStyle/>
          <a:p>
            <a:pPr algn="l">
              <a:buNone/>
            </a:pPr>
            <a:r>
              <a:rPr sz="1200" b="1" spc="140">
                <a:solidFill>
                  <a:srgbClr val="D71920"/>
                </a:solidFill>
                <a:latin typeface="Arial"/>
                <a:ea typeface="Arial"/>
                <a:cs typeface="Arial"/>
              </a:rPr>
              <a:t>PRODUCT PROOF</a:t>
            </a:r>
            <a:endParaRPr sz="1200"/>
          </a:p>
        </p:txBody>
      </p:sp>
      <p:sp>
        <p:nvSpPr>
          <p:cNvPr id="8" name="Text 8">
            <a:extLst>
              <a:ext uri="{FF2B5EF4-FFF2-40B4-BE49-F238E27FC236}">
                <a16:creationId xmlns:a16="http://schemas.microsoft.com/office/drawing/2014/main" id="{BFB06348-92FC-4912-9384-D379B3349B0E}"/>
              </a:ext>
            </a:extLst>
          </p:cNvPr>
          <p:cNvSpPr>
            <a:spLocks noGrp="1"/>
          </p:cNvSpPr>
          <p:nvPr/>
        </p:nvSpPr>
        <p:spPr>
          <a:xfrm>
            <a:off x="628650" y="5105400"/>
            <a:ext cx="4286250" cy="552450"/>
          </a:xfrm>
          <a:prstGeom prst="rect">
            <a:avLst/>
          </a:prstGeom>
          <a:noFill/>
          <a:ln>
            <a:noFill/>
          </a:ln>
        </p:spPr>
        <p:txBody>
          <a:bodyPr wrap="square" lIns="0" tIns="0" rIns="0" bIns="0" anchor="t"/>
          <a:lstStyle/>
          <a:p>
            <a:pPr algn="l">
              <a:buNone/>
            </a:pPr>
            <a:r>
              <a:rPr sz="1900" b="1">
                <a:solidFill>
                  <a:srgbClr val="17212B"/>
                </a:solidFill>
                <a:latin typeface="Arial"/>
                <a:ea typeface="Arial"/>
                <a:cs typeface="Arial"/>
              </a:rPr>
              <a:t>Customer activity, evidence, analysis and history</a:t>
            </a:r>
            <a:endParaRPr sz="1900"/>
          </a:p>
        </p:txBody>
      </p:sp>
      <p:sp>
        <p:nvSpPr>
          <p:cNvPr id="9" name="Text 9">
            <a:extLst>
              <a:ext uri="{FF2B5EF4-FFF2-40B4-BE49-F238E27FC236}">
                <a16:creationId xmlns:a16="http://schemas.microsoft.com/office/drawing/2014/main" id="{020CDAAD-9B25-480D-AAF1-BED1DE1FB412}"/>
              </a:ext>
            </a:extLst>
          </p:cNvPr>
          <p:cNvSpPr>
            <a:spLocks noGrp="1"/>
          </p:cNvSpPr>
          <p:nvPr/>
        </p:nvSpPr>
        <p:spPr>
          <a:xfrm>
            <a:off x="6191250" y="4800600"/>
            <a:ext cx="3143250" cy="247650"/>
          </a:xfrm>
          <a:prstGeom prst="rect">
            <a:avLst/>
          </a:prstGeom>
          <a:noFill/>
          <a:ln>
            <a:noFill/>
          </a:ln>
        </p:spPr>
        <p:txBody>
          <a:bodyPr wrap="square" lIns="0" tIns="0" rIns="0" bIns="0" anchor="t"/>
          <a:lstStyle/>
          <a:p>
            <a:pPr algn="l">
              <a:buNone/>
            </a:pPr>
            <a:r>
              <a:rPr sz="1200" b="1" spc="140">
                <a:solidFill>
                  <a:srgbClr val="2A5B84"/>
                </a:solidFill>
                <a:latin typeface="Arial"/>
                <a:ea typeface="Arial"/>
                <a:cs typeface="Arial"/>
              </a:rPr>
              <a:t>METHOD PROOF</a:t>
            </a:r>
            <a:endParaRPr sz="1200"/>
          </a:p>
        </p:txBody>
      </p:sp>
      <p:sp>
        <p:nvSpPr>
          <p:cNvPr id="10" name="Text 10">
            <a:extLst>
              <a:ext uri="{FF2B5EF4-FFF2-40B4-BE49-F238E27FC236}">
                <a16:creationId xmlns:a16="http://schemas.microsoft.com/office/drawing/2014/main" id="{E1856FE4-CDD0-4096-B4C8-E31B71A1000A}"/>
              </a:ext>
            </a:extLst>
          </p:cNvPr>
          <p:cNvSpPr>
            <a:spLocks noGrp="1"/>
          </p:cNvSpPr>
          <p:nvPr/>
        </p:nvSpPr>
        <p:spPr>
          <a:xfrm>
            <a:off x="6191250" y="5105400"/>
            <a:ext cx="4667250" cy="552450"/>
          </a:xfrm>
          <a:prstGeom prst="rect">
            <a:avLst/>
          </a:prstGeom>
          <a:noFill/>
          <a:ln>
            <a:noFill/>
          </a:ln>
        </p:spPr>
        <p:txBody>
          <a:bodyPr wrap="square" lIns="0" tIns="0" rIns="0" bIns="0" anchor="t"/>
          <a:lstStyle/>
          <a:p>
            <a:pPr algn="l">
              <a:buNone/>
            </a:pPr>
            <a:r>
              <a:rPr sz="1900" b="1">
                <a:solidFill>
                  <a:srgbClr val="17212B"/>
                </a:solidFill>
                <a:latin typeface="Arial"/>
                <a:ea typeface="Arial"/>
                <a:cs typeface="Arial"/>
              </a:rPr>
              <a:t>Specifications, work graph, ratchets and review</a:t>
            </a:r>
            <a:endParaRPr sz="1900"/>
          </a:p>
        </p:txBody>
      </p:sp>
      <p:sp>
        <p:nvSpPr>
          <p:cNvPr id="11" name="Text 11">
            <a:extLst>
              <a:ext uri="{FF2B5EF4-FFF2-40B4-BE49-F238E27FC236}">
                <a16:creationId xmlns:a16="http://schemas.microsoft.com/office/drawing/2014/main" id="{87ED3C47-BCF1-498E-8771-BECFEB697B4B}"/>
              </a:ext>
            </a:extLst>
          </p:cNvPr>
          <p:cNvSpPr>
            <a:spLocks noGrp="1"/>
          </p:cNvSpPr>
          <p:nvPr/>
        </p:nvSpPr>
        <p:spPr>
          <a:xfrm>
            <a:off x="628650" y="6019800"/>
            <a:ext cx="5524500" cy="228600"/>
          </a:xfrm>
          <a:prstGeom prst="rect">
            <a:avLst/>
          </a:prstGeom>
          <a:noFill/>
          <a:ln>
            <a:noFill/>
          </a:ln>
        </p:spPr>
        <p:txBody>
          <a:bodyPr wrap="square" lIns="0" tIns="0" rIns="0" bIns="0" anchor="t"/>
          <a:lstStyle/>
          <a:p>
            <a:pPr algn="l">
              <a:buNone/>
            </a:pPr>
            <a:r>
              <a:rPr sz="1300" b="0">
                <a:solidFill>
                  <a:srgbClr val="5D6873"/>
                </a:solidFill>
                <a:latin typeface="Arial"/>
                <a:ea typeface="Arial"/>
                <a:cs typeface="Arial"/>
              </a:rPr>
              <a:t>Nicolas Cazin · final reviewer deck</a:t>
            </a:r>
            <a:endParaRPr sz="1300"/>
          </a:p>
        </p:txBody>
      </p:sp>
      <p:sp>
        <p:nvSpPr>
          <p:cNvPr id="12" name="Text 12">
            <a:extLst>
              <a:ext uri="{FF2B5EF4-FFF2-40B4-BE49-F238E27FC236}">
                <a16:creationId xmlns:a16="http://schemas.microsoft.com/office/drawing/2014/main" id="{7B6EAA85-8BC1-476B-8F1F-6BBDDB9A80FF}"/>
              </a:ext>
            </a:extLst>
          </p:cNvPr>
          <p:cNvSpPr>
            <a:spLocks noGrp="1"/>
          </p:cNvSpPr>
          <p:nvPr/>
        </p:nvSpPr>
        <p:spPr>
          <a:xfrm>
            <a:off x="9353550" y="6019800"/>
            <a:ext cx="2095500" cy="228600"/>
          </a:xfrm>
          <a:prstGeom prst="rect">
            <a:avLst/>
          </a:prstGeom>
          <a:noFill/>
          <a:ln>
            <a:noFill/>
          </a:ln>
        </p:spPr>
        <p:txBody>
          <a:bodyPr wrap="square" lIns="0" tIns="0" rIns="0" bIns="0" anchor="t"/>
          <a:lstStyle/>
          <a:p>
            <a:pPr algn="r">
              <a:buNone/>
            </a:pPr>
            <a:r>
              <a:rPr sz="1300" b="0">
                <a:solidFill>
                  <a:srgbClr val="5D6873"/>
                </a:solidFill>
                <a:latin typeface="Arial"/>
                <a:ea typeface="Arial"/>
                <a:cs typeface="Arial"/>
              </a:rPr>
              <a:t>submission-v1 at final freeze</a:t>
            </a:r>
            <a:endParaRPr sz="1300"/>
          </a:p>
        </p:txBody>
      </p:sp>
    </p:spTree>
    <p:extLst>
      <p:ext uri="{BB962C8B-B14F-4D97-AF65-F5344CB8AC3E}">
        <p14:creationId xmlns:p14="http://schemas.microsoft.com/office/powerpoint/2010/main" val="976996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B02D842D-7161-48F8-AE2E-7A646A7A60D1}"/>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ANSWER FIRST</a:t>
            </a:r>
            <a:endParaRPr sz="1100"/>
          </a:p>
        </p:txBody>
      </p:sp>
      <p:sp>
        <p:nvSpPr>
          <p:cNvPr id="3" name="Text 3">
            <a:extLst>
              <a:ext uri="{FF2B5EF4-FFF2-40B4-BE49-F238E27FC236}">
                <a16:creationId xmlns:a16="http://schemas.microsoft.com/office/drawing/2014/main" id="{B4ACF0CD-B306-4205-B52C-7C959ED58C4C}"/>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The pilot produced a working operator path and a controlled delivery system</a:t>
            </a:r>
            <a:endParaRPr sz="3000"/>
          </a:p>
        </p:txBody>
      </p:sp>
      <p:sp>
        <p:nvSpPr>
          <p:cNvPr id="4" name="Shape 4">
            <a:extLst>
              <a:ext uri="{FF2B5EF4-FFF2-40B4-BE49-F238E27FC236}">
                <a16:creationId xmlns:a16="http://schemas.microsoft.com/office/drawing/2014/main" id="{BB74C69D-8999-4174-9E62-5AF4FAEA66AA}"/>
              </a:ext>
            </a:extLst>
          </p:cNvPr>
          <p:cNvSpPr>
            <a:spLocks noGrp="1"/>
          </p:cNvSpPr>
          <p:nvPr/>
        </p:nvSpPr>
        <p:spPr>
          <a:xfrm>
            <a:off x="552450" y="1600200"/>
            <a:ext cx="6191250" cy="3867150"/>
          </a:xfrm>
          <a:prstGeom prst="rect">
            <a:avLst/>
          </a:prstGeom>
          <a:solidFill>
            <a:srgbClr val="FFFFFF"/>
          </a:solidFill>
          <a:ln w="12700">
            <a:solidFill>
              <a:srgbClr val="D9DEE3"/>
            </a:solidFill>
          </a:ln>
        </p:spPr>
      </p:sp>
      <p:pic>
        <p:nvPicPr>
          <p:cNvPr id="24" name="Picture 5"/>
          <p:cNvPicPr>
            <a:picLocks noChangeAspect="1"/>
          </p:cNvPicPr>
          <p:nvPr/>
        </p:nvPicPr>
        <p:blipFill>
          <a:blip r:embed="rId3"/>
          <a:stretch>
            <a:fillRect/>
          </a:stretch>
        </p:blipFill>
        <p:spPr>
          <a:xfrm>
            <a:off x="666750" y="1714500"/>
            <a:ext cx="5962650" cy="3714750"/>
          </a:xfrm>
          <a:prstGeom prst="rect">
            <a:avLst/>
          </a:prstGeom>
          <a:ln>
            <a:noFill/>
          </a:ln>
        </p:spPr>
      </p:pic>
      <p:sp>
        <p:nvSpPr>
          <p:cNvPr id="6" name="Connector 6">
            <a:extLst>
              <a:ext uri="{FF2B5EF4-FFF2-40B4-BE49-F238E27FC236}">
                <a16:creationId xmlns:a16="http://schemas.microsoft.com/office/drawing/2014/main" id="{EAD9BB15-1029-44B5-9D5F-DCCE5752928E}"/>
              </a:ext>
            </a:extLst>
          </p:cNvPr>
          <p:cNvSpPr>
            <a:spLocks noGrp="1"/>
          </p:cNvSpPr>
          <p:nvPr/>
        </p:nvSpPr>
        <p:spPr>
          <a:xfrm>
            <a:off x="7105650" y="1809750"/>
            <a:ext cx="0" cy="3429000"/>
          </a:xfrm>
          <a:prstGeom prst="line">
            <a:avLst/>
          </a:prstGeom>
          <a:ln w="25400">
            <a:solidFill>
              <a:srgbClr val="D9DEE3"/>
            </a:solidFill>
          </a:ln>
        </p:spPr>
      </p:sp>
      <p:sp>
        <p:nvSpPr>
          <p:cNvPr id="7" name="Shape 7">
            <a:extLst>
              <a:ext uri="{FF2B5EF4-FFF2-40B4-BE49-F238E27FC236}">
                <a16:creationId xmlns:a16="http://schemas.microsoft.com/office/drawing/2014/main" id="{61340AF9-C953-4483-B9B5-13E1E70888DD}"/>
              </a:ext>
            </a:extLst>
          </p:cNvPr>
          <p:cNvSpPr>
            <a:spLocks noGrp="1"/>
          </p:cNvSpPr>
          <p:nvPr/>
        </p:nvSpPr>
        <p:spPr>
          <a:xfrm>
            <a:off x="7543800" y="1752600"/>
            <a:ext cx="552450" cy="552450"/>
          </a:xfrm>
          <a:prstGeom prst="ellipse">
            <a:avLst/>
          </a:prstGeom>
          <a:solidFill>
            <a:srgbClr val="D71920"/>
          </a:solidFill>
          <a:ln w="12700">
            <a:solidFill>
              <a:srgbClr val="D71920"/>
            </a:solidFill>
          </a:ln>
        </p:spPr>
      </p:sp>
      <p:sp>
        <p:nvSpPr>
          <p:cNvPr id="8" name="Text 8">
            <a:extLst>
              <a:ext uri="{FF2B5EF4-FFF2-40B4-BE49-F238E27FC236}">
                <a16:creationId xmlns:a16="http://schemas.microsoft.com/office/drawing/2014/main" id="{16FA6A2D-E4CD-4B62-9F08-40A2692E2B68}"/>
              </a:ext>
            </a:extLst>
          </p:cNvPr>
          <p:cNvSpPr>
            <a:spLocks noGrp="1"/>
          </p:cNvSpPr>
          <p:nvPr/>
        </p:nvSpPr>
        <p:spPr>
          <a:xfrm>
            <a:off x="7543800" y="1876425"/>
            <a:ext cx="552450" cy="304800"/>
          </a:xfrm>
          <a:prstGeom prst="rect">
            <a:avLst/>
          </a:prstGeom>
          <a:noFill/>
          <a:ln>
            <a:noFill/>
          </a:ln>
        </p:spPr>
        <p:txBody>
          <a:bodyPr wrap="square" lIns="0" tIns="0" rIns="0" bIns="0" anchor="ctr"/>
          <a:lstStyle/>
          <a:p>
            <a:pPr algn="ctr">
              <a:buNone/>
            </a:pPr>
            <a:r>
              <a:rPr sz="2000" b="1">
                <a:solidFill>
                  <a:srgbClr val="FFFFFF"/>
                </a:solidFill>
                <a:latin typeface="Arial"/>
                <a:ea typeface="Arial"/>
                <a:cs typeface="Arial"/>
              </a:rPr>
              <a:t>1</a:t>
            </a:r>
            <a:endParaRPr sz="2000"/>
          </a:p>
        </p:txBody>
      </p:sp>
      <p:sp>
        <p:nvSpPr>
          <p:cNvPr id="9" name="Text 9">
            <a:extLst>
              <a:ext uri="{FF2B5EF4-FFF2-40B4-BE49-F238E27FC236}">
                <a16:creationId xmlns:a16="http://schemas.microsoft.com/office/drawing/2014/main" id="{7BB90128-7252-4A15-BCA0-C401432726EB}"/>
              </a:ext>
            </a:extLst>
          </p:cNvPr>
          <p:cNvSpPr>
            <a:spLocks noGrp="1"/>
          </p:cNvSpPr>
          <p:nvPr/>
        </p:nvSpPr>
        <p:spPr>
          <a:xfrm>
            <a:off x="8324850" y="1733550"/>
            <a:ext cx="2857500" cy="323850"/>
          </a:xfrm>
          <a:prstGeom prst="rect">
            <a:avLst/>
          </a:prstGeom>
          <a:noFill/>
          <a:ln>
            <a:noFill/>
          </a:ln>
        </p:spPr>
        <p:txBody>
          <a:bodyPr wrap="square" lIns="0" tIns="0" rIns="0" bIns="0" anchor="t"/>
          <a:lstStyle/>
          <a:p>
            <a:pPr algn="l">
              <a:buNone/>
            </a:pPr>
            <a:r>
              <a:rPr sz="2200" b="1">
                <a:solidFill>
                  <a:srgbClr val="17212B"/>
                </a:solidFill>
                <a:latin typeface="Arial"/>
                <a:ea typeface="Arial"/>
                <a:cs typeface="Arial"/>
              </a:rPr>
              <a:t>Product proof</a:t>
            </a:r>
            <a:endParaRPr sz="2200"/>
          </a:p>
        </p:txBody>
      </p:sp>
      <p:sp>
        <p:nvSpPr>
          <p:cNvPr id="10" name="Text 10">
            <a:extLst>
              <a:ext uri="{FF2B5EF4-FFF2-40B4-BE49-F238E27FC236}">
                <a16:creationId xmlns:a16="http://schemas.microsoft.com/office/drawing/2014/main" id="{FE9826B9-174E-4ED6-A853-F5132BFE2570}"/>
              </a:ext>
            </a:extLst>
          </p:cNvPr>
          <p:cNvSpPr>
            <a:spLocks noGrp="1"/>
          </p:cNvSpPr>
          <p:nvPr/>
        </p:nvSpPr>
        <p:spPr>
          <a:xfrm>
            <a:off x="8324850" y="2133600"/>
            <a:ext cx="3028950" cy="819150"/>
          </a:xfrm>
          <a:prstGeom prst="rect">
            <a:avLst/>
          </a:prstGeom>
          <a:noFill/>
          <a:ln>
            <a:noFill/>
          </a:ln>
        </p:spPr>
        <p:txBody>
          <a:bodyPr wrap="square" lIns="0" tIns="0" rIns="0" bIns="0" anchor="t"/>
          <a:lstStyle/>
          <a:p>
            <a:pPr algn="l">
              <a:buNone/>
            </a:pPr>
            <a:r>
              <a:rPr sz="1700" b="0">
                <a:solidFill>
                  <a:srgbClr val="5D6873"/>
                </a:solidFill>
                <a:latin typeface="Arial"/>
                <a:ea typeface="Arial"/>
                <a:cs typeface="Arial"/>
              </a:rPr>
              <a:t>An authenticated operator can inspect source activity, run grounded analysis and reopen persisted history.</a:t>
            </a:r>
            <a:endParaRPr sz="1700"/>
          </a:p>
        </p:txBody>
      </p:sp>
      <p:sp>
        <p:nvSpPr>
          <p:cNvPr id="11" name="Shape 11">
            <a:extLst>
              <a:ext uri="{FF2B5EF4-FFF2-40B4-BE49-F238E27FC236}">
                <a16:creationId xmlns:a16="http://schemas.microsoft.com/office/drawing/2014/main" id="{F5FB7E69-5BDF-4879-8CF6-874EA26653C7}"/>
              </a:ext>
            </a:extLst>
          </p:cNvPr>
          <p:cNvSpPr>
            <a:spLocks noGrp="1"/>
          </p:cNvSpPr>
          <p:nvPr/>
        </p:nvSpPr>
        <p:spPr>
          <a:xfrm>
            <a:off x="7543800" y="3219450"/>
            <a:ext cx="552450" cy="552450"/>
          </a:xfrm>
          <a:prstGeom prst="ellipse">
            <a:avLst/>
          </a:prstGeom>
          <a:solidFill>
            <a:srgbClr val="2A5B84"/>
          </a:solidFill>
          <a:ln w="12700">
            <a:solidFill>
              <a:srgbClr val="2A5B84"/>
            </a:solidFill>
          </a:ln>
        </p:spPr>
      </p:sp>
      <p:sp>
        <p:nvSpPr>
          <p:cNvPr id="12" name="Text 12">
            <a:extLst>
              <a:ext uri="{FF2B5EF4-FFF2-40B4-BE49-F238E27FC236}">
                <a16:creationId xmlns:a16="http://schemas.microsoft.com/office/drawing/2014/main" id="{147FE8E7-5E7E-4B27-9088-FD56FEE7A07B}"/>
              </a:ext>
            </a:extLst>
          </p:cNvPr>
          <p:cNvSpPr>
            <a:spLocks noGrp="1"/>
          </p:cNvSpPr>
          <p:nvPr/>
        </p:nvSpPr>
        <p:spPr>
          <a:xfrm>
            <a:off x="7543800" y="3343275"/>
            <a:ext cx="552450" cy="304800"/>
          </a:xfrm>
          <a:prstGeom prst="rect">
            <a:avLst/>
          </a:prstGeom>
          <a:noFill/>
          <a:ln>
            <a:noFill/>
          </a:ln>
        </p:spPr>
        <p:txBody>
          <a:bodyPr wrap="square" lIns="0" tIns="0" rIns="0" bIns="0" anchor="ctr"/>
          <a:lstStyle/>
          <a:p>
            <a:pPr algn="ctr">
              <a:buNone/>
            </a:pPr>
            <a:r>
              <a:rPr sz="2000" b="1">
                <a:solidFill>
                  <a:srgbClr val="FFFFFF"/>
                </a:solidFill>
                <a:latin typeface="Arial"/>
                <a:ea typeface="Arial"/>
                <a:cs typeface="Arial"/>
              </a:rPr>
              <a:t>2</a:t>
            </a:r>
            <a:endParaRPr sz="2000"/>
          </a:p>
        </p:txBody>
      </p:sp>
      <p:sp>
        <p:nvSpPr>
          <p:cNvPr id="13" name="Text 13">
            <a:extLst>
              <a:ext uri="{FF2B5EF4-FFF2-40B4-BE49-F238E27FC236}">
                <a16:creationId xmlns:a16="http://schemas.microsoft.com/office/drawing/2014/main" id="{A7EEFFD3-C1A7-44D3-8D2C-A33AEBCDFF78}"/>
              </a:ext>
            </a:extLst>
          </p:cNvPr>
          <p:cNvSpPr>
            <a:spLocks noGrp="1"/>
          </p:cNvSpPr>
          <p:nvPr/>
        </p:nvSpPr>
        <p:spPr>
          <a:xfrm>
            <a:off x="8324850" y="3200400"/>
            <a:ext cx="2857500" cy="323850"/>
          </a:xfrm>
          <a:prstGeom prst="rect">
            <a:avLst/>
          </a:prstGeom>
          <a:noFill/>
          <a:ln>
            <a:noFill/>
          </a:ln>
        </p:spPr>
        <p:txBody>
          <a:bodyPr wrap="square" lIns="0" tIns="0" rIns="0" bIns="0" anchor="t"/>
          <a:lstStyle/>
          <a:p>
            <a:pPr algn="l">
              <a:buNone/>
            </a:pPr>
            <a:r>
              <a:rPr sz="2200" b="1">
                <a:solidFill>
                  <a:srgbClr val="17212B"/>
                </a:solidFill>
                <a:latin typeface="Arial"/>
                <a:ea typeface="Arial"/>
                <a:cs typeface="Arial"/>
              </a:rPr>
              <a:t>Method proof</a:t>
            </a:r>
            <a:endParaRPr sz="2200"/>
          </a:p>
        </p:txBody>
      </p:sp>
      <p:sp>
        <p:nvSpPr>
          <p:cNvPr id="14" name="Text 14">
            <a:extLst>
              <a:ext uri="{FF2B5EF4-FFF2-40B4-BE49-F238E27FC236}">
                <a16:creationId xmlns:a16="http://schemas.microsoft.com/office/drawing/2014/main" id="{E60279B6-D6D1-41AD-BA98-02425D96EA36}"/>
              </a:ext>
            </a:extLst>
          </p:cNvPr>
          <p:cNvSpPr>
            <a:spLocks noGrp="1"/>
          </p:cNvSpPr>
          <p:nvPr/>
        </p:nvSpPr>
        <p:spPr>
          <a:xfrm>
            <a:off x="8324850" y="3600450"/>
            <a:ext cx="3028950" cy="876300"/>
          </a:xfrm>
          <a:prstGeom prst="rect">
            <a:avLst/>
          </a:prstGeom>
          <a:noFill/>
          <a:ln>
            <a:noFill/>
          </a:ln>
        </p:spPr>
        <p:txBody>
          <a:bodyPr wrap="square" lIns="0" tIns="0" rIns="0" bIns="0" anchor="t"/>
          <a:lstStyle/>
          <a:p>
            <a:pPr algn="l">
              <a:buNone/>
            </a:pPr>
            <a:r>
              <a:rPr lang="en-US" sz="1700" b="0">
                <a:solidFill>
                  <a:srgbClr val="5D6873"/>
                </a:solidFill>
                <a:latin typeface="Arial"/>
                <a:ea typeface="Arial"/>
                <a:cs typeface="Arial"/>
              </a:rPr>
              <a:t>One human coordinated parallel agents through specifications, GitHub checks and reviewed evidence.</a:t>
            </a:r>
            <a:endParaRPr sz="1700"/>
          </a:p>
        </p:txBody>
      </p:sp>
      <p:sp>
        <p:nvSpPr>
          <p:cNvPr id="15" name="Shape 15">
            <a:extLst>
              <a:ext uri="{FF2B5EF4-FFF2-40B4-BE49-F238E27FC236}">
                <a16:creationId xmlns:a16="http://schemas.microsoft.com/office/drawing/2014/main" id="{98C48D0F-EB90-47B9-9893-86A3B62C3D69}"/>
              </a:ext>
            </a:extLst>
          </p:cNvPr>
          <p:cNvSpPr>
            <a:spLocks noGrp="1"/>
          </p:cNvSpPr>
          <p:nvPr/>
        </p:nvSpPr>
        <p:spPr>
          <a:xfrm>
            <a:off x="7429500" y="4743450"/>
            <a:ext cx="4000500" cy="723900"/>
          </a:xfrm>
          <a:prstGeom prst="roundRect">
            <a:avLst/>
          </a:prstGeom>
          <a:solidFill>
            <a:srgbClr val="17212B"/>
          </a:solidFill>
          <a:ln w="12700">
            <a:solidFill>
              <a:srgbClr val="17212B"/>
            </a:solidFill>
          </a:ln>
        </p:spPr>
      </p:sp>
      <p:sp>
        <p:nvSpPr>
          <p:cNvPr id="16" name="Text 16">
            <a:extLst>
              <a:ext uri="{FF2B5EF4-FFF2-40B4-BE49-F238E27FC236}">
                <a16:creationId xmlns:a16="http://schemas.microsoft.com/office/drawing/2014/main" id="{F2BB8E0B-C4CD-49B2-9274-7B4F37B77859}"/>
              </a:ext>
            </a:extLst>
          </p:cNvPr>
          <p:cNvSpPr>
            <a:spLocks noGrp="1"/>
          </p:cNvSpPr>
          <p:nvPr/>
        </p:nvSpPr>
        <p:spPr>
          <a:xfrm>
            <a:off x="7658100" y="4876800"/>
            <a:ext cx="3543300" cy="457200"/>
          </a:xfrm>
          <a:prstGeom prst="rect">
            <a:avLst/>
          </a:prstGeom>
          <a:noFill/>
          <a:ln>
            <a:noFill/>
          </a:ln>
        </p:spPr>
        <p:txBody>
          <a:bodyPr wrap="square" lIns="0" tIns="0" rIns="0" bIns="0" anchor="ctr"/>
          <a:lstStyle/>
          <a:p>
            <a:pPr algn="ctr">
              <a:buNone/>
            </a:pPr>
            <a:r>
              <a:rPr sz="1600" b="1">
                <a:solidFill>
                  <a:srgbClr val="FFFFFF"/>
                </a:solidFill>
                <a:latin typeface="Arial"/>
                <a:ea typeface="Arial"/>
                <a:cs typeface="Arial"/>
              </a:rPr>
              <a:t>The human remains accountable for both customer review and accepted engineering change</a:t>
            </a:r>
            <a:endParaRPr sz="1600"/>
          </a:p>
        </p:txBody>
      </p:sp>
      <p:sp>
        <p:nvSpPr>
          <p:cNvPr id="17" name="Connector 17">
            <a:extLst>
              <a:ext uri="{FF2B5EF4-FFF2-40B4-BE49-F238E27FC236}">
                <a16:creationId xmlns:a16="http://schemas.microsoft.com/office/drawing/2014/main" id="{CB21DB00-75A9-4C0F-A7E8-EC80BA9C79C2}"/>
              </a:ext>
            </a:extLst>
          </p:cNvPr>
          <p:cNvSpPr>
            <a:spLocks noGrp="1"/>
          </p:cNvSpPr>
          <p:nvPr/>
        </p:nvSpPr>
        <p:spPr>
          <a:xfrm>
            <a:off x="552450" y="6419850"/>
            <a:ext cx="11087100" cy="0"/>
          </a:xfrm>
          <a:prstGeom prst="line">
            <a:avLst/>
          </a:prstGeom>
          <a:ln w="12700">
            <a:solidFill>
              <a:srgbClr val="D9DEE3"/>
            </a:solidFill>
          </a:ln>
        </p:spPr>
      </p:sp>
      <p:sp>
        <p:nvSpPr>
          <p:cNvPr id="18" name="Text 18">
            <a:extLst>
              <a:ext uri="{FF2B5EF4-FFF2-40B4-BE49-F238E27FC236}">
                <a16:creationId xmlns:a16="http://schemas.microsoft.com/office/drawing/2014/main" id="{E64E5197-8D54-43A3-9AC6-095B3F717EBB}"/>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19" name="Text 19">
            <a:extLst>
              <a:ext uri="{FF2B5EF4-FFF2-40B4-BE49-F238E27FC236}">
                <a16:creationId xmlns:a16="http://schemas.microsoft.com/office/drawing/2014/main" id="{87FB395B-2733-4DB9-A0B1-1350AB317C86}"/>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2</a:t>
            </a:r>
            <a:endParaRPr sz="1000"/>
          </a:p>
        </p:txBody>
      </p:sp>
    </p:spTree>
    <p:extLst>
      <p:ext uri="{BB962C8B-B14F-4D97-AF65-F5344CB8AC3E}">
        <p14:creationId xmlns:p14="http://schemas.microsoft.com/office/powerpoint/2010/main" val="1488842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9B7B64CA-4AD6-4DC8-A97C-DF0BC72663A5}"/>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CUSTOMER ACTIVITY ANALYTICS LOOP</a:t>
            </a:r>
            <a:endParaRPr sz="1100"/>
          </a:p>
        </p:txBody>
      </p:sp>
      <p:sp>
        <p:nvSpPr>
          <p:cNvPr id="3" name="Text 3">
            <a:extLst>
              <a:ext uri="{FF2B5EF4-FFF2-40B4-BE49-F238E27FC236}">
                <a16:creationId xmlns:a16="http://schemas.microsoft.com/office/drawing/2014/main" id="{FB0DD914-07E1-49F7-B30B-A8C5EBD5B2BB}"/>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The operator moves from source facts to a recommendation and back to reviewable history</a:t>
            </a:r>
            <a:endParaRPr sz="3000"/>
          </a:p>
        </p:txBody>
      </p:sp>
      <p:sp>
        <p:nvSpPr>
          <p:cNvPr id="4" name="Connector 4">
            <a:extLst>
              <a:ext uri="{FF2B5EF4-FFF2-40B4-BE49-F238E27FC236}">
                <a16:creationId xmlns:a16="http://schemas.microsoft.com/office/drawing/2014/main" id="{1AFEFE70-D3EE-4FB8-93BB-D3D8F30EC0FC}"/>
              </a:ext>
            </a:extLst>
          </p:cNvPr>
          <p:cNvSpPr>
            <a:spLocks noGrp="1"/>
          </p:cNvSpPr>
          <p:nvPr/>
        </p:nvSpPr>
        <p:spPr>
          <a:xfrm>
            <a:off x="2324100" y="2876550"/>
            <a:ext cx="533400" cy="0"/>
          </a:xfrm>
          <a:prstGeom prst="line">
            <a:avLst/>
          </a:prstGeom>
          <a:ln w="38100">
            <a:solidFill>
              <a:srgbClr val="D71920"/>
            </a:solidFill>
            <a:tailEnd type="triangle"/>
          </a:ln>
        </p:spPr>
      </p:sp>
      <p:sp>
        <p:nvSpPr>
          <p:cNvPr id="5" name="Connector 5">
            <a:extLst>
              <a:ext uri="{FF2B5EF4-FFF2-40B4-BE49-F238E27FC236}">
                <a16:creationId xmlns:a16="http://schemas.microsoft.com/office/drawing/2014/main" id="{D96ED503-B2A3-410C-93FE-D69499B5753B}"/>
              </a:ext>
            </a:extLst>
          </p:cNvPr>
          <p:cNvSpPr>
            <a:spLocks noGrp="1"/>
          </p:cNvSpPr>
          <p:nvPr/>
        </p:nvSpPr>
        <p:spPr>
          <a:xfrm>
            <a:off x="4610100" y="2876550"/>
            <a:ext cx="533400" cy="0"/>
          </a:xfrm>
          <a:prstGeom prst="line">
            <a:avLst/>
          </a:prstGeom>
          <a:ln w="38100">
            <a:solidFill>
              <a:srgbClr val="D71920"/>
            </a:solidFill>
            <a:tailEnd type="triangle"/>
          </a:ln>
        </p:spPr>
      </p:sp>
      <p:sp>
        <p:nvSpPr>
          <p:cNvPr id="6" name="Connector 6">
            <a:extLst>
              <a:ext uri="{FF2B5EF4-FFF2-40B4-BE49-F238E27FC236}">
                <a16:creationId xmlns:a16="http://schemas.microsoft.com/office/drawing/2014/main" id="{168CF8F6-D7FE-4E3D-9028-980FF2A32D48}"/>
              </a:ext>
            </a:extLst>
          </p:cNvPr>
          <p:cNvSpPr>
            <a:spLocks noGrp="1"/>
          </p:cNvSpPr>
          <p:nvPr/>
        </p:nvSpPr>
        <p:spPr>
          <a:xfrm>
            <a:off x="6896100" y="2876550"/>
            <a:ext cx="533400" cy="0"/>
          </a:xfrm>
          <a:prstGeom prst="line">
            <a:avLst/>
          </a:prstGeom>
          <a:ln w="38100">
            <a:solidFill>
              <a:srgbClr val="D71920"/>
            </a:solidFill>
            <a:tailEnd type="triangle"/>
          </a:ln>
        </p:spPr>
      </p:sp>
      <p:sp>
        <p:nvSpPr>
          <p:cNvPr id="7" name="Connector 7">
            <a:extLst>
              <a:ext uri="{FF2B5EF4-FFF2-40B4-BE49-F238E27FC236}">
                <a16:creationId xmlns:a16="http://schemas.microsoft.com/office/drawing/2014/main" id="{5358B48F-EF2D-4832-BC1E-080F54EF27E3}"/>
              </a:ext>
            </a:extLst>
          </p:cNvPr>
          <p:cNvSpPr>
            <a:spLocks noGrp="1"/>
          </p:cNvSpPr>
          <p:nvPr/>
        </p:nvSpPr>
        <p:spPr>
          <a:xfrm>
            <a:off x="9182100" y="2876550"/>
            <a:ext cx="533400" cy="0"/>
          </a:xfrm>
          <a:prstGeom prst="line">
            <a:avLst/>
          </a:prstGeom>
          <a:ln w="38100">
            <a:solidFill>
              <a:srgbClr val="D71920"/>
            </a:solidFill>
            <a:tailEnd type="triangle"/>
          </a:ln>
        </p:spPr>
      </p:sp>
      <p:sp>
        <p:nvSpPr>
          <p:cNvPr id="8" name="Connector 8">
            <a:extLst>
              <a:ext uri="{FF2B5EF4-FFF2-40B4-BE49-F238E27FC236}">
                <a16:creationId xmlns:a16="http://schemas.microsoft.com/office/drawing/2014/main" id="{AB3FAEAC-49DA-4C22-81C0-393AA9FED84D}"/>
              </a:ext>
            </a:extLst>
          </p:cNvPr>
          <p:cNvSpPr>
            <a:spLocks noGrp="1"/>
          </p:cNvSpPr>
          <p:nvPr/>
        </p:nvSpPr>
        <p:spPr>
          <a:xfrm>
            <a:off x="10591800" y="4171950"/>
            <a:ext cx="0" cy="685800"/>
          </a:xfrm>
          <a:prstGeom prst="line">
            <a:avLst/>
          </a:prstGeom>
          <a:ln w="25400">
            <a:solidFill>
              <a:srgbClr val="2A5B84"/>
            </a:solidFill>
          </a:ln>
        </p:spPr>
      </p:sp>
      <p:sp>
        <p:nvSpPr>
          <p:cNvPr id="9" name="Connector 9">
            <a:extLst>
              <a:ext uri="{FF2B5EF4-FFF2-40B4-BE49-F238E27FC236}">
                <a16:creationId xmlns:a16="http://schemas.microsoft.com/office/drawing/2014/main" id="{FD4582BC-821B-4AAB-9247-C85BA23EAEC1}"/>
              </a:ext>
            </a:extLst>
          </p:cNvPr>
          <p:cNvSpPr>
            <a:spLocks noGrp="1"/>
          </p:cNvSpPr>
          <p:nvPr/>
        </p:nvSpPr>
        <p:spPr>
          <a:xfrm flipH="1">
            <a:off x="3733800" y="4857750"/>
            <a:ext cx="6858000" cy="0"/>
          </a:xfrm>
          <a:prstGeom prst="line">
            <a:avLst/>
          </a:prstGeom>
          <a:ln w="25400">
            <a:solidFill>
              <a:srgbClr val="2A5B84"/>
            </a:solidFill>
          </a:ln>
        </p:spPr>
      </p:sp>
      <p:sp>
        <p:nvSpPr>
          <p:cNvPr id="10" name="Connector 10">
            <a:extLst>
              <a:ext uri="{FF2B5EF4-FFF2-40B4-BE49-F238E27FC236}">
                <a16:creationId xmlns:a16="http://schemas.microsoft.com/office/drawing/2014/main" id="{144B4EDD-49E5-474C-B74E-59934CB4BA0E}"/>
              </a:ext>
            </a:extLst>
          </p:cNvPr>
          <p:cNvSpPr>
            <a:spLocks noGrp="1"/>
          </p:cNvSpPr>
          <p:nvPr/>
        </p:nvSpPr>
        <p:spPr>
          <a:xfrm flipV="1">
            <a:off x="3733800" y="4171950"/>
            <a:ext cx="0" cy="685800"/>
          </a:xfrm>
          <a:prstGeom prst="line">
            <a:avLst/>
          </a:prstGeom>
          <a:ln w="25400">
            <a:solidFill>
              <a:srgbClr val="2A5B84"/>
            </a:solidFill>
            <a:tailEnd type="triangle"/>
          </a:ln>
        </p:spPr>
      </p:sp>
      <p:sp>
        <p:nvSpPr>
          <p:cNvPr id="11" name="Shape 11">
            <a:extLst>
              <a:ext uri="{FF2B5EF4-FFF2-40B4-BE49-F238E27FC236}">
                <a16:creationId xmlns:a16="http://schemas.microsoft.com/office/drawing/2014/main" id="{0B70BF50-40B3-4D26-93F0-B21BF6353CB9}"/>
              </a:ext>
            </a:extLst>
          </p:cNvPr>
          <p:cNvSpPr>
            <a:spLocks noGrp="1"/>
          </p:cNvSpPr>
          <p:nvPr/>
        </p:nvSpPr>
        <p:spPr>
          <a:xfrm>
            <a:off x="571500" y="2133600"/>
            <a:ext cx="1752600" cy="2038350"/>
          </a:xfrm>
          <a:prstGeom prst="roundRect">
            <a:avLst/>
          </a:prstGeom>
          <a:solidFill>
            <a:srgbClr val="FFFFFF"/>
          </a:solidFill>
          <a:ln w="12700">
            <a:solidFill>
              <a:srgbClr val="D9DEE3"/>
            </a:solidFill>
          </a:ln>
        </p:spPr>
      </p:sp>
      <p:sp>
        <p:nvSpPr>
          <p:cNvPr id="12" name="Shape 12">
            <a:extLst>
              <a:ext uri="{FF2B5EF4-FFF2-40B4-BE49-F238E27FC236}">
                <a16:creationId xmlns:a16="http://schemas.microsoft.com/office/drawing/2014/main" id="{C7C57F62-85C4-4732-8CAC-3C85EFE3D45B}"/>
              </a:ext>
            </a:extLst>
          </p:cNvPr>
          <p:cNvSpPr>
            <a:spLocks noGrp="1"/>
          </p:cNvSpPr>
          <p:nvPr/>
        </p:nvSpPr>
        <p:spPr>
          <a:xfrm>
            <a:off x="571500" y="2133600"/>
            <a:ext cx="1752600" cy="57150"/>
          </a:xfrm>
          <a:prstGeom prst="rect">
            <a:avLst/>
          </a:prstGeom>
          <a:solidFill>
            <a:srgbClr val="D71920"/>
          </a:solidFill>
          <a:ln w="12700">
            <a:solidFill>
              <a:srgbClr val="D71920"/>
            </a:solidFill>
          </a:ln>
        </p:spPr>
      </p:sp>
      <p:sp>
        <p:nvSpPr>
          <p:cNvPr id="13" name="Text 13">
            <a:extLst>
              <a:ext uri="{FF2B5EF4-FFF2-40B4-BE49-F238E27FC236}">
                <a16:creationId xmlns:a16="http://schemas.microsoft.com/office/drawing/2014/main" id="{70AE0727-B548-4BB9-B897-4F741F20BC07}"/>
              </a:ext>
            </a:extLst>
          </p:cNvPr>
          <p:cNvSpPr>
            <a:spLocks noGrp="1"/>
          </p:cNvSpPr>
          <p:nvPr/>
        </p:nvSpPr>
        <p:spPr>
          <a:xfrm>
            <a:off x="723900" y="2286000"/>
            <a:ext cx="381000" cy="228600"/>
          </a:xfrm>
          <a:prstGeom prst="rect">
            <a:avLst/>
          </a:prstGeom>
          <a:noFill/>
          <a:ln>
            <a:noFill/>
          </a:ln>
        </p:spPr>
        <p:txBody>
          <a:bodyPr wrap="square" lIns="0" tIns="0" rIns="0" bIns="0" anchor="t"/>
          <a:lstStyle/>
          <a:p>
            <a:pPr algn="l">
              <a:buNone/>
            </a:pPr>
            <a:r>
              <a:rPr sz="1200" b="1">
                <a:solidFill>
                  <a:srgbClr val="D71920"/>
                </a:solidFill>
                <a:latin typeface="Arial"/>
                <a:ea typeface="Arial"/>
                <a:cs typeface="Arial"/>
              </a:rPr>
              <a:t>01</a:t>
            </a:r>
            <a:endParaRPr sz="1200"/>
          </a:p>
        </p:txBody>
      </p:sp>
      <p:sp>
        <p:nvSpPr>
          <p:cNvPr id="14" name="Shape 14">
            <a:extLst>
              <a:ext uri="{FF2B5EF4-FFF2-40B4-BE49-F238E27FC236}">
                <a16:creationId xmlns:a16="http://schemas.microsoft.com/office/drawing/2014/main" id="{93CC7719-E634-4203-BA17-FADD466F8EB7}"/>
              </a:ext>
            </a:extLst>
          </p:cNvPr>
          <p:cNvSpPr>
            <a:spLocks noGrp="1"/>
          </p:cNvSpPr>
          <p:nvPr/>
        </p:nvSpPr>
        <p:spPr>
          <a:xfrm>
            <a:off x="1143000" y="2343150"/>
            <a:ext cx="609600" cy="609600"/>
          </a:xfrm>
          <a:prstGeom prst="ellipse">
            <a:avLst/>
          </a:prstGeom>
          <a:solidFill>
            <a:srgbClr val="F4F6F8"/>
          </a:solidFill>
          <a:ln w="19050">
            <a:solidFill>
              <a:srgbClr val="D71920"/>
            </a:solidFill>
          </a:ln>
        </p:spPr>
      </p:sp>
      <p:pic>
        <p:nvPicPr>
          <p:cNvPr id="73" name="Picture 15"/>
          <p:cNvPicPr>
            <a:picLocks noChangeAspect="1"/>
          </p:cNvPicPr>
          <p:nvPr/>
        </p:nvPicPr>
        <p:blipFill>
          <a:blip r:embed="rId3"/>
          <a:stretch>
            <a:fillRect/>
          </a:stretch>
        </p:blipFill>
        <p:spPr>
          <a:xfrm>
            <a:off x="1295400" y="2495550"/>
            <a:ext cx="304800" cy="304800"/>
          </a:xfrm>
          <a:prstGeom prst="rect">
            <a:avLst/>
          </a:prstGeom>
          <a:ln>
            <a:noFill/>
          </a:ln>
        </p:spPr>
      </p:pic>
      <p:sp>
        <p:nvSpPr>
          <p:cNvPr id="16" name="Text 16">
            <a:extLst>
              <a:ext uri="{FF2B5EF4-FFF2-40B4-BE49-F238E27FC236}">
                <a16:creationId xmlns:a16="http://schemas.microsoft.com/office/drawing/2014/main" id="{F5C6C67A-D761-45AB-957B-4C87F44F1BF6}"/>
              </a:ext>
            </a:extLst>
          </p:cNvPr>
          <p:cNvSpPr>
            <a:spLocks noGrp="1"/>
          </p:cNvSpPr>
          <p:nvPr/>
        </p:nvSpPr>
        <p:spPr>
          <a:xfrm>
            <a:off x="723900" y="3105150"/>
            <a:ext cx="1447800" cy="285750"/>
          </a:xfrm>
          <a:prstGeom prst="rect">
            <a:avLst/>
          </a:prstGeom>
          <a:noFill/>
          <a:ln>
            <a:noFill/>
          </a:ln>
        </p:spPr>
        <p:txBody>
          <a:bodyPr wrap="square" lIns="0" tIns="0" rIns="0" bIns="0" anchor="t"/>
          <a:lstStyle/>
          <a:p>
            <a:pPr algn="ctr">
              <a:buNone/>
            </a:pPr>
            <a:r>
              <a:rPr sz="1900" b="1">
                <a:solidFill>
                  <a:srgbClr val="17212B"/>
                </a:solidFill>
                <a:latin typeface="Arial"/>
                <a:ea typeface="Arial"/>
                <a:cs typeface="Arial"/>
              </a:rPr>
              <a:t>Identify</a:t>
            </a:r>
            <a:endParaRPr sz="1900"/>
          </a:p>
        </p:txBody>
      </p:sp>
      <p:sp>
        <p:nvSpPr>
          <p:cNvPr id="17" name="Text 17">
            <a:extLst>
              <a:ext uri="{FF2B5EF4-FFF2-40B4-BE49-F238E27FC236}">
                <a16:creationId xmlns:a16="http://schemas.microsoft.com/office/drawing/2014/main" id="{EFE7C2D8-C46A-48B1-8BEF-526CE5071AB1}"/>
              </a:ext>
            </a:extLst>
          </p:cNvPr>
          <p:cNvSpPr>
            <a:spLocks noGrp="1"/>
          </p:cNvSpPr>
          <p:nvPr/>
        </p:nvSpPr>
        <p:spPr>
          <a:xfrm>
            <a:off x="723900" y="3486150"/>
            <a:ext cx="1447800" cy="457200"/>
          </a:xfrm>
          <a:prstGeom prst="rect">
            <a:avLst/>
          </a:prstGeom>
          <a:noFill/>
          <a:ln>
            <a:noFill/>
          </a:ln>
        </p:spPr>
        <p:txBody>
          <a:bodyPr wrap="square" lIns="0" tIns="0" rIns="0" bIns="0" anchor="t"/>
          <a:lstStyle/>
          <a:p>
            <a:pPr algn="ctr">
              <a:buNone/>
            </a:pPr>
            <a:r>
              <a:rPr sz="1400" b="0">
                <a:solidFill>
                  <a:srgbClr val="5D6873"/>
                </a:solidFill>
                <a:latin typeface="Arial"/>
                <a:ea typeface="Arial"/>
                <a:cs typeface="Arial"/>
              </a:rPr>
              <a:t>Authenticated operator</a:t>
            </a:r>
            <a:endParaRPr sz="1400"/>
          </a:p>
        </p:txBody>
      </p:sp>
      <p:sp>
        <p:nvSpPr>
          <p:cNvPr id="18" name="Shape 18">
            <a:extLst>
              <a:ext uri="{FF2B5EF4-FFF2-40B4-BE49-F238E27FC236}">
                <a16:creationId xmlns:a16="http://schemas.microsoft.com/office/drawing/2014/main" id="{37CF946D-33D4-4299-94CC-4CD7A0CC8C16}"/>
              </a:ext>
            </a:extLst>
          </p:cNvPr>
          <p:cNvSpPr>
            <a:spLocks noGrp="1"/>
          </p:cNvSpPr>
          <p:nvPr/>
        </p:nvSpPr>
        <p:spPr>
          <a:xfrm>
            <a:off x="2857500" y="2133600"/>
            <a:ext cx="1752600" cy="2038350"/>
          </a:xfrm>
          <a:prstGeom prst="roundRect">
            <a:avLst/>
          </a:prstGeom>
          <a:solidFill>
            <a:srgbClr val="FFFFFF"/>
          </a:solidFill>
          <a:ln w="12700">
            <a:solidFill>
              <a:srgbClr val="D9DEE3"/>
            </a:solidFill>
          </a:ln>
        </p:spPr>
      </p:sp>
      <p:sp>
        <p:nvSpPr>
          <p:cNvPr id="19" name="Shape 19">
            <a:extLst>
              <a:ext uri="{FF2B5EF4-FFF2-40B4-BE49-F238E27FC236}">
                <a16:creationId xmlns:a16="http://schemas.microsoft.com/office/drawing/2014/main" id="{2B9603D6-E928-42F0-A295-5BF924336D64}"/>
              </a:ext>
            </a:extLst>
          </p:cNvPr>
          <p:cNvSpPr>
            <a:spLocks noGrp="1"/>
          </p:cNvSpPr>
          <p:nvPr/>
        </p:nvSpPr>
        <p:spPr>
          <a:xfrm>
            <a:off x="2857500" y="2133600"/>
            <a:ext cx="1752600" cy="57150"/>
          </a:xfrm>
          <a:prstGeom prst="rect">
            <a:avLst/>
          </a:prstGeom>
          <a:solidFill>
            <a:srgbClr val="2A5B84"/>
          </a:solidFill>
          <a:ln w="12700">
            <a:solidFill>
              <a:srgbClr val="2A5B84"/>
            </a:solidFill>
          </a:ln>
        </p:spPr>
      </p:sp>
      <p:sp>
        <p:nvSpPr>
          <p:cNvPr id="20" name="Text 20">
            <a:extLst>
              <a:ext uri="{FF2B5EF4-FFF2-40B4-BE49-F238E27FC236}">
                <a16:creationId xmlns:a16="http://schemas.microsoft.com/office/drawing/2014/main" id="{428E6DE1-D8A2-4D0A-BF20-09FE0A278376}"/>
              </a:ext>
            </a:extLst>
          </p:cNvPr>
          <p:cNvSpPr>
            <a:spLocks noGrp="1"/>
          </p:cNvSpPr>
          <p:nvPr/>
        </p:nvSpPr>
        <p:spPr>
          <a:xfrm>
            <a:off x="3009900" y="2286000"/>
            <a:ext cx="381000" cy="228600"/>
          </a:xfrm>
          <a:prstGeom prst="rect">
            <a:avLst/>
          </a:prstGeom>
          <a:noFill/>
          <a:ln>
            <a:noFill/>
          </a:ln>
        </p:spPr>
        <p:txBody>
          <a:bodyPr wrap="square" lIns="0" tIns="0" rIns="0" bIns="0" anchor="t"/>
          <a:lstStyle/>
          <a:p>
            <a:pPr algn="l">
              <a:buNone/>
            </a:pPr>
            <a:r>
              <a:rPr sz="1200" b="1">
                <a:solidFill>
                  <a:srgbClr val="2A5B84"/>
                </a:solidFill>
                <a:latin typeface="Arial"/>
                <a:ea typeface="Arial"/>
                <a:cs typeface="Arial"/>
              </a:rPr>
              <a:t>02</a:t>
            </a:r>
            <a:endParaRPr sz="1200"/>
          </a:p>
        </p:txBody>
      </p:sp>
      <p:sp>
        <p:nvSpPr>
          <p:cNvPr id="21" name="Shape 21">
            <a:extLst>
              <a:ext uri="{FF2B5EF4-FFF2-40B4-BE49-F238E27FC236}">
                <a16:creationId xmlns:a16="http://schemas.microsoft.com/office/drawing/2014/main" id="{9D6BFAD5-7641-416D-AA57-7A4E6D75946F}"/>
              </a:ext>
            </a:extLst>
          </p:cNvPr>
          <p:cNvSpPr>
            <a:spLocks noGrp="1"/>
          </p:cNvSpPr>
          <p:nvPr/>
        </p:nvSpPr>
        <p:spPr>
          <a:xfrm>
            <a:off x="3429000" y="2343150"/>
            <a:ext cx="609600" cy="609600"/>
          </a:xfrm>
          <a:prstGeom prst="ellipse">
            <a:avLst/>
          </a:prstGeom>
          <a:solidFill>
            <a:srgbClr val="F4F6F8"/>
          </a:solidFill>
          <a:ln w="19050">
            <a:solidFill>
              <a:srgbClr val="2A5B84"/>
            </a:solidFill>
          </a:ln>
        </p:spPr>
      </p:sp>
      <p:pic>
        <p:nvPicPr>
          <p:cNvPr id="80" name="Picture 22"/>
          <p:cNvPicPr>
            <a:picLocks noChangeAspect="1"/>
          </p:cNvPicPr>
          <p:nvPr/>
        </p:nvPicPr>
        <p:blipFill>
          <a:blip r:embed="rId4"/>
          <a:stretch>
            <a:fillRect/>
          </a:stretch>
        </p:blipFill>
        <p:spPr>
          <a:xfrm>
            <a:off x="3581400" y="2495550"/>
            <a:ext cx="304800" cy="304800"/>
          </a:xfrm>
          <a:prstGeom prst="rect">
            <a:avLst/>
          </a:prstGeom>
          <a:ln>
            <a:noFill/>
          </a:ln>
        </p:spPr>
      </p:pic>
      <p:sp>
        <p:nvSpPr>
          <p:cNvPr id="23" name="Text 23">
            <a:extLst>
              <a:ext uri="{FF2B5EF4-FFF2-40B4-BE49-F238E27FC236}">
                <a16:creationId xmlns:a16="http://schemas.microsoft.com/office/drawing/2014/main" id="{FC375660-E65D-429D-B0E3-CCCEB175993E}"/>
              </a:ext>
            </a:extLst>
          </p:cNvPr>
          <p:cNvSpPr>
            <a:spLocks noGrp="1"/>
          </p:cNvSpPr>
          <p:nvPr/>
        </p:nvSpPr>
        <p:spPr>
          <a:xfrm>
            <a:off x="3009900" y="3105150"/>
            <a:ext cx="1447800" cy="285750"/>
          </a:xfrm>
          <a:prstGeom prst="rect">
            <a:avLst/>
          </a:prstGeom>
          <a:noFill/>
          <a:ln>
            <a:noFill/>
          </a:ln>
        </p:spPr>
        <p:txBody>
          <a:bodyPr wrap="square" lIns="0" tIns="0" rIns="0" bIns="0" anchor="t"/>
          <a:lstStyle/>
          <a:p>
            <a:pPr algn="ctr">
              <a:buNone/>
            </a:pPr>
            <a:r>
              <a:rPr sz="1900" b="1">
                <a:solidFill>
                  <a:srgbClr val="17212B"/>
                </a:solidFill>
                <a:latin typeface="Arial"/>
                <a:ea typeface="Arial"/>
                <a:cs typeface="Arial"/>
              </a:rPr>
              <a:t>Review</a:t>
            </a:r>
            <a:endParaRPr sz="1900"/>
          </a:p>
        </p:txBody>
      </p:sp>
      <p:sp>
        <p:nvSpPr>
          <p:cNvPr id="24" name="Text 24">
            <a:extLst>
              <a:ext uri="{FF2B5EF4-FFF2-40B4-BE49-F238E27FC236}">
                <a16:creationId xmlns:a16="http://schemas.microsoft.com/office/drawing/2014/main" id="{75F26DC0-4769-4F8C-924B-EBA6DA79B40D}"/>
              </a:ext>
            </a:extLst>
          </p:cNvPr>
          <p:cNvSpPr>
            <a:spLocks noGrp="1"/>
          </p:cNvSpPr>
          <p:nvPr/>
        </p:nvSpPr>
        <p:spPr>
          <a:xfrm>
            <a:off x="3009900" y="3486150"/>
            <a:ext cx="1447800" cy="457200"/>
          </a:xfrm>
          <a:prstGeom prst="rect">
            <a:avLst/>
          </a:prstGeom>
          <a:noFill/>
          <a:ln>
            <a:noFill/>
          </a:ln>
        </p:spPr>
        <p:txBody>
          <a:bodyPr wrap="square" lIns="0" tIns="0" rIns="0" bIns="0" anchor="t"/>
          <a:lstStyle/>
          <a:p>
            <a:pPr algn="ctr">
              <a:buNone/>
            </a:pPr>
            <a:r>
              <a:rPr sz="1400" b="0">
                <a:solidFill>
                  <a:srgbClr val="5D6873"/>
                </a:solidFill>
                <a:latin typeface="Arial"/>
                <a:ea typeface="Arial"/>
                <a:cs typeface="Arial"/>
              </a:rPr>
              <a:t>Activity facts and source risk</a:t>
            </a:r>
            <a:endParaRPr sz="1400"/>
          </a:p>
        </p:txBody>
      </p:sp>
      <p:sp>
        <p:nvSpPr>
          <p:cNvPr id="25" name="Shape 25">
            <a:extLst>
              <a:ext uri="{FF2B5EF4-FFF2-40B4-BE49-F238E27FC236}">
                <a16:creationId xmlns:a16="http://schemas.microsoft.com/office/drawing/2014/main" id="{AF563834-04F3-4C0C-93CA-2EC077F681BD}"/>
              </a:ext>
            </a:extLst>
          </p:cNvPr>
          <p:cNvSpPr>
            <a:spLocks noGrp="1"/>
          </p:cNvSpPr>
          <p:nvPr/>
        </p:nvSpPr>
        <p:spPr>
          <a:xfrm>
            <a:off x="5143500" y="2133600"/>
            <a:ext cx="1752600" cy="2038350"/>
          </a:xfrm>
          <a:prstGeom prst="roundRect">
            <a:avLst/>
          </a:prstGeom>
          <a:solidFill>
            <a:srgbClr val="FFFFFF"/>
          </a:solidFill>
          <a:ln w="12700">
            <a:solidFill>
              <a:srgbClr val="D9DEE3"/>
            </a:solidFill>
          </a:ln>
        </p:spPr>
      </p:sp>
      <p:sp>
        <p:nvSpPr>
          <p:cNvPr id="26" name="Shape 26">
            <a:extLst>
              <a:ext uri="{FF2B5EF4-FFF2-40B4-BE49-F238E27FC236}">
                <a16:creationId xmlns:a16="http://schemas.microsoft.com/office/drawing/2014/main" id="{4D51B335-E658-4F47-80B6-B34F13737E34}"/>
              </a:ext>
            </a:extLst>
          </p:cNvPr>
          <p:cNvSpPr>
            <a:spLocks noGrp="1"/>
          </p:cNvSpPr>
          <p:nvPr/>
        </p:nvSpPr>
        <p:spPr>
          <a:xfrm>
            <a:off x="5143500" y="2133600"/>
            <a:ext cx="1752600" cy="57150"/>
          </a:xfrm>
          <a:prstGeom prst="rect">
            <a:avLst/>
          </a:prstGeom>
          <a:solidFill>
            <a:srgbClr val="981B1E"/>
          </a:solidFill>
          <a:ln w="12700">
            <a:solidFill>
              <a:srgbClr val="981B1E"/>
            </a:solidFill>
          </a:ln>
        </p:spPr>
      </p:sp>
      <p:sp>
        <p:nvSpPr>
          <p:cNvPr id="27" name="Text 27">
            <a:extLst>
              <a:ext uri="{FF2B5EF4-FFF2-40B4-BE49-F238E27FC236}">
                <a16:creationId xmlns:a16="http://schemas.microsoft.com/office/drawing/2014/main" id="{1DA3EF30-6896-4FEF-9E2F-9BE517A78BF1}"/>
              </a:ext>
            </a:extLst>
          </p:cNvPr>
          <p:cNvSpPr>
            <a:spLocks noGrp="1"/>
          </p:cNvSpPr>
          <p:nvPr/>
        </p:nvSpPr>
        <p:spPr>
          <a:xfrm>
            <a:off x="5295900" y="2286000"/>
            <a:ext cx="381000" cy="228600"/>
          </a:xfrm>
          <a:prstGeom prst="rect">
            <a:avLst/>
          </a:prstGeom>
          <a:noFill/>
          <a:ln>
            <a:noFill/>
          </a:ln>
        </p:spPr>
        <p:txBody>
          <a:bodyPr wrap="square" lIns="0" tIns="0" rIns="0" bIns="0" anchor="t"/>
          <a:lstStyle/>
          <a:p>
            <a:pPr algn="l">
              <a:buNone/>
            </a:pPr>
            <a:r>
              <a:rPr sz="1200" b="1">
                <a:solidFill>
                  <a:srgbClr val="981B1E"/>
                </a:solidFill>
                <a:latin typeface="Arial"/>
                <a:ea typeface="Arial"/>
                <a:cs typeface="Arial"/>
              </a:rPr>
              <a:t>03</a:t>
            </a:r>
            <a:endParaRPr sz="1200"/>
          </a:p>
        </p:txBody>
      </p:sp>
      <p:sp>
        <p:nvSpPr>
          <p:cNvPr id="28" name="Shape 28">
            <a:extLst>
              <a:ext uri="{FF2B5EF4-FFF2-40B4-BE49-F238E27FC236}">
                <a16:creationId xmlns:a16="http://schemas.microsoft.com/office/drawing/2014/main" id="{7D5870FA-093B-414B-BE10-5C5DAC7F3E2C}"/>
              </a:ext>
            </a:extLst>
          </p:cNvPr>
          <p:cNvSpPr>
            <a:spLocks noGrp="1"/>
          </p:cNvSpPr>
          <p:nvPr/>
        </p:nvSpPr>
        <p:spPr>
          <a:xfrm>
            <a:off x="5715000" y="2343150"/>
            <a:ext cx="609600" cy="609600"/>
          </a:xfrm>
          <a:prstGeom prst="ellipse">
            <a:avLst/>
          </a:prstGeom>
          <a:solidFill>
            <a:srgbClr val="F4F6F8"/>
          </a:solidFill>
          <a:ln w="19050">
            <a:solidFill>
              <a:srgbClr val="981B1E"/>
            </a:solidFill>
          </a:ln>
        </p:spPr>
      </p:sp>
      <p:pic>
        <p:nvPicPr>
          <p:cNvPr id="87" name="Picture 29"/>
          <p:cNvPicPr>
            <a:picLocks noChangeAspect="1"/>
          </p:cNvPicPr>
          <p:nvPr/>
        </p:nvPicPr>
        <p:blipFill>
          <a:blip r:embed="rId5"/>
          <a:stretch>
            <a:fillRect/>
          </a:stretch>
        </p:blipFill>
        <p:spPr>
          <a:xfrm>
            <a:off x="5867400" y="2495550"/>
            <a:ext cx="304800" cy="304800"/>
          </a:xfrm>
          <a:prstGeom prst="rect">
            <a:avLst/>
          </a:prstGeom>
          <a:ln>
            <a:noFill/>
          </a:ln>
        </p:spPr>
      </p:pic>
      <p:sp>
        <p:nvSpPr>
          <p:cNvPr id="30" name="Text 30">
            <a:extLst>
              <a:ext uri="{FF2B5EF4-FFF2-40B4-BE49-F238E27FC236}">
                <a16:creationId xmlns:a16="http://schemas.microsoft.com/office/drawing/2014/main" id="{1A7B93CE-46AB-438A-8EFE-ECE3B85AD75B}"/>
              </a:ext>
            </a:extLst>
          </p:cNvPr>
          <p:cNvSpPr>
            <a:spLocks noGrp="1"/>
          </p:cNvSpPr>
          <p:nvPr/>
        </p:nvSpPr>
        <p:spPr>
          <a:xfrm>
            <a:off x="5295900" y="3105150"/>
            <a:ext cx="1447800" cy="285750"/>
          </a:xfrm>
          <a:prstGeom prst="rect">
            <a:avLst/>
          </a:prstGeom>
          <a:noFill/>
          <a:ln>
            <a:noFill/>
          </a:ln>
        </p:spPr>
        <p:txBody>
          <a:bodyPr wrap="square" lIns="0" tIns="0" rIns="0" bIns="0" anchor="t"/>
          <a:lstStyle/>
          <a:p>
            <a:pPr algn="ctr">
              <a:buNone/>
            </a:pPr>
            <a:r>
              <a:rPr sz="1900" b="1">
                <a:solidFill>
                  <a:srgbClr val="17212B"/>
                </a:solidFill>
                <a:latin typeface="Arial"/>
                <a:ea typeface="Arial"/>
                <a:cs typeface="Arial"/>
              </a:rPr>
              <a:t>Analyze</a:t>
            </a:r>
            <a:endParaRPr sz="1900"/>
          </a:p>
        </p:txBody>
      </p:sp>
      <p:sp>
        <p:nvSpPr>
          <p:cNvPr id="31" name="Text 31">
            <a:extLst>
              <a:ext uri="{FF2B5EF4-FFF2-40B4-BE49-F238E27FC236}">
                <a16:creationId xmlns:a16="http://schemas.microsoft.com/office/drawing/2014/main" id="{C462E203-AF0C-4E10-B521-D42414F1E52A}"/>
              </a:ext>
            </a:extLst>
          </p:cNvPr>
          <p:cNvSpPr>
            <a:spLocks noGrp="1"/>
          </p:cNvSpPr>
          <p:nvPr/>
        </p:nvSpPr>
        <p:spPr>
          <a:xfrm>
            <a:off x="5295900" y="3486150"/>
            <a:ext cx="1447800" cy="457200"/>
          </a:xfrm>
          <a:prstGeom prst="rect">
            <a:avLst/>
          </a:prstGeom>
          <a:noFill/>
          <a:ln>
            <a:noFill/>
          </a:ln>
        </p:spPr>
        <p:txBody>
          <a:bodyPr wrap="square" lIns="0" tIns="0" rIns="0" bIns="0" anchor="t"/>
          <a:lstStyle/>
          <a:p>
            <a:pPr algn="ctr">
              <a:buNone/>
            </a:pPr>
            <a:r>
              <a:rPr sz="1400" b="0">
                <a:solidFill>
                  <a:srgbClr val="5D6873"/>
                </a:solidFill>
                <a:latin typeface="Arial"/>
                <a:ea typeface="Arial"/>
                <a:cs typeface="Arial"/>
              </a:rPr>
              <a:t>Bounded evidence pipeline</a:t>
            </a:r>
            <a:endParaRPr sz="1400"/>
          </a:p>
        </p:txBody>
      </p:sp>
      <p:sp>
        <p:nvSpPr>
          <p:cNvPr id="32" name="Shape 32">
            <a:extLst>
              <a:ext uri="{FF2B5EF4-FFF2-40B4-BE49-F238E27FC236}">
                <a16:creationId xmlns:a16="http://schemas.microsoft.com/office/drawing/2014/main" id="{19E9CEC4-F11A-4125-A556-F10A25CE1BE3}"/>
              </a:ext>
            </a:extLst>
          </p:cNvPr>
          <p:cNvSpPr>
            <a:spLocks noGrp="1"/>
          </p:cNvSpPr>
          <p:nvPr/>
        </p:nvSpPr>
        <p:spPr>
          <a:xfrm>
            <a:off x="7429500" y="2133600"/>
            <a:ext cx="1752600" cy="2038350"/>
          </a:xfrm>
          <a:prstGeom prst="roundRect">
            <a:avLst/>
          </a:prstGeom>
          <a:solidFill>
            <a:srgbClr val="FFFFFF"/>
          </a:solidFill>
          <a:ln w="12700">
            <a:solidFill>
              <a:srgbClr val="D9DEE3"/>
            </a:solidFill>
          </a:ln>
        </p:spPr>
      </p:sp>
      <p:sp>
        <p:nvSpPr>
          <p:cNvPr id="33" name="Shape 33">
            <a:extLst>
              <a:ext uri="{FF2B5EF4-FFF2-40B4-BE49-F238E27FC236}">
                <a16:creationId xmlns:a16="http://schemas.microsoft.com/office/drawing/2014/main" id="{8E399D99-4520-4890-87B0-B77E648786E8}"/>
              </a:ext>
            </a:extLst>
          </p:cNvPr>
          <p:cNvSpPr>
            <a:spLocks noGrp="1"/>
          </p:cNvSpPr>
          <p:nvPr/>
        </p:nvSpPr>
        <p:spPr>
          <a:xfrm>
            <a:off x="7429500" y="2133600"/>
            <a:ext cx="1752600" cy="57150"/>
          </a:xfrm>
          <a:prstGeom prst="rect">
            <a:avLst/>
          </a:prstGeom>
          <a:solidFill>
            <a:srgbClr val="1F7A5A"/>
          </a:solidFill>
          <a:ln w="12700">
            <a:solidFill>
              <a:srgbClr val="1F7A5A"/>
            </a:solidFill>
          </a:ln>
        </p:spPr>
      </p:sp>
      <p:sp>
        <p:nvSpPr>
          <p:cNvPr id="34" name="Text 34">
            <a:extLst>
              <a:ext uri="{FF2B5EF4-FFF2-40B4-BE49-F238E27FC236}">
                <a16:creationId xmlns:a16="http://schemas.microsoft.com/office/drawing/2014/main" id="{A0E6D481-F34D-4C4E-AA86-339C975003BF}"/>
              </a:ext>
            </a:extLst>
          </p:cNvPr>
          <p:cNvSpPr>
            <a:spLocks noGrp="1"/>
          </p:cNvSpPr>
          <p:nvPr/>
        </p:nvSpPr>
        <p:spPr>
          <a:xfrm>
            <a:off x="7581900" y="2286000"/>
            <a:ext cx="381000" cy="228600"/>
          </a:xfrm>
          <a:prstGeom prst="rect">
            <a:avLst/>
          </a:prstGeom>
          <a:noFill/>
          <a:ln>
            <a:noFill/>
          </a:ln>
        </p:spPr>
        <p:txBody>
          <a:bodyPr wrap="square" lIns="0" tIns="0" rIns="0" bIns="0" anchor="t"/>
          <a:lstStyle/>
          <a:p>
            <a:pPr algn="l">
              <a:buNone/>
            </a:pPr>
            <a:r>
              <a:rPr sz="1200" b="1">
                <a:solidFill>
                  <a:srgbClr val="1F7A5A"/>
                </a:solidFill>
                <a:latin typeface="Arial"/>
                <a:ea typeface="Arial"/>
                <a:cs typeface="Arial"/>
              </a:rPr>
              <a:t>04</a:t>
            </a:r>
            <a:endParaRPr sz="1200"/>
          </a:p>
        </p:txBody>
      </p:sp>
      <p:sp>
        <p:nvSpPr>
          <p:cNvPr id="35" name="Shape 35">
            <a:extLst>
              <a:ext uri="{FF2B5EF4-FFF2-40B4-BE49-F238E27FC236}">
                <a16:creationId xmlns:a16="http://schemas.microsoft.com/office/drawing/2014/main" id="{E292DF5A-50A8-45F8-B452-8D8F24B36236}"/>
              </a:ext>
            </a:extLst>
          </p:cNvPr>
          <p:cNvSpPr>
            <a:spLocks noGrp="1"/>
          </p:cNvSpPr>
          <p:nvPr/>
        </p:nvSpPr>
        <p:spPr>
          <a:xfrm>
            <a:off x="8001000" y="2343150"/>
            <a:ext cx="609600" cy="609600"/>
          </a:xfrm>
          <a:prstGeom prst="ellipse">
            <a:avLst/>
          </a:prstGeom>
          <a:solidFill>
            <a:srgbClr val="F4F6F8"/>
          </a:solidFill>
          <a:ln w="19050">
            <a:solidFill>
              <a:srgbClr val="1F7A5A"/>
            </a:solidFill>
          </a:ln>
        </p:spPr>
      </p:sp>
      <p:pic>
        <p:nvPicPr>
          <p:cNvPr id="94" name="Picture 36"/>
          <p:cNvPicPr>
            <a:picLocks noChangeAspect="1"/>
          </p:cNvPicPr>
          <p:nvPr/>
        </p:nvPicPr>
        <p:blipFill>
          <a:blip r:embed="rId6"/>
          <a:stretch>
            <a:fillRect/>
          </a:stretch>
        </p:blipFill>
        <p:spPr>
          <a:xfrm>
            <a:off x="8153400" y="2495550"/>
            <a:ext cx="304800" cy="304800"/>
          </a:xfrm>
          <a:prstGeom prst="rect">
            <a:avLst/>
          </a:prstGeom>
          <a:ln>
            <a:noFill/>
          </a:ln>
        </p:spPr>
      </p:pic>
      <p:sp>
        <p:nvSpPr>
          <p:cNvPr id="37" name="Text 37">
            <a:extLst>
              <a:ext uri="{FF2B5EF4-FFF2-40B4-BE49-F238E27FC236}">
                <a16:creationId xmlns:a16="http://schemas.microsoft.com/office/drawing/2014/main" id="{927209A8-62D7-496D-A28E-6CEFE0771E6A}"/>
              </a:ext>
            </a:extLst>
          </p:cNvPr>
          <p:cNvSpPr>
            <a:spLocks noGrp="1"/>
          </p:cNvSpPr>
          <p:nvPr/>
        </p:nvSpPr>
        <p:spPr>
          <a:xfrm>
            <a:off x="7581900" y="3105150"/>
            <a:ext cx="1447800" cy="285750"/>
          </a:xfrm>
          <a:prstGeom prst="rect">
            <a:avLst/>
          </a:prstGeom>
          <a:noFill/>
          <a:ln>
            <a:noFill/>
          </a:ln>
        </p:spPr>
        <p:txBody>
          <a:bodyPr wrap="square" lIns="0" tIns="0" rIns="0" bIns="0" anchor="t"/>
          <a:lstStyle/>
          <a:p>
            <a:pPr algn="ctr">
              <a:buNone/>
            </a:pPr>
            <a:r>
              <a:rPr sz="1900" b="1">
                <a:solidFill>
                  <a:srgbClr val="17212B"/>
                </a:solidFill>
                <a:latin typeface="Arial"/>
                <a:ea typeface="Arial"/>
                <a:cs typeface="Arial"/>
              </a:rPr>
              <a:t>Inspect</a:t>
            </a:r>
            <a:endParaRPr sz="1900"/>
          </a:p>
        </p:txBody>
      </p:sp>
      <p:sp>
        <p:nvSpPr>
          <p:cNvPr id="38" name="Text 38">
            <a:extLst>
              <a:ext uri="{FF2B5EF4-FFF2-40B4-BE49-F238E27FC236}">
                <a16:creationId xmlns:a16="http://schemas.microsoft.com/office/drawing/2014/main" id="{EA63AEA8-0C96-4BA0-8B8F-6042A6D2D38B}"/>
              </a:ext>
            </a:extLst>
          </p:cNvPr>
          <p:cNvSpPr>
            <a:spLocks noGrp="1"/>
          </p:cNvSpPr>
          <p:nvPr/>
        </p:nvSpPr>
        <p:spPr>
          <a:xfrm>
            <a:off x="7581900" y="3486150"/>
            <a:ext cx="1447800" cy="457200"/>
          </a:xfrm>
          <a:prstGeom prst="rect">
            <a:avLst/>
          </a:prstGeom>
          <a:noFill/>
          <a:ln>
            <a:noFill/>
          </a:ln>
        </p:spPr>
        <p:txBody>
          <a:bodyPr wrap="square" lIns="0" tIns="0" rIns="0" bIns="0" anchor="t"/>
          <a:lstStyle/>
          <a:p>
            <a:pPr algn="ctr">
              <a:buNone/>
            </a:pPr>
            <a:r>
              <a:rPr sz="1400" b="0">
                <a:solidFill>
                  <a:srgbClr val="5D6873"/>
                </a:solidFill>
                <a:latin typeface="Arial"/>
                <a:ea typeface="Arial"/>
                <a:cs typeface="Arial"/>
              </a:rPr>
              <a:t>Grounding and provenance</a:t>
            </a:r>
            <a:endParaRPr sz="1400"/>
          </a:p>
        </p:txBody>
      </p:sp>
      <p:sp>
        <p:nvSpPr>
          <p:cNvPr id="39" name="Shape 39">
            <a:extLst>
              <a:ext uri="{FF2B5EF4-FFF2-40B4-BE49-F238E27FC236}">
                <a16:creationId xmlns:a16="http://schemas.microsoft.com/office/drawing/2014/main" id="{F0F9A579-59F0-43F1-9D5D-E8E4CF6FCD65}"/>
              </a:ext>
            </a:extLst>
          </p:cNvPr>
          <p:cNvSpPr>
            <a:spLocks noGrp="1"/>
          </p:cNvSpPr>
          <p:nvPr/>
        </p:nvSpPr>
        <p:spPr>
          <a:xfrm>
            <a:off x="9715500" y="2133600"/>
            <a:ext cx="1752600" cy="2038350"/>
          </a:xfrm>
          <a:prstGeom prst="roundRect">
            <a:avLst/>
          </a:prstGeom>
          <a:solidFill>
            <a:srgbClr val="FCEBEC"/>
          </a:solidFill>
          <a:ln w="25400">
            <a:solidFill>
              <a:srgbClr val="D71920"/>
            </a:solidFill>
          </a:ln>
        </p:spPr>
      </p:sp>
      <p:sp>
        <p:nvSpPr>
          <p:cNvPr id="40" name="Shape 40">
            <a:extLst>
              <a:ext uri="{FF2B5EF4-FFF2-40B4-BE49-F238E27FC236}">
                <a16:creationId xmlns:a16="http://schemas.microsoft.com/office/drawing/2014/main" id="{5339E32B-C43E-48E5-818F-623BD32F272B}"/>
              </a:ext>
            </a:extLst>
          </p:cNvPr>
          <p:cNvSpPr>
            <a:spLocks noGrp="1"/>
          </p:cNvSpPr>
          <p:nvPr/>
        </p:nvSpPr>
        <p:spPr>
          <a:xfrm>
            <a:off x="9715500" y="2133600"/>
            <a:ext cx="1752600" cy="57150"/>
          </a:xfrm>
          <a:prstGeom prst="rect">
            <a:avLst/>
          </a:prstGeom>
          <a:solidFill>
            <a:srgbClr val="D71920"/>
          </a:solidFill>
          <a:ln w="12700">
            <a:solidFill>
              <a:srgbClr val="D71920"/>
            </a:solidFill>
          </a:ln>
        </p:spPr>
      </p:sp>
      <p:sp>
        <p:nvSpPr>
          <p:cNvPr id="41" name="Text 41">
            <a:extLst>
              <a:ext uri="{FF2B5EF4-FFF2-40B4-BE49-F238E27FC236}">
                <a16:creationId xmlns:a16="http://schemas.microsoft.com/office/drawing/2014/main" id="{E4BFD54E-5863-4C1A-A8EC-FF242C3AA931}"/>
              </a:ext>
            </a:extLst>
          </p:cNvPr>
          <p:cNvSpPr>
            <a:spLocks noGrp="1"/>
          </p:cNvSpPr>
          <p:nvPr/>
        </p:nvSpPr>
        <p:spPr>
          <a:xfrm>
            <a:off x="9867900" y="2286000"/>
            <a:ext cx="381000" cy="228600"/>
          </a:xfrm>
          <a:prstGeom prst="rect">
            <a:avLst/>
          </a:prstGeom>
          <a:noFill/>
          <a:ln>
            <a:noFill/>
          </a:ln>
        </p:spPr>
        <p:txBody>
          <a:bodyPr wrap="square" lIns="0" tIns="0" rIns="0" bIns="0" anchor="t"/>
          <a:lstStyle/>
          <a:p>
            <a:pPr algn="l">
              <a:buNone/>
            </a:pPr>
            <a:r>
              <a:rPr sz="1200" b="1">
                <a:solidFill>
                  <a:srgbClr val="D71920"/>
                </a:solidFill>
                <a:latin typeface="Arial"/>
                <a:ea typeface="Arial"/>
                <a:cs typeface="Arial"/>
              </a:rPr>
              <a:t>05</a:t>
            </a:r>
            <a:endParaRPr sz="1200"/>
          </a:p>
        </p:txBody>
      </p:sp>
      <p:sp>
        <p:nvSpPr>
          <p:cNvPr id="42" name="Shape 42">
            <a:extLst>
              <a:ext uri="{FF2B5EF4-FFF2-40B4-BE49-F238E27FC236}">
                <a16:creationId xmlns:a16="http://schemas.microsoft.com/office/drawing/2014/main" id="{4D9A5B83-2750-443B-B32D-01E1D6142763}"/>
              </a:ext>
            </a:extLst>
          </p:cNvPr>
          <p:cNvSpPr>
            <a:spLocks noGrp="1"/>
          </p:cNvSpPr>
          <p:nvPr/>
        </p:nvSpPr>
        <p:spPr>
          <a:xfrm>
            <a:off x="10287000" y="2343150"/>
            <a:ext cx="609600" cy="609600"/>
          </a:xfrm>
          <a:prstGeom prst="ellipse">
            <a:avLst/>
          </a:prstGeom>
          <a:solidFill>
            <a:srgbClr val="FFFFFF"/>
          </a:solidFill>
          <a:ln w="19050">
            <a:solidFill>
              <a:srgbClr val="D71920"/>
            </a:solidFill>
          </a:ln>
        </p:spPr>
      </p:sp>
      <p:pic>
        <p:nvPicPr>
          <p:cNvPr id="101" name="Picture 43"/>
          <p:cNvPicPr>
            <a:picLocks noChangeAspect="1"/>
          </p:cNvPicPr>
          <p:nvPr/>
        </p:nvPicPr>
        <p:blipFill>
          <a:blip r:embed="rId7"/>
          <a:stretch>
            <a:fillRect/>
          </a:stretch>
        </p:blipFill>
        <p:spPr>
          <a:xfrm>
            <a:off x="10439400" y="2495550"/>
            <a:ext cx="304800" cy="304800"/>
          </a:xfrm>
          <a:prstGeom prst="rect">
            <a:avLst/>
          </a:prstGeom>
          <a:ln>
            <a:noFill/>
          </a:ln>
        </p:spPr>
      </p:pic>
      <p:sp>
        <p:nvSpPr>
          <p:cNvPr id="44" name="Text 44">
            <a:extLst>
              <a:ext uri="{FF2B5EF4-FFF2-40B4-BE49-F238E27FC236}">
                <a16:creationId xmlns:a16="http://schemas.microsoft.com/office/drawing/2014/main" id="{B7FF563B-EDAF-4ACD-9BDE-68ADF6DFCA69}"/>
              </a:ext>
            </a:extLst>
          </p:cNvPr>
          <p:cNvSpPr>
            <a:spLocks noGrp="1"/>
          </p:cNvSpPr>
          <p:nvPr/>
        </p:nvSpPr>
        <p:spPr>
          <a:xfrm>
            <a:off x="9867900" y="3105150"/>
            <a:ext cx="1447800" cy="285750"/>
          </a:xfrm>
          <a:prstGeom prst="rect">
            <a:avLst/>
          </a:prstGeom>
          <a:noFill/>
          <a:ln>
            <a:noFill/>
          </a:ln>
        </p:spPr>
        <p:txBody>
          <a:bodyPr wrap="square" lIns="0" tIns="0" rIns="0" bIns="0" anchor="t"/>
          <a:lstStyle/>
          <a:p>
            <a:pPr algn="ctr">
              <a:buNone/>
            </a:pPr>
            <a:r>
              <a:rPr sz="1900" b="1">
                <a:solidFill>
                  <a:srgbClr val="17212B"/>
                </a:solidFill>
                <a:latin typeface="Arial"/>
                <a:ea typeface="Arial"/>
                <a:cs typeface="Arial"/>
              </a:rPr>
              <a:t>Reopen</a:t>
            </a:r>
            <a:endParaRPr sz="1900"/>
          </a:p>
        </p:txBody>
      </p:sp>
      <p:sp>
        <p:nvSpPr>
          <p:cNvPr id="45" name="Text 45">
            <a:extLst>
              <a:ext uri="{FF2B5EF4-FFF2-40B4-BE49-F238E27FC236}">
                <a16:creationId xmlns:a16="http://schemas.microsoft.com/office/drawing/2014/main" id="{BCE9BB49-DA1F-4EB5-8449-BE0C78FA965F}"/>
              </a:ext>
            </a:extLst>
          </p:cNvPr>
          <p:cNvSpPr>
            <a:spLocks noGrp="1"/>
          </p:cNvSpPr>
          <p:nvPr/>
        </p:nvSpPr>
        <p:spPr>
          <a:xfrm>
            <a:off x="9867900" y="3486150"/>
            <a:ext cx="1447800" cy="457200"/>
          </a:xfrm>
          <a:prstGeom prst="rect">
            <a:avLst/>
          </a:prstGeom>
          <a:noFill/>
          <a:ln>
            <a:noFill/>
          </a:ln>
        </p:spPr>
        <p:txBody>
          <a:bodyPr wrap="square" lIns="0" tIns="0" rIns="0" bIns="0" anchor="t"/>
          <a:lstStyle/>
          <a:p>
            <a:pPr algn="ctr">
              <a:buNone/>
            </a:pPr>
            <a:r>
              <a:rPr sz="1400" b="0">
                <a:solidFill>
                  <a:srgbClr val="5D6873"/>
                </a:solidFill>
                <a:latin typeface="Arial"/>
                <a:ea typeface="Arial"/>
                <a:cs typeface="Arial"/>
              </a:rPr>
              <a:t>Persisted review context</a:t>
            </a:r>
            <a:endParaRPr sz="1400"/>
          </a:p>
        </p:txBody>
      </p:sp>
      <p:sp>
        <p:nvSpPr>
          <p:cNvPr id="46" name="Text 46">
            <a:extLst>
              <a:ext uri="{FF2B5EF4-FFF2-40B4-BE49-F238E27FC236}">
                <a16:creationId xmlns:a16="http://schemas.microsoft.com/office/drawing/2014/main" id="{4A3488D9-D181-4686-AE19-73B5BA833D35}"/>
              </a:ext>
            </a:extLst>
          </p:cNvPr>
          <p:cNvSpPr>
            <a:spLocks noGrp="1"/>
          </p:cNvSpPr>
          <p:nvPr/>
        </p:nvSpPr>
        <p:spPr>
          <a:xfrm>
            <a:off x="4762500" y="4591050"/>
            <a:ext cx="4762500" cy="228600"/>
          </a:xfrm>
          <a:prstGeom prst="rect">
            <a:avLst/>
          </a:prstGeom>
          <a:noFill/>
          <a:ln>
            <a:noFill/>
          </a:ln>
        </p:spPr>
        <p:txBody>
          <a:bodyPr wrap="square" lIns="0" tIns="0" rIns="0" bIns="0" anchor="t"/>
          <a:lstStyle/>
          <a:p>
            <a:pPr algn="ctr">
              <a:buNone/>
            </a:pPr>
            <a:r>
              <a:rPr sz="1400" b="1">
                <a:solidFill>
                  <a:srgbClr val="2A5B84"/>
                </a:solidFill>
                <a:latin typeface="Arial"/>
                <a:ea typeface="Arial"/>
                <a:cs typeface="Arial"/>
              </a:rPr>
              <a:t>A later review resumes from retained context</a:t>
            </a:r>
            <a:endParaRPr sz="1400"/>
          </a:p>
        </p:txBody>
      </p:sp>
      <p:sp>
        <p:nvSpPr>
          <p:cNvPr id="47" name="Shape 47">
            <a:extLst>
              <a:ext uri="{FF2B5EF4-FFF2-40B4-BE49-F238E27FC236}">
                <a16:creationId xmlns:a16="http://schemas.microsoft.com/office/drawing/2014/main" id="{2F137239-3F19-4C4F-BDD0-B89443E4E9B8}"/>
              </a:ext>
            </a:extLst>
          </p:cNvPr>
          <p:cNvSpPr>
            <a:spLocks noGrp="1"/>
          </p:cNvSpPr>
          <p:nvPr/>
        </p:nvSpPr>
        <p:spPr>
          <a:xfrm>
            <a:off x="1981200" y="5391150"/>
            <a:ext cx="8229600" cy="628650"/>
          </a:xfrm>
          <a:prstGeom prst="rect">
            <a:avLst/>
          </a:prstGeom>
          <a:solidFill>
            <a:srgbClr val="F4F6F8"/>
          </a:solidFill>
          <a:ln w="12700">
            <a:solidFill>
              <a:srgbClr val="D9DEE3"/>
            </a:solidFill>
          </a:ln>
        </p:spPr>
      </p:sp>
      <p:sp>
        <p:nvSpPr>
          <p:cNvPr id="48" name="Shape 48">
            <a:extLst>
              <a:ext uri="{FF2B5EF4-FFF2-40B4-BE49-F238E27FC236}">
                <a16:creationId xmlns:a16="http://schemas.microsoft.com/office/drawing/2014/main" id="{6BDA0897-82B7-43EB-AC7B-E2E7468CA3BA}"/>
              </a:ext>
            </a:extLst>
          </p:cNvPr>
          <p:cNvSpPr>
            <a:spLocks noGrp="1"/>
          </p:cNvSpPr>
          <p:nvPr/>
        </p:nvSpPr>
        <p:spPr>
          <a:xfrm>
            <a:off x="2152650" y="5495925"/>
            <a:ext cx="400050" cy="400050"/>
          </a:xfrm>
          <a:prstGeom prst="ellipse">
            <a:avLst/>
          </a:prstGeom>
          <a:solidFill>
            <a:srgbClr val="FFFFFF"/>
          </a:solidFill>
          <a:ln w="19050">
            <a:solidFill>
              <a:srgbClr val="D71920"/>
            </a:solidFill>
          </a:ln>
        </p:spPr>
      </p:sp>
      <p:pic>
        <p:nvPicPr>
          <p:cNvPr id="107" name="Picture 49"/>
          <p:cNvPicPr>
            <a:picLocks noChangeAspect="1"/>
          </p:cNvPicPr>
          <p:nvPr/>
        </p:nvPicPr>
        <p:blipFill>
          <a:blip r:embed="rId8"/>
          <a:stretch>
            <a:fillRect/>
          </a:stretch>
        </p:blipFill>
        <p:spPr>
          <a:xfrm>
            <a:off x="2257425" y="5600700"/>
            <a:ext cx="190500" cy="190500"/>
          </a:xfrm>
          <a:prstGeom prst="rect">
            <a:avLst/>
          </a:prstGeom>
          <a:ln>
            <a:noFill/>
          </a:ln>
        </p:spPr>
      </p:pic>
      <p:sp>
        <p:nvSpPr>
          <p:cNvPr id="50" name="Text 50">
            <a:extLst>
              <a:ext uri="{FF2B5EF4-FFF2-40B4-BE49-F238E27FC236}">
                <a16:creationId xmlns:a16="http://schemas.microsoft.com/office/drawing/2014/main" id="{DAB4648B-71B7-4FE2-B4D9-59FABEFE644A}"/>
              </a:ext>
            </a:extLst>
          </p:cNvPr>
          <p:cNvSpPr>
            <a:spLocks noGrp="1"/>
          </p:cNvSpPr>
          <p:nvPr/>
        </p:nvSpPr>
        <p:spPr>
          <a:xfrm>
            <a:off x="2743200" y="5524500"/>
            <a:ext cx="7239000" cy="361950"/>
          </a:xfrm>
          <a:prstGeom prst="rect">
            <a:avLst/>
          </a:prstGeom>
          <a:noFill/>
          <a:ln>
            <a:noFill/>
          </a:ln>
        </p:spPr>
        <p:txBody>
          <a:bodyPr wrap="square" lIns="0" tIns="0" rIns="0" bIns="0" anchor="ctr"/>
          <a:lstStyle/>
          <a:p>
            <a:pPr algn="ctr">
              <a:buNone/>
            </a:pPr>
            <a:r>
              <a:rPr sz="1700" b="1">
                <a:solidFill>
                  <a:srgbClr val="17212B"/>
                </a:solidFill>
                <a:latin typeface="Arial"/>
                <a:ea typeface="Arial"/>
                <a:cs typeface="Arial"/>
              </a:rPr>
              <a:t>The recommendation remains advisory. The operator keeps the decision.</a:t>
            </a:r>
            <a:endParaRPr sz="1700"/>
          </a:p>
        </p:txBody>
      </p:sp>
      <p:sp>
        <p:nvSpPr>
          <p:cNvPr id="51" name="Connector 51">
            <a:extLst>
              <a:ext uri="{FF2B5EF4-FFF2-40B4-BE49-F238E27FC236}">
                <a16:creationId xmlns:a16="http://schemas.microsoft.com/office/drawing/2014/main" id="{91D454AE-6F9F-4A13-A701-CA46D47D994D}"/>
              </a:ext>
            </a:extLst>
          </p:cNvPr>
          <p:cNvSpPr>
            <a:spLocks noGrp="1"/>
          </p:cNvSpPr>
          <p:nvPr/>
        </p:nvSpPr>
        <p:spPr>
          <a:xfrm>
            <a:off x="552450" y="6419850"/>
            <a:ext cx="11087100" cy="0"/>
          </a:xfrm>
          <a:prstGeom prst="line">
            <a:avLst/>
          </a:prstGeom>
          <a:ln w="12700">
            <a:solidFill>
              <a:srgbClr val="D9DEE3"/>
            </a:solidFill>
          </a:ln>
        </p:spPr>
      </p:sp>
      <p:sp>
        <p:nvSpPr>
          <p:cNvPr id="52" name="Text 52">
            <a:extLst>
              <a:ext uri="{FF2B5EF4-FFF2-40B4-BE49-F238E27FC236}">
                <a16:creationId xmlns:a16="http://schemas.microsoft.com/office/drawing/2014/main" id="{A552D1D4-1CDF-44BF-8E44-EA29BF644ABD}"/>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53" name="Text 53">
            <a:extLst>
              <a:ext uri="{FF2B5EF4-FFF2-40B4-BE49-F238E27FC236}">
                <a16:creationId xmlns:a16="http://schemas.microsoft.com/office/drawing/2014/main" id="{13B0918F-613B-42B2-9C6F-118EC2CA86E9}"/>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3</a:t>
            </a:r>
            <a:endParaRPr sz="1000"/>
          </a:p>
        </p:txBody>
      </p:sp>
    </p:spTree>
    <p:extLst>
      <p:ext uri="{BB962C8B-B14F-4D97-AF65-F5344CB8AC3E}">
        <p14:creationId xmlns:p14="http://schemas.microsoft.com/office/powerpoint/2010/main" val="693146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DC16FF55-EB6F-476C-9CA2-23A343E44EDE}"/>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EXECUTABLE PRODUCT EVIDENCE</a:t>
            </a:r>
            <a:endParaRPr sz="1100"/>
          </a:p>
        </p:txBody>
      </p:sp>
      <p:sp>
        <p:nvSpPr>
          <p:cNvPr id="3" name="Text 3">
            <a:extLst>
              <a:ext uri="{FF2B5EF4-FFF2-40B4-BE49-F238E27FC236}">
                <a16:creationId xmlns:a16="http://schemas.microsoft.com/office/drawing/2014/main" id="{4448CF1D-83C0-4D44-BCEF-1E5D27AEF57C}"/>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The browser exposes source facts, retrieved policy and persisted history</a:t>
            </a:r>
            <a:endParaRPr sz="3000"/>
          </a:p>
        </p:txBody>
      </p:sp>
      <p:sp>
        <p:nvSpPr>
          <p:cNvPr id="4" name="Shape 4">
            <a:extLst>
              <a:ext uri="{FF2B5EF4-FFF2-40B4-BE49-F238E27FC236}">
                <a16:creationId xmlns:a16="http://schemas.microsoft.com/office/drawing/2014/main" id="{AD5A227A-06BE-49E6-AA9E-B9BABCBDACB1}"/>
              </a:ext>
            </a:extLst>
          </p:cNvPr>
          <p:cNvSpPr>
            <a:spLocks noGrp="1"/>
          </p:cNvSpPr>
          <p:nvPr/>
        </p:nvSpPr>
        <p:spPr>
          <a:xfrm>
            <a:off x="552450" y="1619250"/>
            <a:ext cx="6000750" cy="4210050"/>
          </a:xfrm>
          <a:prstGeom prst="rect">
            <a:avLst/>
          </a:prstGeom>
          <a:solidFill>
            <a:srgbClr val="FFFFFF"/>
          </a:solidFill>
          <a:ln w="12700">
            <a:solidFill>
              <a:srgbClr val="D9DEE3"/>
            </a:solidFill>
          </a:ln>
        </p:spPr>
      </p:sp>
      <p:pic>
        <p:nvPicPr>
          <p:cNvPr id="19" name="Picture 5"/>
          <p:cNvPicPr>
            <a:picLocks noChangeAspect="1"/>
          </p:cNvPicPr>
          <p:nvPr/>
        </p:nvPicPr>
        <p:blipFill>
          <a:blip r:embed="rId3"/>
          <a:stretch>
            <a:fillRect/>
          </a:stretch>
        </p:blipFill>
        <p:spPr>
          <a:xfrm>
            <a:off x="647700" y="1714500"/>
            <a:ext cx="5810250" cy="4086225"/>
          </a:xfrm>
          <a:prstGeom prst="rect">
            <a:avLst/>
          </a:prstGeom>
          <a:ln>
            <a:noFill/>
          </a:ln>
        </p:spPr>
      </p:pic>
      <p:sp>
        <p:nvSpPr>
          <p:cNvPr id="6" name="Shape 6">
            <a:extLst>
              <a:ext uri="{FF2B5EF4-FFF2-40B4-BE49-F238E27FC236}">
                <a16:creationId xmlns:a16="http://schemas.microsoft.com/office/drawing/2014/main" id="{68B146CB-39A2-456C-86BC-08F88557D784}"/>
              </a:ext>
            </a:extLst>
          </p:cNvPr>
          <p:cNvSpPr>
            <a:spLocks noGrp="1"/>
          </p:cNvSpPr>
          <p:nvPr/>
        </p:nvSpPr>
        <p:spPr>
          <a:xfrm>
            <a:off x="6800850" y="1619250"/>
            <a:ext cx="4838700" cy="3429000"/>
          </a:xfrm>
          <a:prstGeom prst="rect">
            <a:avLst/>
          </a:prstGeom>
          <a:solidFill>
            <a:srgbClr val="FFFFFF"/>
          </a:solidFill>
          <a:ln w="12700">
            <a:solidFill>
              <a:srgbClr val="D9DEE3"/>
            </a:solidFill>
          </a:ln>
        </p:spPr>
      </p:sp>
      <p:pic>
        <p:nvPicPr>
          <p:cNvPr id="21" name="Picture 7"/>
          <p:cNvPicPr>
            <a:picLocks noChangeAspect="1"/>
          </p:cNvPicPr>
          <p:nvPr/>
        </p:nvPicPr>
        <p:blipFill>
          <a:blip r:embed="rId4"/>
          <a:stretch>
            <a:fillRect/>
          </a:stretch>
        </p:blipFill>
        <p:spPr>
          <a:xfrm>
            <a:off x="6896100" y="1714500"/>
            <a:ext cx="4648200" cy="3267075"/>
          </a:xfrm>
          <a:prstGeom prst="rect">
            <a:avLst/>
          </a:prstGeom>
          <a:ln>
            <a:noFill/>
          </a:ln>
        </p:spPr>
      </p:pic>
      <p:sp>
        <p:nvSpPr>
          <p:cNvPr id="8" name="Text 8">
            <a:extLst>
              <a:ext uri="{FF2B5EF4-FFF2-40B4-BE49-F238E27FC236}">
                <a16:creationId xmlns:a16="http://schemas.microsoft.com/office/drawing/2014/main" id="{2A33121D-184B-4D92-9A86-4DE6330203A3}"/>
              </a:ext>
            </a:extLst>
          </p:cNvPr>
          <p:cNvSpPr>
            <a:spLocks noGrp="1"/>
          </p:cNvSpPr>
          <p:nvPr/>
        </p:nvSpPr>
        <p:spPr>
          <a:xfrm>
            <a:off x="723900" y="1790700"/>
            <a:ext cx="1257300" cy="285750"/>
          </a:xfrm>
          <a:prstGeom prst="rect">
            <a:avLst/>
          </a:prstGeom>
          <a:solidFill>
            <a:srgbClr val="D71920"/>
          </a:solidFill>
          <a:ln>
            <a:noFill/>
          </a:ln>
        </p:spPr>
        <p:txBody>
          <a:bodyPr wrap="square" lIns="66675" tIns="66675" rIns="66675" bIns="66675" anchor="ctr"/>
          <a:lstStyle/>
          <a:p>
            <a:pPr algn="l">
              <a:buNone/>
            </a:pPr>
            <a:r>
              <a:rPr sz="1300" b="1">
                <a:solidFill>
                  <a:srgbClr val="FFFFFF"/>
                </a:solidFill>
                <a:latin typeface="Arial"/>
                <a:ea typeface="Arial"/>
                <a:cs typeface="Arial"/>
              </a:rPr>
              <a:t>1  FACTS</a:t>
            </a:r>
            <a:endParaRPr sz="1300"/>
          </a:p>
        </p:txBody>
      </p:sp>
      <p:sp>
        <p:nvSpPr>
          <p:cNvPr id="9" name="Text 9">
            <a:extLst>
              <a:ext uri="{FF2B5EF4-FFF2-40B4-BE49-F238E27FC236}">
                <a16:creationId xmlns:a16="http://schemas.microsoft.com/office/drawing/2014/main" id="{E9E78FE5-E267-42DB-8B5B-D3B2F0571A9D}"/>
              </a:ext>
            </a:extLst>
          </p:cNvPr>
          <p:cNvSpPr>
            <a:spLocks noGrp="1"/>
          </p:cNvSpPr>
          <p:nvPr/>
        </p:nvSpPr>
        <p:spPr>
          <a:xfrm>
            <a:off x="6972300" y="1790700"/>
            <a:ext cx="1638300" cy="285750"/>
          </a:xfrm>
          <a:prstGeom prst="rect">
            <a:avLst/>
          </a:prstGeom>
          <a:solidFill>
            <a:srgbClr val="2A5B84"/>
          </a:solidFill>
          <a:ln>
            <a:noFill/>
          </a:ln>
        </p:spPr>
        <p:txBody>
          <a:bodyPr wrap="square" lIns="66675" tIns="66675" rIns="66675" bIns="66675" anchor="ctr"/>
          <a:lstStyle/>
          <a:p>
            <a:pPr algn="l">
              <a:buNone/>
            </a:pPr>
            <a:r>
              <a:rPr sz="1300" b="1">
                <a:solidFill>
                  <a:srgbClr val="FFFFFF"/>
                </a:solidFill>
                <a:latin typeface="Arial"/>
                <a:ea typeface="Arial"/>
                <a:cs typeface="Arial"/>
              </a:rPr>
              <a:t>2  GROUNDING</a:t>
            </a:r>
            <a:endParaRPr sz="1300"/>
          </a:p>
        </p:txBody>
      </p:sp>
      <p:sp>
        <p:nvSpPr>
          <p:cNvPr id="10" name="Text 10">
            <a:extLst>
              <a:ext uri="{FF2B5EF4-FFF2-40B4-BE49-F238E27FC236}">
                <a16:creationId xmlns:a16="http://schemas.microsoft.com/office/drawing/2014/main" id="{6F4013C5-54CB-4EA1-A8AC-95BC6E9B5388}"/>
              </a:ext>
            </a:extLst>
          </p:cNvPr>
          <p:cNvSpPr>
            <a:spLocks noGrp="1"/>
          </p:cNvSpPr>
          <p:nvPr/>
        </p:nvSpPr>
        <p:spPr>
          <a:xfrm>
            <a:off x="6800850" y="5219700"/>
            <a:ext cx="4838700" cy="609600"/>
          </a:xfrm>
          <a:prstGeom prst="rect">
            <a:avLst/>
          </a:prstGeom>
          <a:solidFill>
            <a:srgbClr val="EAF1F7"/>
          </a:solidFill>
          <a:ln>
            <a:noFill/>
          </a:ln>
        </p:spPr>
        <p:txBody>
          <a:bodyPr wrap="square" lIns="95250" tIns="95250" rIns="95250" bIns="95250" anchor="ctr"/>
          <a:lstStyle/>
          <a:p>
            <a:pPr algn="ctr">
              <a:buNone/>
            </a:pPr>
            <a:r>
              <a:rPr sz="1600" b="1">
                <a:solidFill>
                  <a:srgbClr val="17212B"/>
                </a:solidFill>
                <a:latin typeface="Arial"/>
                <a:ea typeface="Arial"/>
                <a:cs typeface="Arial"/>
              </a:rPr>
              <a:t>The same Playwright flow asserts the visible operator, retrieval provenance and later history.</a:t>
            </a:r>
            <a:endParaRPr sz="1600"/>
          </a:p>
        </p:txBody>
      </p:sp>
      <p:sp>
        <p:nvSpPr>
          <p:cNvPr id="11" name="Connector 11">
            <a:extLst>
              <a:ext uri="{FF2B5EF4-FFF2-40B4-BE49-F238E27FC236}">
                <a16:creationId xmlns:a16="http://schemas.microsoft.com/office/drawing/2014/main" id="{00056366-DAEE-48CA-AC22-2437CD2B5E3C}"/>
              </a:ext>
            </a:extLst>
          </p:cNvPr>
          <p:cNvSpPr>
            <a:spLocks noGrp="1"/>
          </p:cNvSpPr>
          <p:nvPr/>
        </p:nvSpPr>
        <p:spPr>
          <a:xfrm>
            <a:off x="552450" y="6419850"/>
            <a:ext cx="11087100" cy="0"/>
          </a:xfrm>
          <a:prstGeom prst="line">
            <a:avLst/>
          </a:prstGeom>
          <a:ln w="12700">
            <a:solidFill>
              <a:srgbClr val="D9DEE3"/>
            </a:solidFill>
          </a:ln>
        </p:spPr>
      </p:sp>
      <p:sp>
        <p:nvSpPr>
          <p:cNvPr id="12" name="Text 12">
            <a:extLst>
              <a:ext uri="{FF2B5EF4-FFF2-40B4-BE49-F238E27FC236}">
                <a16:creationId xmlns:a16="http://schemas.microsoft.com/office/drawing/2014/main" id="{4A16868A-0D56-4B4C-8B94-ADEECE75EA9D}"/>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13" name="Text 13">
            <a:extLst>
              <a:ext uri="{FF2B5EF4-FFF2-40B4-BE49-F238E27FC236}">
                <a16:creationId xmlns:a16="http://schemas.microsoft.com/office/drawing/2014/main" id="{FBB983F9-1D67-4C4D-A929-DC4E8CA0639D}"/>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4</a:t>
            </a:r>
            <a:endParaRPr sz="1000"/>
          </a:p>
        </p:txBody>
      </p:sp>
    </p:spTree>
    <p:extLst>
      <p:ext uri="{BB962C8B-B14F-4D97-AF65-F5344CB8AC3E}">
        <p14:creationId xmlns:p14="http://schemas.microsoft.com/office/powerpoint/2010/main" val="1095065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72486162-CC1A-4E96-A1DE-BF2C843FE4A1}"/>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APPLICATION DATA FLOW</a:t>
            </a:r>
            <a:endParaRPr sz="1100"/>
          </a:p>
        </p:txBody>
      </p:sp>
      <p:sp>
        <p:nvSpPr>
          <p:cNvPr id="3" name="Text 3">
            <a:extLst>
              <a:ext uri="{FF2B5EF4-FFF2-40B4-BE49-F238E27FC236}">
                <a16:creationId xmlns:a16="http://schemas.microsoft.com/office/drawing/2014/main" id="{CAA66F2B-2C71-4050-9CB1-3D3E57DB4B03}"/>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Trust comes from separating detection, grounding and synthesis</a:t>
            </a:r>
            <a:endParaRPr sz="3000"/>
          </a:p>
        </p:txBody>
      </p:sp>
      <p:sp>
        <p:nvSpPr>
          <p:cNvPr id="4" name="Shape 4">
            <a:extLst>
              <a:ext uri="{FF2B5EF4-FFF2-40B4-BE49-F238E27FC236}">
                <a16:creationId xmlns:a16="http://schemas.microsoft.com/office/drawing/2014/main" id="{D4E22B85-85BC-454C-905A-D9BBAF3B98E6}"/>
              </a:ext>
            </a:extLst>
          </p:cNvPr>
          <p:cNvSpPr>
            <a:spLocks noGrp="1"/>
          </p:cNvSpPr>
          <p:nvPr/>
        </p:nvSpPr>
        <p:spPr>
          <a:xfrm>
            <a:off x="552450" y="1809750"/>
            <a:ext cx="11087100" cy="2743200"/>
          </a:xfrm>
          <a:prstGeom prst="rect">
            <a:avLst/>
          </a:prstGeom>
          <a:solidFill>
            <a:srgbClr val="F4F6F8"/>
          </a:solidFill>
          <a:ln w="12700">
            <a:solidFill>
              <a:srgbClr val="D9DEE3"/>
            </a:solidFill>
          </a:ln>
        </p:spPr>
      </p:sp>
      <p:sp>
        <p:nvSpPr>
          <p:cNvPr id="5" name="Connector 5">
            <a:extLst>
              <a:ext uri="{FF2B5EF4-FFF2-40B4-BE49-F238E27FC236}">
                <a16:creationId xmlns:a16="http://schemas.microsoft.com/office/drawing/2014/main" id="{D8AA9976-6371-4F39-8569-CD46DEDDEDE0}"/>
              </a:ext>
            </a:extLst>
          </p:cNvPr>
          <p:cNvSpPr>
            <a:spLocks noGrp="1"/>
          </p:cNvSpPr>
          <p:nvPr/>
        </p:nvSpPr>
        <p:spPr>
          <a:xfrm>
            <a:off x="1504950" y="2619375"/>
            <a:ext cx="895350" cy="0"/>
          </a:xfrm>
          <a:prstGeom prst="line">
            <a:avLst/>
          </a:prstGeom>
          <a:ln w="38100">
            <a:solidFill>
              <a:srgbClr val="D9DEE3"/>
            </a:solidFill>
            <a:tailEnd type="triangle"/>
          </a:ln>
        </p:spPr>
      </p:sp>
      <p:sp>
        <p:nvSpPr>
          <p:cNvPr id="6" name="Text 6">
            <a:extLst>
              <a:ext uri="{FF2B5EF4-FFF2-40B4-BE49-F238E27FC236}">
                <a16:creationId xmlns:a16="http://schemas.microsoft.com/office/drawing/2014/main" id="{129F62A7-0E91-45DB-AA6C-92BE3E9B52FC}"/>
              </a:ext>
            </a:extLst>
          </p:cNvPr>
          <p:cNvSpPr>
            <a:spLocks noGrp="1"/>
          </p:cNvSpPr>
          <p:nvPr/>
        </p:nvSpPr>
        <p:spPr>
          <a:xfrm>
            <a:off x="971550" y="1962150"/>
            <a:ext cx="342900" cy="190500"/>
          </a:xfrm>
          <a:prstGeom prst="rect">
            <a:avLst/>
          </a:prstGeom>
          <a:noFill/>
          <a:ln>
            <a:noFill/>
          </a:ln>
        </p:spPr>
        <p:txBody>
          <a:bodyPr wrap="square" lIns="0" tIns="0" rIns="0" bIns="0" anchor="t"/>
          <a:lstStyle/>
          <a:p>
            <a:pPr algn="ctr">
              <a:buNone/>
            </a:pPr>
            <a:r>
              <a:rPr sz="1000" b="1">
                <a:solidFill>
                  <a:srgbClr val="17212B"/>
                </a:solidFill>
                <a:latin typeface="Arial"/>
                <a:ea typeface="Arial"/>
                <a:cs typeface="Arial"/>
              </a:rPr>
              <a:t>01</a:t>
            </a:r>
            <a:endParaRPr sz="1000"/>
          </a:p>
        </p:txBody>
      </p:sp>
      <p:sp>
        <p:nvSpPr>
          <p:cNvPr id="7" name="Shape 7">
            <a:extLst>
              <a:ext uri="{FF2B5EF4-FFF2-40B4-BE49-F238E27FC236}">
                <a16:creationId xmlns:a16="http://schemas.microsoft.com/office/drawing/2014/main" id="{62AA26DA-D0C2-4A56-A5E8-5BC9651A6FE4}"/>
              </a:ext>
            </a:extLst>
          </p:cNvPr>
          <p:cNvSpPr>
            <a:spLocks noGrp="1"/>
          </p:cNvSpPr>
          <p:nvPr/>
        </p:nvSpPr>
        <p:spPr>
          <a:xfrm>
            <a:off x="781050" y="2247900"/>
            <a:ext cx="723900" cy="723900"/>
          </a:xfrm>
          <a:prstGeom prst="ellipse">
            <a:avLst/>
          </a:prstGeom>
          <a:solidFill>
            <a:srgbClr val="FFFFFF"/>
          </a:solidFill>
          <a:ln w="19050">
            <a:solidFill>
              <a:srgbClr val="17212B"/>
            </a:solidFill>
          </a:ln>
        </p:spPr>
      </p:sp>
      <p:pic>
        <p:nvPicPr>
          <p:cNvPr id="74" name="Picture 8"/>
          <p:cNvPicPr>
            <a:picLocks noChangeAspect="1"/>
          </p:cNvPicPr>
          <p:nvPr/>
        </p:nvPicPr>
        <p:blipFill>
          <a:blip r:embed="rId3"/>
          <a:stretch>
            <a:fillRect/>
          </a:stretch>
        </p:blipFill>
        <p:spPr>
          <a:xfrm>
            <a:off x="962025" y="2428875"/>
            <a:ext cx="361950" cy="361950"/>
          </a:xfrm>
          <a:prstGeom prst="rect">
            <a:avLst/>
          </a:prstGeom>
          <a:ln>
            <a:noFill/>
          </a:ln>
        </p:spPr>
      </p:pic>
      <p:sp>
        <p:nvSpPr>
          <p:cNvPr id="9" name="Text 9">
            <a:extLst>
              <a:ext uri="{FF2B5EF4-FFF2-40B4-BE49-F238E27FC236}">
                <a16:creationId xmlns:a16="http://schemas.microsoft.com/office/drawing/2014/main" id="{6DBADFAA-8DFB-4C46-B832-6E12D0D0F3BC}"/>
              </a:ext>
            </a:extLst>
          </p:cNvPr>
          <p:cNvSpPr>
            <a:spLocks noGrp="1"/>
          </p:cNvSpPr>
          <p:nvPr/>
        </p:nvSpPr>
        <p:spPr>
          <a:xfrm>
            <a:off x="457200" y="3143250"/>
            <a:ext cx="1371600" cy="228600"/>
          </a:xfrm>
          <a:prstGeom prst="rect">
            <a:avLst/>
          </a:prstGeom>
          <a:noFill/>
          <a:ln>
            <a:noFill/>
          </a:ln>
        </p:spPr>
        <p:txBody>
          <a:bodyPr wrap="square" lIns="0" tIns="0" rIns="0" bIns="0" anchor="t"/>
          <a:lstStyle/>
          <a:p>
            <a:pPr algn="ctr">
              <a:buNone/>
            </a:pPr>
            <a:r>
              <a:rPr sz="1300" b="1" spc="30">
                <a:solidFill>
                  <a:srgbClr val="17212B"/>
                </a:solidFill>
                <a:latin typeface="Arial"/>
                <a:ea typeface="Arial"/>
                <a:cs typeface="Arial"/>
              </a:rPr>
              <a:t>SOURCE</a:t>
            </a:r>
            <a:endParaRPr sz="1300"/>
          </a:p>
        </p:txBody>
      </p:sp>
      <p:sp>
        <p:nvSpPr>
          <p:cNvPr id="10" name="Text 10">
            <a:extLst>
              <a:ext uri="{FF2B5EF4-FFF2-40B4-BE49-F238E27FC236}">
                <a16:creationId xmlns:a16="http://schemas.microsoft.com/office/drawing/2014/main" id="{B551B018-FD54-4B66-8C13-BFF626073C49}"/>
              </a:ext>
            </a:extLst>
          </p:cNvPr>
          <p:cNvSpPr>
            <a:spLocks noGrp="1"/>
          </p:cNvSpPr>
          <p:nvPr/>
        </p:nvSpPr>
        <p:spPr>
          <a:xfrm>
            <a:off x="457200" y="3448050"/>
            <a:ext cx="1371600" cy="5143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Customer snapshot</a:t>
            </a:r>
            <a:endParaRPr sz="1300"/>
          </a:p>
          <a:p>
            <a:pPr algn="ctr">
              <a:buNone/>
            </a:pPr>
            <a:r>
              <a:rPr sz="1300" b="0">
                <a:solidFill>
                  <a:srgbClr val="17212B"/>
                </a:solidFill>
                <a:latin typeface="Arial"/>
                <a:ea typeface="Arial"/>
                <a:cs typeface="Arial"/>
              </a:rPr>
              <a:t>and source risk</a:t>
            </a:r>
            <a:endParaRPr sz="1300"/>
          </a:p>
        </p:txBody>
      </p:sp>
      <p:sp>
        <p:nvSpPr>
          <p:cNvPr id="11" name="Connector 11">
            <a:extLst>
              <a:ext uri="{FF2B5EF4-FFF2-40B4-BE49-F238E27FC236}">
                <a16:creationId xmlns:a16="http://schemas.microsoft.com/office/drawing/2014/main" id="{29BA9D9A-F841-48A9-948B-D9355B2A09EF}"/>
              </a:ext>
            </a:extLst>
          </p:cNvPr>
          <p:cNvSpPr>
            <a:spLocks noGrp="1"/>
          </p:cNvSpPr>
          <p:nvPr/>
        </p:nvSpPr>
        <p:spPr>
          <a:xfrm>
            <a:off x="3124200" y="2619375"/>
            <a:ext cx="895350" cy="0"/>
          </a:xfrm>
          <a:prstGeom prst="line">
            <a:avLst/>
          </a:prstGeom>
          <a:ln w="38100">
            <a:solidFill>
              <a:srgbClr val="D9DEE3"/>
            </a:solidFill>
            <a:tailEnd type="triangle"/>
          </a:ln>
        </p:spPr>
      </p:sp>
      <p:sp>
        <p:nvSpPr>
          <p:cNvPr id="12" name="Text 12">
            <a:extLst>
              <a:ext uri="{FF2B5EF4-FFF2-40B4-BE49-F238E27FC236}">
                <a16:creationId xmlns:a16="http://schemas.microsoft.com/office/drawing/2014/main" id="{9D229EE3-DE4A-464F-B6A2-D0EB74C727FC}"/>
              </a:ext>
            </a:extLst>
          </p:cNvPr>
          <p:cNvSpPr>
            <a:spLocks noGrp="1"/>
          </p:cNvSpPr>
          <p:nvPr/>
        </p:nvSpPr>
        <p:spPr>
          <a:xfrm>
            <a:off x="2590800" y="1962150"/>
            <a:ext cx="342900" cy="190500"/>
          </a:xfrm>
          <a:prstGeom prst="rect">
            <a:avLst/>
          </a:prstGeom>
          <a:noFill/>
          <a:ln>
            <a:noFill/>
          </a:ln>
        </p:spPr>
        <p:txBody>
          <a:bodyPr wrap="square" lIns="0" tIns="0" rIns="0" bIns="0" anchor="t"/>
          <a:lstStyle/>
          <a:p>
            <a:pPr algn="ctr">
              <a:buNone/>
            </a:pPr>
            <a:r>
              <a:rPr sz="1000" b="1">
                <a:solidFill>
                  <a:srgbClr val="D71920"/>
                </a:solidFill>
                <a:latin typeface="Arial"/>
                <a:ea typeface="Arial"/>
                <a:cs typeface="Arial"/>
              </a:rPr>
              <a:t>02</a:t>
            </a:r>
            <a:endParaRPr sz="1000"/>
          </a:p>
        </p:txBody>
      </p:sp>
      <p:sp>
        <p:nvSpPr>
          <p:cNvPr id="13" name="Shape 13">
            <a:extLst>
              <a:ext uri="{FF2B5EF4-FFF2-40B4-BE49-F238E27FC236}">
                <a16:creationId xmlns:a16="http://schemas.microsoft.com/office/drawing/2014/main" id="{4A7BE28F-4851-4C5D-AD4A-E3610A362890}"/>
              </a:ext>
            </a:extLst>
          </p:cNvPr>
          <p:cNvSpPr>
            <a:spLocks noGrp="1"/>
          </p:cNvSpPr>
          <p:nvPr/>
        </p:nvSpPr>
        <p:spPr>
          <a:xfrm>
            <a:off x="2400300" y="2247900"/>
            <a:ext cx="723900" cy="723900"/>
          </a:xfrm>
          <a:prstGeom prst="ellipse">
            <a:avLst/>
          </a:prstGeom>
          <a:solidFill>
            <a:srgbClr val="FFFFFF"/>
          </a:solidFill>
          <a:ln w="19050">
            <a:solidFill>
              <a:srgbClr val="D71920"/>
            </a:solidFill>
          </a:ln>
        </p:spPr>
      </p:sp>
      <p:pic>
        <p:nvPicPr>
          <p:cNvPr id="80" name="Picture 14"/>
          <p:cNvPicPr>
            <a:picLocks noChangeAspect="1"/>
          </p:cNvPicPr>
          <p:nvPr/>
        </p:nvPicPr>
        <p:blipFill>
          <a:blip r:embed="rId4"/>
          <a:stretch>
            <a:fillRect/>
          </a:stretch>
        </p:blipFill>
        <p:spPr>
          <a:xfrm>
            <a:off x="2581275" y="2428875"/>
            <a:ext cx="361950" cy="361950"/>
          </a:xfrm>
          <a:prstGeom prst="rect">
            <a:avLst/>
          </a:prstGeom>
          <a:ln>
            <a:noFill/>
          </a:ln>
        </p:spPr>
      </p:pic>
      <p:sp>
        <p:nvSpPr>
          <p:cNvPr id="15" name="Text 15">
            <a:extLst>
              <a:ext uri="{FF2B5EF4-FFF2-40B4-BE49-F238E27FC236}">
                <a16:creationId xmlns:a16="http://schemas.microsoft.com/office/drawing/2014/main" id="{1496133C-4399-4943-B96E-0986B00B6D02}"/>
              </a:ext>
            </a:extLst>
          </p:cNvPr>
          <p:cNvSpPr>
            <a:spLocks noGrp="1"/>
          </p:cNvSpPr>
          <p:nvPr/>
        </p:nvSpPr>
        <p:spPr>
          <a:xfrm>
            <a:off x="2076450" y="3143250"/>
            <a:ext cx="1371600" cy="228600"/>
          </a:xfrm>
          <a:prstGeom prst="rect">
            <a:avLst/>
          </a:prstGeom>
          <a:noFill/>
          <a:ln>
            <a:noFill/>
          </a:ln>
        </p:spPr>
        <p:txBody>
          <a:bodyPr wrap="square" lIns="0" tIns="0" rIns="0" bIns="0" anchor="t"/>
          <a:lstStyle/>
          <a:p>
            <a:pPr algn="ctr">
              <a:buNone/>
            </a:pPr>
            <a:r>
              <a:rPr sz="1300" b="1" spc="30">
                <a:solidFill>
                  <a:srgbClr val="D71920"/>
                </a:solidFill>
                <a:latin typeface="Arial"/>
                <a:ea typeface="Arial"/>
                <a:cs typeface="Arial"/>
              </a:rPr>
              <a:t>DETECT</a:t>
            </a:r>
            <a:endParaRPr sz="1300"/>
          </a:p>
        </p:txBody>
      </p:sp>
      <p:sp>
        <p:nvSpPr>
          <p:cNvPr id="16" name="Text 16">
            <a:extLst>
              <a:ext uri="{FF2B5EF4-FFF2-40B4-BE49-F238E27FC236}">
                <a16:creationId xmlns:a16="http://schemas.microsoft.com/office/drawing/2014/main" id="{20EFC893-9F81-42DF-8DE4-856DD2BF37D3}"/>
              </a:ext>
            </a:extLst>
          </p:cNvPr>
          <p:cNvSpPr>
            <a:spLocks noGrp="1"/>
          </p:cNvSpPr>
          <p:nvPr/>
        </p:nvSpPr>
        <p:spPr>
          <a:xfrm>
            <a:off x="2076450" y="3448050"/>
            <a:ext cx="1371600" cy="5143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Derived signals</a:t>
            </a:r>
            <a:endParaRPr sz="1300"/>
          </a:p>
          <a:p>
            <a:pPr algn="ctr">
              <a:buNone/>
            </a:pPr>
            <a:r>
              <a:rPr sz="1300" b="0">
                <a:solidFill>
                  <a:srgbClr val="17212B"/>
                </a:solidFill>
                <a:latin typeface="Arial"/>
                <a:ea typeface="Arial"/>
                <a:cs typeface="Arial"/>
              </a:rPr>
              <a:t>with provenance</a:t>
            </a:r>
            <a:endParaRPr sz="1300"/>
          </a:p>
        </p:txBody>
      </p:sp>
      <p:sp>
        <p:nvSpPr>
          <p:cNvPr id="17" name="Connector 17">
            <a:extLst>
              <a:ext uri="{FF2B5EF4-FFF2-40B4-BE49-F238E27FC236}">
                <a16:creationId xmlns:a16="http://schemas.microsoft.com/office/drawing/2014/main" id="{7CEFC6B1-630B-4E66-BBBF-A2FE0C261C45}"/>
              </a:ext>
            </a:extLst>
          </p:cNvPr>
          <p:cNvSpPr>
            <a:spLocks noGrp="1"/>
          </p:cNvSpPr>
          <p:nvPr/>
        </p:nvSpPr>
        <p:spPr>
          <a:xfrm>
            <a:off x="4743450" y="2619375"/>
            <a:ext cx="895350" cy="0"/>
          </a:xfrm>
          <a:prstGeom prst="line">
            <a:avLst/>
          </a:prstGeom>
          <a:ln w="38100">
            <a:solidFill>
              <a:srgbClr val="D9DEE3"/>
            </a:solidFill>
            <a:tailEnd type="triangle"/>
          </a:ln>
        </p:spPr>
      </p:sp>
      <p:sp>
        <p:nvSpPr>
          <p:cNvPr id="18" name="Text 18">
            <a:extLst>
              <a:ext uri="{FF2B5EF4-FFF2-40B4-BE49-F238E27FC236}">
                <a16:creationId xmlns:a16="http://schemas.microsoft.com/office/drawing/2014/main" id="{A724552C-158A-4840-AE1F-F01CBBE218C4}"/>
              </a:ext>
            </a:extLst>
          </p:cNvPr>
          <p:cNvSpPr>
            <a:spLocks noGrp="1"/>
          </p:cNvSpPr>
          <p:nvPr/>
        </p:nvSpPr>
        <p:spPr>
          <a:xfrm>
            <a:off x="4210050" y="1962150"/>
            <a:ext cx="342900" cy="190500"/>
          </a:xfrm>
          <a:prstGeom prst="rect">
            <a:avLst/>
          </a:prstGeom>
          <a:noFill/>
          <a:ln>
            <a:noFill/>
          </a:ln>
        </p:spPr>
        <p:txBody>
          <a:bodyPr wrap="square" lIns="0" tIns="0" rIns="0" bIns="0" anchor="t"/>
          <a:lstStyle/>
          <a:p>
            <a:pPr algn="ctr">
              <a:buNone/>
            </a:pPr>
            <a:r>
              <a:rPr sz="1000" b="1">
                <a:solidFill>
                  <a:srgbClr val="2A5B84"/>
                </a:solidFill>
                <a:latin typeface="Arial"/>
                <a:ea typeface="Arial"/>
                <a:cs typeface="Arial"/>
              </a:rPr>
              <a:t>03</a:t>
            </a:r>
            <a:endParaRPr sz="1000"/>
          </a:p>
        </p:txBody>
      </p:sp>
      <p:sp>
        <p:nvSpPr>
          <p:cNvPr id="19" name="Shape 19">
            <a:extLst>
              <a:ext uri="{FF2B5EF4-FFF2-40B4-BE49-F238E27FC236}">
                <a16:creationId xmlns:a16="http://schemas.microsoft.com/office/drawing/2014/main" id="{8AD2178A-94F9-432A-A15B-20BDD97FE4BA}"/>
              </a:ext>
            </a:extLst>
          </p:cNvPr>
          <p:cNvSpPr>
            <a:spLocks noGrp="1"/>
          </p:cNvSpPr>
          <p:nvPr/>
        </p:nvSpPr>
        <p:spPr>
          <a:xfrm>
            <a:off x="4019550" y="2247900"/>
            <a:ext cx="723900" cy="723900"/>
          </a:xfrm>
          <a:prstGeom prst="ellipse">
            <a:avLst/>
          </a:prstGeom>
          <a:solidFill>
            <a:srgbClr val="FFFFFF"/>
          </a:solidFill>
          <a:ln w="19050">
            <a:solidFill>
              <a:srgbClr val="2A5B84"/>
            </a:solidFill>
          </a:ln>
        </p:spPr>
      </p:sp>
      <p:pic>
        <p:nvPicPr>
          <p:cNvPr id="86" name="Picture 20"/>
          <p:cNvPicPr>
            <a:picLocks noChangeAspect="1"/>
          </p:cNvPicPr>
          <p:nvPr/>
        </p:nvPicPr>
        <p:blipFill>
          <a:blip r:embed="rId5"/>
          <a:stretch>
            <a:fillRect/>
          </a:stretch>
        </p:blipFill>
        <p:spPr>
          <a:xfrm>
            <a:off x="4200525" y="2428875"/>
            <a:ext cx="361950" cy="361950"/>
          </a:xfrm>
          <a:prstGeom prst="rect">
            <a:avLst/>
          </a:prstGeom>
          <a:ln>
            <a:noFill/>
          </a:ln>
        </p:spPr>
      </p:pic>
      <p:sp>
        <p:nvSpPr>
          <p:cNvPr id="21" name="Text 21">
            <a:extLst>
              <a:ext uri="{FF2B5EF4-FFF2-40B4-BE49-F238E27FC236}">
                <a16:creationId xmlns:a16="http://schemas.microsoft.com/office/drawing/2014/main" id="{A8AC8E1D-2589-4A51-B50E-0D05BDE829B1}"/>
              </a:ext>
            </a:extLst>
          </p:cNvPr>
          <p:cNvSpPr>
            <a:spLocks noGrp="1"/>
          </p:cNvSpPr>
          <p:nvPr/>
        </p:nvSpPr>
        <p:spPr>
          <a:xfrm>
            <a:off x="3695700" y="3143250"/>
            <a:ext cx="1371600" cy="228600"/>
          </a:xfrm>
          <a:prstGeom prst="rect">
            <a:avLst/>
          </a:prstGeom>
          <a:noFill/>
          <a:ln>
            <a:noFill/>
          </a:ln>
        </p:spPr>
        <p:txBody>
          <a:bodyPr wrap="square" lIns="0" tIns="0" rIns="0" bIns="0" anchor="t"/>
          <a:lstStyle/>
          <a:p>
            <a:pPr algn="ctr">
              <a:buNone/>
            </a:pPr>
            <a:r>
              <a:rPr sz="1300" b="1" spc="30">
                <a:solidFill>
                  <a:srgbClr val="2A5B84"/>
                </a:solidFill>
                <a:latin typeface="Arial"/>
                <a:ea typeface="Arial"/>
                <a:cs typeface="Arial"/>
              </a:rPr>
              <a:t>RETRIEVE</a:t>
            </a:r>
            <a:endParaRPr sz="1300"/>
          </a:p>
        </p:txBody>
      </p:sp>
      <p:sp>
        <p:nvSpPr>
          <p:cNvPr id="22" name="Text 22">
            <a:extLst>
              <a:ext uri="{FF2B5EF4-FFF2-40B4-BE49-F238E27FC236}">
                <a16:creationId xmlns:a16="http://schemas.microsoft.com/office/drawing/2014/main" id="{E484521C-31A1-4957-B6AD-B80326FE22E8}"/>
              </a:ext>
            </a:extLst>
          </p:cNvPr>
          <p:cNvSpPr>
            <a:spLocks noGrp="1"/>
          </p:cNvSpPr>
          <p:nvPr/>
        </p:nvSpPr>
        <p:spPr>
          <a:xfrm>
            <a:off x="3695700" y="3448050"/>
            <a:ext cx="1371600" cy="5143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Relevant synthetic</a:t>
            </a:r>
            <a:endParaRPr sz="1300"/>
          </a:p>
          <a:p>
            <a:pPr algn="ctr">
              <a:buNone/>
            </a:pPr>
            <a:r>
              <a:rPr sz="1300" b="0">
                <a:solidFill>
                  <a:srgbClr val="17212B"/>
                </a:solidFill>
                <a:latin typeface="Arial"/>
                <a:ea typeface="Arial"/>
                <a:cs typeface="Arial"/>
              </a:rPr>
              <a:t>policy chunks</a:t>
            </a:r>
            <a:endParaRPr sz="1300"/>
          </a:p>
        </p:txBody>
      </p:sp>
      <p:sp>
        <p:nvSpPr>
          <p:cNvPr id="23" name="Connector 23">
            <a:extLst>
              <a:ext uri="{FF2B5EF4-FFF2-40B4-BE49-F238E27FC236}">
                <a16:creationId xmlns:a16="http://schemas.microsoft.com/office/drawing/2014/main" id="{57AF0A62-651C-44D5-8920-F3ED1F7DEABB}"/>
              </a:ext>
            </a:extLst>
          </p:cNvPr>
          <p:cNvSpPr>
            <a:spLocks noGrp="1"/>
          </p:cNvSpPr>
          <p:nvPr/>
        </p:nvSpPr>
        <p:spPr>
          <a:xfrm>
            <a:off x="6362700" y="2619375"/>
            <a:ext cx="895350" cy="0"/>
          </a:xfrm>
          <a:prstGeom prst="line">
            <a:avLst/>
          </a:prstGeom>
          <a:ln w="38100">
            <a:solidFill>
              <a:srgbClr val="D9DEE3"/>
            </a:solidFill>
            <a:tailEnd type="triangle"/>
          </a:ln>
        </p:spPr>
      </p:sp>
      <p:sp>
        <p:nvSpPr>
          <p:cNvPr id="24" name="Text 24">
            <a:extLst>
              <a:ext uri="{FF2B5EF4-FFF2-40B4-BE49-F238E27FC236}">
                <a16:creationId xmlns:a16="http://schemas.microsoft.com/office/drawing/2014/main" id="{0139CF03-F810-459B-B503-2D1F61D4538A}"/>
              </a:ext>
            </a:extLst>
          </p:cNvPr>
          <p:cNvSpPr>
            <a:spLocks noGrp="1"/>
          </p:cNvSpPr>
          <p:nvPr/>
        </p:nvSpPr>
        <p:spPr>
          <a:xfrm>
            <a:off x="5829300" y="1962150"/>
            <a:ext cx="342900" cy="190500"/>
          </a:xfrm>
          <a:prstGeom prst="rect">
            <a:avLst/>
          </a:prstGeom>
          <a:noFill/>
          <a:ln>
            <a:noFill/>
          </a:ln>
        </p:spPr>
        <p:txBody>
          <a:bodyPr wrap="square" lIns="0" tIns="0" rIns="0" bIns="0" anchor="t"/>
          <a:lstStyle/>
          <a:p>
            <a:pPr algn="ctr">
              <a:buNone/>
            </a:pPr>
            <a:r>
              <a:rPr sz="1000" b="1">
                <a:solidFill>
                  <a:srgbClr val="384754"/>
                </a:solidFill>
                <a:latin typeface="Arial"/>
                <a:ea typeface="Arial"/>
                <a:cs typeface="Arial"/>
              </a:rPr>
              <a:t>04</a:t>
            </a:r>
            <a:endParaRPr sz="1000"/>
          </a:p>
        </p:txBody>
      </p:sp>
      <p:sp>
        <p:nvSpPr>
          <p:cNvPr id="25" name="Shape 25">
            <a:extLst>
              <a:ext uri="{FF2B5EF4-FFF2-40B4-BE49-F238E27FC236}">
                <a16:creationId xmlns:a16="http://schemas.microsoft.com/office/drawing/2014/main" id="{E6BD791E-C324-48AF-A744-2D380AD5BD46}"/>
              </a:ext>
            </a:extLst>
          </p:cNvPr>
          <p:cNvSpPr>
            <a:spLocks noGrp="1"/>
          </p:cNvSpPr>
          <p:nvPr/>
        </p:nvSpPr>
        <p:spPr>
          <a:xfrm>
            <a:off x="5638800" y="2247900"/>
            <a:ext cx="723900" cy="723900"/>
          </a:xfrm>
          <a:prstGeom prst="ellipse">
            <a:avLst/>
          </a:prstGeom>
          <a:solidFill>
            <a:srgbClr val="FFFFFF"/>
          </a:solidFill>
          <a:ln w="19050">
            <a:solidFill>
              <a:srgbClr val="384754"/>
            </a:solidFill>
          </a:ln>
        </p:spPr>
      </p:sp>
      <p:pic>
        <p:nvPicPr>
          <p:cNvPr id="92" name="Picture 26"/>
          <p:cNvPicPr>
            <a:picLocks noChangeAspect="1"/>
          </p:cNvPicPr>
          <p:nvPr/>
        </p:nvPicPr>
        <p:blipFill>
          <a:blip r:embed="rId6"/>
          <a:stretch>
            <a:fillRect/>
          </a:stretch>
        </p:blipFill>
        <p:spPr>
          <a:xfrm>
            <a:off x="5819775" y="2428875"/>
            <a:ext cx="361950" cy="361950"/>
          </a:xfrm>
          <a:prstGeom prst="rect">
            <a:avLst/>
          </a:prstGeom>
          <a:ln>
            <a:noFill/>
          </a:ln>
        </p:spPr>
      </p:pic>
      <p:sp>
        <p:nvSpPr>
          <p:cNvPr id="27" name="Text 27">
            <a:extLst>
              <a:ext uri="{FF2B5EF4-FFF2-40B4-BE49-F238E27FC236}">
                <a16:creationId xmlns:a16="http://schemas.microsoft.com/office/drawing/2014/main" id="{29F5FAB9-CA88-4AD5-B3D2-98411AC9A311}"/>
              </a:ext>
            </a:extLst>
          </p:cNvPr>
          <p:cNvSpPr>
            <a:spLocks noGrp="1"/>
          </p:cNvSpPr>
          <p:nvPr/>
        </p:nvSpPr>
        <p:spPr>
          <a:xfrm>
            <a:off x="5314950" y="3143250"/>
            <a:ext cx="1371600" cy="228600"/>
          </a:xfrm>
          <a:prstGeom prst="rect">
            <a:avLst/>
          </a:prstGeom>
          <a:noFill/>
          <a:ln>
            <a:noFill/>
          </a:ln>
        </p:spPr>
        <p:txBody>
          <a:bodyPr wrap="square" lIns="0" tIns="0" rIns="0" bIns="0" anchor="t"/>
          <a:lstStyle/>
          <a:p>
            <a:pPr algn="ctr">
              <a:buNone/>
            </a:pPr>
            <a:r>
              <a:rPr sz="1300" b="1" spc="30">
                <a:solidFill>
                  <a:srgbClr val="384754"/>
                </a:solidFill>
                <a:latin typeface="Arial"/>
                <a:ea typeface="Arial"/>
                <a:cs typeface="Arial"/>
              </a:rPr>
              <a:t>ENVELOPE</a:t>
            </a:r>
            <a:endParaRPr sz="1300"/>
          </a:p>
        </p:txBody>
      </p:sp>
      <p:sp>
        <p:nvSpPr>
          <p:cNvPr id="28" name="Text 28">
            <a:extLst>
              <a:ext uri="{FF2B5EF4-FFF2-40B4-BE49-F238E27FC236}">
                <a16:creationId xmlns:a16="http://schemas.microsoft.com/office/drawing/2014/main" id="{C61851F7-721A-486D-B7A7-E4BDE1AAB098}"/>
              </a:ext>
            </a:extLst>
          </p:cNvPr>
          <p:cNvSpPr>
            <a:spLocks noGrp="1"/>
          </p:cNvSpPr>
          <p:nvPr/>
        </p:nvSpPr>
        <p:spPr>
          <a:xfrm>
            <a:off x="5314950" y="3448050"/>
            <a:ext cx="1371600" cy="5143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Bounded typed</a:t>
            </a:r>
            <a:endParaRPr sz="1300"/>
          </a:p>
          <a:p>
            <a:pPr algn="ctr">
              <a:buNone/>
            </a:pPr>
            <a:r>
              <a:rPr sz="1300" b="0">
                <a:solidFill>
                  <a:srgbClr val="17212B"/>
                </a:solidFill>
                <a:latin typeface="Arial"/>
                <a:ea typeface="Arial"/>
                <a:cs typeface="Arial"/>
              </a:rPr>
              <a:t>evidence context</a:t>
            </a:r>
            <a:endParaRPr sz="1300"/>
          </a:p>
        </p:txBody>
      </p:sp>
      <p:sp>
        <p:nvSpPr>
          <p:cNvPr id="29" name="Connector 29">
            <a:extLst>
              <a:ext uri="{FF2B5EF4-FFF2-40B4-BE49-F238E27FC236}">
                <a16:creationId xmlns:a16="http://schemas.microsoft.com/office/drawing/2014/main" id="{AF670CD2-3CBF-44E0-9633-B13DBDF750D9}"/>
              </a:ext>
            </a:extLst>
          </p:cNvPr>
          <p:cNvSpPr>
            <a:spLocks noGrp="1"/>
          </p:cNvSpPr>
          <p:nvPr/>
        </p:nvSpPr>
        <p:spPr>
          <a:xfrm>
            <a:off x="7981950" y="2619375"/>
            <a:ext cx="895350" cy="0"/>
          </a:xfrm>
          <a:prstGeom prst="line">
            <a:avLst/>
          </a:prstGeom>
          <a:ln w="38100">
            <a:solidFill>
              <a:srgbClr val="D9DEE3"/>
            </a:solidFill>
            <a:tailEnd type="triangle"/>
          </a:ln>
        </p:spPr>
      </p:sp>
      <p:sp>
        <p:nvSpPr>
          <p:cNvPr id="30" name="Text 30">
            <a:extLst>
              <a:ext uri="{FF2B5EF4-FFF2-40B4-BE49-F238E27FC236}">
                <a16:creationId xmlns:a16="http://schemas.microsoft.com/office/drawing/2014/main" id="{3763D5A9-4253-48FC-93EA-EBAE4D057BCE}"/>
              </a:ext>
            </a:extLst>
          </p:cNvPr>
          <p:cNvSpPr>
            <a:spLocks noGrp="1"/>
          </p:cNvSpPr>
          <p:nvPr/>
        </p:nvSpPr>
        <p:spPr>
          <a:xfrm>
            <a:off x="7448550" y="1962150"/>
            <a:ext cx="342900" cy="190500"/>
          </a:xfrm>
          <a:prstGeom prst="rect">
            <a:avLst/>
          </a:prstGeom>
          <a:noFill/>
          <a:ln>
            <a:noFill/>
          </a:ln>
        </p:spPr>
        <p:txBody>
          <a:bodyPr wrap="square" lIns="0" tIns="0" rIns="0" bIns="0" anchor="t"/>
          <a:lstStyle/>
          <a:p>
            <a:pPr algn="ctr">
              <a:buNone/>
            </a:pPr>
            <a:r>
              <a:rPr sz="1000" b="1">
                <a:solidFill>
                  <a:srgbClr val="1F7A5A"/>
                </a:solidFill>
                <a:latin typeface="Arial"/>
                <a:ea typeface="Arial"/>
                <a:cs typeface="Arial"/>
              </a:rPr>
              <a:t>05</a:t>
            </a:r>
            <a:endParaRPr sz="1000"/>
          </a:p>
        </p:txBody>
      </p:sp>
      <p:sp>
        <p:nvSpPr>
          <p:cNvPr id="31" name="Shape 31">
            <a:extLst>
              <a:ext uri="{FF2B5EF4-FFF2-40B4-BE49-F238E27FC236}">
                <a16:creationId xmlns:a16="http://schemas.microsoft.com/office/drawing/2014/main" id="{790F1D5A-309F-43AA-A847-4CD0655DBA1A}"/>
              </a:ext>
            </a:extLst>
          </p:cNvPr>
          <p:cNvSpPr>
            <a:spLocks noGrp="1"/>
          </p:cNvSpPr>
          <p:nvPr/>
        </p:nvSpPr>
        <p:spPr>
          <a:xfrm>
            <a:off x="7258050" y="2247900"/>
            <a:ext cx="723900" cy="723900"/>
          </a:xfrm>
          <a:prstGeom prst="ellipse">
            <a:avLst/>
          </a:prstGeom>
          <a:solidFill>
            <a:srgbClr val="FFFFFF"/>
          </a:solidFill>
          <a:ln w="19050">
            <a:solidFill>
              <a:srgbClr val="1F7A5A"/>
            </a:solidFill>
          </a:ln>
        </p:spPr>
      </p:sp>
      <p:pic>
        <p:nvPicPr>
          <p:cNvPr id="98" name="Picture 32"/>
          <p:cNvPicPr>
            <a:picLocks noChangeAspect="1"/>
          </p:cNvPicPr>
          <p:nvPr/>
        </p:nvPicPr>
        <p:blipFill>
          <a:blip r:embed="rId7"/>
          <a:stretch>
            <a:fillRect/>
          </a:stretch>
        </p:blipFill>
        <p:spPr>
          <a:xfrm>
            <a:off x="7439025" y="2428875"/>
            <a:ext cx="361950" cy="361950"/>
          </a:xfrm>
          <a:prstGeom prst="rect">
            <a:avLst/>
          </a:prstGeom>
          <a:ln>
            <a:noFill/>
          </a:ln>
        </p:spPr>
      </p:pic>
      <p:sp>
        <p:nvSpPr>
          <p:cNvPr id="33" name="Text 33">
            <a:extLst>
              <a:ext uri="{FF2B5EF4-FFF2-40B4-BE49-F238E27FC236}">
                <a16:creationId xmlns:a16="http://schemas.microsoft.com/office/drawing/2014/main" id="{8AA7F328-7D84-46CF-BCC7-3923E28D0878}"/>
              </a:ext>
            </a:extLst>
          </p:cNvPr>
          <p:cNvSpPr>
            <a:spLocks noGrp="1"/>
          </p:cNvSpPr>
          <p:nvPr/>
        </p:nvSpPr>
        <p:spPr>
          <a:xfrm>
            <a:off x="6934200" y="3143250"/>
            <a:ext cx="1371600" cy="228600"/>
          </a:xfrm>
          <a:prstGeom prst="rect">
            <a:avLst/>
          </a:prstGeom>
          <a:noFill/>
          <a:ln>
            <a:noFill/>
          </a:ln>
        </p:spPr>
        <p:txBody>
          <a:bodyPr wrap="square" lIns="0" tIns="0" rIns="0" bIns="0" anchor="t"/>
          <a:lstStyle/>
          <a:p>
            <a:pPr algn="ctr">
              <a:buNone/>
            </a:pPr>
            <a:r>
              <a:rPr sz="1300" b="1" spc="30">
                <a:solidFill>
                  <a:srgbClr val="1F7A5A"/>
                </a:solidFill>
                <a:latin typeface="Arial"/>
                <a:ea typeface="Arial"/>
                <a:cs typeface="Arial"/>
              </a:rPr>
              <a:t>SYNTHESIZE</a:t>
            </a:r>
            <a:endParaRPr sz="1300"/>
          </a:p>
        </p:txBody>
      </p:sp>
      <p:sp>
        <p:nvSpPr>
          <p:cNvPr id="34" name="Text 34">
            <a:extLst>
              <a:ext uri="{FF2B5EF4-FFF2-40B4-BE49-F238E27FC236}">
                <a16:creationId xmlns:a16="http://schemas.microsoft.com/office/drawing/2014/main" id="{FDE9659A-C57D-4E6B-8C5F-63426190015C}"/>
              </a:ext>
            </a:extLst>
          </p:cNvPr>
          <p:cNvSpPr>
            <a:spLocks noGrp="1"/>
          </p:cNvSpPr>
          <p:nvPr/>
        </p:nvSpPr>
        <p:spPr>
          <a:xfrm>
            <a:off x="6934200" y="3448050"/>
            <a:ext cx="1371600" cy="5143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Structured result</a:t>
            </a:r>
            <a:endParaRPr sz="1300"/>
          </a:p>
          <a:p>
            <a:pPr algn="ctr">
              <a:buNone/>
            </a:pPr>
            <a:r>
              <a:rPr sz="1300" b="0">
                <a:solidFill>
                  <a:srgbClr val="17212B"/>
                </a:solidFill>
                <a:latin typeface="Arial"/>
                <a:ea typeface="Arial"/>
                <a:cs typeface="Arial"/>
              </a:rPr>
              <a:t>through one port</a:t>
            </a:r>
            <a:endParaRPr sz="1300"/>
          </a:p>
        </p:txBody>
      </p:sp>
      <p:sp>
        <p:nvSpPr>
          <p:cNvPr id="35" name="Connector 35">
            <a:extLst>
              <a:ext uri="{FF2B5EF4-FFF2-40B4-BE49-F238E27FC236}">
                <a16:creationId xmlns:a16="http://schemas.microsoft.com/office/drawing/2014/main" id="{CE311A37-D5B3-431D-9751-FA9F73356777}"/>
              </a:ext>
            </a:extLst>
          </p:cNvPr>
          <p:cNvSpPr>
            <a:spLocks noGrp="1"/>
          </p:cNvSpPr>
          <p:nvPr/>
        </p:nvSpPr>
        <p:spPr>
          <a:xfrm>
            <a:off x="9601200" y="2619375"/>
            <a:ext cx="895350" cy="0"/>
          </a:xfrm>
          <a:prstGeom prst="line">
            <a:avLst/>
          </a:prstGeom>
          <a:ln w="38100">
            <a:solidFill>
              <a:srgbClr val="D9DEE3"/>
            </a:solidFill>
            <a:tailEnd type="triangle"/>
          </a:ln>
        </p:spPr>
      </p:sp>
      <p:sp>
        <p:nvSpPr>
          <p:cNvPr id="36" name="Text 36">
            <a:extLst>
              <a:ext uri="{FF2B5EF4-FFF2-40B4-BE49-F238E27FC236}">
                <a16:creationId xmlns:a16="http://schemas.microsoft.com/office/drawing/2014/main" id="{01B0354A-F854-4E38-80B3-681799D1ADD7}"/>
              </a:ext>
            </a:extLst>
          </p:cNvPr>
          <p:cNvSpPr>
            <a:spLocks noGrp="1"/>
          </p:cNvSpPr>
          <p:nvPr/>
        </p:nvSpPr>
        <p:spPr>
          <a:xfrm>
            <a:off x="9067800" y="1962150"/>
            <a:ext cx="342900" cy="190500"/>
          </a:xfrm>
          <a:prstGeom prst="rect">
            <a:avLst/>
          </a:prstGeom>
          <a:noFill/>
          <a:ln>
            <a:noFill/>
          </a:ln>
        </p:spPr>
        <p:txBody>
          <a:bodyPr wrap="square" lIns="0" tIns="0" rIns="0" bIns="0" anchor="t"/>
          <a:lstStyle/>
          <a:p>
            <a:pPr algn="ctr">
              <a:buNone/>
            </a:pPr>
            <a:r>
              <a:rPr sz="1000" b="1">
                <a:solidFill>
                  <a:srgbClr val="B46B13"/>
                </a:solidFill>
                <a:latin typeface="Arial"/>
                <a:ea typeface="Arial"/>
                <a:cs typeface="Arial"/>
              </a:rPr>
              <a:t>06</a:t>
            </a:r>
            <a:endParaRPr sz="1000"/>
          </a:p>
        </p:txBody>
      </p:sp>
      <p:sp>
        <p:nvSpPr>
          <p:cNvPr id="37" name="Shape 37">
            <a:extLst>
              <a:ext uri="{FF2B5EF4-FFF2-40B4-BE49-F238E27FC236}">
                <a16:creationId xmlns:a16="http://schemas.microsoft.com/office/drawing/2014/main" id="{78E560DD-6AA9-4743-9295-01277A761ADF}"/>
              </a:ext>
            </a:extLst>
          </p:cNvPr>
          <p:cNvSpPr>
            <a:spLocks noGrp="1"/>
          </p:cNvSpPr>
          <p:nvPr/>
        </p:nvSpPr>
        <p:spPr>
          <a:xfrm>
            <a:off x="8877300" y="2247900"/>
            <a:ext cx="723900" cy="723900"/>
          </a:xfrm>
          <a:prstGeom prst="ellipse">
            <a:avLst/>
          </a:prstGeom>
          <a:solidFill>
            <a:srgbClr val="FFFFFF"/>
          </a:solidFill>
          <a:ln w="19050">
            <a:solidFill>
              <a:srgbClr val="B46B13"/>
            </a:solidFill>
          </a:ln>
        </p:spPr>
      </p:sp>
      <p:pic>
        <p:nvPicPr>
          <p:cNvPr id="104" name="Picture 38"/>
          <p:cNvPicPr>
            <a:picLocks noChangeAspect="1"/>
          </p:cNvPicPr>
          <p:nvPr/>
        </p:nvPicPr>
        <p:blipFill>
          <a:blip r:embed="rId8"/>
          <a:stretch>
            <a:fillRect/>
          </a:stretch>
        </p:blipFill>
        <p:spPr>
          <a:xfrm>
            <a:off x="9058275" y="2428875"/>
            <a:ext cx="361950" cy="361950"/>
          </a:xfrm>
          <a:prstGeom prst="rect">
            <a:avLst/>
          </a:prstGeom>
          <a:ln>
            <a:noFill/>
          </a:ln>
        </p:spPr>
      </p:pic>
      <p:sp>
        <p:nvSpPr>
          <p:cNvPr id="39" name="Text 39">
            <a:extLst>
              <a:ext uri="{FF2B5EF4-FFF2-40B4-BE49-F238E27FC236}">
                <a16:creationId xmlns:a16="http://schemas.microsoft.com/office/drawing/2014/main" id="{CFE1674D-05FC-483F-A1F1-79BD6E2D7004}"/>
              </a:ext>
            </a:extLst>
          </p:cNvPr>
          <p:cNvSpPr>
            <a:spLocks noGrp="1"/>
          </p:cNvSpPr>
          <p:nvPr/>
        </p:nvSpPr>
        <p:spPr>
          <a:xfrm>
            <a:off x="8553450" y="3143250"/>
            <a:ext cx="1371600" cy="228600"/>
          </a:xfrm>
          <a:prstGeom prst="rect">
            <a:avLst/>
          </a:prstGeom>
          <a:noFill/>
          <a:ln>
            <a:noFill/>
          </a:ln>
        </p:spPr>
        <p:txBody>
          <a:bodyPr wrap="square" lIns="0" tIns="0" rIns="0" bIns="0" anchor="t"/>
          <a:lstStyle/>
          <a:p>
            <a:pPr algn="ctr">
              <a:buNone/>
            </a:pPr>
            <a:r>
              <a:rPr sz="1300" b="1" spc="30">
                <a:solidFill>
                  <a:srgbClr val="B46B13"/>
                </a:solidFill>
                <a:latin typeface="Arial"/>
                <a:ea typeface="Arial"/>
                <a:cs typeface="Arial"/>
              </a:rPr>
              <a:t>VALIDATE</a:t>
            </a:r>
            <a:endParaRPr sz="1300"/>
          </a:p>
        </p:txBody>
      </p:sp>
      <p:sp>
        <p:nvSpPr>
          <p:cNvPr id="40" name="Text 40">
            <a:extLst>
              <a:ext uri="{FF2B5EF4-FFF2-40B4-BE49-F238E27FC236}">
                <a16:creationId xmlns:a16="http://schemas.microsoft.com/office/drawing/2014/main" id="{B2E8D0C4-0112-4634-9D42-520B8A564A2C}"/>
              </a:ext>
            </a:extLst>
          </p:cNvPr>
          <p:cNvSpPr>
            <a:spLocks noGrp="1"/>
          </p:cNvSpPr>
          <p:nvPr/>
        </p:nvSpPr>
        <p:spPr>
          <a:xfrm>
            <a:off x="8553450" y="3448050"/>
            <a:ext cx="1371600" cy="5143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Evidence references</a:t>
            </a:r>
            <a:endParaRPr sz="1300"/>
          </a:p>
          <a:p>
            <a:pPr algn="ctr">
              <a:buNone/>
            </a:pPr>
            <a:r>
              <a:rPr sz="1300" b="0">
                <a:solidFill>
                  <a:srgbClr val="17212B"/>
                </a:solidFill>
                <a:latin typeface="Arial"/>
                <a:ea typeface="Arial"/>
                <a:cs typeface="Arial"/>
              </a:rPr>
              <a:t>must be supported</a:t>
            </a:r>
            <a:endParaRPr sz="1300"/>
          </a:p>
        </p:txBody>
      </p:sp>
      <p:sp>
        <p:nvSpPr>
          <p:cNvPr id="41" name="Text 41">
            <a:extLst>
              <a:ext uri="{FF2B5EF4-FFF2-40B4-BE49-F238E27FC236}">
                <a16:creationId xmlns:a16="http://schemas.microsoft.com/office/drawing/2014/main" id="{4B6C498F-B867-43D4-AAC7-5DFBA49CE984}"/>
              </a:ext>
            </a:extLst>
          </p:cNvPr>
          <p:cNvSpPr>
            <a:spLocks noGrp="1"/>
          </p:cNvSpPr>
          <p:nvPr/>
        </p:nvSpPr>
        <p:spPr>
          <a:xfrm>
            <a:off x="10687050" y="1962150"/>
            <a:ext cx="342900" cy="190500"/>
          </a:xfrm>
          <a:prstGeom prst="rect">
            <a:avLst/>
          </a:prstGeom>
          <a:noFill/>
          <a:ln>
            <a:noFill/>
          </a:ln>
        </p:spPr>
        <p:txBody>
          <a:bodyPr wrap="square" lIns="0" tIns="0" rIns="0" bIns="0" anchor="t"/>
          <a:lstStyle/>
          <a:p>
            <a:pPr algn="ctr">
              <a:buNone/>
            </a:pPr>
            <a:r>
              <a:rPr sz="1000" b="1">
                <a:solidFill>
                  <a:srgbClr val="981B1E"/>
                </a:solidFill>
                <a:latin typeface="Arial"/>
                <a:ea typeface="Arial"/>
                <a:cs typeface="Arial"/>
              </a:rPr>
              <a:t>07</a:t>
            </a:r>
            <a:endParaRPr sz="1000"/>
          </a:p>
        </p:txBody>
      </p:sp>
      <p:sp>
        <p:nvSpPr>
          <p:cNvPr id="42" name="Shape 42">
            <a:extLst>
              <a:ext uri="{FF2B5EF4-FFF2-40B4-BE49-F238E27FC236}">
                <a16:creationId xmlns:a16="http://schemas.microsoft.com/office/drawing/2014/main" id="{D84235BC-B7C2-4308-AE67-4E4411892807}"/>
              </a:ext>
            </a:extLst>
          </p:cNvPr>
          <p:cNvSpPr>
            <a:spLocks noGrp="1"/>
          </p:cNvSpPr>
          <p:nvPr/>
        </p:nvSpPr>
        <p:spPr>
          <a:xfrm>
            <a:off x="10496550" y="2247900"/>
            <a:ext cx="723900" cy="723900"/>
          </a:xfrm>
          <a:prstGeom prst="ellipse">
            <a:avLst/>
          </a:prstGeom>
          <a:solidFill>
            <a:srgbClr val="FFFFFF"/>
          </a:solidFill>
          <a:ln w="19050">
            <a:solidFill>
              <a:srgbClr val="981B1E"/>
            </a:solidFill>
          </a:ln>
        </p:spPr>
      </p:sp>
      <p:pic>
        <p:nvPicPr>
          <p:cNvPr id="109" name="Picture 43"/>
          <p:cNvPicPr>
            <a:picLocks noChangeAspect="1"/>
          </p:cNvPicPr>
          <p:nvPr/>
        </p:nvPicPr>
        <p:blipFill>
          <a:blip r:embed="rId9"/>
          <a:stretch>
            <a:fillRect/>
          </a:stretch>
        </p:blipFill>
        <p:spPr>
          <a:xfrm>
            <a:off x="10677525" y="2428875"/>
            <a:ext cx="361950" cy="361950"/>
          </a:xfrm>
          <a:prstGeom prst="rect">
            <a:avLst/>
          </a:prstGeom>
          <a:ln>
            <a:noFill/>
          </a:ln>
        </p:spPr>
      </p:pic>
      <p:sp>
        <p:nvSpPr>
          <p:cNvPr id="44" name="Text 44">
            <a:extLst>
              <a:ext uri="{FF2B5EF4-FFF2-40B4-BE49-F238E27FC236}">
                <a16:creationId xmlns:a16="http://schemas.microsoft.com/office/drawing/2014/main" id="{FAA8D802-EFAC-4AC0-9935-D8914871CE46}"/>
              </a:ext>
            </a:extLst>
          </p:cNvPr>
          <p:cNvSpPr>
            <a:spLocks noGrp="1"/>
          </p:cNvSpPr>
          <p:nvPr/>
        </p:nvSpPr>
        <p:spPr>
          <a:xfrm>
            <a:off x="10172700" y="3143250"/>
            <a:ext cx="1371600" cy="228600"/>
          </a:xfrm>
          <a:prstGeom prst="rect">
            <a:avLst/>
          </a:prstGeom>
          <a:noFill/>
          <a:ln>
            <a:noFill/>
          </a:ln>
        </p:spPr>
        <p:txBody>
          <a:bodyPr wrap="square" lIns="0" tIns="0" rIns="0" bIns="0" anchor="t"/>
          <a:lstStyle/>
          <a:p>
            <a:pPr algn="ctr">
              <a:buNone/>
            </a:pPr>
            <a:r>
              <a:rPr sz="1300" b="1" spc="30">
                <a:solidFill>
                  <a:srgbClr val="981B1E"/>
                </a:solidFill>
                <a:latin typeface="Arial"/>
                <a:ea typeface="Arial"/>
                <a:cs typeface="Arial"/>
              </a:rPr>
              <a:t>PERSIST</a:t>
            </a:r>
            <a:endParaRPr sz="1300"/>
          </a:p>
        </p:txBody>
      </p:sp>
      <p:sp>
        <p:nvSpPr>
          <p:cNvPr id="45" name="Text 45">
            <a:extLst>
              <a:ext uri="{FF2B5EF4-FFF2-40B4-BE49-F238E27FC236}">
                <a16:creationId xmlns:a16="http://schemas.microsoft.com/office/drawing/2014/main" id="{F0CA1165-AD39-4C4C-BEBB-4BC233849182}"/>
              </a:ext>
            </a:extLst>
          </p:cNvPr>
          <p:cNvSpPr>
            <a:spLocks noGrp="1"/>
          </p:cNvSpPr>
          <p:nvPr/>
        </p:nvSpPr>
        <p:spPr>
          <a:xfrm>
            <a:off x="10172700" y="3448050"/>
            <a:ext cx="1371600" cy="5143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Completed result</a:t>
            </a:r>
            <a:endParaRPr sz="1300"/>
          </a:p>
          <a:p>
            <a:pPr algn="ctr">
              <a:buNone/>
            </a:pPr>
            <a:r>
              <a:rPr sz="1300" b="0">
                <a:solidFill>
                  <a:srgbClr val="17212B"/>
                </a:solidFill>
                <a:latin typeface="Arial"/>
                <a:ea typeface="Arial"/>
                <a:cs typeface="Arial"/>
              </a:rPr>
              <a:t>and history</a:t>
            </a:r>
            <a:endParaRPr sz="1300"/>
          </a:p>
        </p:txBody>
      </p:sp>
      <p:sp>
        <p:nvSpPr>
          <p:cNvPr id="46" name="Shape 46">
            <a:extLst>
              <a:ext uri="{FF2B5EF4-FFF2-40B4-BE49-F238E27FC236}">
                <a16:creationId xmlns:a16="http://schemas.microsoft.com/office/drawing/2014/main" id="{91B48AE5-F741-4FBC-AF5A-6DF8E8C8DB41}"/>
              </a:ext>
            </a:extLst>
          </p:cNvPr>
          <p:cNvSpPr>
            <a:spLocks noGrp="1"/>
          </p:cNvSpPr>
          <p:nvPr/>
        </p:nvSpPr>
        <p:spPr>
          <a:xfrm>
            <a:off x="6496050" y="4171950"/>
            <a:ext cx="4914900" cy="247650"/>
          </a:xfrm>
          <a:prstGeom prst="rect">
            <a:avLst/>
          </a:prstGeom>
          <a:solidFill>
            <a:srgbClr val="FFFFFF"/>
          </a:solidFill>
          <a:ln w="12700">
            <a:solidFill>
              <a:srgbClr val="B46B13"/>
            </a:solidFill>
          </a:ln>
        </p:spPr>
      </p:sp>
      <p:sp>
        <p:nvSpPr>
          <p:cNvPr id="47" name="Text 47">
            <a:extLst>
              <a:ext uri="{FF2B5EF4-FFF2-40B4-BE49-F238E27FC236}">
                <a16:creationId xmlns:a16="http://schemas.microsoft.com/office/drawing/2014/main" id="{25A225AB-821B-4D54-8536-CD43B0CE8A88}"/>
              </a:ext>
            </a:extLst>
          </p:cNvPr>
          <p:cNvSpPr>
            <a:spLocks noGrp="1"/>
          </p:cNvSpPr>
          <p:nvPr/>
        </p:nvSpPr>
        <p:spPr>
          <a:xfrm>
            <a:off x="6667500" y="4210050"/>
            <a:ext cx="4572000" cy="171450"/>
          </a:xfrm>
          <a:prstGeom prst="rect">
            <a:avLst/>
          </a:prstGeom>
          <a:noFill/>
          <a:ln>
            <a:noFill/>
          </a:ln>
        </p:spPr>
        <p:txBody>
          <a:bodyPr wrap="square" lIns="0" tIns="0" rIns="0" bIns="0" anchor="t"/>
          <a:lstStyle/>
          <a:p>
            <a:pPr algn="ctr">
              <a:buNone/>
            </a:pPr>
            <a:r>
              <a:rPr sz="1100" b="1">
                <a:solidFill>
                  <a:srgbClr val="B46B13"/>
                </a:solidFill>
                <a:latin typeface="Arial"/>
                <a:ea typeface="Arial"/>
                <a:cs typeface="Arial"/>
              </a:rPr>
              <a:t>Any failure remains explicit before persistence</a:t>
            </a:r>
            <a:endParaRPr sz="1100"/>
          </a:p>
        </p:txBody>
      </p:sp>
      <p:sp>
        <p:nvSpPr>
          <p:cNvPr id="48" name="Shape 48">
            <a:extLst>
              <a:ext uri="{FF2B5EF4-FFF2-40B4-BE49-F238E27FC236}">
                <a16:creationId xmlns:a16="http://schemas.microsoft.com/office/drawing/2014/main" id="{EF2B3FA5-379A-4234-B1EC-7E10D600BA98}"/>
              </a:ext>
            </a:extLst>
          </p:cNvPr>
          <p:cNvSpPr>
            <a:spLocks noGrp="1"/>
          </p:cNvSpPr>
          <p:nvPr/>
        </p:nvSpPr>
        <p:spPr>
          <a:xfrm>
            <a:off x="895350" y="4914900"/>
            <a:ext cx="10401300" cy="876300"/>
          </a:xfrm>
          <a:prstGeom prst="rect">
            <a:avLst/>
          </a:prstGeom>
          <a:solidFill>
            <a:srgbClr val="FFFFFF"/>
          </a:solidFill>
          <a:ln w="12700">
            <a:solidFill>
              <a:srgbClr val="D9DEE3"/>
            </a:solidFill>
          </a:ln>
        </p:spPr>
      </p:sp>
      <p:sp>
        <p:nvSpPr>
          <p:cNvPr id="49" name="Shape 49">
            <a:extLst>
              <a:ext uri="{FF2B5EF4-FFF2-40B4-BE49-F238E27FC236}">
                <a16:creationId xmlns:a16="http://schemas.microsoft.com/office/drawing/2014/main" id="{D01C4FA0-884D-4040-8D57-CE57D505FE16}"/>
              </a:ext>
            </a:extLst>
          </p:cNvPr>
          <p:cNvSpPr>
            <a:spLocks noGrp="1"/>
          </p:cNvSpPr>
          <p:nvPr/>
        </p:nvSpPr>
        <p:spPr>
          <a:xfrm>
            <a:off x="1123950" y="5105400"/>
            <a:ext cx="476250" cy="476250"/>
          </a:xfrm>
          <a:prstGeom prst="roundRect">
            <a:avLst/>
          </a:prstGeom>
          <a:solidFill>
            <a:srgbClr val="EAF1F7"/>
          </a:solidFill>
          <a:ln w="19050">
            <a:solidFill>
              <a:srgbClr val="2A5B84"/>
            </a:solidFill>
          </a:ln>
        </p:spPr>
      </p:sp>
      <p:pic>
        <p:nvPicPr>
          <p:cNvPr id="116" name="Picture 50"/>
          <p:cNvPicPr>
            <a:picLocks noChangeAspect="1"/>
          </p:cNvPicPr>
          <p:nvPr/>
        </p:nvPicPr>
        <p:blipFill>
          <a:blip r:embed="rId10"/>
          <a:stretch>
            <a:fillRect/>
          </a:stretch>
        </p:blipFill>
        <p:spPr>
          <a:xfrm>
            <a:off x="1247775" y="5229225"/>
            <a:ext cx="228600" cy="228600"/>
          </a:xfrm>
          <a:prstGeom prst="rect">
            <a:avLst/>
          </a:prstGeom>
          <a:ln>
            <a:noFill/>
          </a:ln>
        </p:spPr>
      </p:pic>
      <p:sp>
        <p:nvSpPr>
          <p:cNvPr id="51" name="Text 51">
            <a:extLst>
              <a:ext uri="{FF2B5EF4-FFF2-40B4-BE49-F238E27FC236}">
                <a16:creationId xmlns:a16="http://schemas.microsoft.com/office/drawing/2014/main" id="{44443CEA-57EC-4AD4-BAEB-FFA005C5C7E9}"/>
              </a:ext>
            </a:extLst>
          </p:cNvPr>
          <p:cNvSpPr>
            <a:spLocks noGrp="1"/>
          </p:cNvSpPr>
          <p:nvPr/>
        </p:nvSpPr>
        <p:spPr>
          <a:xfrm>
            <a:off x="1790700" y="5048250"/>
            <a:ext cx="3905250" cy="571500"/>
          </a:xfrm>
          <a:prstGeom prst="rect">
            <a:avLst/>
          </a:prstGeom>
          <a:noFill/>
          <a:ln>
            <a:noFill/>
          </a:ln>
        </p:spPr>
        <p:txBody>
          <a:bodyPr wrap="square" lIns="0" tIns="0" rIns="0" bIns="0" anchor="ctr"/>
          <a:lstStyle/>
          <a:p>
            <a:pPr algn="l">
              <a:buNone/>
            </a:pPr>
            <a:r>
              <a:rPr sz="1600" b="1">
                <a:solidFill>
                  <a:srgbClr val="17212B"/>
                </a:solidFill>
                <a:latin typeface="Arial"/>
                <a:ea typeface="Arial"/>
                <a:cs typeface="Arial"/>
              </a:rPr>
              <a:t>Source facts stay authoritative and separate from derived evidence</a:t>
            </a:r>
            <a:endParaRPr sz="1600"/>
          </a:p>
        </p:txBody>
      </p:sp>
      <p:sp>
        <p:nvSpPr>
          <p:cNvPr id="52" name="Connector 52">
            <a:extLst>
              <a:ext uri="{FF2B5EF4-FFF2-40B4-BE49-F238E27FC236}">
                <a16:creationId xmlns:a16="http://schemas.microsoft.com/office/drawing/2014/main" id="{D23579EA-DF51-4417-B0FB-ABC479F60835}"/>
              </a:ext>
            </a:extLst>
          </p:cNvPr>
          <p:cNvSpPr>
            <a:spLocks noGrp="1"/>
          </p:cNvSpPr>
          <p:nvPr/>
        </p:nvSpPr>
        <p:spPr>
          <a:xfrm>
            <a:off x="6038850" y="5048250"/>
            <a:ext cx="0" cy="571500"/>
          </a:xfrm>
          <a:prstGeom prst="line">
            <a:avLst/>
          </a:prstGeom>
          <a:ln w="25400">
            <a:solidFill>
              <a:srgbClr val="D9DEE3"/>
            </a:solidFill>
          </a:ln>
        </p:spPr>
      </p:sp>
      <p:sp>
        <p:nvSpPr>
          <p:cNvPr id="53" name="Shape 53">
            <a:extLst>
              <a:ext uri="{FF2B5EF4-FFF2-40B4-BE49-F238E27FC236}">
                <a16:creationId xmlns:a16="http://schemas.microsoft.com/office/drawing/2014/main" id="{F4E26919-AB49-484A-9B28-FE9F940C571C}"/>
              </a:ext>
            </a:extLst>
          </p:cNvPr>
          <p:cNvSpPr>
            <a:spLocks noGrp="1"/>
          </p:cNvSpPr>
          <p:nvPr/>
        </p:nvSpPr>
        <p:spPr>
          <a:xfrm>
            <a:off x="6381750" y="5105400"/>
            <a:ext cx="476250" cy="476250"/>
          </a:xfrm>
          <a:prstGeom prst="roundRect">
            <a:avLst/>
          </a:prstGeom>
          <a:solidFill>
            <a:srgbClr val="EAF5F0"/>
          </a:solidFill>
          <a:ln w="19050">
            <a:solidFill>
              <a:srgbClr val="1F7A5A"/>
            </a:solidFill>
          </a:ln>
        </p:spPr>
      </p:sp>
      <p:pic>
        <p:nvPicPr>
          <p:cNvPr id="120" name="Picture 54"/>
          <p:cNvPicPr>
            <a:picLocks noChangeAspect="1"/>
          </p:cNvPicPr>
          <p:nvPr/>
        </p:nvPicPr>
        <p:blipFill>
          <a:blip r:embed="rId11"/>
          <a:stretch>
            <a:fillRect/>
          </a:stretch>
        </p:blipFill>
        <p:spPr>
          <a:xfrm>
            <a:off x="6505575" y="5229225"/>
            <a:ext cx="228600" cy="228600"/>
          </a:xfrm>
          <a:prstGeom prst="rect">
            <a:avLst/>
          </a:prstGeom>
          <a:ln>
            <a:noFill/>
          </a:ln>
        </p:spPr>
      </p:pic>
      <p:sp>
        <p:nvSpPr>
          <p:cNvPr id="55" name="Text 55">
            <a:extLst>
              <a:ext uri="{FF2B5EF4-FFF2-40B4-BE49-F238E27FC236}">
                <a16:creationId xmlns:a16="http://schemas.microsoft.com/office/drawing/2014/main" id="{3402F773-397E-4E0C-8887-315EBEB08800}"/>
              </a:ext>
            </a:extLst>
          </p:cNvPr>
          <p:cNvSpPr>
            <a:spLocks noGrp="1"/>
          </p:cNvSpPr>
          <p:nvPr/>
        </p:nvSpPr>
        <p:spPr>
          <a:xfrm>
            <a:off x="7048500" y="5048250"/>
            <a:ext cx="3905250" cy="571500"/>
          </a:xfrm>
          <a:prstGeom prst="rect">
            <a:avLst/>
          </a:prstGeom>
          <a:noFill/>
          <a:ln>
            <a:noFill/>
          </a:ln>
        </p:spPr>
        <p:txBody>
          <a:bodyPr wrap="square" lIns="0" tIns="0" rIns="0" bIns="0" anchor="ctr"/>
          <a:lstStyle/>
          <a:p>
            <a:pPr algn="l">
              <a:buNone/>
            </a:pPr>
            <a:r>
              <a:rPr sz="1600" b="1">
                <a:solidFill>
                  <a:srgbClr val="17212B"/>
                </a:solidFill>
                <a:latin typeface="Arial"/>
                <a:ea typeface="Arial"/>
                <a:cs typeface="Arial"/>
              </a:rPr>
              <a:t>Only a valid completed result reaches reviewable history</a:t>
            </a:r>
            <a:endParaRPr sz="1600"/>
          </a:p>
        </p:txBody>
      </p:sp>
      <p:sp>
        <p:nvSpPr>
          <p:cNvPr id="56" name="Connector 56">
            <a:extLst>
              <a:ext uri="{FF2B5EF4-FFF2-40B4-BE49-F238E27FC236}">
                <a16:creationId xmlns:a16="http://schemas.microsoft.com/office/drawing/2014/main" id="{04649711-0967-41E0-BAA5-93F10CEAA13D}"/>
              </a:ext>
            </a:extLst>
          </p:cNvPr>
          <p:cNvSpPr>
            <a:spLocks noGrp="1"/>
          </p:cNvSpPr>
          <p:nvPr/>
        </p:nvSpPr>
        <p:spPr>
          <a:xfrm>
            <a:off x="552450" y="6419850"/>
            <a:ext cx="11087100" cy="0"/>
          </a:xfrm>
          <a:prstGeom prst="line">
            <a:avLst/>
          </a:prstGeom>
          <a:ln w="12700">
            <a:solidFill>
              <a:srgbClr val="D9DEE3"/>
            </a:solidFill>
          </a:ln>
        </p:spPr>
      </p:sp>
      <p:sp>
        <p:nvSpPr>
          <p:cNvPr id="57" name="Text 57">
            <a:extLst>
              <a:ext uri="{FF2B5EF4-FFF2-40B4-BE49-F238E27FC236}">
                <a16:creationId xmlns:a16="http://schemas.microsoft.com/office/drawing/2014/main" id="{DAC19AC8-C5F3-4F22-840A-84F804284870}"/>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58" name="Text 58">
            <a:extLst>
              <a:ext uri="{FF2B5EF4-FFF2-40B4-BE49-F238E27FC236}">
                <a16:creationId xmlns:a16="http://schemas.microsoft.com/office/drawing/2014/main" id="{DD487A87-D3EA-4C8B-9EC0-43549FF9143A}"/>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5</a:t>
            </a:r>
            <a:endParaRPr sz="1000"/>
          </a:p>
        </p:txBody>
      </p:sp>
    </p:spTree>
    <p:extLst>
      <p:ext uri="{BB962C8B-B14F-4D97-AF65-F5344CB8AC3E}">
        <p14:creationId xmlns:p14="http://schemas.microsoft.com/office/powerpoint/2010/main" val="1213888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58BACAA0-4E23-4CC5-840F-1F5A7B9D9C16}"/>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IMPLEMENTATION LANDSCAPE</a:t>
            </a:r>
            <a:endParaRPr sz="1100"/>
          </a:p>
        </p:txBody>
      </p:sp>
      <p:sp>
        <p:nvSpPr>
          <p:cNvPr id="3" name="Text 3">
            <a:extLst>
              <a:ext uri="{FF2B5EF4-FFF2-40B4-BE49-F238E27FC236}">
                <a16:creationId xmlns:a16="http://schemas.microsoft.com/office/drawing/2014/main" id="{510C9FF8-AF91-4ABF-AA14-E6EF210024CF}"/>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lang="en-US" sz="3000" b="1">
                <a:solidFill>
                  <a:srgbClr val="17212B"/>
                </a:solidFill>
                <a:latin typeface="Arial"/>
                <a:ea typeface="Arial"/>
                <a:cs typeface="Arial"/>
              </a:rPr>
              <a:t>Bounded mechanisms share one analytical pipeline</a:t>
            </a:r>
            <a:endParaRPr sz="3000"/>
          </a:p>
        </p:txBody>
      </p:sp>
      <p:sp>
        <p:nvSpPr>
          <p:cNvPr id="4" name="Text 4">
            <a:extLst>
              <a:ext uri="{FF2B5EF4-FFF2-40B4-BE49-F238E27FC236}">
                <a16:creationId xmlns:a16="http://schemas.microsoft.com/office/drawing/2014/main" id="{7F326327-2464-45FE-9F68-E02A4FFB5D31}"/>
              </a:ext>
            </a:extLst>
          </p:cNvPr>
          <p:cNvSpPr>
            <a:spLocks noGrp="1"/>
          </p:cNvSpPr>
          <p:nvPr/>
        </p:nvSpPr>
        <p:spPr>
          <a:xfrm>
            <a:off x="571500" y="1362075"/>
            <a:ext cx="2857500" cy="190500"/>
          </a:xfrm>
          <a:prstGeom prst="rect">
            <a:avLst/>
          </a:prstGeom>
          <a:noFill/>
          <a:ln>
            <a:noFill/>
          </a:ln>
        </p:spPr>
        <p:txBody>
          <a:bodyPr wrap="square" lIns="0" tIns="0" rIns="0" bIns="0" anchor="t"/>
          <a:lstStyle/>
          <a:p>
            <a:pPr algn="l">
              <a:buNone/>
            </a:pPr>
            <a:r>
              <a:rPr sz="1000" b="1" spc="110">
                <a:solidFill>
                  <a:srgbClr val="5D6873"/>
                </a:solidFill>
                <a:latin typeface="Arial"/>
                <a:ea typeface="Arial"/>
                <a:cs typeface="Arial"/>
              </a:rPr>
              <a:t>STATUS · 5 SEPTEMBER 2026</a:t>
            </a:r>
            <a:endParaRPr sz="1000"/>
          </a:p>
        </p:txBody>
      </p:sp>
      <p:sp>
        <p:nvSpPr>
          <p:cNvPr id="5" name="Shape 5">
            <a:extLst>
              <a:ext uri="{FF2B5EF4-FFF2-40B4-BE49-F238E27FC236}">
                <a16:creationId xmlns:a16="http://schemas.microsoft.com/office/drawing/2014/main" id="{1B26F475-73B6-4299-9F4C-1021DFC11ECA}"/>
              </a:ext>
            </a:extLst>
          </p:cNvPr>
          <p:cNvSpPr>
            <a:spLocks noGrp="1"/>
          </p:cNvSpPr>
          <p:nvPr/>
        </p:nvSpPr>
        <p:spPr>
          <a:xfrm>
            <a:off x="6838950" y="1390650"/>
            <a:ext cx="114300" cy="114300"/>
          </a:xfrm>
          <a:prstGeom prst="ellipse">
            <a:avLst/>
          </a:prstGeom>
          <a:solidFill>
            <a:srgbClr val="1F7A5A"/>
          </a:solidFill>
          <a:ln w="12700">
            <a:solidFill>
              <a:srgbClr val="1F7A5A"/>
            </a:solidFill>
          </a:ln>
        </p:spPr>
      </p:sp>
      <p:sp>
        <p:nvSpPr>
          <p:cNvPr id="6" name="Text 6">
            <a:extLst>
              <a:ext uri="{FF2B5EF4-FFF2-40B4-BE49-F238E27FC236}">
                <a16:creationId xmlns:a16="http://schemas.microsoft.com/office/drawing/2014/main" id="{BDE42455-E50B-4F46-A9D0-BE20B6FF0513}"/>
              </a:ext>
            </a:extLst>
          </p:cNvPr>
          <p:cNvSpPr>
            <a:spLocks noGrp="1"/>
          </p:cNvSpPr>
          <p:nvPr/>
        </p:nvSpPr>
        <p:spPr>
          <a:xfrm>
            <a:off x="7029450" y="1343025"/>
            <a:ext cx="781050" cy="209550"/>
          </a:xfrm>
          <a:prstGeom prst="rect">
            <a:avLst/>
          </a:prstGeom>
          <a:noFill/>
          <a:ln>
            <a:noFill/>
          </a:ln>
        </p:spPr>
        <p:txBody>
          <a:bodyPr wrap="square" lIns="0" tIns="0" rIns="0" bIns="0" anchor="t"/>
          <a:lstStyle/>
          <a:p>
            <a:pPr algn="l">
              <a:buNone/>
            </a:pPr>
            <a:r>
              <a:rPr sz="1000" b="1">
                <a:solidFill>
                  <a:srgbClr val="5D6873"/>
                </a:solidFill>
                <a:latin typeface="Arial"/>
                <a:ea typeface="Arial"/>
                <a:cs typeface="Arial"/>
              </a:rPr>
              <a:t>LANDED</a:t>
            </a:r>
            <a:endParaRPr sz="1000"/>
          </a:p>
        </p:txBody>
      </p:sp>
      <p:sp>
        <p:nvSpPr>
          <p:cNvPr id="7" name="Shape 7">
            <a:extLst>
              <a:ext uri="{FF2B5EF4-FFF2-40B4-BE49-F238E27FC236}">
                <a16:creationId xmlns:a16="http://schemas.microsoft.com/office/drawing/2014/main" id="{3CEBE306-151E-47CA-BBF9-3FCDCFF4F084}"/>
              </a:ext>
            </a:extLst>
          </p:cNvPr>
          <p:cNvSpPr>
            <a:spLocks noGrp="1"/>
          </p:cNvSpPr>
          <p:nvPr/>
        </p:nvSpPr>
        <p:spPr>
          <a:xfrm>
            <a:off x="7981950" y="1390650"/>
            <a:ext cx="114300" cy="114300"/>
          </a:xfrm>
          <a:prstGeom prst="ellipse">
            <a:avLst/>
          </a:prstGeom>
          <a:solidFill>
            <a:srgbClr val="B46B13"/>
          </a:solidFill>
          <a:ln w="12700">
            <a:solidFill>
              <a:srgbClr val="B46B13"/>
            </a:solidFill>
          </a:ln>
        </p:spPr>
      </p:sp>
      <p:sp>
        <p:nvSpPr>
          <p:cNvPr id="8" name="Text 8">
            <a:extLst>
              <a:ext uri="{FF2B5EF4-FFF2-40B4-BE49-F238E27FC236}">
                <a16:creationId xmlns:a16="http://schemas.microsoft.com/office/drawing/2014/main" id="{7D0A717D-1B72-4AAB-866D-BAE1614E4CD4}"/>
              </a:ext>
            </a:extLst>
          </p:cNvPr>
          <p:cNvSpPr>
            <a:spLocks noGrp="1"/>
          </p:cNvSpPr>
          <p:nvPr/>
        </p:nvSpPr>
        <p:spPr>
          <a:xfrm>
            <a:off x="8172450" y="1343025"/>
            <a:ext cx="800100" cy="209550"/>
          </a:xfrm>
          <a:prstGeom prst="rect">
            <a:avLst/>
          </a:prstGeom>
          <a:noFill/>
          <a:ln>
            <a:noFill/>
          </a:ln>
        </p:spPr>
        <p:txBody>
          <a:bodyPr wrap="square" lIns="0" tIns="0" rIns="0" bIns="0" anchor="t"/>
          <a:lstStyle/>
          <a:p>
            <a:pPr algn="l">
              <a:buNone/>
            </a:pPr>
            <a:r>
              <a:rPr sz="1000" b="1">
                <a:solidFill>
                  <a:srgbClr val="5D6873"/>
                </a:solidFill>
                <a:latin typeface="Arial"/>
                <a:ea typeface="Arial"/>
                <a:cs typeface="Arial"/>
              </a:rPr>
              <a:t>OPTIONAL</a:t>
            </a:r>
            <a:endParaRPr sz="1000"/>
          </a:p>
        </p:txBody>
      </p:sp>
      <p:sp>
        <p:nvSpPr>
          <p:cNvPr id="9" name="Shape 9">
            <a:extLst>
              <a:ext uri="{FF2B5EF4-FFF2-40B4-BE49-F238E27FC236}">
                <a16:creationId xmlns:a16="http://schemas.microsoft.com/office/drawing/2014/main" id="{1C67D4AA-7529-472E-8060-864419CC57B9}"/>
              </a:ext>
            </a:extLst>
          </p:cNvPr>
          <p:cNvSpPr>
            <a:spLocks noGrp="1"/>
          </p:cNvSpPr>
          <p:nvPr/>
        </p:nvSpPr>
        <p:spPr>
          <a:xfrm>
            <a:off x="9220200" y="1390650"/>
            <a:ext cx="114300" cy="114300"/>
          </a:xfrm>
          <a:prstGeom prst="ellipse">
            <a:avLst/>
          </a:prstGeom>
          <a:solidFill>
            <a:srgbClr val="FFFFFF"/>
          </a:solidFill>
          <a:ln w="25400">
            <a:solidFill>
              <a:srgbClr val="384754"/>
            </a:solidFill>
          </a:ln>
        </p:spPr>
      </p:sp>
      <p:sp>
        <p:nvSpPr>
          <p:cNvPr id="10" name="Text 10">
            <a:extLst>
              <a:ext uri="{FF2B5EF4-FFF2-40B4-BE49-F238E27FC236}">
                <a16:creationId xmlns:a16="http://schemas.microsoft.com/office/drawing/2014/main" id="{36DF65EF-19CF-4BAE-929C-24FED4AB90F2}"/>
              </a:ext>
            </a:extLst>
          </p:cNvPr>
          <p:cNvSpPr>
            <a:spLocks noGrp="1"/>
          </p:cNvSpPr>
          <p:nvPr/>
        </p:nvSpPr>
        <p:spPr>
          <a:xfrm>
            <a:off x="9410700" y="1343025"/>
            <a:ext cx="1066800" cy="209550"/>
          </a:xfrm>
          <a:prstGeom prst="rect">
            <a:avLst/>
          </a:prstGeom>
          <a:noFill/>
          <a:ln>
            <a:noFill/>
          </a:ln>
        </p:spPr>
        <p:txBody>
          <a:bodyPr wrap="square" lIns="0" tIns="0" rIns="0" bIns="0" anchor="t"/>
          <a:lstStyle/>
          <a:p>
            <a:pPr algn="l">
              <a:buNone/>
            </a:pPr>
            <a:r>
              <a:rPr sz="1000" b="1">
                <a:solidFill>
                  <a:srgbClr val="5D6873"/>
                </a:solidFill>
                <a:latin typeface="Arial"/>
                <a:ea typeface="Arial"/>
                <a:cs typeface="Arial"/>
              </a:rPr>
              <a:t>EXCLUDED</a:t>
            </a:r>
            <a:endParaRPr sz="1000"/>
          </a:p>
        </p:txBody>
      </p:sp>
      <p:sp>
        <p:nvSpPr>
          <p:cNvPr id="11" name="Shape 11">
            <a:extLst>
              <a:ext uri="{FF2B5EF4-FFF2-40B4-BE49-F238E27FC236}">
                <a16:creationId xmlns:a16="http://schemas.microsoft.com/office/drawing/2014/main" id="{1643F7CE-1451-4425-86E7-2AE3BB986CDE}"/>
              </a:ext>
            </a:extLst>
          </p:cNvPr>
          <p:cNvSpPr>
            <a:spLocks noGrp="1"/>
          </p:cNvSpPr>
          <p:nvPr/>
        </p:nvSpPr>
        <p:spPr>
          <a:xfrm>
            <a:off x="552450" y="1695450"/>
            <a:ext cx="5429250" cy="400050"/>
          </a:xfrm>
          <a:prstGeom prst="roundRect">
            <a:avLst/>
          </a:prstGeom>
          <a:solidFill>
            <a:srgbClr val="FCEBEC"/>
          </a:solidFill>
          <a:ln w="19050">
            <a:solidFill>
              <a:srgbClr val="D71920"/>
            </a:solidFill>
          </a:ln>
        </p:spPr>
      </p:sp>
      <p:sp>
        <p:nvSpPr>
          <p:cNvPr id="12" name="Text 12">
            <a:extLst>
              <a:ext uri="{FF2B5EF4-FFF2-40B4-BE49-F238E27FC236}">
                <a16:creationId xmlns:a16="http://schemas.microsoft.com/office/drawing/2014/main" id="{7C5A97A9-2994-435E-A01C-846DBAC86E50}"/>
              </a:ext>
            </a:extLst>
          </p:cNvPr>
          <p:cNvSpPr>
            <a:spLocks noGrp="1"/>
          </p:cNvSpPr>
          <p:nvPr/>
        </p:nvSpPr>
        <p:spPr>
          <a:xfrm>
            <a:off x="723900" y="1771650"/>
            <a:ext cx="5086350" cy="247650"/>
          </a:xfrm>
          <a:prstGeom prst="rect">
            <a:avLst/>
          </a:prstGeom>
          <a:noFill/>
          <a:ln>
            <a:noFill/>
          </a:ln>
        </p:spPr>
        <p:txBody>
          <a:bodyPr wrap="square" lIns="0" tIns="0" rIns="0" bIns="0" anchor="t"/>
          <a:lstStyle/>
          <a:p>
            <a:pPr algn="l">
              <a:buNone/>
            </a:pPr>
            <a:r>
              <a:rPr sz="1400" b="1" spc="80">
                <a:solidFill>
                  <a:srgbClr val="981B1E"/>
                </a:solidFill>
                <a:latin typeface="Arial"/>
                <a:ea typeface="Arial"/>
                <a:cs typeface="Arial"/>
              </a:rPr>
              <a:t>STAGE 1 · DETECT &amp; SCORE</a:t>
            </a:r>
            <a:endParaRPr sz="1400"/>
          </a:p>
        </p:txBody>
      </p:sp>
      <p:sp>
        <p:nvSpPr>
          <p:cNvPr id="13" name="Shape 13">
            <a:extLst>
              <a:ext uri="{FF2B5EF4-FFF2-40B4-BE49-F238E27FC236}">
                <a16:creationId xmlns:a16="http://schemas.microsoft.com/office/drawing/2014/main" id="{B6C795FC-8D95-43C4-8019-8E6B0BBC8F39}"/>
              </a:ext>
            </a:extLst>
          </p:cNvPr>
          <p:cNvSpPr>
            <a:spLocks noGrp="1"/>
          </p:cNvSpPr>
          <p:nvPr/>
        </p:nvSpPr>
        <p:spPr>
          <a:xfrm>
            <a:off x="685800" y="2247900"/>
            <a:ext cx="5162550" cy="495300"/>
          </a:xfrm>
          <a:prstGeom prst="roundRect">
            <a:avLst/>
          </a:prstGeom>
          <a:solidFill>
            <a:srgbClr val="FFFFFF"/>
          </a:solidFill>
          <a:ln w="25400">
            <a:solidFill>
              <a:srgbClr val="D71920"/>
            </a:solidFill>
          </a:ln>
        </p:spPr>
      </p:sp>
      <p:pic>
        <p:nvPicPr>
          <p:cNvPr id="134" name="Picture 14"/>
          <p:cNvPicPr>
            <a:picLocks noChangeAspect="1"/>
          </p:cNvPicPr>
          <p:nvPr/>
        </p:nvPicPr>
        <p:blipFill>
          <a:blip r:embed="rId3"/>
          <a:stretch>
            <a:fillRect/>
          </a:stretch>
        </p:blipFill>
        <p:spPr>
          <a:xfrm>
            <a:off x="819150" y="2352675"/>
            <a:ext cx="285750" cy="285750"/>
          </a:xfrm>
          <a:prstGeom prst="rect">
            <a:avLst/>
          </a:prstGeom>
          <a:ln>
            <a:noFill/>
          </a:ln>
        </p:spPr>
      </p:pic>
      <p:sp>
        <p:nvSpPr>
          <p:cNvPr id="15" name="Text 15">
            <a:extLst>
              <a:ext uri="{FF2B5EF4-FFF2-40B4-BE49-F238E27FC236}">
                <a16:creationId xmlns:a16="http://schemas.microsoft.com/office/drawing/2014/main" id="{4A829336-547E-43D8-80CC-308CB7AFE5FB}"/>
              </a:ext>
            </a:extLst>
          </p:cNvPr>
          <p:cNvSpPr>
            <a:spLocks noGrp="1"/>
          </p:cNvSpPr>
          <p:nvPr/>
        </p:nvSpPr>
        <p:spPr>
          <a:xfrm>
            <a:off x="1238250" y="2314575"/>
            <a:ext cx="2724150" cy="342900"/>
          </a:xfrm>
          <a:prstGeom prst="rect">
            <a:avLst/>
          </a:prstGeom>
          <a:noFill/>
          <a:ln>
            <a:noFill/>
          </a:ln>
        </p:spPr>
        <p:txBody>
          <a:bodyPr wrap="square" lIns="0" tIns="0" rIns="0" bIns="0" anchor="ctr"/>
          <a:lstStyle/>
          <a:p>
            <a:pPr algn="l">
              <a:buNone/>
            </a:pPr>
            <a:r>
              <a:rPr sz="1800" b="1">
                <a:solidFill>
                  <a:srgbClr val="17212B"/>
                </a:solidFill>
                <a:latin typeface="Arial"/>
                <a:ea typeface="Arial"/>
                <a:cs typeface="Arial"/>
              </a:rPr>
              <a:t>RiskSignalDetectorPort</a:t>
            </a:r>
            <a:endParaRPr sz="1800"/>
          </a:p>
        </p:txBody>
      </p:sp>
      <p:sp>
        <p:nvSpPr>
          <p:cNvPr id="16" name="Text 16">
            <a:extLst>
              <a:ext uri="{FF2B5EF4-FFF2-40B4-BE49-F238E27FC236}">
                <a16:creationId xmlns:a16="http://schemas.microsoft.com/office/drawing/2014/main" id="{3762C41B-DA70-4BF6-99F6-B013016578D8}"/>
              </a:ext>
            </a:extLst>
          </p:cNvPr>
          <p:cNvSpPr>
            <a:spLocks noGrp="1"/>
          </p:cNvSpPr>
          <p:nvPr/>
        </p:nvSpPr>
        <p:spPr>
          <a:xfrm>
            <a:off x="4171950" y="2343150"/>
            <a:ext cx="1466850" cy="285750"/>
          </a:xfrm>
          <a:prstGeom prst="rect">
            <a:avLst/>
          </a:prstGeom>
          <a:noFill/>
          <a:ln>
            <a:noFill/>
          </a:ln>
        </p:spPr>
        <p:txBody>
          <a:bodyPr wrap="square" lIns="0" tIns="0" rIns="0" bIns="0" anchor="ctr"/>
          <a:lstStyle/>
          <a:p>
            <a:pPr algn="r">
              <a:buNone/>
            </a:pPr>
            <a:r>
              <a:rPr sz="1100" b="1">
                <a:solidFill>
                  <a:srgbClr val="5D6873"/>
                </a:solidFill>
                <a:latin typeface="Arial"/>
                <a:ea typeface="Arial"/>
                <a:cs typeface="Arial"/>
              </a:rPr>
              <a:t>stable application contract</a:t>
            </a:r>
            <a:endParaRPr sz="1100"/>
          </a:p>
        </p:txBody>
      </p:sp>
      <p:sp>
        <p:nvSpPr>
          <p:cNvPr id="17" name="Connector 17">
            <a:extLst>
              <a:ext uri="{FF2B5EF4-FFF2-40B4-BE49-F238E27FC236}">
                <a16:creationId xmlns:a16="http://schemas.microsoft.com/office/drawing/2014/main" id="{278BC16E-0398-4CDF-AD9E-74C71987ADF6}"/>
              </a:ext>
            </a:extLst>
          </p:cNvPr>
          <p:cNvSpPr>
            <a:spLocks noGrp="1"/>
          </p:cNvSpPr>
          <p:nvPr/>
        </p:nvSpPr>
        <p:spPr>
          <a:xfrm>
            <a:off x="3267075" y="2743200"/>
            <a:ext cx="0" cy="171450"/>
          </a:xfrm>
          <a:prstGeom prst="line">
            <a:avLst/>
          </a:prstGeom>
          <a:ln w="25400">
            <a:solidFill>
              <a:srgbClr val="D71920"/>
            </a:solidFill>
          </a:ln>
        </p:spPr>
      </p:sp>
      <p:sp>
        <p:nvSpPr>
          <p:cNvPr id="18" name="Connector 18">
            <a:extLst>
              <a:ext uri="{FF2B5EF4-FFF2-40B4-BE49-F238E27FC236}">
                <a16:creationId xmlns:a16="http://schemas.microsoft.com/office/drawing/2014/main" id="{B1F8FDE1-1571-4F34-9AC9-48385909060C}"/>
              </a:ext>
            </a:extLst>
          </p:cNvPr>
          <p:cNvSpPr>
            <a:spLocks noGrp="1"/>
          </p:cNvSpPr>
          <p:nvPr/>
        </p:nvSpPr>
        <p:spPr>
          <a:xfrm>
            <a:off x="1247775" y="2914650"/>
            <a:ext cx="3867150" cy="0"/>
          </a:xfrm>
          <a:prstGeom prst="line">
            <a:avLst/>
          </a:prstGeom>
          <a:ln w="25400">
            <a:solidFill>
              <a:srgbClr val="D71920"/>
            </a:solidFill>
          </a:ln>
        </p:spPr>
      </p:sp>
      <p:sp>
        <p:nvSpPr>
          <p:cNvPr id="19" name="Connector 19">
            <a:extLst>
              <a:ext uri="{FF2B5EF4-FFF2-40B4-BE49-F238E27FC236}">
                <a16:creationId xmlns:a16="http://schemas.microsoft.com/office/drawing/2014/main" id="{21156532-885B-4BF4-84AD-78C5D6647FD8}"/>
              </a:ext>
            </a:extLst>
          </p:cNvPr>
          <p:cNvSpPr>
            <a:spLocks noGrp="1"/>
          </p:cNvSpPr>
          <p:nvPr/>
        </p:nvSpPr>
        <p:spPr>
          <a:xfrm>
            <a:off x="1247775" y="2914650"/>
            <a:ext cx="0" cy="114300"/>
          </a:xfrm>
          <a:prstGeom prst="line">
            <a:avLst/>
          </a:prstGeom>
          <a:ln w="25400">
            <a:solidFill>
              <a:srgbClr val="D71920"/>
            </a:solidFill>
          </a:ln>
        </p:spPr>
      </p:sp>
      <p:sp>
        <p:nvSpPr>
          <p:cNvPr id="20" name="Connector 20">
            <a:extLst>
              <a:ext uri="{FF2B5EF4-FFF2-40B4-BE49-F238E27FC236}">
                <a16:creationId xmlns:a16="http://schemas.microsoft.com/office/drawing/2014/main" id="{B73077A9-18CD-4E92-8787-B2FBA102DDC3}"/>
              </a:ext>
            </a:extLst>
          </p:cNvPr>
          <p:cNvSpPr>
            <a:spLocks noGrp="1"/>
          </p:cNvSpPr>
          <p:nvPr/>
        </p:nvSpPr>
        <p:spPr>
          <a:xfrm>
            <a:off x="2524125" y="2914650"/>
            <a:ext cx="0" cy="114300"/>
          </a:xfrm>
          <a:prstGeom prst="line">
            <a:avLst/>
          </a:prstGeom>
          <a:ln w="25400">
            <a:solidFill>
              <a:srgbClr val="D71920"/>
            </a:solidFill>
          </a:ln>
        </p:spPr>
      </p:sp>
      <p:sp>
        <p:nvSpPr>
          <p:cNvPr id="21" name="Connector 21">
            <a:extLst>
              <a:ext uri="{FF2B5EF4-FFF2-40B4-BE49-F238E27FC236}">
                <a16:creationId xmlns:a16="http://schemas.microsoft.com/office/drawing/2014/main" id="{F7BCA815-422B-486A-BC72-8ACCDA16CB72}"/>
              </a:ext>
            </a:extLst>
          </p:cNvPr>
          <p:cNvSpPr>
            <a:spLocks noGrp="1"/>
          </p:cNvSpPr>
          <p:nvPr/>
        </p:nvSpPr>
        <p:spPr>
          <a:xfrm>
            <a:off x="3800475" y="2914650"/>
            <a:ext cx="0" cy="114300"/>
          </a:xfrm>
          <a:prstGeom prst="line">
            <a:avLst/>
          </a:prstGeom>
          <a:ln w="25400">
            <a:solidFill>
              <a:srgbClr val="D71920"/>
            </a:solidFill>
          </a:ln>
        </p:spPr>
      </p:sp>
      <p:sp>
        <p:nvSpPr>
          <p:cNvPr id="22" name="Connector 22">
            <a:extLst>
              <a:ext uri="{FF2B5EF4-FFF2-40B4-BE49-F238E27FC236}">
                <a16:creationId xmlns:a16="http://schemas.microsoft.com/office/drawing/2014/main" id="{49937729-CC75-4EAC-80E8-137310102FAE}"/>
              </a:ext>
            </a:extLst>
          </p:cNvPr>
          <p:cNvSpPr>
            <a:spLocks noGrp="1"/>
          </p:cNvSpPr>
          <p:nvPr/>
        </p:nvSpPr>
        <p:spPr>
          <a:xfrm>
            <a:off x="5076825" y="2914650"/>
            <a:ext cx="0" cy="114300"/>
          </a:xfrm>
          <a:prstGeom prst="line">
            <a:avLst/>
          </a:prstGeom>
          <a:ln w="25400">
            <a:solidFill>
              <a:srgbClr val="D71920"/>
            </a:solidFill>
          </a:ln>
        </p:spPr>
      </p:sp>
      <p:sp>
        <p:nvSpPr>
          <p:cNvPr id="23" name="Shape 23">
            <a:extLst>
              <a:ext uri="{FF2B5EF4-FFF2-40B4-BE49-F238E27FC236}">
                <a16:creationId xmlns:a16="http://schemas.microsoft.com/office/drawing/2014/main" id="{E1B4D440-D166-4FFD-80E6-74B13BBF8CE5}"/>
              </a:ext>
            </a:extLst>
          </p:cNvPr>
          <p:cNvSpPr>
            <a:spLocks noGrp="1"/>
          </p:cNvSpPr>
          <p:nvPr/>
        </p:nvSpPr>
        <p:spPr>
          <a:xfrm>
            <a:off x="666750" y="3028950"/>
            <a:ext cx="1162050" cy="914400"/>
          </a:xfrm>
          <a:prstGeom prst="roundRect">
            <a:avLst/>
          </a:prstGeom>
          <a:solidFill>
            <a:srgbClr val="FFFFFF"/>
          </a:solidFill>
          <a:ln w="19050">
            <a:solidFill>
              <a:srgbClr val="1F7A5A"/>
            </a:solidFill>
          </a:ln>
        </p:spPr>
      </p:sp>
      <p:pic>
        <p:nvPicPr>
          <p:cNvPr id="144" name="Picture 24"/>
          <p:cNvPicPr>
            <a:picLocks noChangeAspect="1"/>
          </p:cNvPicPr>
          <p:nvPr/>
        </p:nvPicPr>
        <p:blipFill>
          <a:blip r:embed="rId4"/>
          <a:stretch>
            <a:fillRect/>
          </a:stretch>
        </p:blipFill>
        <p:spPr>
          <a:xfrm>
            <a:off x="781050" y="3181350"/>
            <a:ext cx="247650" cy="247650"/>
          </a:xfrm>
          <a:prstGeom prst="rect">
            <a:avLst/>
          </a:prstGeom>
          <a:ln>
            <a:noFill/>
          </a:ln>
        </p:spPr>
      </p:pic>
      <p:sp>
        <p:nvSpPr>
          <p:cNvPr id="25" name="Shape 25">
            <a:extLst>
              <a:ext uri="{FF2B5EF4-FFF2-40B4-BE49-F238E27FC236}">
                <a16:creationId xmlns:a16="http://schemas.microsoft.com/office/drawing/2014/main" id="{561DD7C8-9DE4-426B-AFAD-4B25F8953C15}"/>
              </a:ext>
            </a:extLst>
          </p:cNvPr>
          <p:cNvSpPr>
            <a:spLocks noGrp="1"/>
          </p:cNvSpPr>
          <p:nvPr/>
        </p:nvSpPr>
        <p:spPr>
          <a:xfrm>
            <a:off x="1628775" y="3124200"/>
            <a:ext cx="95250" cy="95250"/>
          </a:xfrm>
          <a:prstGeom prst="ellipse">
            <a:avLst/>
          </a:prstGeom>
          <a:solidFill>
            <a:srgbClr val="1F7A5A"/>
          </a:solidFill>
          <a:ln w="12700">
            <a:solidFill>
              <a:srgbClr val="1F7A5A"/>
            </a:solidFill>
          </a:ln>
        </p:spPr>
      </p:sp>
      <p:sp>
        <p:nvSpPr>
          <p:cNvPr id="26" name="Text 26">
            <a:extLst>
              <a:ext uri="{FF2B5EF4-FFF2-40B4-BE49-F238E27FC236}">
                <a16:creationId xmlns:a16="http://schemas.microsoft.com/office/drawing/2014/main" id="{623D2F45-B5D7-481A-B636-177401B24685}"/>
              </a:ext>
            </a:extLst>
          </p:cNvPr>
          <p:cNvSpPr>
            <a:spLocks noGrp="1"/>
          </p:cNvSpPr>
          <p:nvPr/>
        </p:nvSpPr>
        <p:spPr>
          <a:xfrm>
            <a:off x="1047750" y="3124200"/>
            <a:ext cx="723900" cy="323850"/>
          </a:xfrm>
          <a:prstGeom prst="rect">
            <a:avLst/>
          </a:prstGeom>
          <a:noFill/>
          <a:ln>
            <a:noFill/>
          </a:ln>
        </p:spPr>
        <p:txBody>
          <a:bodyPr wrap="square" lIns="0" tIns="0" rIns="0" bIns="0" anchor="ctr"/>
          <a:lstStyle/>
          <a:p>
            <a:pPr algn="l">
              <a:buNone/>
            </a:pPr>
            <a:r>
              <a:rPr sz="1050" b="1">
                <a:solidFill>
                  <a:srgbClr val="17212B"/>
                </a:solidFill>
                <a:latin typeface="Arial"/>
                <a:ea typeface="Arial"/>
                <a:cs typeface="Arial"/>
              </a:rPr>
              <a:t>No-op</a:t>
            </a:r>
            <a:endParaRPr sz="1050"/>
          </a:p>
        </p:txBody>
      </p:sp>
      <p:sp>
        <p:nvSpPr>
          <p:cNvPr id="27" name="Text 27">
            <a:extLst>
              <a:ext uri="{FF2B5EF4-FFF2-40B4-BE49-F238E27FC236}">
                <a16:creationId xmlns:a16="http://schemas.microsoft.com/office/drawing/2014/main" id="{A1562490-7D19-4F0A-806D-0727E09D8C73}"/>
              </a:ext>
            </a:extLst>
          </p:cNvPr>
          <p:cNvSpPr>
            <a:spLocks noGrp="1"/>
          </p:cNvSpPr>
          <p:nvPr/>
        </p:nvSpPr>
        <p:spPr>
          <a:xfrm>
            <a:off x="762000" y="3524250"/>
            <a:ext cx="971550" cy="323850"/>
          </a:xfrm>
          <a:prstGeom prst="rect">
            <a:avLst/>
          </a:prstGeom>
          <a:noFill/>
          <a:ln>
            <a:noFill/>
          </a:ln>
        </p:spPr>
        <p:txBody>
          <a:bodyPr wrap="square" lIns="0" tIns="0" rIns="0" bIns="0" anchor="ctr"/>
          <a:lstStyle/>
          <a:p>
            <a:pPr algn="ctr">
              <a:buNone/>
            </a:pPr>
            <a:r>
              <a:rPr sz="1000" b="0">
                <a:solidFill>
                  <a:srgbClr val="5D6873"/>
                </a:solidFill>
                <a:latin typeface="Arial"/>
                <a:ea typeface="Arial"/>
                <a:cs typeface="Arial"/>
              </a:rPr>
              <a:t>baseline</a:t>
            </a:r>
            <a:endParaRPr sz="1000"/>
          </a:p>
        </p:txBody>
      </p:sp>
      <p:sp>
        <p:nvSpPr>
          <p:cNvPr id="28" name="Shape 28">
            <a:extLst>
              <a:ext uri="{FF2B5EF4-FFF2-40B4-BE49-F238E27FC236}">
                <a16:creationId xmlns:a16="http://schemas.microsoft.com/office/drawing/2014/main" id="{4AEE8C07-391A-49B1-B40B-9DA20388A220}"/>
              </a:ext>
            </a:extLst>
          </p:cNvPr>
          <p:cNvSpPr>
            <a:spLocks noGrp="1"/>
          </p:cNvSpPr>
          <p:nvPr/>
        </p:nvSpPr>
        <p:spPr>
          <a:xfrm>
            <a:off x="1943100" y="3028950"/>
            <a:ext cx="1162050" cy="914400"/>
          </a:xfrm>
          <a:prstGeom prst="roundRect">
            <a:avLst/>
          </a:prstGeom>
          <a:solidFill>
            <a:srgbClr val="FFFFFF"/>
          </a:solidFill>
          <a:ln w="19050">
            <a:solidFill>
              <a:srgbClr val="1F7A5A"/>
            </a:solidFill>
          </a:ln>
        </p:spPr>
      </p:sp>
      <p:pic>
        <p:nvPicPr>
          <p:cNvPr id="149" name="Picture 29"/>
          <p:cNvPicPr>
            <a:picLocks noChangeAspect="1"/>
          </p:cNvPicPr>
          <p:nvPr/>
        </p:nvPicPr>
        <p:blipFill>
          <a:blip r:embed="rId5"/>
          <a:stretch>
            <a:fillRect/>
          </a:stretch>
        </p:blipFill>
        <p:spPr>
          <a:xfrm>
            <a:off x="2057400" y="3181350"/>
            <a:ext cx="247650" cy="247650"/>
          </a:xfrm>
          <a:prstGeom prst="rect">
            <a:avLst/>
          </a:prstGeom>
          <a:ln>
            <a:noFill/>
          </a:ln>
        </p:spPr>
      </p:pic>
      <p:sp>
        <p:nvSpPr>
          <p:cNvPr id="30" name="Shape 30">
            <a:extLst>
              <a:ext uri="{FF2B5EF4-FFF2-40B4-BE49-F238E27FC236}">
                <a16:creationId xmlns:a16="http://schemas.microsoft.com/office/drawing/2014/main" id="{D1570987-AF0C-4B71-A332-656507ED22EA}"/>
              </a:ext>
            </a:extLst>
          </p:cNvPr>
          <p:cNvSpPr>
            <a:spLocks noGrp="1"/>
          </p:cNvSpPr>
          <p:nvPr/>
        </p:nvSpPr>
        <p:spPr>
          <a:xfrm>
            <a:off x="2905125" y="3124200"/>
            <a:ext cx="95250" cy="95250"/>
          </a:xfrm>
          <a:prstGeom prst="ellipse">
            <a:avLst/>
          </a:prstGeom>
          <a:solidFill>
            <a:srgbClr val="1F7A5A"/>
          </a:solidFill>
          <a:ln w="12700">
            <a:solidFill>
              <a:srgbClr val="1F7A5A"/>
            </a:solidFill>
          </a:ln>
        </p:spPr>
      </p:sp>
      <p:sp>
        <p:nvSpPr>
          <p:cNvPr id="31" name="Text 31">
            <a:extLst>
              <a:ext uri="{FF2B5EF4-FFF2-40B4-BE49-F238E27FC236}">
                <a16:creationId xmlns:a16="http://schemas.microsoft.com/office/drawing/2014/main" id="{05D3EC94-4A51-4A72-B223-3299CBCB1348}"/>
              </a:ext>
            </a:extLst>
          </p:cNvPr>
          <p:cNvSpPr>
            <a:spLocks noGrp="1"/>
          </p:cNvSpPr>
          <p:nvPr/>
        </p:nvSpPr>
        <p:spPr>
          <a:xfrm>
            <a:off x="2324100" y="3124200"/>
            <a:ext cx="723900" cy="323850"/>
          </a:xfrm>
          <a:prstGeom prst="rect">
            <a:avLst/>
          </a:prstGeom>
          <a:noFill/>
          <a:ln>
            <a:noFill/>
          </a:ln>
        </p:spPr>
        <p:txBody>
          <a:bodyPr wrap="square" lIns="0" tIns="0" rIns="0" bIns="0" anchor="ctr"/>
          <a:lstStyle/>
          <a:p>
            <a:pPr algn="l">
              <a:buNone/>
            </a:pPr>
            <a:r>
              <a:rPr sz="1050" b="1">
                <a:solidFill>
                  <a:srgbClr val="17212B"/>
                </a:solidFill>
                <a:latin typeface="Arial"/>
                <a:ea typeface="Arial"/>
                <a:cs typeface="Arial"/>
              </a:rPr>
              <a:t>Bayesian</a:t>
            </a:r>
            <a:endParaRPr sz="1050"/>
          </a:p>
        </p:txBody>
      </p:sp>
      <p:sp>
        <p:nvSpPr>
          <p:cNvPr id="32" name="Text 32">
            <a:extLst>
              <a:ext uri="{FF2B5EF4-FFF2-40B4-BE49-F238E27FC236}">
                <a16:creationId xmlns:a16="http://schemas.microsoft.com/office/drawing/2014/main" id="{EE153483-64D0-477E-A87A-70312C3DA1A9}"/>
              </a:ext>
            </a:extLst>
          </p:cNvPr>
          <p:cNvSpPr>
            <a:spLocks noGrp="1"/>
          </p:cNvSpPr>
          <p:nvPr/>
        </p:nvSpPr>
        <p:spPr>
          <a:xfrm>
            <a:off x="2038350" y="3524250"/>
            <a:ext cx="971550" cy="323850"/>
          </a:xfrm>
          <a:prstGeom prst="rect">
            <a:avLst/>
          </a:prstGeom>
          <a:noFill/>
          <a:ln>
            <a:noFill/>
          </a:ln>
        </p:spPr>
        <p:txBody>
          <a:bodyPr wrap="square" lIns="0" tIns="0" rIns="0" bIns="0" anchor="ctr"/>
          <a:lstStyle/>
          <a:p>
            <a:pPr algn="ctr">
              <a:buNone/>
            </a:pPr>
            <a:r>
              <a:rPr sz="1000" b="0">
                <a:solidFill>
                  <a:srgbClr val="5D6873"/>
                </a:solidFill>
                <a:latin typeface="Arial"/>
                <a:ea typeface="Arial"/>
                <a:cs typeface="Arial"/>
              </a:rPr>
              <a:t>sequential</a:t>
            </a:r>
            <a:endParaRPr sz="1000"/>
          </a:p>
        </p:txBody>
      </p:sp>
      <p:sp>
        <p:nvSpPr>
          <p:cNvPr id="33" name="Shape 33">
            <a:extLst>
              <a:ext uri="{FF2B5EF4-FFF2-40B4-BE49-F238E27FC236}">
                <a16:creationId xmlns:a16="http://schemas.microsoft.com/office/drawing/2014/main" id="{B2DE3ADF-6E97-4498-9BAB-FAF2D3964286}"/>
              </a:ext>
            </a:extLst>
          </p:cNvPr>
          <p:cNvSpPr>
            <a:spLocks noGrp="1"/>
          </p:cNvSpPr>
          <p:nvPr/>
        </p:nvSpPr>
        <p:spPr>
          <a:xfrm>
            <a:off x="3219450" y="3028950"/>
            <a:ext cx="1162050" cy="914400"/>
          </a:xfrm>
          <a:prstGeom prst="roundRect">
            <a:avLst/>
          </a:prstGeom>
          <a:solidFill>
            <a:srgbClr val="FFFFFF"/>
          </a:solidFill>
          <a:ln w="19050">
            <a:solidFill>
              <a:srgbClr val="1F7A5A"/>
            </a:solidFill>
          </a:ln>
        </p:spPr>
      </p:sp>
      <p:pic>
        <p:nvPicPr>
          <p:cNvPr id="154" name="Picture 34"/>
          <p:cNvPicPr>
            <a:picLocks noChangeAspect="1"/>
          </p:cNvPicPr>
          <p:nvPr/>
        </p:nvPicPr>
        <p:blipFill>
          <a:blip r:embed="rId6"/>
          <a:stretch>
            <a:fillRect/>
          </a:stretch>
        </p:blipFill>
        <p:spPr>
          <a:xfrm>
            <a:off x="3333750" y="3181350"/>
            <a:ext cx="247650" cy="247650"/>
          </a:xfrm>
          <a:prstGeom prst="rect">
            <a:avLst/>
          </a:prstGeom>
          <a:ln>
            <a:noFill/>
          </a:ln>
        </p:spPr>
      </p:pic>
      <p:sp>
        <p:nvSpPr>
          <p:cNvPr id="35" name="Shape 35">
            <a:extLst>
              <a:ext uri="{FF2B5EF4-FFF2-40B4-BE49-F238E27FC236}">
                <a16:creationId xmlns:a16="http://schemas.microsoft.com/office/drawing/2014/main" id="{57EC1F19-6EB9-4A4F-979D-E3619E209515}"/>
              </a:ext>
            </a:extLst>
          </p:cNvPr>
          <p:cNvSpPr>
            <a:spLocks noGrp="1"/>
          </p:cNvSpPr>
          <p:nvPr/>
        </p:nvSpPr>
        <p:spPr>
          <a:xfrm>
            <a:off x="4181475" y="3124200"/>
            <a:ext cx="95250" cy="95250"/>
          </a:xfrm>
          <a:prstGeom prst="ellipse">
            <a:avLst/>
          </a:prstGeom>
          <a:solidFill>
            <a:srgbClr val="1F7A5A"/>
          </a:solidFill>
          <a:ln w="12700">
            <a:solidFill>
              <a:srgbClr val="1F7A5A"/>
            </a:solidFill>
          </a:ln>
        </p:spPr>
      </p:sp>
      <p:sp>
        <p:nvSpPr>
          <p:cNvPr id="36" name="Text 36">
            <a:extLst>
              <a:ext uri="{FF2B5EF4-FFF2-40B4-BE49-F238E27FC236}">
                <a16:creationId xmlns:a16="http://schemas.microsoft.com/office/drawing/2014/main" id="{73BC8B50-7968-4C3E-921E-E100900EC469}"/>
              </a:ext>
            </a:extLst>
          </p:cNvPr>
          <p:cNvSpPr>
            <a:spLocks noGrp="1"/>
          </p:cNvSpPr>
          <p:nvPr/>
        </p:nvSpPr>
        <p:spPr>
          <a:xfrm>
            <a:off x="3600450" y="3124200"/>
            <a:ext cx="723900" cy="323850"/>
          </a:xfrm>
          <a:prstGeom prst="rect">
            <a:avLst/>
          </a:prstGeom>
          <a:noFill/>
          <a:ln>
            <a:noFill/>
          </a:ln>
        </p:spPr>
        <p:txBody>
          <a:bodyPr wrap="square" lIns="0" tIns="0" rIns="0" bIns="0" anchor="ctr"/>
          <a:lstStyle/>
          <a:p>
            <a:pPr algn="l">
              <a:buNone/>
            </a:pPr>
            <a:r>
              <a:rPr sz="1050" b="1">
                <a:solidFill>
                  <a:srgbClr val="17212B"/>
                </a:solidFill>
                <a:latin typeface="Arial"/>
                <a:ea typeface="Arial"/>
                <a:cs typeface="Arial"/>
              </a:rPr>
              <a:t>Fuzzy logic</a:t>
            </a:r>
            <a:endParaRPr sz="1050"/>
          </a:p>
        </p:txBody>
      </p:sp>
      <p:sp>
        <p:nvSpPr>
          <p:cNvPr id="37" name="Text 37">
            <a:extLst>
              <a:ext uri="{FF2B5EF4-FFF2-40B4-BE49-F238E27FC236}">
                <a16:creationId xmlns:a16="http://schemas.microsoft.com/office/drawing/2014/main" id="{F8FD0311-EC8F-45B9-9A8E-089CF3D43F0A}"/>
              </a:ext>
            </a:extLst>
          </p:cNvPr>
          <p:cNvSpPr>
            <a:spLocks noGrp="1"/>
          </p:cNvSpPr>
          <p:nvPr/>
        </p:nvSpPr>
        <p:spPr>
          <a:xfrm>
            <a:off x="3314700" y="3524250"/>
            <a:ext cx="971550" cy="323850"/>
          </a:xfrm>
          <a:prstGeom prst="rect">
            <a:avLst/>
          </a:prstGeom>
          <a:noFill/>
          <a:ln>
            <a:noFill/>
          </a:ln>
        </p:spPr>
        <p:txBody>
          <a:bodyPr wrap="square" lIns="0" tIns="0" rIns="0" bIns="0" anchor="ctr"/>
          <a:lstStyle/>
          <a:p>
            <a:pPr algn="ctr">
              <a:buNone/>
            </a:pPr>
            <a:r>
              <a:rPr sz="1000" b="0">
                <a:solidFill>
                  <a:srgbClr val="5D6873"/>
                </a:solidFill>
                <a:latin typeface="Arial"/>
                <a:ea typeface="Arial"/>
                <a:cs typeface="Arial"/>
              </a:rPr>
              <a:t>graded rules</a:t>
            </a:r>
            <a:endParaRPr sz="1000"/>
          </a:p>
        </p:txBody>
      </p:sp>
      <p:sp>
        <p:nvSpPr>
          <p:cNvPr id="38" name="Shape 38">
            <a:extLst>
              <a:ext uri="{FF2B5EF4-FFF2-40B4-BE49-F238E27FC236}">
                <a16:creationId xmlns:a16="http://schemas.microsoft.com/office/drawing/2014/main" id="{D4C4E5E7-4979-47A1-AB80-7D6C74E7CC1F}"/>
              </a:ext>
            </a:extLst>
          </p:cNvPr>
          <p:cNvSpPr>
            <a:spLocks noGrp="1"/>
          </p:cNvSpPr>
          <p:nvPr/>
        </p:nvSpPr>
        <p:spPr>
          <a:xfrm>
            <a:off x="4495800" y="3028950"/>
            <a:ext cx="1162050" cy="914400"/>
          </a:xfrm>
          <a:prstGeom prst="roundRect">
            <a:avLst/>
          </a:prstGeom>
          <a:solidFill>
            <a:srgbClr val="FFFFFF"/>
          </a:solidFill>
          <a:ln w="19050">
            <a:solidFill>
              <a:srgbClr val="1F7A5A"/>
            </a:solidFill>
          </a:ln>
        </p:spPr>
      </p:sp>
      <p:pic>
        <p:nvPicPr>
          <p:cNvPr id="159" name="Picture 39"/>
          <p:cNvPicPr>
            <a:picLocks noChangeAspect="1"/>
          </p:cNvPicPr>
          <p:nvPr/>
        </p:nvPicPr>
        <p:blipFill>
          <a:blip r:embed="rId7"/>
          <a:stretch>
            <a:fillRect/>
          </a:stretch>
        </p:blipFill>
        <p:spPr>
          <a:xfrm>
            <a:off x="4610100" y="3181350"/>
            <a:ext cx="247650" cy="247650"/>
          </a:xfrm>
          <a:prstGeom prst="rect">
            <a:avLst/>
          </a:prstGeom>
          <a:ln>
            <a:noFill/>
          </a:ln>
        </p:spPr>
      </p:pic>
      <p:sp>
        <p:nvSpPr>
          <p:cNvPr id="40" name="Shape 40">
            <a:extLst>
              <a:ext uri="{FF2B5EF4-FFF2-40B4-BE49-F238E27FC236}">
                <a16:creationId xmlns:a16="http://schemas.microsoft.com/office/drawing/2014/main" id="{CD44B262-DC57-4FD5-BBA8-7ED904D1E7CA}"/>
              </a:ext>
            </a:extLst>
          </p:cNvPr>
          <p:cNvSpPr>
            <a:spLocks noGrp="1"/>
          </p:cNvSpPr>
          <p:nvPr/>
        </p:nvSpPr>
        <p:spPr>
          <a:xfrm>
            <a:off x="5457825" y="3124200"/>
            <a:ext cx="95250" cy="95250"/>
          </a:xfrm>
          <a:prstGeom prst="ellipse">
            <a:avLst/>
          </a:prstGeom>
          <a:solidFill>
            <a:srgbClr val="1F7A5A"/>
          </a:solidFill>
          <a:ln w="12700">
            <a:solidFill>
              <a:srgbClr val="1F7A5A"/>
            </a:solidFill>
          </a:ln>
        </p:spPr>
      </p:sp>
      <p:sp>
        <p:nvSpPr>
          <p:cNvPr id="41" name="Text 41">
            <a:extLst>
              <a:ext uri="{FF2B5EF4-FFF2-40B4-BE49-F238E27FC236}">
                <a16:creationId xmlns:a16="http://schemas.microsoft.com/office/drawing/2014/main" id="{DF06667A-4AD6-4C40-95CA-87C65A5BF72A}"/>
              </a:ext>
            </a:extLst>
          </p:cNvPr>
          <p:cNvSpPr>
            <a:spLocks noGrp="1"/>
          </p:cNvSpPr>
          <p:nvPr/>
        </p:nvSpPr>
        <p:spPr>
          <a:xfrm>
            <a:off x="4876800" y="3124200"/>
            <a:ext cx="723900" cy="323850"/>
          </a:xfrm>
          <a:prstGeom prst="rect">
            <a:avLst/>
          </a:prstGeom>
          <a:noFill/>
          <a:ln>
            <a:noFill/>
          </a:ln>
        </p:spPr>
        <p:txBody>
          <a:bodyPr wrap="square" lIns="0" tIns="0" rIns="0" bIns="0" anchor="ctr"/>
          <a:lstStyle/>
          <a:p>
            <a:pPr algn="l">
              <a:buNone/>
            </a:pPr>
            <a:r>
              <a:rPr sz="1000" b="1">
                <a:solidFill>
                  <a:srgbClr val="17212B"/>
                </a:solidFill>
                <a:latin typeface="Arial"/>
                <a:ea typeface="Arial"/>
                <a:cs typeface="Arial"/>
              </a:rPr>
              <a:t>Random Forest</a:t>
            </a:r>
            <a:endParaRPr sz="1000"/>
          </a:p>
        </p:txBody>
      </p:sp>
      <p:sp>
        <p:nvSpPr>
          <p:cNvPr id="42" name="Text 42">
            <a:extLst>
              <a:ext uri="{FF2B5EF4-FFF2-40B4-BE49-F238E27FC236}">
                <a16:creationId xmlns:a16="http://schemas.microsoft.com/office/drawing/2014/main" id="{74AE241B-8A0E-4F4E-8C27-13EC9F9C1F4A}"/>
              </a:ext>
            </a:extLst>
          </p:cNvPr>
          <p:cNvSpPr>
            <a:spLocks noGrp="1"/>
          </p:cNvSpPr>
          <p:nvPr/>
        </p:nvSpPr>
        <p:spPr>
          <a:xfrm>
            <a:off x="4591050" y="3524250"/>
            <a:ext cx="971550" cy="323850"/>
          </a:xfrm>
          <a:prstGeom prst="rect">
            <a:avLst/>
          </a:prstGeom>
          <a:noFill/>
          <a:ln>
            <a:noFill/>
          </a:ln>
        </p:spPr>
        <p:txBody>
          <a:bodyPr wrap="square" lIns="0" tIns="0" rIns="0" bIns="0" anchor="ctr"/>
          <a:lstStyle/>
          <a:p>
            <a:pPr algn="ctr">
              <a:buNone/>
            </a:pPr>
            <a:r>
              <a:rPr sz="720" b="0">
                <a:solidFill>
                  <a:srgbClr val="5D6873"/>
                </a:solidFill>
                <a:latin typeface="Arial"/>
                <a:ea typeface="Arial"/>
                <a:cs typeface="Arial"/>
              </a:rPr>
              <a:t>Tribuo · 31 trees</a:t>
            </a:r>
            <a:endParaRPr sz="720"/>
          </a:p>
          <a:p>
            <a:pPr algn="ctr">
              <a:buNone/>
            </a:pPr>
            <a:r>
              <a:rPr sz="720" b="0">
                <a:solidFill>
                  <a:srgbClr val="5D6873"/>
                </a:solidFill>
                <a:latin typeface="Arial"/>
                <a:ea typeface="Arial"/>
                <a:cs typeface="Arial"/>
              </a:rPr>
              <a:t>vote share</a:t>
            </a:r>
            <a:endParaRPr sz="720"/>
          </a:p>
        </p:txBody>
      </p:sp>
      <p:sp>
        <p:nvSpPr>
          <p:cNvPr id="43" name="Shape 43">
            <a:extLst>
              <a:ext uri="{FF2B5EF4-FFF2-40B4-BE49-F238E27FC236}">
                <a16:creationId xmlns:a16="http://schemas.microsoft.com/office/drawing/2014/main" id="{0C24D9FE-6914-48BF-BD08-6493FEFA3E51}"/>
              </a:ext>
            </a:extLst>
          </p:cNvPr>
          <p:cNvSpPr>
            <a:spLocks noGrp="1"/>
          </p:cNvSpPr>
          <p:nvPr/>
        </p:nvSpPr>
        <p:spPr>
          <a:xfrm>
            <a:off x="685800" y="4114800"/>
            <a:ext cx="5162550" cy="495300"/>
          </a:xfrm>
          <a:prstGeom prst="roundRect">
            <a:avLst/>
          </a:prstGeom>
          <a:solidFill>
            <a:srgbClr val="EAF5F0"/>
          </a:solidFill>
          <a:ln w="19050">
            <a:solidFill>
              <a:srgbClr val="1F7A5A"/>
            </a:solidFill>
          </a:ln>
        </p:spPr>
      </p:sp>
      <p:pic>
        <p:nvPicPr>
          <p:cNvPr id="164" name="Picture 44"/>
          <p:cNvPicPr>
            <a:picLocks noChangeAspect="1"/>
          </p:cNvPicPr>
          <p:nvPr/>
        </p:nvPicPr>
        <p:blipFill>
          <a:blip r:embed="rId8"/>
          <a:stretch>
            <a:fillRect/>
          </a:stretch>
        </p:blipFill>
        <p:spPr>
          <a:xfrm>
            <a:off x="838200" y="4219575"/>
            <a:ext cx="285750" cy="285750"/>
          </a:xfrm>
          <a:prstGeom prst="rect">
            <a:avLst/>
          </a:prstGeom>
          <a:ln>
            <a:noFill/>
          </a:ln>
        </p:spPr>
      </p:pic>
      <p:sp>
        <p:nvSpPr>
          <p:cNvPr id="45" name="Text 45">
            <a:extLst>
              <a:ext uri="{FF2B5EF4-FFF2-40B4-BE49-F238E27FC236}">
                <a16:creationId xmlns:a16="http://schemas.microsoft.com/office/drawing/2014/main" id="{D4C5232D-EB72-4270-8FD1-41F498168FF4}"/>
              </a:ext>
            </a:extLst>
          </p:cNvPr>
          <p:cNvSpPr>
            <a:spLocks noGrp="1"/>
          </p:cNvSpPr>
          <p:nvPr/>
        </p:nvSpPr>
        <p:spPr>
          <a:xfrm>
            <a:off x="1257300" y="4181475"/>
            <a:ext cx="1295400" cy="323850"/>
          </a:xfrm>
          <a:prstGeom prst="rect">
            <a:avLst/>
          </a:prstGeom>
          <a:noFill/>
          <a:ln>
            <a:noFill/>
          </a:ln>
        </p:spPr>
        <p:txBody>
          <a:bodyPr wrap="square" lIns="0" tIns="0" rIns="0" bIns="0" anchor="ctr"/>
          <a:lstStyle/>
          <a:p>
            <a:pPr algn="l">
              <a:buNone/>
            </a:pPr>
            <a:r>
              <a:rPr sz="1300" b="1" spc="70">
                <a:solidFill>
                  <a:srgbClr val="1F7A5A"/>
                </a:solidFill>
                <a:latin typeface="Arial"/>
                <a:ea typeface="Arial"/>
                <a:cs typeface="Arial"/>
                <a:hlinkClick r:id="rId9"/>
              </a:rPr>
              <a:t>COMPOSITE</a:t>
            </a:r>
            <a:endParaRPr sz="1300"/>
          </a:p>
        </p:txBody>
      </p:sp>
      <p:sp>
        <p:nvSpPr>
          <p:cNvPr id="46" name="Text 46">
            <a:extLst>
              <a:ext uri="{FF2B5EF4-FFF2-40B4-BE49-F238E27FC236}">
                <a16:creationId xmlns:a16="http://schemas.microsoft.com/office/drawing/2014/main" id="{D4D78805-8A70-461A-9803-83E2830597F8}"/>
              </a:ext>
            </a:extLst>
          </p:cNvPr>
          <p:cNvSpPr>
            <a:spLocks noGrp="1"/>
          </p:cNvSpPr>
          <p:nvPr/>
        </p:nvSpPr>
        <p:spPr>
          <a:xfrm>
            <a:off x="2571750" y="4181475"/>
            <a:ext cx="3105150" cy="323850"/>
          </a:xfrm>
          <a:prstGeom prst="rect">
            <a:avLst/>
          </a:prstGeom>
          <a:noFill/>
          <a:ln>
            <a:noFill/>
          </a:ln>
        </p:spPr>
        <p:txBody>
          <a:bodyPr wrap="square" lIns="0" tIns="0" rIns="0" bIns="0" anchor="ctr"/>
          <a:lstStyle/>
          <a:p>
            <a:pPr algn="l">
              <a:buNone/>
            </a:pPr>
            <a:r>
              <a:rPr sz="1200" b="1">
                <a:solidFill>
                  <a:srgbClr val="17212B"/>
                </a:solidFill>
                <a:latin typeface="Arial"/>
                <a:ea typeface="Arial"/>
                <a:cs typeface="Arial"/>
              </a:rPr>
              <a:t>Ordered dispatch; every child artifact remains visible</a:t>
            </a:r>
            <a:endParaRPr sz="1200"/>
          </a:p>
        </p:txBody>
      </p:sp>
      <p:sp>
        <p:nvSpPr>
          <p:cNvPr id="47" name="Shape 47">
            <a:extLst>
              <a:ext uri="{FF2B5EF4-FFF2-40B4-BE49-F238E27FC236}">
                <a16:creationId xmlns:a16="http://schemas.microsoft.com/office/drawing/2014/main" id="{0BB89751-05B6-4FBE-A5F1-85875715C177}"/>
              </a:ext>
            </a:extLst>
          </p:cNvPr>
          <p:cNvSpPr>
            <a:spLocks noGrp="1"/>
          </p:cNvSpPr>
          <p:nvPr/>
        </p:nvSpPr>
        <p:spPr>
          <a:xfrm>
            <a:off x="685800" y="4762500"/>
            <a:ext cx="5162550" cy="609600"/>
          </a:xfrm>
          <a:prstGeom prst="roundRect">
            <a:avLst/>
          </a:prstGeom>
          <a:solidFill>
            <a:srgbClr val="F4F6F8"/>
          </a:solidFill>
          <a:ln w="19050">
            <a:solidFill>
              <a:srgbClr val="384754"/>
            </a:solidFill>
          </a:ln>
        </p:spPr>
      </p:sp>
      <p:pic>
        <p:nvPicPr>
          <p:cNvPr id="168" name="Picture 48"/>
          <p:cNvPicPr>
            <a:picLocks noChangeAspect="1"/>
          </p:cNvPicPr>
          <p:nvPr/>
        </p:nvPicPr>
        <p:blipFill>
          <a:blip r:embed="rId10"/>
          <a:stretch>
            <a:fillRect/>
          </a:stretch>
        </p:blipFill>
        <p:spPr>
          <a:xfrm>
            <a:off x="838200" y="4924425"/>
            <a:ext cx="285750" cy="285750"/>
          </a:xfrm>
          <a:prstGeom prst="rect">
            <a:avLst/>
          </a:prstGeom>
          <a:ln>
            <a:noFill/>
          </a:ln>
        </p:spPr>
      </p:pic>
      <p:sp>
        <p:nvSpPr>
          <p:cNvPr id="49" name="Connector 49">
            <a:extLst>
              <a:ext uri="{FF2B5EF4-FFF2-40B4-BE49-F238E27FC236}">
                <a16:creationId xmlns:a16="http://schemas.microsoft.com/office/drawing/2014/main" id="{BE0AE361-6C8B-4BD6-8A45-9DD9E4523B0C}"/>
              </a:ext>
            </a:extLst>
          </p:cNvPr>
          <p:cNvSpPr>
            <a:spLocks noGrp="1"/>
          </p:cNvSpPr>
          <p:nvPr/>
        </p:nvSpPr>
        <p:spPr>
          <a:xfrm>
            <a:off x="3267075" y="4610100"/>
            <a:ext cx="0" cy="152400"/>
          </a:xfrm>
          <a:prstGeom prst="line">
            <a:avLst/>
          </a:prstGeom>
          <a:ln w="25400">
            <a:solidFill>
              <a:srgbClr val="384754"/>
            </a:solidFill>
          </a:ln>
        </p:spPr>
      </p:sp>
      <p:sp>
        <p:nvSpPr>
          <p:cNvPr id="50" name="Text 50">
            <a:extLst>
              <a:ext uri="{FF2B5EF4-FFF2-40B4-BE49-F238E27FC236}">
                <a16:creationId xmlns:a16="http://schemas.microsoft.com/office/drawing/2014/main" id="{8BDF4990-FF6F-45B3-9C74-CF410BC5265F}"/>
              </a:ext>
            </a:extLst>
          </p:cNvPr>
          <p:cNvSpPr>
            <a:spLocks noGrp="1"/>
          </p:cNvSpPr>
          <p:nvPr/>
        </p:nvSpPr>
        <p:spPr>
          <a:xfrm>
            <a:off x="1257300" y="4829175"/>
            <a:ext cx="2324100" cy="209550"/>
          </a:xfrm>
          <a:prstGeom prst="rect">
            <a:avLst/>
          </a:prstGeom>
          <a:noFill/>
          <a:ln>
            <a:noFill/>
          </a:ln>
        </p:spPr>
        <p:txBody>
          <a:bodyPr wrap="square" lIns="0" tIns="0" rIns="0" bIns="0" anchor="t"/>
          <a:lstStyle/>
          <a:p>
            <a:pPr algn="l">
              <a:buNone/>
            </a:pPr>
            <a:r>
              <a:rPr sz="1100" b="1" spc="30">
                <a:solidFill>
                  <a:srgbClr val="384754"/>
                </a:solidFill>
                <a:latin typeface="Arial"/>
                <a:ea typeface="Arial"/>
                <a:cs typeface="Arial"/>
                <a:hlinkClick r:id="rId11"/>
              </a:rPr>
              <a:t>CALIBRATED LATE FUSION</a:t>
            </a:r>
            <a:endParaRPr sz="1100"/>
          </a:p>
        </p:txBody>
      </p:sp>
      <p:sp>
        <p:nvSpPr>
          <p:cNvPr id="51" name="Text 51">
            <a:extLst>
              <a:ext uri="{FF2B5EF4-FFF2-40B4-BE49-F238E27FC236}">
                <a16:creationId xmlns:a16="http://schemas.microsoft.com/office/drawing/2014/main" id="{99483F07-46B2-4841-838C-260CEF55C286}"/>
              </a:ext>
            </a:extLst>
          </p:cNvPr>
          <p:cNvSpPr>
            <a:spLocks noGrp="1"/>
          </p:cNvSpPr>
          <p:nvPr/>
        </p:nvSpPr>
        <p:spPr>
          <a:xfrm>
            <a:off x="1257300" y="5067300"/>
            <a:ext cx="4400550" cy="209550"/>
          </a:xfrm>
          <a:prstGeom prst="rect">
            <a:avLst/>
          </a:prstGeom>
          <a:noFill/>
          <a:ln>
            <a:noFill/>
          </a:ln>
        </p:spPr>
        <p:txBody>
          <a:bodyPr wrap="square" lIns="0" tIns="0" rIns="0" bIns="0" anchor="ctr"/>
          <a:lstStyle/>
          <a:p>
            <a:pPr algn="l">
              <a:buNone/>
            </a:pPr>
            <a:r>
              <a:rPr sz="1050" b="0">
                <a:solidFill>
                  <a:srgbClr val="17212B"/>
                </a:solidFill>
                <a:latin typeface="Arial"/>
                <a:ea typeface="Arial"/>
                <a:cs typeface="Arial"/>
              </a:rPr>
              <a:t>Excluded: the dataset cannot support an honest comparison</a:t>
            </a:r>
            <a:endParaRPr sz="1050"/>
          </a:p>
        </p:txBody>
      </p:sp>
      <p:sp>
        <p:nvSpPr>
          <p:cNvPr id="52" name="Shape 52">
            <a:extLst>
              <a:ext uri="{FF2B5EF4-FFF2-40B4-BE49-F238E27FC236}">
                <a16:creationId xmlns:a16="http://schemas.microsoft.com/office/drawing/2014/main" id="{7A8CFD61-F731-422C-BC05-102B3D32046D}"/>
              </a:ext>
            </a:extLst>
          </p:cNvPr>
          <p:cNvSpPr>
            <a:spLocks noGrp="1"/>
          </p:cNvSpPr>
          <p:nvPr/>
        </p:nvSpPr>
        <p:spPr>
          <a:xfrm>
            <a:off x="6115050" y="1695450"/>
            <a:ext cx="2419350" cy="400050"/>
          </a:xfrm>
          <a:prstGeom prst="roundRect">
            <a:avLst/>
          </a:prstGeom>
          <a:solidFill>
            <a:srgbClr val="EAF1F7"/>
          </a:solidFill>
          <a:ln w="19050">
            <a:solidFill>
              <a:srgbClr val="2A5B84"/>
            </a:solidFill>
          </a:ln>
        </p:spPr>
      </p:sp>
      <p:sp>
        <p:nvSpPr>
          <p:cNvPr id="53" name="Text 53">
            <a:extLst>
              <a:ext uri="{FF2B5EF4-FFF2-40B4-BE49-F238E27FC236}">
                <a16:creationId xmlns:a16="http://schemas.microsoft.com/office/drawing/2014/main" id="{B4B3C44B-8C7E-4DB4-A064-801E90313E21}"/>
              </a:ext>
            </a:extLst>
          </p:cNvPr>
          <p:cNvSpPr>
            <a:spLocks noGrp="1"/>
          </p:cNvSpPr>
          <p:nvPr/>
        </p:nvSpPr>
        <p:spPr>
          <a:xfrm>
            <a:off x="6286500" y="1771650"/>
            <a:ext cx="2076450" cy="247650"/>
          </a:xfrm>
          <a:prstGeom prst="rect">
            <a:avLst/>
          </a:prstGeom>
          <a:noFill/>
          <a:ln>
            <a:noFill/>
          </a:ln>
        </p:spPr>
        <p:txBody>
          <a:bodyPr wrap="square" lIns="0" tIns="0" rIns="0" bIns="0" anchor="t"/>
          <a:lstStyle/>
          <a:p>
            <a:pPr algn="l">
              <a:buNone/>
            </a:pPr>
            <a:r>
              <a:rPr sz="1400" b="1" spc="80">
                <a:solidFill>
                  <a:srgbClr val="2A5B84"/>
                </a:solidFill>
                <a:latin typeface="Arial"/>
                <a:ea typeface="Arial"/>
                <a:cs typeface="Arial"/>
              </a:rPr>
              <a:t>STAGE 2 · GROUND</a:t>
            </a:r>
            <a:endParaRPr sz="1400"/>
          </a:p>
        </p:txBody>
      </p:sp>
      <p:sp>
        <p:nvSpPr>
          <p:cNvPr id="54" name="Shape 54">
            <a:extLst>
              <a:ext uri="{FF2B5EF4-FFF2-40B4-BE49-F238E27FC236}">
                <a16:creationId xmlns:a16="http://schemas.microsoft.com/office/drawing/2014/main" id="{F79551C9-DFA8-4BF9-8259-EED4CEB7A19D}"/>
              </a:ext>
            </a:extLst>
          </p:cNvPr>
          <p:cNvSpPr>
            <a:spLocks noGrp="1"/>
          </p:cNvSpPr>
          <p:nvPr/>
        </p:nvSpPr>
        <p:spPr>
          <a:xfrm>
            <a:off x="6248400" y="2247900"/>
            <a:ext cx="2152650" cy="495300"/>
          </a:xfrm>
          <a:prstGeom prst="roundRect">
            <a:avLst/>
          </a:prstGeom>
          <a:solidFill>
            <a:srgbClr val="FFFFFF"/>
          </a:solidFill>
          <a:ln w="25400">
            <a:solidFill>
              <a:srgbClr val="2A5B84"/>
            </a:solidFill>
          </a:ln>
        </p:spPr>
      </p:sp>
      <p:pic>
        <p:nvPicPr>
          <p:cNvPr id="175" name="Picture 55"/>
          <p:cNvPicPr>
            <a:picLocks noChangeAspect="1"/>
          </p:cNvPicPr>
          <p:nvPr/>
        </p:nvPicPr>
        <p:blipFill>
          <a:blip r:embed="rId12"/>
          <a:stretch>
            <a:fillRect/>
          </a:stretch>
        </p:blipFill>
        <p:spPr>
          <a:xfrm>
            <a:off x="6381750" y="2352675"/>
            <a:ext cx="285750" cy="285750"/>
          </a:xfrm>
          <a:prstGeom prst="rect">
            <a:avLst/>
          </a:prstGeom>
          <a:ln>
            <a:noFill/>
          </a:ln>
        </p:spPr>
      </p:pic>
      <p:sp>
        <p:nvSpPr>
          <p:cNvPr id="56" name="Text 56">
            <a:extLst>
              <a:ext uri="{FF2B5EF4-FFF2-40B4-BE49-F238E27FC236}">
                <a16:creationId xmlns:a16="http://schemas.microsoft.com/office/drawing/2014/main" id="{B7A2D81C-E86D-4632-A564-072F908C1AF0}"/>
              </a:ext>
            </a:extLst>
          </p:cNvPr>
          <p:cNvSpPr>
            <a:spLocks noGrp="1"/>
          </p:cNvSpPr>
          <p:nvPr/>
        </p:nvSpPr>
        <p:spPr>
          <a:xfrm>
            <a:off x="6800850" y="2314575"/>
            <a:ext cx="1428750" cy="342900"/>
          </a:xfrm>
          <a:prstGeom prst="rect">
            <a:avLst/>
          </a:prstGeom>
          <a:noFill/>
          <a:ln>
            <a:noFill/>
          </a:ln>
        </p:spPr>
        <p:txBody>
          <a:bodyPr wrap="square" lIns="0" tIns="0" rIns="0" bIns="0" anchor="ctr"/>
          <a:lstStyle/>
          <a:p>
            <a:pPr algn="l">
              <a:buNone/>
            </a:pPr>
            <a:r>
              <a:rPr sz="1050" b="1">
                <a:solidFill>
                  <a:srgbClr val="17212B"/>
                </a:solidFill>
                <a:latin typeface="Arial"/>
                <a:ea typeface="Arial"/>
                <a:cs typeface="Arial"/>
              </a:rPr>
              <a:t>PolicyKnowledgePort</a:t>
            </a:r>
            <a:endParaRPr sz="1050"/>
          </a:p>
        </p:txBody>
      </p:sp>
      <p:sp>
        <p:nvSpPr>
          <p:cNvPr id="57" name="Connector 57">
            <a:extLst>
              <a:ext uri="{FF2B5EF4-FFF2-40B4-BE49-F238E27FC236}">
                <a16:creationId xmlns:a16="http://schemas.microsoft.com/office/drawing/2014/main" id="{F5C6A9CD-25C8-442D-A87F-BD81F94DF6C3}"/>
              </a:ext>
            </a:extLst>
          </p:cNvPr>
          <p:cNvSpPr>
            <a:spLocks noGrp="1"/>
          </p:cNvSpPr>
          <p:nvPr/>
        </p:nvSpPr>
        <p:spPr>
          <a:xfrm>
            <a:off x="7324725" y="2743200"/>
            <a:ext cx="0" cy="114300"/>
          </a:xfrm>
          <a:prstGeom prst="line">
            <a:avLst/>
          </a:prstGeom>
          <a:ln w="25400">
            <a:solidFill>
              <a:srgbClr val="2A5B84"/>
            </a:solidFill>
          </a:ln>
        </p:spPr>
      </p:sp>
      <p:sp>
        <p:nvSpPr>
          <p:cNvPr id="58" name="Connector 58">
            <a:extLst>
              <a:ext uri="{FF2B5EF4-FFF2-40B4-BE49-F238E27FC236}">
                <a16:creationId xmlns:a16="http://schemas.microsoft.com/office/drawing/2014/main" id="{7336BC17-EAD4-4B2E-8EC1-B6CC0CC8CFF7}"/>
              </a:ext>
            </a:extLst>
          </p:cNvPr>
          <p:cNvSpPr>
            <a:spLocks noGrp="1"/>
          </p:cNvSpPr>
          <p:nvPr/>
        </p:nvSpPr>
        <p:spPr>
          <a:xfrm flipH="1">
            <a:off x="6134100" y="2857500"/>
            <a:ext cx="1190625" cy="0"/>
          </a:xfrm>
          <a:prstGeom prst="line">
            <a:avLst/>
          </a:prstGeom>
          <a:ln w="25400">
            <a:solidFill>
              <a:srgbClr val="2A5B84"/>
            </a:solidFill>
          </a:ln>
        </p:spPr>
      </p:sp>
      <p:sp>
        <p:nvSpPr>
          <p:cNvPr id="59" name="Connector 59">
            <a:extLst>
              <a:ext uri="{FF2B5EF4-FFF2-40B4-BE49-F238E27FC236}">
                <a16:creationId xmlns:a16="http://schemas.microsoft.com/office/drawing/2014/main" id="{31C866C4-DFB2-4E14-849D-0F014D4D2F82}"/>
              </a:ext>
            </a:extLst>
          </p:cNvPr>
          <p:cNvSpPr>
            <a:spLocks noGrp="1"/>
          </p:cNvSpPr>
          <p:nvPr/>
        </p:nvSpPr>
        <p:spPr>
          <a:xfrm>
            <a:off x="6134100" y="2857500"/>
            <a:ext cx="0" cy="1466850"/>
          </a:xfrm>
          <a:prstGeom prst="line">
            <a:avLst/>
          </a:prstGeom>
          <a:ln w="25400">
            <a:solidFill>
              <a:srgbClr val="2A5B84"/>
            </a:solidFill>
          </a:ln>
        </p:spPr>
      </p:sp>
      <p:sp>
        <p:nvSpPr>
          <p:cNvPr id="60" name="Connector 60">
            <a:extLst>
              <a:ext uri="{FF2B5EF4-FFF2-40B4-BE49-F238E27FC236}">
                <a16:creationId xmlns:a16="http://schemas.microsoft.com/office/drawing/2014/main" id="{4F501660-909F-490E-A66B-86801F23F333}"/>
              </a:ext>
            </a:extLst>
          </p:cNvPr>
          <p:cNvSpPr>
            <a:spLocks noGrp="1"/>
          </p:cNvSpPr>
          <p:nvPr/>
        </p:nvSpPr>
        <p:spPr>
          <a:xfrm>
            <a:off x="6134100" y="3343275"/>
            <a:ext cx="114300" cy="0"/>
          </a:xfrm>
          <a:prstGeom prst="line">
            <a:avLst/>
          </a:prstGeom>
          <a:ln w="25400">
            <a:solidFill>
              <a:srgbClr val="2A5B84"/>
            </a:solidFill>
          </a:ln>
        </p:spPr>
      </p:sp>
      <p:sp>
        <p:nvSpPr>
          <p:cNvPr id="61" name="Connector 61">
            <a:extLst>
              <a:ext uri="{FF2B5EF4-FFF2-40B4-BE49-F238E27FC236}">
                <a16:creationId xmlns:a16="http://schemas.microsoft.com/office/drawing/2014/main" id="{597F06DD-7D51-4261-9AA1-FABCC992D58D}"/>
              </a:ext>
            </a:extLst>
          </p:cNvPr>
          <p:cNvSpPr>
            <a:spLocks noGrp="1"/>
          </p:cNvSpPr>
          <p:nvPr/>
        </p:nvSpPr>
        <p:spPr>
          <a:xfrm>
            <a:off x="6134100" y="4324350"/>
            <a:ext cx="114300" cy="0"/>
          </a:xfrm>
          <a:prstGeom prst="line">
            <a:avLst/>
          </a:prstGeom>
          <a:ln w="25400">
            <a:solidFill>
              <a:srgbClr val="2A5B84"/>
            </a:solidFill>
          </a:ln>
        </p:spPr>
      </p:sp>
      <p:sp>
        <p:nvSpPr>
          <p:cNvPr id="62" name="Shape 62">
            <a:extLst>
              <a:ext uri="{FF2B5EF4-FFF2-40B4-BE49-F238E27FC236}">
                <a16:creationId xmlns:a16="http://schemas.microsoft.com/office/drawing/2014/main" id="{31960E26-11FB-4EE7-BCF0-63E0AE2284C2}"/>
              </a:ext>
            </a:extLst>
          </p:cNvPr>
          <p:cNvSpPr>
            <a:spLocks noGrp="1"/>
          </p:cNvSpPr>
          <p:nvPr/>
        </p:nvSpPr>
        <p:spPr>
          <a:xfrm>
            <a:off x="6248400" y="2971800"/>
            <a:ext cx="2152650" cy="742950"/>
          </a:xfrm>
          <a:prstGeom prst="roundRect">
            <a:avLst/>
          </a:prstGeom>
          <a:solidFill>
            <a:srgbClr val="FFFFFF"/>
          </a:solidFill>
          <a:ln w="19050">
            <a:solidFill>
              <a:srgbClr val="1F7A5A"/>
            </a:solidFill>
          </a:ln>
        </p:spPr>
      </p:sp>
      <p:pic>
        <p:nvPicPr>
          <p:cNvPr id="183" name="Picture 63"/>
          <p:cNvPicPr>
            <a:picLocks noChangeAspect="1"/>
          </p:cNvPicPr>
          <p:nvPr/>
        </p:nvPicPr>
        <p:blipFill>
          <a:blip r:embed="rId13"/>
          <a:stretch>
            <a:fillRect/>
          </a:stretch>
        </p:blipFill>
        <p:spPr>
          <a:xfrm>
            <a:off x="6400800" y="3143250"/>
            <a:ext cx="285750" cy="285750"/>
          </a:xfrm>
          <a:prstGeom prst="rect">
            <a:avLst/>
          </a:prstGeom>
          <a:ln>
            <a:noFill/>
          </a:ln>
        </p:spPr>
      </p:pic>
      <p:sp>
        <p:nvSpPr>
          <p:cNvPr id="64" name="Shape 64">
            <a:extLst>
              <a:ext uri="{FF2B5EF4-FFF2-40B4-BE49-F238E27FC236}">
                <a16:creationId xmlns:a16="http://schemas.microsoft.com/office/drawing/2014/main" id="{0ECCEBE5-8E77-4175-ACFD-438EF99CC0D3}"/>
              </a:ext>
            </a:extLst>
          </p:cNvPr>
          <p:cNvSpPr>
            <a:spLocks noGrp="1"/>
          </p:cNvSpPr>
          <p:nvPr/>
        </p:nvSpPr>
        <p:spPr>
          <a:xfrm>
            <a:off x="8153400" y="3067050"/>
            <a:ext cx="95250" cy="95250"/>
          </a:xfrm>
          <a:prstGeom prst="ellipse">
            <a:avLst/>
          </a:prstGeom>
          <a:solidFill>
            <a:srgbClr val="1F7A5A"/>
          </a:solidFill>
          <a:ln w="12700">
            <a:solidFill>
              <a:srgbClr val="1F7A5A"/>
            </a:solidFill>
          </a:ln>
        </p:spPr>
      </p:sp>
      <p:sp>
        <p:nvSpPr>
          <p:cNvPr id="65" name="Text 65">
            <a:extLst>
              <a:ext uri="{FF2B5EF4-FFF2-40B4-BE49-F238E27FC236}">
                <a16:creationId xmlns:a16="http://schemas.microsoft.com/office/drawing/2014/main" id="{AF35262F-99C0-4D55-828F-4613A5DE79E2}"/>
              </a:ext>
            </a:extLst>
          </p:cNvPr>
          <p:cNvSpPr>
            <a:spLocks noGrp="1"/>
          </p:cNvSpPr>
          <p:nvPr/>
        </p:nvSpPr>
        <p:spPr>
          <a:xfrm>
            <a:off x="6819900" y="3057525"/>
            <a:ext cx="1428750" cy="247650"/>
          </a:xfrm>
          <a:prstGeom prst="rect">
            <a:avLst/>
          </a:prstGeom>
          <a:noFill/>
          <a:ln>
            <a:noFill/>
          </a:ln>
        </p:spPr>
        <p:txBody>
          <a:bodyPr wrap="square" lIns="0" tIns="0" rIns="0" bIns="0" anchor="t"/>
          <a:lstStyle/>
          <a:p>
            <a:pPr algn="l">
              <a:buNone/>
            </a:pPr>
            <a:r>
              <a:rPr sz="1400" b="1">
                <a:solidFill>
                  <a:srgbClr val="17212B"/>
                </a:solidFill>
                <a:latin typeface="Arial"/>
                <a:ea typeface="Arial"/>
                <a:cs typeface="Arial"/>
              </a:rPr>
              <a:t>Static policy</a:t>
            </a:r>
            <a:endParaRPr sz="1400"/>
          </a:p>
        </p:txBody>
      </p:sp>
      <p:sp>
        <p:nvSpPr>
          <p:cNvPr id="66" name="Text 66">
            <a:extLst>
              <a:ext uri="{FF2B5EF4-FFF2-40B4-BE49-F238E27FC236}">
                <a16:creationId xmlns:a16="http://schemas.microsoft.com/office/drawing/2014/main" id="{D4C774BD-ABFA-4488-BDB7-B493D5FFF797}"/>
              </a:ext>
            </a:extLst>
          </p:cNvPr>
          <p:cNvSpPr>
            <a:spLocks noGrp="1"/>
          </p:cNvSpPr>
          <p:nvPr/>
        </p:nvSpPr>
        <p:spPr>
          <a:xfrm>
            <a:off x="6819900" y="3333750"/>
            <a:ext cx="1428750" cy="228600"/>
          </a:xfrm>
          <a:prstGeom prst="rect">
            <a:avLst/>
          </a:prstGeom>
          <a:noFill/>
          <a:ln>
            <a:noFill/>
          </a:ln>
        </p:spPr>
        <p:txBody>
          <a:bodyPr wrap="square" lIns="0" tIns="0" rIns="0" bIns="0" anchor="t"/>
          <a:lstStyle/>
          <a:p>
            <a:pPr algn="l">
              <a:buNone/>
            </a:pPr>
            <a:r>
              <a:rPr sz="1100" b="0">
                <a:solidFill>
                  <a:srgbClr val="5D6873"/>
                </a:solidFill>
                <a:latin typeface="Arial"/>
                <a:ea typeface="Arial"/>
                <a:cs typeface="Arial"/>
              </a:rPr>
              <a:t>offline baseline</a:t>
            </a:r>
            <a:endParaRPr sz="1100"/>
          </a:p>
        </p:txBody>
      </p:sp>
      <p:sp>
        <p:nvSpPr>
          <p:cNvPr id="67" name="Shape 67">
            <a:extLst>
              <a:ext uri="{FF2B5EF4-FFF2-40B4-BE49-F238E27FC236}">
                <a16:creationId xmlns:a16="http://schemas.microsoft.com/office/drawing/2014/main" id="{B65E62DF-1839-4ED3-B17F-2EF1FB1F78CE}"/>
              </a:ext>
            </a:extLst>
          </p:cNvPr>
          <p:cNvSpPr>
            <a:spLocks noGrp="1"/>
          </p:cNvSpPr>
          <p:nvPr/>
        </p:nvSpPr>
        <p:spPr>
          <a:xfrm>
            <a:off x="6248400" y="3867150"/>
            <a:ext cx="2152650" cy="914400"/>
          </a:xfrm>
          <a:prstGeom prst="roundRect">
            <a:avLst/>
          </a:prstGeom>
          <a:solidFill>
            <a:srgbClr val="FFFFFF"/>
          </a:solidFill>
          <a:ln w="19050">
            <a:solidFill>
              <a:srgbClr val="1F7A5A"/>
            </a:solidFill>
          </a:ln>
        </p:spPr>
      </p:sp>
      <p:pic>
        <p:nvPicPr>
          <p:cNvPr id="188" name="Picture 68"/>
          <p:cNvPicPr>
            <a:picLocks noChangeAspect="1"/>
          </p:cNvPicPr>
          <p:nvPr/>
        </p:nvPicPr>
        <p:blipFill>
          <a:blip r:embed="rId14"/>
          <a:stretch>
            <a:fillRect/>
          </a:stretch>
        </p:blipFill>
        <p:spPr>
          <a:xfrm>
            <a:off x="6400800" y="4095750"/>
            <a:ext cx="285750" cy="285750"/>
          </a:xfrm>
          <a:prstGeom prst="rect">
            <a:avLst/>
          </a:prstGeom>
          <a:ln>
            <a:noFill/>
          </a:ln>
        </p:spPr>
      </p:pic>
      <p:sp>
        <p:nvSpPr>
          <p:cNvPr id="69" name="Shape 69">
            <a:extLst>
              <a:ext uri="{FF2B5EF4-FFF2-40B4-BE49-F238E27FC236}">
                <a16:creationId xmlns:a16="http://schemas.microsoft.com/office/drawing/2014/main" id="{3E702129-B1BE-48F6-B650-90DAF9B892B0}"/>
              </a:ext>
            </a:extLst>
          </p:cNvPr>
          <p:cNvSpPr>
            <a:spLocks noGrp="1"/>
          </p:cNvSpPr>
          <p:nvPr/>
        </p:nvSpPr>
        <p:spPr>
          <a:xfrm>
            <a:off x="8153400" y="3962400"/>
            <a:ext cx="95250" cy="95250"/>
          </a:xfrm>
          <a:prstGeom prst="ellipse">
            <a:avLst/>
          </a:prstGeom>
          <a:solidFill>
            <a:srgbClr val="1F7A5A"/>
          </a:solidFill>
          <a:ln w="12700">
            <a:solidFill>
              <a:srgbClr val="1F7A5A"/>
            </a:solidFill>
          </a:ln>
        </p:spPr>
      </p:sp>
      <p:sp>
        <p:nvSpPr>
          <p:cNvPr id="70" name="Text 70">
            <a:extLst>
              <a:ext uri="{FF2B5EF4-FFF2-40B4-BE49-F238E27FC236}">
                <a16:creationId xmlns:a16="http://schemas.microsoft.com/office/drawing/2014/main" id="{CA11DBE7-02AA-4A79-8E85-A939C05F349D}"/>
              </a:ext>
            </a:extLst>
          </p:cNvPr>
          <p:cNvSpPr>
            <a:spLocks noGrp="1"/>
          </p:cNvSpPr>
          <p:nvPr/>
        </p:nvSpPr>
        <p:spPr>
          <a:xfrm>
            <a:off x="6819900" y="3971925"/>
            <a:ext cx="1428750" cy="247650"/>
          </a:xfrm>
          <a:prstGeom prst="rect">
            <a:avLst/>
          </a:prstGeom>
          <a:noFill/>
          <a:ln>
            <a:noFill/>
          </a:ln>
        </p:spPr>
        <p:txBody>
          <a:bodyPr wrap="square" lIns="0" tIns="0" rIns="0" bIns="0" anchor="t"/>
          <a:lstStyle/>
          <a:p>
            <a:pPr algn="l">
              <a:buNone/>
            </a:pPr>
            <a:r>
              <a:rPr sz="1250" b="1">
                <a:solidFill>
                  <a:srgbClr val="17212B"/>
                </a:solidFill>
                <a:latin typeface="Arial"/>
                <a:ea typeface="Arial"/>
                <a:cs typeface="Arial"/>
              </a:rPr>
              <a:t>pgvector + MiniLM</a:t>
            </a:r>
            <a:endParaRPr sz="1250"/>
          </a:p>
        </p:txBody>
      </p:sp>
      <p:sp>
        <p:nvSpPr>
          <p:cNvPr id="71" name="Text 71">
            <a:extLst>
              <a:ext uri="{FF2B5EF4-FFF2-40B4-BE49-F238E27FC236}">
                <a16:creationId xmlns:a16="http://schemas.microsoft.com/office/drawing/2014/main" id="{1E4F617E-0392-4D4A-B5A9-582D92CAC6A8}"/>
              </a:ext>
            </a:extLst>
          </p:cNvPr>
          <p:cNvSpPr>
            <a:spLocks noGrp="1"/>
          </p:cNvSpPr>
          <p:nvPr/>
        </p:nvSpPr>
        <p:spPr>
          <a:xfrm>
            <a:off x="6819900" y="4286250"/>
            <a:ext cx="1428750" cy="342900"/>
          </a:xfrm>
          <a:prstGeom prst="rect">
            <a:avLst/>
          </a:prstGeom>
          <a:noFill/>
          <a:ln>
            <a:noFill/>
          </a:ln>
        </p:spPr>
        <p:txBody>
          <a:bodyPr wrap="square" lIns="0" tIns="0" rIns="0" bIns="0" anchor="t"/>
          <a:lstStyle/>
          <a:p>
            <a:pPr algn="l">
              <a:buNone/>
            </a:pPr>
            <a:r>
              <a:rPr sz="1050" b="0">
                <a:solidFill>
                  <a:srgbClr val="5D6873"/>
                </a:solidFill>
                <a:latin typeface="Arial"/>
                <a:ea typeface="Arial"/>
                <a:cs typeface="Arial"/>
              </a:rPr>
              <a:t>local semantic retrieval</a:t>
            </a:r>
            <a:endParaRPr sz="1050"/>
          </a:p>
          <a:p>
            <a:pPr algn="l">
              <a:buNone/>
            </a:pPr>
            <a:r>
              <a:rPr sz="1050" b="0">
                <a:solidFill>
                  <a:srgbClr val="5D6873"/>
                </a:solidFill>
                <a:latin typeface="Arial"/>
                <a:ea typeface="Arial"/>
                <a:cs typeface="Arial"/>
              </a:rPr>
              <a:t>with source metadata</a:t>
            </a:r>
            <a:endParaRPr sz="1050"/>
          </a:p>
        </p:txBody>
      </p:sp>
      <p:sp>
        <p:nvSpPr>
          <p:cNvPr id="72" name="Shape 72">
            <a:extLst>
              <a:ext uri="{FF2B5EF4-FFF2-40B4-BE49-F238E27FC236}">
                <a16:creationId xmlns:a16="http://schemas.microsoft.com/office/drawing/2014/main" id="{92FEFBE3-71E8-4F9D-B582-A299919919E2}"/>
              </a:ext>
            </a:extLst>
          </p:cNvPr>
          <p:cNvSpPr>
            <a:spLocks noGrp="1"/>
          </p:cNvSpPr>
          <p:nvPr/>
        </p:nvSpPr>
        <p:spPr>
          <a:xfrm>
            <a:off x="6248400" y="4933950"/>
            <a:ext cx="2152650" cy="438150"/>
          </a:xfrm>
          <a:prstGeom prst="roundRect">
            <a:avLst/>
          </a:prstGeom>
          <a:solidFill>
            <a:srgbClr val="EAF1F7"/>
          </a:solidFill>
          <a:ln w="12700">
            <a:solidFill>
              <a:srgbClr val="2A5B84"/>
            </a:solidFill>
          </a:ln>
        </p:spPr>
      </p:sp>
      <p:sp>
        <p:nvSpPr>
          <p:cNvPr id="73" name="Text 73">
            <a:extLst>
              <a:ext uri="{FF2B5EF4-FFF2-40B4-BE49-F238E27FC236}">
                <a16:creationId xmlns:a16="http://schemas.microsoft.com/office/drawing/2014/main" id="{40A4339E-E97E-4632-A3FC-FD46A18B9D69}"/>
              </a:ext>
            </a:extLst>
          </p:cNvPr>
          <p:cNvSpPr>
            <a:spLocks noGrp="1"/>
          </p:cNvSpPr>
          <p:nvPr/>
        </p:nvSpPr>
        <p:spPr>
          <a:xfrm>
            <a:off x="6400800" y="5010150"/>
            <a:ext cx="1847850" cy="266700"/>
          </a:xfrm>
          <a:prstGeom prst="rect">
            <a:avLst/>
          </a:prstGeom>
          <a:noFill/>
          <a:ln>
            <a:noFill/>
          </a:ln>
        </p:spPr>
        <p:txBody>
          <a:bodyPr wrap="square" lIns="0" tIns="0" rIns="0" bIns="0" anchor="ctr"/>
          <a:lstStyle/>
          <a:p>
            <a:pPr algn="ctr">
              <a:buNone/>
            </a:pPr>
            <a:r>
              <a:rPr sz="1100" b="1">
                <a:solidFill>
                  <a:srgbClr val="2A5B84"/>
                </a:solidFill>
                <a:latin typeface="Arial"/>
                <a:ea typeface="Arial"/>
                <a:cs typeface="Arial"/>
              </a:rPr>
              <a:t>PolicyEvidence + provenance</a:t>
            </a:r>
            <a:endParaRPr sz="1100"/>
          </a:p>
        </p:txBody>
      </p:sp>
      <p:sp>
        <p:nvSpPr>
          <p:cNvPr id="74" name="Shape 74">
            <a:extLst>
              <a:ext uri="{FF2B5EF4-FFF2-40B4-BE49-F238E27FC236}">
                <a16:creationId xmlns:a16="http://schemas.microsoft.com/office/drawing/2014/main" id="{7AEBAFF3-00CD-42B3-A512-61B9DE327F1E}"/>
              </a:ext>
            </a:extLst>
          </p:cNvPr>
          <p:cNvSpPr>
            <a:spLocks noGrp="1"/>
          </p:cNvSpPr>
          <p:nvPr/>
        </p:nvSpPr>
        <p:spPr>
          <a:xfrm>
            <a:off x="8667750" y="1695450"/>
            <a:ext cx="2971800" cy="400050"/>
          </a:xfrm>
          <a:prstGeom prst="roundRect">
            <a:avLst/>
          </a:prstGeom>
          <a:solidFill>
            <a:srgbClr val="FFF4E3"/>
          </a:solidFill>
          <a:ln w="19050">
            <a:solidFill>
              <a:srgbClr val="B46B13"/>
            </a:solidFill>
          </a:ln>
        </p:spPr>
      </p:sp>
      <p:sp>
        <p:nvSpPr>
          <p:cNvPr id="75" name="Text 75">
            <a:extLst>
              <a:ext uri="{FF2B5EF4-FFF2-40B4-BE49-F238E27FC236}">
                <a16:creationId xmlns:a16="http://schemas.microsoft.com/office/drawing/2014/main" id="{9CEE7BBF-3B18-44E6-84AC-EA0F69616368}"/>
              </a:ext>
            </a:extLst>
          </p:cNvPr>
          <p:cNvSpPr>
            <a:spLocks noGrp="1"/>
          </p:cNvSpPr>
          <p:nvPr/>
        </p:nvSpPr>
        <p:spPr>
          <a:xfrm>
            <a:off x="8839200" y="1771650"/>
            <a:ext cx="2628900" cy="247650"/>
          </a:xfrm>
          <a:prstGeom prst="rect">
            <a:avLst/>
          </a:prstGeom>
          <a:noFill/>
          <a:ln>
            <a:noFill/>
          </a:ln>
        </p:spPr>
        <p:txBody>
          <a:bodyPr wrap="square" lIns="0" tIns="0" rIns="0" bIns="0" anchor="t"/>
          <a:lstStyle/>
          <a:p>
            <a:pPr algn="l">
              <a:buNone/>
            </a:pPr>
            <a:r>
              <a:rPr sz="1400" b="1" spc="80">
                <a:solidFill>
                  <a:srgbClr val="B46B13"/>
                </a:solidFill>
                <a:latin typeface="Arial"/>
                <a:ea typeface="Arial"/>
                <a:cs typeface="Arial"/>
              </a:rPr>
              <a:t>STAGE 3 · SYNTHESIZE</a:t>
            </a:r>
            <a:endParaRPr sz="1400"/>
          </a:p>
        </p:txBody>
      </p:sp>
      <p:sp>
        <p:nvSpPr>
          <p:cNvPr id="76" name="Shape 76">
            <a:extLst>
              <a:ext uri="{FF2B5EF4-FFF2-40B4-BE49-F238E27FC236}">
                <a16:creationId xmlns:a16="http://schemas.microsoft.com/office/drawing/2014/main" id="{65957731-088D-4128-896A-FEA69FE764C7}"/>
              </a:ext>
            </a:extLst>
          </p:cNvPr>
          <p:cNvSpPr>
            <a:spLocks noGrp="1"/>
          </p:cNvSpPr>
          <p:nvPr/>
        </p:nvSpPr>
        <p:spPr>
          <a:xfrm>
            <a:off x="8801100" y="2247900"/>
            <a:ext cx="2705100" cy="495300"/>
          </a:xfrm>
          <a:prstGeom prst="roundRect">
            <a:avLst/>
          </a:prstGeom>
          <a:solidFill>
            <a:srgbClr val="FFFFFF"/>
          </a:solidFill>
          <a:ln w="25400">
            <a:solidFill>
              <a:srgbClr val="B46B13"/>
            </a:solidFill>
          </a:ln>
        </p:spPr>
      </p:sp>
      <p:pic>
        <p:nvPicPr>
          <p:cNvPr id="197" name="Picture 77"/>
          <p:cNvPicPr>
            <a:picLocks noChangeAspect="1"/>
          </p:cNvPicPr>
          <p:nvPr/>
        </p:nvPicPr>
        <p:blipFill>
          <a:blip r:embed="rId15"/>
          <a:stretch>
            <a:fillRect/>
          </a:stretch>
        </p:blipFill>
        <p:spPr>
          <a:xfrm>
            <a:off x="8934450" y="2352675"/>
            <a:ext cx="285750" cy="285750"/>
          </a:xfrm>
          <a:prstGeom prst="rect">
            <a:avLst/>
          </a:prstGeom>
          <a:ln>
            <a:noFill/>
          </a:ln>
        </p:spPr>
      </p:pic>
      <p:sp>
        <p:nvSpPr>
          <p:cNvPr id="78" name="Text 78">
            <a:extLst>
              <a:ext uri="{FF2B5EF4-FFF2-40B4-BE49-F238E27FC236}">
                <a16:creationId xmlns:a16="http://schemas.microsoft.com/office/drawing/2014/main" id="{C813A555-1BC9-4ED0-AB25-5E0C96E18E2E}"/>
              </a:ext>
            </a:extLst>
          </p:cNvPr>
          <p:cNvSpPr>
            <a:spLocks noGrp="1"/>
          </p:cNvSpPr>
          <p:nvPr/>
        </p:nvSpPr>
        <p:spPr>
          <a:xfrm>
            <a:off x="9353550" y="2314575"/>
            <a:ext cx="1981200" cy="342900"/>
          </a:xfrm>
          <a:prstGeom prst="rect">
            <a:avLst/>
          </a:prstGeom>
          <a:noFill/>
          <a:ln>
            <a:noFill/>
          </a:ln>
        </p:spPr>
        <p:txBody>
          <a:bodyPr wrap="square" lIns="0" tIns="0" rIns="0" bIns="0" anchor="ctr"/>
          <a:lstStyle/>
          <a:p>
            <a:pPr algn="l">
              <a:buNone/>
            </a:pPr>
            <a:r>
              <a:rPr sz="1700" b="1">
                <a:solidFill>
                  <a:srgbClr val="17212B"/>
                </a:solidFill>
                <a:latin typeface="Arial"/>
                <a:ea typeface="Arial"/>
                <a:cs typeface="Arial"/>
              </a:rPr>
              <a:t>AnalysisModelPort</a:t>
            </a:r>
            <a:endParaRPr sz="1700"/>
          </a:p>
        </p:txBody>
      </p:sp>
      <p:sp>
        <p:nvSpPr>
          <p:cNvPr id="79" name="Connector 79">
            <a:extLst>
              <a:ext uri="{FF2B5EF4-FFF2-40B4-BE49-F238E27FC236}">
                <a16:creationId xmlns:a16="http://schemas.microsoft.com/office/drawing/2014/main" id="{1B03EB29-9A29-41A0-B2C6-FCB5A84A793E}"/>
              </a:ext>
            </a:extLst>
          </p:cNvPr>
          <p:cNvSpPr>
            <a:spLocks noGrp="1"/>
          </p:cNvSpPr>
          <p:nvPr/>
        </p:nvSpPr>
        <p:spPr>
          <a:xfrm>
            <a:off x="10153650" y="2743200"/>
            <a:ext cx="0" cy="114300"/>
          </a:xfrm>
          <a:prstGeom prst="line">
            <a:avLst/>
          </a:prstGeom>
          <a:ln w="25400">
            <a:solidFill>
              <a:srgbClr val="B46B13"/>
            </a:solidFill>
          </a:ln>
        </p:spPr>
      </p:sp>
      <p:sp>
        <p:nvSpPr>
          <p:cNvPr id="80" name="Connector 80">
            <a:extLst>
              <a:ext uri="{FF2B5EF4-FFF2-40B4-BE49-F238E27FC236}">
                <a16:creationId xmlns:a16="http://schemas.microsoft.com/office/drawing/2014/main" id="{C48F8FA6-84C1-4B02-9928-8E65F299297F}"/>
              </a:ext>
            </a:extLst>
          </p:cNvPr>
          <p:cNvSpPr>
            <a:spLocks noGrp="1"/>
          </p:cNvSpPr>
          <p:nvPr/>
        </p:nvSpPr>
        <p:spPr>
          <a:xfrm flipH="1">
            <a:off x="8686800" y="2857500"/>
            <a:ext cx="1466850" cy="0"/>
          </a:xfrm>
          <a:prstGeom prst="line">
            <a:avLst/>
          </a:prstGeom>
          <a:ln w="25400">
            <a:solidFill>
              <a:srgbClr val="B46B13"/>
            </a:solidFill>
          </a:ln>
        </p:spPr>
      </p:sp>
      <p:sp>
        <p:nvSpPr>
          <p:cNvPr id="81" name="Connector 81">
            <a:extLst>
              <a:ext uri="{FF2B5EF4-FFF2-40B4-BE49-F238E27FC236}">
                <a16:creationId xmlns:a16="http://schemas.microsoft.com/office/drawing/2014/main" id="{7AFBCCC4-1297-4E12-A700-EFBA006ECBC7}"/>
              </a:ext>
            </a:extLst>
          </p:cNvPr>
          <p:cNvSpPr>
            <a:spLocks noGrp="1"/>
          </p:cNvSpPr>
          <p:nvPr/>
        </p:nvSpPr>
        <p:spPr>
          <a:xfrm>
            <a:off x="8686800" y="2857500"/>
            <a:ext cx="0" cy="2000250"/>
          </a:xfrm>
          <a:prstGeom prst="line">
            <a:avLst/>
          </a:prstGeom>
          <a:ln w="25400">
            <a:solidFill>
              <a:srgbClr val="B46B13"/>
            </a:solidFill>
          </a:ln>
        </p:spPr>
      </p:sp>
      <p:sp>
        <p:nvSpPr>
          <p:cNvPr id="82" name="Connector 82">
            <a:extLst>
              <a:ext uri="{FF2B5EF4-FFF2-40B4-BE49-F238E27FC236}">
                <a16:creationId xmlns:a16="http://schemas.microsoft.com/office/drawing/2014/main" id="{46E25181-C562-4E2F-BF97-0BD460BB9090}"/>
              </a:ext>
            </a:extLst>
          </p:cNvPr>
          <p:cNvSpPr>
            <a:spLocks noGrp="1"/>
          </p:cNvSpPr>
          <p:nvPr/>
        </p:nvSpPr>
        <p:spPr>
          <a:xfrm>
            <a:off x="8686800" y="3295650"/>
            <a:ext cx="114300" cy="0"/>
          </a:xfrm>
          <a:prstGeom prst="line">
            <a:avLst/>
          </a:prstGeom>
          <a:ln w="25400">
            <a:solidFill>
              <a:srgbClr val="B46B13"/>
            </a:solidFill>
          </a:ln>
        </p:spPr>
      </p:sp>
      <p:sp>
        <p:nvSpPr>
          <p:cNvPr id="83" name="Connector 83">
            <a:extLst>
              <a:ext uri="{FF2B5EF4-FFF2-40B4-BE49-F238E27FC236}">
                <a16:creationId xmlns:a16="http://schemas.microsoft.com/office/drawing/2014/main" id="{AEEEF25F-AD1A-4BA3-9731-9B8DEBCA52CD}"/>
              </a:ext>
            </a:extLst>
          </p:cNvPr>
          <p:cNvSpPr>
            <a:spLocks noGrp="1"/>
          </p:cNvSpPr>
          <p:nvPr/>
        </p:nvSpPr>
        <p:spPr>
          <a:xfrm>
            <a:off x="8686800" y="4076700"/>
            <a:ext cx="114300" cy="0"/>
          </a:xfrm>
          <a:prstGeom prst="line">
            <a:avLst/>
          </a:prstGeom>
          <a:ln w="25400">
            <a:solidFill>
              <a:srgbClr val="B46B13"/>
            </a:solidFill>
          </a:ln>
        </p:spPr>
      </p:sp>
      <p:sp>
        <p:nvSpPr>
          <p:cNvPr id="84" name="Connector 84">
            <a:extLst>
              <a:ext uri="{FF2B5EF4-FFF2-40B4-BE49-F238E27FC236}">
                <a16:creationId xmlns:a16="http://schemas.microsoft.com/office/drawing/2014/main" id="{72A8E7B6-D2BF-4524-91E9-94D02016A6D3}"/>
              </a:ext>
            </a:extLst>
          </p:cNvPr>
          <p:cNvSpPr>
            <a:spLocks noGrp="1"/>
          </p:cNvSpPr>
          <p:nvPr/>
        </p:nvSpPr>
        <p:spPr>
          <a:xfrm>
            <a:off x="8686800" y="4857750"/>
            <a:ext cx="114300" cy="0"/>
          </a:xfrm>
          <a:prstGeom prst="line">
            <a:avLst/>
          </a:prstGeom>
          <a:ln w="25400">
            <a:solidFill>
              <a:srgbClr val="B46B13"/>
            </a:solidFill>
          </a:ln>
        </p:spPr>
      </p:sp>
      <p:sp>
        <p:nvSpPr>
          <p:cNvPr id="85" name="Shape 85">
            <a:extLst>
              <a:ext uri="{FF2B5EF4-FFF2-40B4-BE49-F238E27FC236}">
                <a16:creationId xmlns:a16="http://schemas.microsoft.com/office/drawing/2014/main" id="{249475A5-5F66-4908-9B5A-9A97A5AABCA3}"/>
              </a:ext>
            </a:extLst>
          </p:cNvPr>
          <p:cNvSpPr>
            <a:spLocks noGrp="1"/>
          </p:cNvSpPr>
          <p:nvPr/>
        </p:nvSpPr>
        <p:spPr>
          <a:xfrm>
            <a:off x="8801100" y="2971800"/>
            <a:ext cx="2705100" cy="647700"/>
          </a:xfrm>
          <a:prstGeom prst="roundRect">
            <a:avLst/>
          </a:prstGeom>
          <a:solidFill>
            <a:srgbClr val="FFFFFF"/>
          </a:solidFill>
          <a:ln w="19050">
            <a:solidFill>
              <a:srgbClr val="1F7A5A"/>
            </a:solidFill>
          </a:ln>
        </p:spPr>
      </p:sp>
      <p:pic>
        <p:nvPicPr>
          <p:cNvPr id="206" name="Picture 86"/>
          <p:cNvPicPr>
            <a:picLocks noChangeAspect="1"/>
          </p:cNvPicPr>
          <p:nvPr/>
        </p:nvPicPr>
        <p:blipFill>
          <a:blip r:embed="rId16"/>
          <a:stretch>
            <a:fillRect/>
          </a:stretch>
        </p:blipFill>
        <p:spPr>
          <a:xfrm>
            <a:off x="8953500" y="3143250"/>
            <a:ext cx="285750" cy="285750"/>
          </a:xfrm>
          <a:prstGeom prst="rect">
            <a:avLst/>
          </a:prstGeom>
          <a:ln>
            <a:noFill/>
          </a:ln>
        </p:spPr>
      </p:pic>
      <p:sp>
        <p:nvSpPr>
          <p:cNvPr id="87" name="Shape 87">
            <a:extLst>
              <a:ext uri="{FF2B5EF4-FFF2-40B4-BE49-F238E27FC236}">
                <a16:creationId xmlns:a16="http://schemas.microsoft.com/office/drawing/2014/main" id="{A31268A7-2A7C-438D-BB13-0F38F4E1D2AB}"/>
              </a:ext>
            </a:extLst>
          </p:cNvPr>
          <p:cNvSpPr>
            <a:spLocks noGrp="1"/>
          </p:cNvSpPr>
          <p:nvPr/>
        </p:nvSpPr>
        <p:spPr>
          <a:xfrm>
            <a:off x="11258550" y="3067050"/>
            <a:ext cx="95250" cy="95250"/>
          </a:xfrm>
          <a:prstGeom prst="ellipse">
            <a:avLst/>
          </a:prstGeom>
          <a:solidFill>
            <a:srgbClr val="1F7A5A"/>
          </a:solidFill>
          <a:ln w="12700">
            <a:solidFill>
              <a:srgbClr val="1F7A5A"/>
            </a:solidFill>
          </a:ln>
        </p:spPr>
      </p:sp>
      <p:sp>
        <p:nvSpPr>
          <p:cNvPr id="88" name="Text 88">
            <a:extLst>
              <a:ext uri="{FF2B5EF4-FFF2-40B4-BE49-F238E27FC236}">
                <a16:creationId xmlns:a16="http://schemas.microsoft.com/office/drawing/2014/main" id="{D19238A1-0A81-46AD-9117-E65C6BC81D45}"/>
              </a:ext>
            </a:extLst>
          </p:cNvPr>
          <p:cNvSpPr>
            <a:spLocks noGrp="1"/>
          </p:cNvSpPr>
          <p:nvPr/>
        </p:nvSpPr>
        <p:spPr>
          <a:xfrm>
            <a:off x="9372600" y="3048000"/>
            <a:ext cx="1733550" cy="228600"/>
          </a:xfrm>
          <a:prstGeom prst="rect">
            <a:avLst/>
          </a:prstGeom>
          <a:noFill/>
          <a:ln>
            <a:noFill/>
          </a:ln>
        </p:spPr>
        <p:txBody>
          <a:bodyPr wrap="square" lIns="0" tIns="0" rIns="0" bIns="0" anchor="t"/>
          <a:lstStyle/>
          <a:p>
            <a:pPr algn="l">
              <a:buNone/>
            </a:pPr>
            <a:r>
              <a:rPr sz="1400" b="1">
                <a:solidFill>
                  <a:srgbClr val="17212B"/>
                </a:solidFill>
                <a:latin typeface="Arial"/>
                <a:ea typeface="Arial"/>
                <a:cs typeface="Arial"/>
              </a:rPr>
              <a:t>Deterministic</a:t>
            </a:r>
            <a:endParaRPr sz="1400"/>
          </a:p>
        </p:txBody>
      </p:sp>
      <p:sp>
        <p:nvSpPr>
          <p:cNvPr id="89" name="Text 89">
            <a:extLst>
              <a:ext uri="{FF2B5EF4-FFF2-40B4-BE49-F238E27FC236}">
                <a16:creationId xmlns:a16="http://schemas.microsoft.com/office/drawing/2014/main" id="{D3AB1D20-B39B-4AA7-AD7F-CD499C20F737}"/>
              </a:ext>
            </a:extLst>
          </p:cNvPr>
          <p:cNvSpPr>
            <a:spLocks noGrp="1"/>
          </p:cNvSpPr>
          <p:nvPr/>
        </p:nvSpPr>
        <p:spPr>
          <a:xfrm>
            <a:off x="9372600" y="3295650"/>
            <a:ext cx="1885950" cy="209550"/>
          </a:xfrm>
          <a:prstGeom prst="rect">
            <a:avLst/>
          </a:prstGeom>
          <a:noFill/>
          <a:ln>
            <a:noFill/>
          </a:ln>
        </p:spPr>
        <p:txBody>
          <a:bodyPr wrap="square" lIns="0" tIns="0" rIns="0" bIns="0" anchor="t"/>
          <a:lstStyle/>
          <a:p>
            <a:pPr algn="l">
              <a:buNone/>
            </a:pPr>
            <a:r>
              <a:rPr sz="1100" b="0">
                <a:solidFill>
                  <a:srgbClr val="5D6873"/>
                </a:solidFill>
                <a:latin typeface="Arial"/>
                <a:ea typeface="Arial"/>
                <a:cs typeface="Arial"/>
              </a:rPr>
              <a:t>offline acceptance baseline</a:t>
            </a:r>
            <a:endParaRPr sz="1100"/>
          </a:p>
        </p:txBody>
      </p:sp>
      <p:sp>
        <p:nvSpPr>
          <p:cNvPr id="90" name="Shape 90">
            <a:extLst>
              <a:ext uri="{FF2B5EF4-FFF2-40B4-BE49-F238E27FC236}">
                <a16:creationId xmlns:a16="http://schemas.microsoft.com/office/drawing/2014/main" id="{D3ABDCA3-D75F-4212-83BA-C3AABF09D7C7}"/>
              </a:ext>
            </a:extLst>
          </p:cNvPr>
          <p:cNvSpPr>
            <a:spLocks noGrp="1"/>
          </p:cNvSpPr>
          <p:nvPr/>
        </p:nvSpPr>
        <p:spPr>
          <a:xfrm>
            <a:off x="8801100" y="3752850"/>
            <a:ext cx="2705100" cy="647700"/>
          </a:xfrm>
          <a:prstGeom prst="roundRect">
            <a:avLst/>
          </a:prstGeom>
          <a:solidFill>
            <a:srgbClr val="FFFFFF"/>
          </a:solidFill>
          <a:ln w="19050">
            <a:solidFill>
              <a:srgbClr val="1F7A5A"/>
            </a:solidFill>
          </a:ln>
        </p:spPr>
      </p:sp>
      <p:pic>
        <p:nvPicPr>
          <p:cNvPr id="211" name="Picture 91"/>
          <p:cNvPicPr>
            <a:picLocks noChangeAspect="1"/>
          </p:cNvPicPr>
          <p:nvPr/>
        </p:nvPicPr>
        <p:blipFill>
          <a:blip r:embed="rId17"/>
          <a:stretch>
            <a:fillRect/>
          </a:stretch>
        </p:blipFill>
        <p:spPr>
          <a:xfrm>
            <a:off x="8953500" y="3924300"/>
            <a:ext cx="285750" cy="285750"/>
          </a:xfrm>
          <a:prstGeom prst="rect">
            <a:avLst/>
          </a:prstGeom>
          <a:ln>
            <a:noFill/>
          </a:ln>
        </p:spPr>
      </p:pic>
      <p:sp>
        <p:nvSpPr>
          <p:cNvPr id="92" name="Shape 92">
            <a:extLst>
              <a:ext uri="{FF2B5EF4-FFF2-40B4-BE49-F238E27FC236}">
                <a16:creationId xmlns:a16="http://schemas.microsoft.com/office/drawing/2014/main" id="{DA78493F-D59B-41DC-B2D0-C54E6F31AC3B}"/>
              </a:ext>
            </a:extLst>
          </p:cNvPr>
          <p:cNvSpPr>
            <a:spLocks noGrp="1"/>
          </p:cNvSpPr>
          <p:nvPr/>
        </p:nvSpPr>
        <p:spPr>
          <a:xfrm>
            <a:off x="11258550" y="3848100"/>
            <a:ext cx="95250" cy="95250"/>
          </a:xfrm>
          <a:prstGeom prst="ellipse">
            <a:avLst/>
          </a:prstGeom>
          <a:solidFill>
            <a:srgbClr val="1F7A5A"/>
          </a:solidFill>
          <a:ln w="12700">
            <a:solidFill>
              <a:srgbClr val="1F7A5A"/>
            </a:solidFill>
          </a:ln>
        </p:spPr>
      </p:sp>
      <p:sp>
        <p:nvSpPr>
          <p:cNvPr id="93" name="Text 93">
            <a:extLst>
              <a:ext uri="{FF2B5EF4-FFF2-40B4-BE49-F238E27FC236}">
                <a16:creationId xmlns:a16="http://schemas.microsoft.com/office/drawing/2014/main" id="{D20D672E-FC46-4309-8991-46BE469A5C84}"/>
              </a:ext>
            </a:extLst>
          </p:cNvPr>
          <p:cNvSpPr>
            <a:spLocks noGrp="1"/>
          </p:cNvSpPr>
          <p:nvPr/>
        </p:nvSpPr>
        <p:spPr>
          <a:xfrm>
            <a:off x="9372600" y="3829050"/>
            <a:ext cx="1733550" cy="228600"/>
          </a:xfrm>
          <a:prstGeom prst="rect">
            <a:avLst/>
          </a:prstGeom>
          <a:noFill/>
          <a:ln>
            <a:noFill/>
          </a:ln>
        </p:spPr>
        <p:txBody>
          <a:bodyPr wrap="square" lIns="0" tIns="0" rIns="0" bIns="0" anchor="t"/>
          <a:lstStyle/>
          <a:p>
            <a:pPr algn="l">
              <a:buNone/>
            </a:pPr>
            <a:r>
              <a:rPr sz="1400" b="1">
                <a:solidFill>
                  <a:srgbClr val="17212B"/>
                </a:solidFill>
                <a:latin typeface="Arial"/>
                <a:ea typeface="Arial"/>
                <a:cs typeface="Arial"/>
                <a:hlinkClick r:id="rId18"/>
              </a:rPr>
              <a:t>OpenAI</a:t>
            </a:r>
            <a:endParaRPr sz="1400"/>
          </a:p>
        </p:txBody>
      </p:sp>
      <p:sp>
        <p:nvSpPr>
          <p:cNvPr id="94" name="Text 94">
            <a:extLst>
              <a:ext uri="{FF2B5EF4-FFF2-40B4-BE49-F238E27FC236}">
                <a16:creationId xmlns:a16="http://schemas.microsoft.com/office/drawing/2014/main" id="{7CC335E5-A85D-4ED2-A118-2F8D2A2C83ED}"/>
              </a:ext>
            </a:extLst>
          </p:cNvPr>
          <p:cNvSpPr>
            <a:spLocks noGrp="1"/>
          </p:cNvSpPr>
          <p:nvPr/>
        </p:nvSpPr>
        <p:spPr>
          <a:xfrm>
            <a:off x="9372600" y="4076700"/>
            <a:ext cx="1885950" cy="209550"/>
          </a:xfrm>
          <a:prstGeom prst="rect">
            <a:avLst/>
          </a:prstGeom>
          <a:noFill/>
          <a:ln>
            <a:noFill/>
          </a:ln>
        </p:spPr>
        <p:txBody>
          <a:bodyPr wrap="square" lIns="0" tIns="0" rIns="0" bIns="0" anchor="t"/>
          <a:lstStyle/>
          <a:p>
            <a:pPr algn="l">
              <a:buNone/>
            </a:pPr>
            <a:r>
              <a:rPr sz="1100" b="0">
                <a:solidFill>
                  <a:srgbClr val="5D6873"/>
                </a:solidFill>
                <a:latin typeface="Arial"/>
                <a:ea typeface="Arial"/>
                <a:cs typeface="Arial"/>
              </a:rPr>
              <a:t>explicit external opt-in</a:t>
            </a:r>
            <a:endParaRPr sz="1100"/>
          </a:p>
        </p:txBody>
      </p:sp>
      <p:sp>
        <p:nvSpPr>
          <p:cNvPr id="95" name="Shape 95">
            <a:extLst>
              <a:ext uri="{FF2B5EF4-FFF2-40B4-BE49-F238E27FC236}">
                <a16:creationId xmlns:a16="http://schemas.microsoft.com/office/drawing/2014/main" id="{E53676D8-03B5-4BCC-95EF-23CF9FCEEA0A}"/>
              </a:ext>
            </a:extLst>
          </p:cNvPr>
          <p:cNvSpPr>
            <a:spLocks noGrp="1"/>
          </p:cNvSpPr>
          <p:nvPr/>
        </p:nvSpPr>
        <p:spPr>
          <a:xfrm>
            <a:off x="8801100" y="4533900"/>
            <a:ext cx="2705100" cy="647700"/>
          </a:xfrm>
          <a:prstGeom prst="roundRect">
            <a:avLst/>
          </a:prstGeom>
          <a:solidFill>
            <a:srgbClr val="FFFFFF"/>
          </a:solidFill>
          <a:ln w="19050">
            <a:solidFill>
              <a:srgbClr val="B46B13"/>
            </a:solidFill>
          </a:ln>
        </p:spPr>
      </p:sp>
      <p:pic>
        <p:nvPicPr>
          <p:cNvPr id="216" name="Picture 96"/>
          <p:cNvPicPr>
            <a:picLocks noChangeAspect="1"/>
          </p:cNvPicPr>
          <p:nvPr/>
        </p:nvPicPr>
        <p:blipFill>
          <a:blip r:embed="rId19"/>
          <a:stretch>
            <a:fillRect/>
          </a:stretch>
        </p:blipFill>
        <p:spPr>
          <a:xfrm>
            <a:off x="8953500" y="4705350"/>
            <a:ext cx="285750" cy="285750"/>
          </a:xfrm>
          <a:prstGeom prst="rect">
            <a:avLst/>
          </a:prstGeom>
          <a:ln>
            <a:noFill/>
          </a:ln>
        </p:spPr>
      </p:pic>
      <p:sp>
        <p:nvSpPr>
          <p:cNvPr id="97" name="Shape 97">
            <a:extLst>
              <a:ext uri="{FF2B5EF4-FFF2-40B4-BE49-F238E27FC236}">
                <a16:creationId xmlns:a16="http://schemas.microsoft.com/office/drawing/2014/main" id="{B50A0ED2-A17C-4A0E-B89D-40448CB2630B}"/>
              </a:ext>
            </a:extLst>
          </p:cNvPr>
          <p:cNvSpPr>
            <a:spLocks noGrp="1"/>
          </p:cNvSpPr>
          <p:nvPr/>
        </p:nvSpPr>
        <p:spPr>
          <a:xfrm>
            <a:off x="11258550" y="4629150"/>
            <a:ext cx="95250" cy="95250"/>
          </a:xfrm>
          <a:prstGeom prst="ellipse">
            <a:avLst/>
          </a:prstGeom>
          <a:solidFill>
            <a:srgbClr val="B46B13"/>
          </a:solidFill>
          <a:ln w="12700">
            <a:solidFill>
              <a:srgbClr val="B46B13"/>
            </a:solidFill>
          </a:ln>
        </p:spPr>
      </p:sp>
      <p:sp>
        <p:nvSpPr>
          <p:cNvPr id="98" name="Text 98">
            <a:extLst>
              <a:ext uri="{FF2B5EF4-FFF2-40B4-BE49-F238E27FC236}">
                <a16:creationId xmlns:a16="http://schemas.microsoft.com/office/drawing/2014/main" id="{95400B37-D8C0-4EDC-AC96-7808DBFBEA2B}"/>
              </a:ext>
            </a:extLst>
          </p:cNvPr>
          <p:cNvSpPr>
            <a:spLocks noGrp="1"/>
          </p:cNvSpPr>
          <p:nvPr/>
        </p:nvSpPr>
        <p:spPr>
          <a:xfrm>
            <a:off x="9372600" y="4610100"/>
            <a:ext cx="1733550" cy="228600"/>
          </a:xfrm>
          <a:prstGeom prst="rect">
            <a:avLst/>
          </a:prstGeom>
          <a:noFill/>
          <a:ln>
            <a:noFill/>
          </a:ln>
        </p:spPr>
        <p:txBody>
          <a:bodyPr wrap="square" lIns="0" tIns="0" rIns="0" bIns="0" anchor="t"/>
          <a:lstStyle/>
          <a:p>
            <a:pPr algn="l">
              <a:buNone/>
            </a:pPr>
            <a:r>
              <a:rPr sz="1400" b="1">
                <a:solidFill>
                  <a:srgbClr val="17212B"/>
                </a:solidFill>
                <a:latin typeface="Arial"/>
                <a:ea typeface="Arial"/>
                <a:cs typeface="Arial"/>
                <a:hlinkClick r:id="rId20"/>
              </a:rPr>
              <a:t>Local / LM Studio</a:t>
            </a:r>
            <a:endParaRPr sz="1400"/>
          </a:p>
        </p:txBody>
      </p:sp>
      <p:sp>
        <p:nvSpPr>
          <p:cNvPr id="99" name="Text 99">
            <a:extLst>
              <a:ext uri="{FF2B5EF4-FFF2-40B4-BE49-F238E27FC236}">
                <a16:creationId xmlns:a16="http://schemas.microsoft.com/office/drawing/2014/main" id="{117DAA42-BE0B-4A57-884F-4D8F1BD9D749}"/>
              </a:ext>
            </a:extLst>
          </p:cNvPr>
          <p:cNvSpPr>
            <a:spLocks noGrp="1"/>
          </p:cNvSpPr>
          <p:nvPr/>
        </p:nvSpPr>
        <p:spPr>
          <a:xfrm>
            <a:off x="9372600" y="4857750"/>
            <a:ext cx="1885950" cy="209550"/>
          </a:xfrm>
          <a:prstGeom prst="rect">
            <a:avLst/>
          </a:prstGeom>
          <a:noFill/>
          <a:ln>
            <a:noFill/>
          </a:ln>
        </p:spPr>
        <p:txBody>
          <a:bodyPr wrap="square" lIns="0" tIns="0" rIns="0" bIns="0" anchor="t"/>
          <a:lstStyle/>
          <a:p>
            <a:pPr algn="l">
              <a:buNone/>
            </a:pPr>
            <a:r>
              <a:rPr sz="1100" b="0">
                <a:solidFill>
                  <a:srgbClr val="5D6873"/>
                </a:solidFill>
                <a:latin typeface="Arial"/>
                <a:ea typeface="Arial"/>
                <a:cs typeface="Arial"/>
              </a:rPr>
              <a:t>delivered private option</a:t>
            </a:r>
            <a:endParaRPr sz="1100"/>
          </a:p>
        </p:txBody>
      </p:sp>
      <p:sp>
        <p:nvSpPr>
          <p:cNvPr id="100" name="Shape 100">
            <a:extLst>
              <a:ext uri="{FF2B5EF4-FFF2-40B4-BE49-F238E27FC236}">
                <a16:creationId xmlns:a16="http://schemas.microsoft.com/office/drawing/2014/main" id="{75DD695B-6387-4421-AEAB-EBDEF2983BC2}"/>
              </a:ext>
            </a:extLst>
          </p:cNvPr>
          <p:cNvSpPr>
            <a:spLocks noGrp="1"/>
          </p:cNvSpPr>
          <p:nvPr/>
        </p:nvSpPr>
        <p:spPr>
          <a:xfrm>
            <a:off x="8801100" y="5314950"/>
            <a:ext cx="2705100" cy="361950"/>
          </a:xfrm>
          <a:prstGeom prst="roundRect">
            <a:avLst/>
          </a:prstGeom>
          <a:solidFill>
            <a:srgbClr val="FFF4E3"/>
          </a:solidFill>
          <a:ln w="19050">
            <a:solidFill>
              <a:srgbClr val="B46B13"/>
            </a:solidFill>
          </a:ln>
        </p:spPr>
      </p:sp>
      <p:sp>
        <p:nvSpPr>
          <p:cNvPr id="101" name="Shape 101">
            <a:extLst>
              <a:ext uri="{FF2B5EF4-FFF2-40B4-BE49-F238E27FC236}">
                <a16:creationId xmlns:a16="http://schemas.microsoft.com/office/drawing/2014/main" id="{636666D7-182A-49AC-9160-9A36DEFA0074}"/>
              </a:ext>
            </a:extLst>
          </p:cNvPr>
          <p:cNvSpPr>
            <a:spLocks noGrp="1"/>
          </p:cNvSpPr>
          <p:nvPr/>
        </p:nvSpPr>
        <p:spPr>
          <a:xfrm>
            <a:off x="8953500" y="5448300"/>
            <a:ext cx="95250" cy="95250"/>
          </a:xfrm>
          <a:prstGeom prst="ellipse">
            <a:avLst/>
          </a:prstGeom>
          <a:solidFill>
            <a:srgbClr val="B46B13"/>
          </a:solidFill>
          <a:ln w="12700">
            <a:solidFill>
              <a:srgbClr val="B46B13"/>
            </a:solidFill>
          </a:ln>
        </p:spPr>
      </p:sp>
      <p:sp>
        <p:nvSpPr>
          <p:cNvPr id="102" name="Text 102">
            <a:extLst>
              <a:ext uri="{FF2B5EF4-FFF2-40B4-BE49-F238E27FC236}">
                <a16:creationId xmlns:a16="http://schemas.microsoft.com/office/drawing/2014/main" id="{66DB6E91-FB8B-4F4B-B136-C1340AEABC50}"/>
              </a:ext>
            </a:extLst>
          </p:cNvPr>
          <p:cNvSpPr>
            <a:spLocks noGrp="1"/>
          </p:cNvSpPr>
          <p:nvPr/>
        </p:nvSpPr>
        <p:spPr>
          <a:xfrm>
            <a:off x="9124950" y="5381625"/>
            <a:ext cx="2209800" cy="228600"/>
          </a:xfrm>
          <a:prstGeom prst="rect">
            <a:avLst/>
          </a:prstGeom>
          <a:noFill/>
          <a:ln>
            <a:noFill/>
          </a:ln>
        </p:spPr>
        <p:txBody>
          <a:bodyPr wrap="square" lIns="0" tIns="0" rIns="0" bIns="0" anchor="ctr"/>
          <a:lstStyle/>
          <a:p>
            <a:pPr algn="l">
              <a:buNone/>
            </a:pPr>
            <a:r>
              <a:rPr sz="1000" b="1">
                <a:solidFill>
                  <a:srgbClr val="B46B13"/>
                </a:solidFill>
                <a:latin typeface="Arial"/>
                <a:ea typeface="Arial"/>
                <a:cs typeface="Arial"/>
                <a:hlinkClick r:id="rId21"/>
              </a:rPr>
              <a:t>Typed selector · delivered</a:t>
            </a:r>
            <a:endParaRPr sz="1000"/>
          </a:p>
        </p:txBody>
      </p:sp>
      <p:sp>
        <p:nvSpPr>
          <p:cNvPr id="103" name="Shape 103">
            <a:extLst>
              <a:ext uri="{FF2B5EF4-FFF2-40B4-BE49-F238E27FC236}">
                <a16:creationId xmlns:a16="http://schemas.microsoft.com/office/drawing/2014/main" id="{035F2123-1557-47F4-9844-CEE731A33EE2}"/>
              </a:ext>
            </a:extLst>
          </p:cNvPr>
          <p:cNvSpPr>
            <a:spLocks noGrp="1"/>
          </p:cNvSpPr>
          <p:nvPr/>
        </p:nvSpPr>
        <p:spPr>
          <a:xfrm>
            <a:off x="685800" y="5867400"/>
            <a:ext cx="10820400" cy="361950"/>
          </a:xfrm>
          <a:prstGeom prst="roundRect">
            <a:avLst/>
          </a:prstGeom>
          <a:solidFill>
            <a:srgbClr val="17212B"/>
          </a:solidFill>
          <a:ln w="12700">
            <a:solidFill>
              <a:srgbClr val="17212B"/>
            </a:solidFill>
          </a:ln>
        </p:spPr>
      </p:sp>
      <p:sp>
        <p:nvSpPr>
          <p:cNvPr id="104" name="Text 104">
            <a:extLst>
              <a:ext uri="{FF2B5EF4-FFF2-40B4-BE49-F238E27FC236}">
                <a16:creationId xmlns:a16="http://schemas.microsoft.com/office/drawing/2014/main" id="{2EFB5C2F-C067-4E7B-B8F9-514D0431968A}"/>
              </a:ext>
            </a:extLst>
          </p:cNvPr>
          <p:cNvSpPr>
            <a:spLocks noGrp="1"/>
          </p:cNvSpPr>
          <p:nvPr/>
        </p:nvSpPr>
        <p:spPr>
          <a:xfrm>
            <a:off x="895350" y="5934075"/>
            <a:ext cx="10401300" cy="228600"/>
          </a:xfrm>
          <a:prstGeom prst="rect">
            <a:avLst/>
          </a:prstGeom>
          <a:noFill/>
          <a:ln>
            <a:noFill/>
          </a:ln>
        </p:spPr>
        <p:txBody>
          <a:bodyPr wrap="square" lIns="0" tIns="0" rIns="0" bIns="0" anchor="ctr"/>
          <a:lstStyle/>
          <a:p>
            <a:pPr algn="ctr">
              <a:buNone/>
            </a:pPr>
            <a:r>
              <a:rPr sz="1300" b="1">
                <a:solidFill>
                  <a:srgbClr val="FFFFFF"/>
                </a:solidFill>
                <a:latin typeface="Arial"/>
                <a:ea typeface="Arial"/>
                <a:cs typeface="Arial"/>
              </a:rPr>
              <a:t>One AnalysisService · bounded evidence · provider-neutral result · unchanged operator contract</a:t>
            </a:r>
            <a:endParaRPr sz="1300"/>
          </a:p>
        </p:txBody>
      </p:sp>
      <p:sp>
        <p:nvSpPr>
          <p:cNvPr id="105" name="Connector 105">
            <a:extLst>
              <a:ext uri="{FF2B5EF4-FFF2-40B4-BE49-F238E27FC236}">
                <a16:creationId xmlns:a16="http://schemas.microsoft.com/office/drawing/2014/main" id="{76016CB6-9CDF-4691-8D88-1245020457CD}"/>
              </a:ext>
            </a:extLst>
          </p:cNvPr>
          <p:cNvSpPr>
            <a:spLocks noGrp="1"/>
          </p:cNvSpPr>
          <p:nvPr/>
        </p:nvSpPr>
        <p:spPr>
          <a:xfrm>
            <a:off x="552450" y="6419850"/>
            <a:ext cx="11087100" cy="0"/>
          </a:xfrm>
          <a:prstGeom prst="line">
            <a:avLst/>
          </a:prstGeom>
          <a:ln w="12700">
            <a:solidFill>
              <a:srgbClr val="D9DEE3"/>
            </a:solidFill>
          </a:ln>
        </p:spPr>
      </p:sp>
      <p:sp>
        <p:nvSpPr>
          <p:cNvPr id="106" name="Text 106">
            <a:extLst>
              <a:ext uri="{FF2B5EF4-FFF2-40B4-BE49-F238E27FC236}">
                <a16:creationId xmlns:a16="http://schemas.microsoft.com/office/drawing/2014/main" id="{49FF3632-CC65-4A84-9881-2F514A9024D2}"/>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107" name="Text 107">
            <a:extLst>
              <a:ext uri="{FF2B5EF4-FFF2-40B4-BE49-F238E27FC236}">
                <a16:creationId xmlns:a16="http://schemas.microsoft.com/office/drawing/2014/main" id="{DCF53E6F-8F21-497C-A5E2-F072B7ED88D2}"/>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6</a:t>
            </a:r>
            <a:endParaRPr sz="1000"/>
          </a:p>
        </p:txBody>
      </p:sp>
    </p:spTree>
    <p:extLst>
      <p:ext uri="{BB962C8B-B14F-4D97-AF65-F5344CB8AC3E}">
        <p14:creationId xmlns:p14="http://schemas.microsoft.com/office/powerpoint/2010/main" val="929929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DA524659-C69B-47B1-BADF-CAB08B1CA582}"/>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HEXAGONAL SUBSTITUTION MAP</a:t>
            </a:r>
            <a:endParaRPr sz="1100"/>
          </a:p>
        </p:txBody>
      </p:sp>
      <p:sp>
        <p:nvSpPr>
          <p:cNvPr id="3" name="Text 3">
            <a:extLst>
              <a:ext uri="{FF2B5EF4-FFF2-40B4-BE49-F238E27FC236}">
                <a16:creationId xmlns:a16="http://schemas.microsoft.com/office/drawing/2014/main" id="{9D93429D-9B1C-49C8-9C18-2C3146E38C76}"/>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Stable ports let adapters evolve without moving application semantics</a:t>
            </a:r>
            <a:endParaRPr sz="3000"/>
          </a:p>
        </p:txBody>
      </p:sp>
      <p:sp>
        <p:nvSpPr>
          <p:cNvPr id="4" name="Shape 4">
            <a:extLst>
              <a:ext uri="{FF2B5EF4-FFF2-40B4-BE49-F238E27FC236}">
                <a16:creationId xmlns:a16="http://schemas.microsoft.com/office/drawing/2014/main" id="{C8F5336A-9C0B-435A-82D4-BF3FC2211A52}"/>
              </a:ext>
            </a:extLst>
          </p:cNvPr>
          <p:cNvSpPr>
            <a:spLocks noGrp="1"/>
          </p:cNvSpPr>
          <p:nvPr/>
        </p:nvSpPr>
        <p:spPr>
          <a:xfrm>
            <a:off x="838200" y="1657350"/>
            <a:ext cx="10515600" cy="1619250"/>
          </a:xfrm>
          <a:prstGeom prst="roundRect">
            <a:avLst/>
          </a:prstGeom>
          <a:solidFill>
            <a:srgbClr val="17212B"/>
          </a:solidFill>
          <a:ln w="12700">
            <a:solidFill>
              <a:srgbClr val="17212B"/>
            </a:solidFill>
          </a:ln>
        </p:spPr>
      </p:sp>
      <p:sp>
        <p:nvSpPr>
          <p:cNvPr id="5" name="Text 5">
            <a:extLst>
              <a:ext uri="{FF2B5EF4-FFF2-40B4-BE49-F238E27FC236}">
                <a16:creationId xmlns:a16="http://schemas.microsoft.com/office/drawing/2014/main" id="{C6CEBFD8-6AAE-41DE-A794-37FABF39E1CC}"/>
              </a:ext>
            </a:extLst>
          </p:cNvPr>
          <p:cNvSpPr>
            <a:spLocks noGrp="1"/>
          </p:cNvSpPr>
          <p:nvPr/>
        </p:nvSpPr>
        <p:spPr>
          <a:xfrm>
            <a:off x="1143000" y="1866900"/>
            <a:ext cx="9906000" cy="285750"/>
          </a:xfrm>
          <a:prstGeom prst="rect">
            <a:avLst/>
          </a:prstGeom>
          <a:noFill/>
          <a:ln>
            <a:noFill/>
          </a:ln>
        </p:spPr>
        <p:txBody>
          <a:bodyPr wrap="square" lIns="0" tIns="0" rIns="0" bIns="0" anchor="t"/>
          <a:lstStyle/>
          <a:p>
            <a:pPr algn="ctr">
              <a:buNone/>
            </a:pPr>
            <a:r>
              <a:rPr sz="1500" b="1" spc="160">
                <a:solidFill>
                  <a:srgbClr val="FF8589"/>
                </a:solidFill>
                <a:latin typeface="Arial"/>
                <a:ea typeface="Arial"/>
                <a:cs typeface="Arial"/>
              </a:rPr>
              <a:t>APPLICATION CORE</a:t>
            </a:r>
            <a:endParaRPr sz="1500"/>
          </a:p>
        </p:txBody>
      </p:sp>
      <p:sp>
        <p:nvSpPr>
          <p:cNvPr id="6" name="Shape 6">
            <a:extLst>
              <a:ext uri="{FF2B5EF4-FFF2-40B4-BE49-F238E27FC236}">
                <a16:creationId xmlns:a16="http://schemas.microsoft.com/office/drawing/2014/main" id="{7E6DD102-1CFE-4835-927F-A3322BB6C052}"/>
              </a:ext>
            </a:extLst>
          </p:cNvPr>
          <p:cNvSpPr>
            <a:spLocks noGrp="1"/>
          </p:cNvSpPr>
          <p:nvPr/>
        </p:nvSpPr>
        <p:spPr>
          <a:xfrm>
            <a:off x="1238250" y="2343150"/>
            <a:ext cx="590550" cy="590550"/>
          </a:xfrm>
          <a:prstGeom prst="roundRect">
            <a:avLst/>
          </a:prstGeom>
          <a:solidFill>
            <a:srgbClr val="2B3742"/>
          </a:solidFill>
          <a:ln w="19050">
            <a:solidFill>
              <a:srgbClr val="FFFFFF"/>
            </a:solidFill>
          </a:ln>
        </p:spPr>
      </p:sp>
      <p:pic>
        <p:nvPicPr>
          <p:cNvPr id="73" name="Picture 7"/>
          <p:cNvPicPr>
            <a:picLocks noChangeAspect="1"/>
          </p:cNvPicPr>
          <p:nvPr/>
        </p:nvPicPr>
        <p:blipFill>
          <a:blip r:embed="rId3"/>
          <a:stretch>
            <a:fillRect/>
          </a:stretch>
        </p:blipFill>
        <p:spPr>
          <a:xfrm>
            <a:off x="1390650" y="2495550"/>
            <a:ext cx="285750" cy="285750"/>
          </a:xfrm>
          <a:prstGeom prst="rect">
            <a:avLst/>
          </a:prstGeom>
          <a:ln>
            <a:noFill/>
          </a:ln>
        </p:spPr>
      </p:pic>
      <p:sp>
        <p:nvSpPr>
          <p:cNvPr id="8" name="Text 8">
            <a:extLst>
              <a:ext uri="{FF2B5EF4-FFF2-40B4-BE49-F238E27FC236}">
                <a16:creationId xmlns:a16="http://schemas.microsoft.com/office/drawing/2014/main" id="{7626A2E8-F07B-4DA8-9B6A-E5D0CDC5941C}"/>
              </a:ext>
            </a:extLst>
          </p:cNvPr>
          <p:cNvSpPr>
            <a:spLocks noGrp="1"/>
          </p:cNvSpPr>
          <p:nvPr/>
        </p:nvSpPr>
        <p:spPr>
          <a:xfrm>
            <a:off x="2114550" y="2343150"/>
            <a:ext cx="8286750" cy="590550"/>
          </a:xfrm>
          <a:prstGeom prst="rect">
            <a:avLst/>
          </a:prstGeom>
          <a:noFill/>
          <a:ln>
            <a:noFill/>
          </a:ln>
        </p:spPr>
        <p:txBody>
          <a:bodyPr wrap="square" lIns="0" tIns="0" rIns="0" bIns="0" anchor="ctr"/>
          <a:lstStyle/>
          <a:p>
            <a:pPr algn="ctr">
              <a:buNone/>
            </a:pPr>
            <a:r>
              <a:rPr sz="2100" b="1">
                <a:solidFill>
                  <a:srgbClr val="FFFFFF"/>
                </a:solidFill>
                <a:latin typeface="Arial"/>
                <a:ea typeface="Arial"/>
                <a:cs typeface="Arial"/>
              </a:rPr>
              <a:t>Customer review and analysis use cases own the domain contracts, failure semantics and orchestration</a:t>
            </a:r>
            <a:endParaRPr sz="2100"/>
          </a:p>
        </p:txBody>
      </p:sp>
      <p:sp>
        <p:nvSpPr>
          <p:cNvPr id="9" name="Connector 9">
            <a:extLst>
              <a:ext uri="{FF2B5EF4-FFF2-40B4-BE49-F238E27FC236}">
                <a16:creationId xmlns:a16="http://schemas.microsoft.com/office/drawing/2014/main" id="{D259749F-E2C2-4AFF-88F0-9AA8A07572E5}"/>
              </a:ext>
            </a:extLst>
          </p:cNvPr>
          <p:cNvSpPr>
            <a:spLocks noGrp="1"/>
          </p:cNvSpPr>
          <p:nvPr/>
        </p:nvSpPr>
        <p:spPr>
          <a:xfrm>
            <a:off x="1400175" y="3276600"/>
            <a:ext cx="0" cy="685800"/>
          </a:xfrm>
          <a:prstGeom prst="line">
            <a:avLst/>
          </a:prstGeom>
          <a:ln w="25400">
            <a:solidFill>
              <a:srgbClr val="D9DEE3"/>
            </a:solidFill>
          </a:ln>
        </p:spPr>
      </p:sp>
      <p:sp>
        <p:nvSpPr>
          <p:cNvPr id="10" name="Connector 10">
            <a:extLst>
              <a:ext uri="{FF2B5EF4-FFF2-40B4-BE49-F238E27FC236}">
                <a16:creationId xmlns:a16="http://schemas.microsoft.com/office/drawing/2014/main" id="{1B56DFA9-D0D1-4A7E-90EA-CD2EE1CB729C}"/>
              </a:ext>
            </a:extLst>
          </p:cNvPr>
          <p:cNvSpPr>
            <a:spLocks noGrp="1"/>
          </p:cNvSpPr>
          <p:nvPr/>
        </p:nvSpPr>
        <p:spPr>
          <a:xfrm>
            <a:off x="3209925" y="3276600"/>
            <a:ext cx="0" cy="685800"/>
          </a:xfrm>
          <a:prstGeom prst="line">
            <a:avLst/>
          </a:prstGeom>
          <a:ln w="25400">
            <a:solidFill>
              <a:srgbClr val="D9DEE3"/>
            </a:solidFill>
          </a:ln>
        </p:spPr>
      </p:sp>
      <p:sp>
        <p:nvSpPr>
          <p:cNvPr id="11" name="Connector 11">
            <a:extLst>
              <a:ext uri="{FF2B5EF4-FFF2-40B4-BE49-F238E27FC236}">
                <a16:creationId xmlns:a16="http://schemas.microsoft.com/office/drawing/2014/main" id="{BC8EF1AE-98A9-4BC3-BE79-8CE4B80A931E}"/>
              </a:ext>
            </a:extLst>
          </p:cNvPr>
          <p:cNvSpPr>
            <a:spLocks noGrp="1"/>
          </p:cNvSpPr>
          <p:nvPr/>
        </p:nvSpPr>
        <p:spPr>
          <a:xfrm>
            <a:off x="5019675" y="3276600"/>
            <a:ext cx="0" cy="685800"/>
          </a:xfrm>
          <a:prstGeom prst="line">
            <a:avLst/>
          </a:prstGeom>
          <a:ln w="25400">
            <a:solidFill>
              <a:srgbClr val="D9DEE3"/>
            </a:solidFill>
          </a:ln>
        </p:spPr>
      </p:sp>
      <p:sp>
        <p:nvSpPr>
          <p:cNvPr id="12" name="Connector 12">
            <a:extLst>
              <a:ext uri="{FF2B5EF4-FFF2-40B4-BE49-F238E27FC236}">
                <a16:creationId xmlns:a16="http://schemas.microsoft.com/office/drawing/2014/main" id="{4E62E667-8816-40F4-A172-BAD317143CAE}"/>
              </a:ext>
            </a:extLst>
          </p:cNvPr>
          <p:cNvSpPr>
            <a:spLocks noGrp="1"/>
          </p:cNvSpPr>
          <p:nvPr/>
        </p:nvSpPr>
        <p:spPr>
          <a:xfrm>
            <a:off x="6829425" y="3276600"/>
            <a:ext cx="0" cy="685800"/>
          </a:xfrm>
          <a:prstGeom prst="line">
            <a:avLst/>
          </a:prstGeom>
          <a:ln w="25400">
            <a:solidFill>
              <a:srgbClr val="D9DEE3"/>
            </a:solidFill>
          </a:ln>
        </p:spPr>
      </p:sp>
      <p:sp>
        <p:nvSpPr>
          <p:cNvPr id="13" name="Connector 13">
            <a:extLst>
              <a:ext uri="{FF2B5EF4-FFF2-40B4-BE49-F238E27FC236}">
                <a16:creationId xmlns:a16="http://schemas.microsoft.com/office/drawing/2014/main" id="{4F324653-514F-47F4-BFFD-37C5813F6F90}"/>
              </a:ext>
            </a:extLst>
          </p:cNvPr>
          <p:cNvSpPr>
            <a:spLocks noGrp="1"/>
          </p:cNvSpPr>
          <p:nvPr/>
        </p:nvSpPr>
        <p:spPr>
          <a:xfrm>
            <a:off x="8639175" y="3276600"/>
            <a:ext cx="0" cy="685800"/>
          </a:xfrm>
          <a:prstGeom prst="line">
            <a:avLst/>
          </a:prstGeom>
          <a:ln w="25400">
            <a:solidFill>
              <a:srgbClr val="D9DEE3"/>
            </a:solidFill>
          </a:ln>
        </p:spPr>
      </p:sp>
      <p:sp>
        <p:nvSpPr>
          <p:cNvPr id="14" name="Connector 14">
            <a:extLst>
              <a:ext uri="{FF2B5EF4-FFF2-40B4-BE49-F238E27FC236}">
                <a16:creationId xmlns:a16="http://schemas.microsoft.com/office/drawing/2014/main" id="{545417F5-F926-40CA-9305-E2AE59C5FBBB}"/>
              </a:ext>
            </a:extLst>
          </p:cNvPr>
          <p:cNvSpPr>
            <a:spLocks noGrp="1"/>
          </p:cNvSpPr>
          <p:nvPr/>
        </p:nvSpPr>
        <p:spPr>
          <a:xfrm>
            <a:off x="10448925" y="3276600"/>
            <a:ext cx="0" cy="685800"/>
          </a:xfrm>
          <a:prstGeom prst="line">
            <a:avLst/>
          </a:prstGeom>
          <a:ln w="25400">
            <a:solidFill>
              <a:srgbClr val="D9DEE3"/>
            </a:solidFill>
          </a:ln>
        </p:spPr>
      </p:sp>
      <p:sp>
        <p:nvSpPr>
          <p:cNvPr id="15" name="Shape 15">
            <a:extLst>
              <a:ext uri="{FF2B5EF4-FFF2-40B4-BE49-F238E27FC236}">
                <a16:creationId xmlns:a16="http://schemas.microsoft.com/office/drawing/2014/main" id="{F01EFEBD-7423-4CE4-AE72-7830E2F098E4}"/>
              </a:ext>
            </a:extLst>
          </p:cNvPr>
          <p:cNvSpPr>
            <a:spLocks noGrp="1"/>
          </p:cNvSpPr>
          <p:nvPr/>
        </p:nvSpPr>
        <p:spPr>
          <a:xfrm>
            <a:off x="571500" y="3962400"/>
            <a:ext cx="1657350" cy="666750"/>
          </a:xfrm>
          <a:prstGeom prst="roundRect">
            <a:avLst/>
          </a:prstGeom>
          <a:solidFill>
            <a:srgbClr val="FCEBEC"/>
          </a:solidFill>
          <a:ln w="25400">
            <a:solidFill>
              <a:srgbClr val="D71920"/>
            </a:solidFill>
          </a:ln>
        </p:spPr>
      </p:sp>
      <p:sp>
        <p:nvSpPr>
          <p:cNvPr id="16" name="Shape 16">
            <a:extLst>
              <a:ext uri="{FF2B5EF4-FFF2-40B4-BE49-F238E27FC236}">
                <a16:creationId xmlns:a16="http://schemas.microsoft.com/office/drawing/2014/main" id="{79BF5C5D-F149-4010-8FE9-38E7FA0FB6E9}"/>
              </a:ext>
            </a:extLst>
          </p:cNvPr>
          <p:cNvSpPr>
            <a:spLocks noGrp="1"/>
          </p:cNvSpPr>
          <p:nvPr/>
        </p:nvSpPr>
        <p:spPr>
          <a:xfrm>
            <a:off x="685800" y="4105275"/>
            <a:ext cx="381000" cy="381000"/>
          </a:xfrm>
          <a:prstGeom prst="roundRect">
            <a:avLst/>
          </a:prstGeom>
          <a:solidFill>
            <a:srgbClr val="FFFFFF"/>
          </a:solidFill>
          <a:ln w="19050">
            <a:solidFill>
              <a:srgbClr val="D71920"/>
            </a:solidFill>
          </a:ln>
        </p:spPr>
      </p:sp>
      <p:pic>
        <p:nvPicPr>
          <p:cNvPr id="83" name="Picture 17"/>
          <p:cNvPicPr>
            <a:picLocks noChangeAspect="1"/>
          </p:cNvPicPr>
          <p:nvPr/>
        </p:nvPicPr>
        <p:blipFill>
          <a:blip r:embed="rId4"/>
          <a:stretch>
            <a:fillRect/>
          </a:stretch>
        </p:blipFill>
        <p:spPr>
          <a:xfrm>
            <a:off x="781050" y="4200525"/>
            <a:ext cx="190500" cy="190500"/>
          </a:xfrm>
          <a:prstGeom prst="rect">
            <a:avLst/>
          </a:prstGeom>
          <a:ln>
            <a:noFill/>
          </a:ln>
        </p:spPr>
      </p:pic>
      <p:sp>
        <p:nvSpPr>
          <p:cNvPr id="18" name="Text 18">
            <a:extLst>
              <a:ext uri="{FF2B5EF4-FFF2-40B4-BE49-F238E27FC236}">
                <a16:creationId xmlns:a16="http://schemas.microsoft.com/office/drawing/2014/main" id="{17CA797F-DD1A-43BA-A6A5-57AAFF3644AA}"/>
              </a:ext>
            </a:extLst>
          </p:cNvPr>
          <p:cNvSpPr>
            <a:spLocks noGrp="1"/>
          </p:cNvSpPr>
          <p:nvPr/>
        </p:nvSpPr>
        <p:spPr>
          <a:xfrm>
            <a:off x="1143000" y="4057650"/>
            <a:ext cx="990600" cy="476250"/>
          </a:xfrm>
          <a:prstGeom prst="rect">
            <a:avLst/>
          </a:prstGeom>
          <a:noFill/>
          <a:ln>
            <a:noFill/>
          </a:ln>
        </p:spPr>
        <p:txBody>
          <a:bodyPr wrap="square" lIns="0" tIns="0" rIns="0" bIns="0" anchor="ctr"/>
          <a:lstStyle/>
          <a:p>
            <a:pPr algn="l">
              <a:buNone/>
            </a:pPr>
            <a:r>
              <a:rPr sz="1200" b="1">
                <a:solidFill>
                  <a:srgbClr val="981B1E"/>
                </a:solidFill>
                <a:latin typeface="Arial"/>
                <a:ea typeface="Arial"/>
                <a:cs typeface="Arial"/>
              </a:rPr>
              <a:t>Operator</a:t>
            </a:r>
            <a:endParaRPr sz="1200"/>
          </a:p>
          <a:p>
            <a:pPr algn="l">
              <a:buNone/>
            </a:pPr>
            <a:r>
              <a:rPr sz="1200" b="1">
                <a:solidFill>
                  <a:srgbClr val="981B1E"/>
                </a:solidFill>
                <a:latin typeface="Arial"/>
                <a:ea typeface="Arial"/>
                <a:cs typeface="Arial"/>
              </a:rPr>
              <a:t>ContextPort</a:t>
            </a:r>
            <a:endParaRPr sz="1200"/>
          </a:p>
        </p:txBody>
      </p:sp>
      <p:sp>
        <p:nvSpPr>
          <p:cNvPr id="19" name="Shape 19">
            <a:extLst>
              <a:ext uri="{FF2B5EF4-FFF2-40B4-BE49-F238E27FC236}">
                <a16:creationId xmlns:a16="http://schemas.microsoft.com/office/drawing/2014/main" id="{F46DC8F2-A375-4EFF-884D-53444E88633A}"/>
              </a:ext>
            </a:extLst>
          </p:cNvPr>
          <p:cNvSpPr>
            <a:spLocks noGrp="1"/>
          </p:cNvSpPr>
          <p:nvPr/>
        </p:nvSpPr>
        <p:spPr>
          <a:xfrm>
            <a:off x="571500" y="4800600"/>
            <a:ext cx="1657350" cy="914400"/>
          </a:xfrm>
          <a:prstGeom prst="roundRect">
            <a:avLst/>
          </a:prstGeom>
          <a:solidFill>
            <a:srgbClr val="FFFFFF"/>
          </a:solidFill>
          <a:ln w="12700">
            <a:solidFill>
              <a:srgbClr val="D9DEE3"/>
            </a:solidFill>
          </a:ln>
        </p:spPr>
      </p:sp>
      <p:sp>
        <p:nvSpPr>
          <p:cNvPr id="20" name="Shape 20">
            <a:extLst>
              <a:ext uri="{FF2B5EF4-FFF2-40B4-BE49-F238E27FC236}">
                <a16:creationId xmlns:a16="http://schemas.microsoft.com/office/drawing/2014/main" id="{CBB62045-E747-4B57-9ECB-0FCDBF0F8811}"/>
              </a:ext>
            </a:extLst>
          </p:cNvPr>
          <p:cNvSpPr>
            <a:spLocks noGrp="1"/>
          </p:cNvSpPr>
          <p:nvPr/>
        </p:nvSpPr>
        <p:spPr>
          <a:xfrm>
            <a:off x="571500" y="4800600"/>
            <a:ext cx="1657350" cy="47625"/>
          </a:xfrm>
          <a:prstGeom prst="rect">
            <a:avLst/>
          </a:prstGeom>
          <a:solidFill>
            <a:srgbClr val="D71920"/>
          </a:solidFill>
          <a:ln w="12700">
            <a:solidFill>
              <a:srgbClr val="D71920"/>
            </a:solidFill>
          </a:ln>
        </p:spPr>
      </p:sp>
      <p:sp>
        <p:nvSpPr>
          <p:cNvPr id="21" name="Text 21">
            <a:extLst>
              <a:ext uri="{FF2B5EF4-FFF2-40B4-BE49-F238E27FC236}">
                <a16:creationId xmlns:a16="http://schemas.microsoft.com/office/drawing/2014/main" id="{943253D3-6FF3-4B2F-9800-19BFD0848309}"/>
              </a:ext>
            </a:extLst>
          </p:cNvPr>
          <p:cNvSpPr>
            <a:spLocks noGrp="1"/>
          </p:cNvSpPr>
          <p:nvPr/>
        </p:nvSpPr>
        <p:spPr>
          <a:xfrm>
            <a:off x="666750" y="4953000"/>
            <a:ext cx="1466850" cy="609600"/>
          </a:xfrm>
          <a:prstGeom prst="rect">
            <a:avLst/>
          </a:prstGeom>
          <a:noFill/>
          <a:ln>
            <a:noFill/>
          </a:ln>
        </p:spPr>
        <p:txBody>
          <a:bodyPr wrap="square" lIns="0" tIns="0" rIns="0" bIns="0" anchor="ctr"/>
          <a:lstStyle/>
          <a:p>
            <a:pPr algn="ctr">
              <a:buNone/>
            </a:pPr>
            <a:r>
              <a:rPr sz="1400" b="0">
                <a:solidFill>
                  <a:srgbClr val="17212B"/>
                </a:solidFill>
                <a:latin typeface="Arial"/>
                <a:ea typeface="Arial"/>
                <a:cs typeface="Arial"/>
              </a:rPr>
              <a:t>Spring Security</a:t>
            </a:r>
            <a:endParaRPr sz="1400"/>
          </a:p>
          <a:p>
            <a:pPr algn="ctr">
              <a:buNone/>
            </a:pPr>
            <a:r>
              <a:rPr sz="1400" b="0">
                <a:solidFill>
                  <a:srgbClr val="17212B"/>
                </a:solidFill>
                <a:latin typeface="Arial"/>
                <a:ea typeface="Arial"/>
                <a:cs typeface="Arial"/>
              </a:rPr>
              <a:t>Static baseline</a:t>
            </a:r>
            <a:endParaRPr sz="1400"/>
          </a:p>
        </p:txBody>
      </p:sp>
      <p:sp>
        <p:nvSpPr>
          <p:cNvPr id="22" name="Shape 22">
            <a:extLst>
              <a:ext uri="{FF2B5EF4-FFF2-40B4-BE49-F238E27FC236}">
                <a16:creationId xmlns:a16="http://schemas.microsoft.com/office/drawing/2014/main" id="{3EB2754A-DF11-4459-B0BF-45A1EDF351FC}"/>
              </a:ext>
            </a:extLst>
          </p:cNvPr>
          <p:cNvSpPr>
            <a:spLocks noGrp="1"/>
          </p:cNvSpPr>
          <p:nvPr/>
        </p:nvSpPr>
        <p:spPr>
          <a:xfrm>
            <a:off x="2381250" y="3962400"/>
            <a:ext cx="1657350" cy="666750"/>
          </a:xfrm>
          <a:prstGeom prst="roundRect">
            <a:avLst/>
          </a:prstGeom>
          <a:solidFill>
            <a:srgbClr val="FCEBEC"/>
          </a:solidFill>
          <a:ln w="25400">
            <a:solidFill>
              <a:srgbClr val="D71920"/>
            </a:solidFill>
          </a:ln>
        </p:spPr>
      </p:sp>
      <p:sp>
        <p:nvSpPr>
          <p:cNvPr id="23" name="Shape 23">
            <a:extLst>
              <a:ext uri="{FF2B5EF4-FFF2-40B4-BE49-F238E27FC236}">
                <a16:creationId xmlns:a16="http://schemas.microsoft.com/office/drawing/2014/main" id="{9CAC2803-302A-4F2B-8C1C-E519AC1CEA3B}"/>
              </a:ext>
            </a:extLst>
          </p:cNvPr>
          <p:cNvSpPr>
            <a:spLocks noGrp="1"/>
          </p:cNvSpPr>
          <p:nvPr/>
        </p:nvSpPr>
        <p:spPr>
          <a:xfrm>
            <a:off x="2495550" y="4105275"/>
            <a:ext cx="381000" cy="381000"/>
          </a:xfrm>
          <a:prstGeom prst="roundRect">
            <a:avLst/>
          </a:prstGeom>
          <a:solidFill>
            <a:srgbClr val="FFFFFF"/>
          </a:solidFill>
          <a:ln w="19050">
            <a:solidFill>
              <a:srgbClr val="2A5B84"/>
            </a:solidFill>
          </a:ln>
        </p:spPr>
      </p:sp>
      <p:pic>
        <p:nvPicPr>
          <p:cNvPr id="90" name="Picture 24"/>
          <p:cNvPicPr>
            <a:picLocks noChangeAspect="1"/>
          </p:cNvPicPr>
          <p:nvPr/>
        </p:nvPicPr>
        <p:blipFill>
          <a:blip r:embed="rId5"/>
          <a:stretch>
            <a:fillRect/>
          </a:stretch>
        </p:blipFill>
        <p:spPr>
          <a:xfrm>
            <a:off x="2590800" y="4200525"/>
            <a:ext cx="190500" cy="190500"/>
          </a:xfrm>
          <a:prstGeom prst="rect">
            <a:avLst/>
          </a:prstGeom>
          <a:ln>
            <a:noFill/>
          </a:ln>
        </p:spPr>
      </p:pic>
      <p:sp>
        <p:nvSpPr>
          <p:cNvPr id="25" name="Text 25">
            <a:extLst>
              <a:ext uri="{FF2B5EF4-FFF2-40B4-BE49-F238E27FC236}">
                <a16:creationId xmlns:a16="http://schemas.microsoft.com/office/drawing/2014/main" id="{F6FBF758-669B-4579-A06D-2C335777F908}"/>
              </a:ext>
            </a:extLst>
          </p:cNvPr>
          <p:cNvSpPr>
            <a:spLocks noGrp="1"/>
          </p:cNvSpPr>
          <p:nvPr/>
        </p:nvSpPr>
        <p:spPr>
          <a:xfrm>
            <a:off x="2952750" y="4057650"/>
            <a:ext cx="990600" cy="476250"/>
          </a:xfrm>
          <a:prstGeom prst="rect">
            <a:avLst/>
          </a:prstGeom>
          <a:noFill/>
          <a:ln>
            <a:noFill/>
          </a:ln>
        </p:spPr>
        <p:txBody>
          <a:bodyPr wrap="square" lIns="0" tIns="0" rIns="0" bIns="0" anchor="ctr"/>
          <a:lstStyle/>
          <a:p>
            <a:pPr algn="l">
              <a:buNone/>
            </a:pPr>
            <a:r>
              <a:rPr sz="1200" b="1">
                <a:solidFill>
                  <a:srgbClr val="981B1E"/>
                </a:solidFill>
                <a:latin typeface="Arial"/>
                <a:ea typeface="Arial"/>
                <a:cs typeface="Arial"/>
              </a:rPr>
              <a:t>Customer</a:t>
            </a:r>
            <a:endParaRPr sz="1200"/>
          </a:p>
          <a:p>
            <a:pPr algn="l">
              <a:buNone/>
            </a:pPr>
            <a:r>
              <a:rPr sz="1200" b="1">
                <a:solidFill>
                  <a:srgbClr val="981B1E"/>
                </a:solidFill>
                <a:latin typeface="Arial"/>
                <a:ea typeface="Arial"/>
                <a:cs typeface="Arial"/>
              </a:rPr>
              <a:t>ActivityPort</a:t>
            </a:r>
            <a:endParaRPr sz="1200"/>
          </a:p>
        </p:txBody>
      </p:sp>
      <p:sp>
        <p:nvSpPr>
          <p:cNvPr id="26" name="Shape 26">
            <a:extLst>
              <a:ext uri="{FF2B5EF4-FFF2-40B4-BE49-F238E27FC236}">
                <a16:creationId xmlns:a16="http://schemas.microsoft.com/office/drawing/2014/main" id="{1E4D9565-ECA8-4199-8086-D35690EA667E}"/>
              </a:ext>
            </a:extLst>
          </p:cNvPr>
          <p:cNvSpPr>
            <a:spLocks noGrp="1"/>
          </p:cNvSpPr>
          <p:nvPr/>
        </p:nvSpPr>
        <p:spPr>
          <a:xfrm>
            <a:off x="2381250" y="4800600"/>
            <a:ext cx="1657350" cy="914400"/>
          </a:xfrm>
          <a:prstGeom prst="roundRect">
            <a:avLst/>
          </a:prstGeom>
          <a:solidFill>
            <a:srgbClr val="FFFFFF"/>
          </a:solidFill>
          <a:ln w="12700">
            <a:solidFill>
              <a:srgbClr val="D9DEE3"/>
            </a:solidFill>
          </a:ln>
        </p:spPr>
      </p:sp>
      <p:sp>
        <p:nvSpPr>
          <p:cNvPr id="27" name="Shape 27">
            <a:extLst>
              <a:ext uri="{FF2B5EF4-FFF2-40B4-BE49-F238E27FC236}">
                <a16:creationId xmlns:a16="http://schemas.microsoft.com/office/drawing/2014/main" id="{519F9E2D-D222-4059-B15F-A028A781302F}"/>
              </a:ext>
            </a:extLst>
          </p:cNvPr>
          <p:cNvSpPr>
            <a:spLocks noGrp="1"/>
          </p:cNvSpPr>
          <p:nvPr/>
        </p:nvSpPr>
        <p:spPr>
          <a:xfrm>
            <a:off x="2381250" y="4800600"/>
            <a:ext cx="1657350" cy="47625"/>
          </a:xfrm>
          <a:prstGeom prst="rect">
            <a:avLst/>
          </a:prstGeom>
          <a:solidFill>
            <a:srgbClr val="2A5B84"/>
          </a:solidFill>
          <a:ln w="12700">
            <a:solidFill>
              <a:srgbClr val="2A5B84"/>
            </a:solidFill>
          </a:ln>
        </p:spPr>
      </p:sp>
      <p:sp>
        <p:nvSpPr>
          <p:cNvPr id="28" name="Text 28">
            <a:extLst>
              <a:ext uri="{FF2B5EF4-FFF2-40B4-BE49-F238E27FC236}">
                <a16:creationId xmlns:a16="http://schemas.microsoft.com/office/drawing/2014/main" id="{8C30A74C-198E-40C4-BB1B-BDE7557CE71E}"/>
              </a:ext>
            </a:extLst>
          </p:cNvPr>
          <p:cNvSpPr>
            <a:spLocks noGrp="1"/>
          </p:cNvSpPr>
          <p:nvPr/>
        </p:nvSpPr>
        <p:spPr>
          <a:xfrm>
            <a:off x="2476500" y="4953000"/>
            <a:ext cx="1466850" cy="609600"/>
          </a:xfrm>
          <a:prstGeom prst="rect">
            <a:avLst/>
          </a:prstGeom>
          <a:noFill/>
          <a:ln>
            <a:noFill/>
          </a:ln>
        </p:spPr>
        <p:txBody>
          <a:bodyPr wrap="square" lIns="0" tIns="0" rIns="0" bIns="0" anchor="ctr"/>
          <a:lstStyle/>
          <a:p>
            <a:pPr algn="ctr">
              <a:buNone/>
            </a:pPr>
            <a:r>
              <a:rPr sz="1400" b="0">
                <a:solidFill>
                  <a:srgbClr val="17212B"/>
                </a:solidFill>
                <a:latin typeface="Arial"/>
                <a:ea typeface="Arial"/>
                <a:cs typeface="Arial"/>
              </a:rPr>
              <a:t>Hibernate/JPA</a:t>
            </a:r>
            <a:endParaRPr sz="1400"/>
          </a:p>
          <a:p>
            <a:pPr algn="ctr">
              <a:buNone/>
            </a:pPr>
            <a:r>
              <a:rPr sz="1400" b="0">
                <a:solidFill>
                  <a:srgbClr val="17212B"/>
                </a:solidFill>
                <a:latin typeface="Arial"/>
                <a:ea typeface="Arial"/>
                <a:cs typeface="Arial"/>
              </a:rPr>
              <a:t>Flyway schema</a:t>
            </a:r>
            <a:endParaRPr sz="1400"/>
          </a:p>
        </p:txBody>
      </p:sp>
      <p:sp>
        <p:nvSpPr>
          <p:cNvPr id="29" name="Shape 29">
            <a:extLst>
              <a:ext uri="{FF2B5EF4-FFF2-40B4-BE49-F238E27FC236}">
                <a16:creationId xmlns:a16="http://schemas.microsoft.com/office/drawing/2014/main" id="{D9DA74DC-1C1C-4C8E-9775-ADA715CA6D16}"/>
              </a:ext>
            </a:extLst>
          </p:cNvPr>
          <p:cNvSpPr>
            <a:spLocks noGrp="1"/>
          </p:cNvSpPr>
          <p:nvPr/>
        </p:nvSpPr>
        <p:spPr>
          <a:xfrm>
            <a:off x="4191000" y="3962400"/>
            <a:ext cx="1657350" cy="666750"/>
          </a:xfrm>
          <a:prstGeom prst="roundRect">
            <a:avLst/>
          </a:prstGeom>
          <a:solidFill>
            <a:srgbClr val="FCEBEC"/>
          </a:solidFill>
          <a:ln w="25400">
            <a:solidFill>
              <a:srgbClr val="D71920"/>
            </a:solidFill>
          </a:ln>
        </p:spPr>
      </p:sp>
      <p:sp>
        <p:nvSpPr>
          <p:cNvPr id="30" name="Shape 30">
            <a:extLst>
              <a:ext uri="{FF2B5EF4-FFF2-40B4-BE49-F238E27FC236}">
                <a16:creationId xmlns:a16="http://schemas.microsoft.com/office/drawing/2014/main" id="{9040E3E1-AF00-4A19-BD25-D16CC0BCC43E}"/>
              </a:ext>
            </a:extLst>
          </p:cNvPr>
          <p:cNvSpPr>
            <a:spLocks noGrp="1"/>
          </p:cNvSpPr>
          <p:nvPr/>
        </p:nvSpPr>
        <p:spPr>
          <a:xfrm>
            <a:off x="4305300" y="4105275"/>
            <a:ext cx="381000" cy="381000"/>
          </a:xfrm>
          <a:prstGeom prst="roundRect">
            <a:avLst/>
          </a:prstGeom>
          <a:solidFill>
            <a:srgbClr val="FFFFFF"/>
          </a:solidFill>
          <a:ln w="19050">
            <a:solidFill>
              <a:srgbClr val="981B1E"/>
            </a:solidFill>
          </a:ln>
        </p:spPr>
      </p:sp>
      <p:pic>
        <p:nvPicPr>
          <p:cNvPr id="97" name="Picture 31"/>
          <p:cNvPicPr>
            <a:picLocks noChangeAspect="1"/>
          </p:cNvPicPr>
          <p:nvPr/>
        </p:nvPicPr>
        <p:blipFill>
          <a:blip r:embed="rId6"/>
          <a:stretch>
            <a:fillRect/>
          </a:stretch>
        </p:blipFill>
        <p:spPr>
          <a:xfrm>
            <a:off x="4400550" y="4200525"/>
            <a:ext cx="190500" cy="190500"/>
          </a:xfrm>
          <a:prstGeom prst="rect">
            <a:avLst/>
          </a:prstGeom>
          <a:ln>
            <a:noFill/>
          </a:ln>
        </p:spPr>
      </p:pic>
      <p:sp>
        <p:nvSpPr>
          <p:cNvPr id="32" name="Text 32">
            <a:extLst>
              <a:ext uri="{FF2B5EF4-FFF2-40B4-BE49-F238E27FC236}">
                <a16:creationId xmlns:a16="http://schemas.microsoft.com/office/drawing/2014/main" id="{D0FB3A28-05F1-4F1A-9BAA-F3B1F64278AA}"/>
              </a:ext>
            </a:extLst>
          </p:cNvPr>
          <p:cNvSpPr>
            <a:spLocks noGrp="1"/>
          </p:cNvSpPr>
          <p:nvPr/>
        </p:nvSpPr>
        <p:spPr>
          <a:xfrm>
            <a:off x="4762500" y="4057650"/>
            <a:ext cx="990600" cy="476250"/>
          </a:xfrm>
          <a:prstGeom prst="rect">
            <a:avLst/>
          </a:prstGeom>
          <a:noFill/>
          <a:ln>
            <a:noFill/>
          </a:ln>
        </p:spPr>
        <p:txBody>
          <a:bodyPr wrap="square" lIns="0" tIns="0" rIns="0" bIns="0" anchor="ctr"/>
          <a:lstStyle/>
          <a:p>
            <a:pPr algn="l">
              <a:buNone/>
            </a:pPr>
            <a:r>
              <a:rPr sz="1200" b="1">
                <a:solidFill>
                  <a:srgbClr val="981B1E"/>
                </a:solidFill>
                <a:latin typeface="Arial"/>
                <a:ea typeface="Arial"/>
                <a:cs typeface="Arial"/>
              </a:rPr>
              <a:t>Risk Signal</a:t>
            </a:r>
            <a:endParaRPr sz="1200"/>
          </a:p>
          <a:p>
            <a:pPr algn="l">
              <a:buNone/>
            </a:pPr>
            <a:r>
              <a:rPr sz="1200" b="1">
                <a:solidFill>
                  <a:srgbClr val="981B1E"/>
                </a:solidFill>
                <a:latin typeface="Arial"/>
                <a:ea typeface="Arial"/>
                <a:cs typeface="Arial"/>
              </a:rPr>
              <a:t>DetectorPort</a:t>
            </a:r>
            <a:endParaRPr sz="1200"/>
          </a:p>
        </p:txBody>
      </p:sp>
      <p:sp>
        <p:nvSpPr>
          <p:cNvPr id="33" name="Shape 33">
            <a:extLst>
              <a:ext uri="{FF2B5EF4-FFF2-40B4-BE49-F238E27FC236}">
                <a16:creationId xmlns:a16="http://schemas.microsoft.com/office/drawing/2014/main" id="{F5EF8900-52F9-4666-A842-69D29BE73748}"/>
              </a:ext>
            </a:extLst>
          </p:cNvPr>
          <p:cNvSpPr>
            <a:spLocks noGrp="1"/>
          </p:cNvSpPr>
          <p:nvPr/>
        </p:nvSpPr>
        <p:spPr>
          <a:xfrm>
            <a:off x="4191000" y="4800600"/>
            <a:ext cx="1657350" cy="914400"/>
          </a:xfrm>
          <a:prstGeom prst="roundRect">
            <a:avLst/>
          </a:prstGeom>
          <a:solidFill>
            <a:srgbClr val="FFFFFF"/>
          </a:solidFill>
          <a:ln w="12700">
            <a:solidFill>
              <a:srgbClr val="D9DEE3"/>
            </a:solidFill>
          </a:ln>
        </p:spPr>
      </p:sp>
      <p:sp>
        <p:nvSpPr>
          <p:cNvPr id="34" name="Shape 34">
            <a:extLst>
              <a:ext uri="{FF2B5EF4-FFF2-40B4-BE49-F238E27FC236}">
                <a16:creationId xmlns:a16="http://schemas.microsoft.com/office/drawing/2014/main" id="{67590256-411F-4FEA-8354-2197D2C135A9}"/>
              </a:ext>
            </a:extLst>
          </p:cNvPr>
          <p:cNvSpPr>
            <a:spLocks noGrp="1"/>
          </p:cNvSpPr>
          <p:nvPr/>
        </p:nvSpPr>
        <p:spPr>
          <a:xfrm>
            <a:off x="4191000" y="4800600"/>
            <a:ext cx="1657350" cy="47625"/>
          </a:xfrm>
          <a:prstGeom prst="rect">
            <a:avLst/>
          </a:prstGeom>
          <a:solidFill>
            <a:srgbClr val="981B1E"/>
          </a:solidFill>
          <a:ln w="12700">
            <a:solidFill>
              <a:srgbClr val="981B1E"/>
            </a:solidFill>
          </a:ln>
        </p:spPr>
      </p:sp>
      <p:sp>
        <p:nvSpPr>
          <p:cNvPr id="35" name="Text 35">
            <a:extLst>
              <a:ext uri="{FF2B5EF4-FFF2-40B4-BE49-F238E27FC236}">
                <a16:creationId xmlns:a16="http://schemas.microsoft.com/office/drawing/2014/main" id="{1458DCD4-0CCC-4481-BA1D-0E59F32B9E46}"/>
              </a:ext>
            </a:extLst>
          </p:cNvPr>
          <p:cNvSpPr>
            <a:spLocks noGrp="1"/>
          </p:cNvSpPr>
          <p:nvPr/>
        </p:nvSpPr>
        <p:spPr>
          <a:xfrm>
            <a:off x="4286250" y="4953000"/>
            <a:ext cx="1466850" cy="609600"/>
          </a:xfrm>
          <a:prstGeom prst="rect">
            <a:avLst/>
          </a:prstGeom>
          <a:noFill/>
          <a:ln>
            <a:noFill/>
          </a:ln>
        </p:spPr>
        <p:txBody>
          <a:bodyPr wrap="square" lIns="0" tIns="0" rIns="0" bIns="0" anchor="ctr"/>
          <a:lstStyle/>
          <a:p>
            <a:pPr algn="ctr">
              <a:buNone/>
            </a:pPr>
            <a:r>
              <a:rPr sz="1400" b="0">
                <a:solidFill>
                  <a:srgbClr val="17212B"/>
                </a:solidFill>
                <a:latin typeface="Arial"/>
                <a:ea typeface="Arial"/>
                <a:cs typeface="Arial"/>
              </a:rPr>
              <a:t>No-op · Bayesian · Fuzzy</a:t>
            </a:r>
            <a:endParaRPr sz="1400"/>
          </a:p>
          <a:p>
            <a:pPr algn="ctr">
              <a:buNone/>
            </a:pPr>
            <a:r>
              <a:rPr sz="1400" b="0">
                <a:solidFill>
                  <a:srgbClr val="17212B"/>
                </a:solidFill>
                <a:latin typeface="Arial"/>
                <a:ea typeface="Arial"/>
                <a:cs typeface="Arial"/>
              </a:rPr>
              <a:t>Random Forest</a:t>
            </a:r>
            <a:endParaRPr sz="1400"/>
          </a:p>
        </p:txBody>
      </p:sp>
      <p:sp>
        <p:nvSpPr>
          <p:cNvPr id="36" name="Shape 36">
            <a:extLst>
              <a:ext uri="{FF2B5EF4-FFF2-40B4-BE49-F238E27FC236}">
                <a16:creationId xmlns:a16="http://schemas.microsoft.com/office/drawing/2014/main" id="{E5B81E25-4E8D-45AF-9D35-A3C8A5ED9240}"/>
              </a:ext>
            </a:extLst>
          </p:cNvPr>
          <p:cNvSpPr>
            <a:spLocks noGrp="1"/>
          </p:cNvSpPr>
          <p:nvPr/>
        </p:nvSpPr>
        <p:spPr>
          <a:xfrm>
            <a:off x="6000750" y="3962400"/>
            <a:ext cx="1657350" cy="666750"/>
          </a:xfrm>
          <a:prstGeom prst="roundRect">
            <a:avLst/>
          </a:prstGeom>
          <a:solidFill>
            <a:srgbClr val="FCEBEC"/>
          </a:solidFill>
          <a:ln w="25400">
            <a:solidFill>
              <a:srgbClr val="D71920"/>
            </a:solidFill>
          </a:ln>
        </p:spPr>
      </p:sp>
      <p:sp>
        <p:nvSpPr>
          <p:cNvPr id="37" name="Shape 37">
            <a:extLst>
              <a:ext uri="{FF2B5EF4-FFF2-40B4-BE49-F238E27FC236}">
                <a16:creationId xmlns:a16="http://schemas.microsoft.com/office/drawing/2014/main" id="{B14BB901-C84B-4F4C-BBA4-181DE1C18BF7}"/>
              </a:ext>
            </a:extLst>
          </p:cNvPr>
          <p:cNvSpPr>
            <a:spLocks noGrp="1"/>
          </p:cNvSpPr>
          <p:nvPr/>
        </p:nvSpPr>
        <p:spPr>
          <a:xfrm>
            <a:off x="6115050" y="4105275"/>
            <a:ext cx="381000" cy="381000"/>
          </a:xfrm>
          <a:prstGeom prst="roundRect">
            <a:avLst/>
          </a:prstGeom>
          <a:solidFill>
            <a:srgbClr val="FFFFFF"/>
          </a:solidFill>
          <a:ln w="19050">
            <a:solidFill>
              <a:srgbClr val="1F7A5A"/>
            </a:solidFill>
          </a:ln>
        </p:spPr>
      </p:sp>
      <p:pic>
        <p:nvPicPr>
          <p:cNvPr id="104" name="Picture 38"/>
          <p:cNvPicPr>
            <a:picLocks noChangeAspect="1"/>
          </p:cNvPicPr>
          <p:nvPr/>
        </p:nvPicPr>
        <p:blipFill>
          <a:blip r:embed="rId7"/>
          <a:stretch>
            <a:fillRect/>
          </a:stretch>
        </p:blipFill>
        <p:spPr>
          <a:xfrm>
            <a:off x="6210300" y="4200525"/>
            <a:ext cx="190500" cy="190500"/>
          </a:xfrm>
          <a:prstGeom prst="rect">
            <a:avLst/>
          </a:prstGeom>
          <a:ln>
            <a:noFill/>
          </a:ln>
        </p:spPr>
      </p:pic>
      <p:sp>
        <p:nvSpPr>
          <p:cNvPr id="39" name="Text 39">
            <a:extLst>
              <a:ext uri="{FF2B5EF4-FFF2-40B4-BE49-F238E27FC236}">
                <a16:creationId xmlns:a16="http://schemas.microsoft.com/office/drawing/2014/main" id="{400CEC38-F33C-49AB-A329-DEB26400BFDF}"/>
              </a:ext>
            </a:extLst>
          </p:cNvPr>
          <p:cNvSpPr>
            <a:spLocks noGrp="1"/>
          </p:cNvSpPr>
          <p:nvPr/>
        </p:nvSpPr>
        <p:spPr>
          <a:xfrm>
            <a:off x="6572250" y="4057650"/>
            <a:ext cx="990600" cy="476250"/>
          </a:xfrm>
          <a:prstGeom prst="rect">
            <a:avLst/>
          </a:prstGeom>
          <a:noFill/>
          <a:ln>
            <a:noFill/>
          </a:ln>
        </p:spPr>
        <p:txBody>
          <a:bodyPr wrap="square" lIns="0" tIns="0" rIns="0" bIns="0" anchor="ctr"/>
          <a:lstStyle/>
          <a:p>
            <a:pPr algn="l">
              <a:buNone/>
            </a:pPr>
            <a:r>
              <a:rPr sz="1000" b="1">
                <a:solidFill>
                  <a:srgbClr val="981B1E"/>
                </a:solidFill>
                <a:latin typeface="Arial"/>
                <a:ea typeface="Arial"/>
                <a:cs typeface="Arial"/>
              </a:rPr>
              <a:t>Policy</a:t>
            </a:r>
            <a:endParaRPr sz="1000"/>
          </a:p>
          <a:p>
            <a:pPr algn="l">
              <a:buNone/>
            </a:pPr>
            <a:r>
              <a:rPr sz="1000" b="1">
                <a:solidFill>
                  <a:srgbClr val="981B1E"/>
                </a:solidFill>
                <a:latin typeface="Arial"/>
                <a:ea typeface="Arial"/>
                <a:cs typeface="Arial"/>
              </a:rPr>
              <a:t>Knowledge</a:t>
            </a:r>
            <a:endParaRPr sz="1000"/>
          </a:p>
          <a:p>
            <a:pPr algn="l">
              <a:buNone/>
            </a:pPr>
            <a:r>
              <a:rPr sz="1000" b="1">
                <a:solidFill>
                  <a:srgbClr val="981B1E"/>
                </a:solidFill>
                <a:latin typeface="Arial"/>
                <a:ea typeface="Arial"/>
                <a:cs typeface="Arial"/>
              </a:rPr>
              <a:t>Port</a:t>
            </a:r>
            <a:endParaRPr sz="1000"/>
          </a:p>
        </p:txBody>
      </p:sp>
      <p:sp>
        <p:nvSpPr>
          <p:cNvPr id="40" name="Shape 40">
            <a:extLst>
              <a:ext uri="{FF2B5EF4-FFF2-40B4-BE49-F238E27FC236}">
                <a16:creationId xmlns:a16="http://schemas.microsoft.com/office/drawing/2014/main" id="{4E07D1B7-6F83-44AB-A1B2-D7549718C885}"/>
              </a:ext>
            </a:extLst>
          </p:cNvPr>
          <p:cNvSpPr>
            <a:spLocks noGrp="1"/>
          </p:cNvSpPr>
          <p:nvPr/>
        </p:nvSpPr>
        <p:spPr>
          <a:xfrm>
            <a:off x="6000750" y="4800600"/>
            <a:ext cx="1657350" cy="914400"/>
          </a:xfrm>
          <a:prstGeom prst="roundRect">
            <a:avLst/>
          </a:prstGeom>
          <a:solidFill>
            <a:srgbClr val="FFFFFF"/>
          </a:solidFill>
          <a:ln w="12700">
            <a:solidFill>
              <a:srgbClr val="D9DEE3"/>
            </a:solidFill>
          </a:ln>
        </p:spPr>
      </p:sp>
      <p:sp>
        <p:nvSpPr>
          <p:cNvPr id="41" name="Shape 41">
            <a:extLst>
              <a:ext uri="{FF2B5EF4-FFF2-40B4-BE49-F238E27FC236}">
                <a16:creationId xmlns:a16="http://schemas.microsoft.com/office/drawing/2014/main" id="{585C1CEC-5B65-460B-91CA-2343558A7931}"/>
              </a:ext>
            </a:extLst>
          </p:cNvPr>
          <p:cNvSpPr>
            <a:spLocks noGrp="1"/>
          </p:cNvSpPr>
          <p:nvPr/>
        </p:nvSpPr>
        <p:spPr>
          <a:xfrm>
            <a:off x="6000750" y="4800600"/>
            <a:ext cx="1657350" cy="47625"/>
          </a:xfrm>
          <a:prstGeom prst="rect">
            <a:avLst/>
          </a:prstGeom>
          <a:solidFill>
            <a:srgbClr val="1F7A5A"/>
          </a:solidFill>
          <a:ln w="12700">
            <a:solidFill>
              <a:srgbClr val="1F7A5A"/>
            </a:solidFill>
          </a:ln>
        </p:spPr>
      </p:sp>
      <p:sp>
        <p:nvSpPr>
          <p:cNvPr id="42" name="Text 42">
            <a:extLst>
              <a:ext uri="{FF2B5EF4-FFF2-40B4-BE49-F238E27FC236}">
                <a16:creationId xmlns:a16="http://schemas.microsoft.com/office/drawing/2014/main" id="{A39CBEE0-1320-472C-A8CF-28CEC46ACA2A}"/>
              </a:ext>
            </a:extLst>
          </p:cNvPr>
          <p:cNvSpPr>
            <a:spLocks noGrp="1"/>
          </p:cNvSpPr>
          <p:nvPr/>
        </p:nvSpPr>
        <p:spPr>
          <a:xfrm>
            <a:off x="6096000" y="4953000"/>
            <a:ext cx="1466850" cy="609600"/>
          </a:xfrm>
          <a:prstGeom prst="rect">
            <a:avLst/>
          </a:prstGeom>
          <a:noFill/>
          <a:ln>
            <a:noFill/>
          </a:ln>
        </p:spPr>
        <p:txBody>
          <a:bodyPr wrap="square" lIns="0" tIns="0" rIns="0" bIns="0" anchor="ctr"/>
          <a:lstStyle/>
          <a:p>
            <a:pPr algn="ctr">
              <a:buNone/>
            </a:pPr>
            <a:r>
              <a:rPr sz="1400" b="0">
                <a:solidFill>
                  <a:srgbClr val="17212B"/>
                </a:solidFill>
                <a:latin typeface="Arial"/>
                <a:ea typeface="Arial"/>
                <a:cs typeface="Arial"/>
              </a:rPr>
              <a:t>pgvector + MiniLM</a:t>
            </a:r>
            <a:endParaRPr sz="1400"/>
          </a:p>
          <a:p>
            <a:pPr algn="ctr">
              <a:buNone/>
            </a:pPr>
            <a:r>
              <a:rPr sz="1400" b="0">
                <a:solidFill>
                  <a:srgbClr val="17212B"/>
                </a:solidFill>
                <a:latin typeface="Arial"/>
                <a:ea typeface="Arial"/>
                <a:cs typeface="Arial"/>
              </a:rPr>
              <a:t>Static baseline</a:t>
            </a:r>
            <a:endParaRPr sz="1400"/>
          </a:p>
        </p:txBody>
      </p:sp>
      <p:sp>
        <p:nvSpPr>
          <p:cNvPr id="43" name="Shape 43">
            <a:extLst>
              <a:ext uri="{FF2B5EF4-FFF2-40B4-BE49-F238E27FC236}">
                <a16:creationId xmlns:a16="http://schemas.microsoft.com/office/drawing/2014/main" id="{EFE0B551-038A-4757-A7E5-C5D5159729F9}"/>
              </a:ext>
            </a:extLst>
          </p:cNvPr>
          <p:cNvSpPr>
            <a:spLocks noGrp="1"/>
          </p:cNvSpPr>
          <p:nvPr/>
        </p:nvSpPr>
        <p:spPr>
          <a:xfrm>
            <a:off x="7810500" y="3962400"/>
            <a:ext cx="1657350" cy="666750"/>
          </a:xfrm>
          <a:prstGeom prst="roundRect">
            <a:avLst/>
          </a:prstGeom>
          <a:solidFill>
            <a:srgbClr val="FCEBEC"/>
          </a:solidFill>
          <a:ln w="25400">
            <a:solidFill>
              <a:srgbClr val="D71920"/>
            </a:solidFill>
          </a:ln>
        </p:spPr>
      </p:sp>
      <p:sp>
        <p:nvSpPr>
          <p:cNvPr id="44" name="Shape 44">
            <a:extLst>
              <a:ext uri="{FF2B5EF4-FFF2-40B4-BE49-F238E27FC236}">
                <a16:creationId xmlns:a16="http://schemas.microsoft.com/office/drawing/2014/main" id="{8338241C-74AB-49E7-AEF9-E418A828C74F}"/>
              </a:ext>
            </a:extLst>
          </p:cNvPr>
          <p:cNvSpPr>
            <a:spLocks noGrp="1"/>
          </p:cNvSpPr>
          <p:nvPr/>
        </p:nvSpPr>
        <p:spPr>
          <a:xfrm>
            <a:off x="7924800" y="4105275"/>
            <a:ext cx="381000" cy="381000"/>
          </a:xfrm>
          <a:prstGeom prst="roundRect">
            <a:avLst/>
          </a:prstGeom>
          <a:solidFill>
            <a:srgbClr val="FFFFFF"/>
          </a:solidFill>
          <a:ln w="19050">
            <a:solidFill>
              <a:srgbClr val="B46B13"/>
            </a:solidFill>
          </a:ln>
        </p:spPr>
      </p:sp>
      <p:pic>
        <p:nvPicPr>
          <p:cNvPr id="111" name="Picture 45"/>
          <p:cNvPicPr>
            <a:picLocks noChangeAspect="1"/>
          </p:cNvPicPr>
          <p:nvPr/>
        </p:nvPicPr>
        <p:blipFill>
          <a:blip r:embed="rId8"/>
          <a:stretch>
            <a:fillRect/>
          </a:stretch>
        </p:blipFill>
        <p:spPr>
          <a:xfrm>
            <a:off x="8020050" y="4200525"/>
            <a:ext cx="190500" cy="190500"/>
          </a:xfrm>
          <a:prstGeom prst="rect">
            <a:avLst/>
          </a:prstGeom>
          <a:ln>
            <a:noFill/>
          </a:ln>
        </p:spPr>
      </p:pic>
      <p:sp>
        <p:nvSpPr>
          <p:cNvPr id="46" name="Text 46">
            <a:extLst>
              <a:ext uri="{FF2B5EF4-FFF2-40B4-BE49-F238E27FC236}">
                <a16:creationId xmlns:a16="http://schemas.microsoft.com/office/drawing/2014/main" id="{D3DF2F49-8569-46D2-B278-9CE29A6F9F5D}"/>
              </a:ext>
            </a:extLst>
          </p:cNvPr>
          <p:cNvSpPr>
            <a:spLocks noGrp="1"/>
          </p:cNvSpPr>
          <p:nvPr/>
        </p:nvSpPr>
        <p:spPr>
          <a:xfrm>
            <a:off x="8382000" y="4057650"/>
            <a:ext cx="990600" cy="476250"/>
          </a:xfrm>
          <a:prstGeom prst="rect">
            <a:avLst/>
          </a:prstGeom>
          <a:noFill/>
          <a:ln>
            <a:noFill/>
          </a:ln>
        </p:spPr>
        <p:txBody>
          <a:bodyPr wrap="square" lIns="0" tIns="0" rIns="0" bIns="0" anchor="ctr"/>
          <a:lstStyle/>
          <a:p>
            <a:pPr algn="l">
              <a:buNone/>
            </a:pPr>
            <a:r>
              <a:rPr sz="1200" b="1">
                <a:solidFill>
                  <a:srgbClr val="981B1E"/>
                </a:solidFill>
                <a:latin typeface="Arial"/>
                <a:ea typeface="Arial"/>
                <a:cs typeface="Arial"/>
              </a:rPr>
              <a:t>Analysis</a:t>
            </a:r>
            <a:endParaRPr sz="1200"/>
          </a:p>
          <a:p>
            <a:pPr algn="l">
              <a:buNone/>
            </a:pPr>
            <a:r>
              <a:rPr sz="1200" b="1">
                <a:solidFill>
                  <a:srgbClr val="981B1E"/>
                </a:solidFill>
                <a:latin typeface="Arial"/>
                <a:ea typeface="Arial"/>
                <a:cs typeface="Arial"/>
              </a:rPr>
              <a:t>ModelPort</a:t>
            </a:r>
            <a:endParaRPr sz="1200"/>
          </a:p>
        </p:txBody>
      </p:sp>
      <p:sp>
        <p:nvSpPr>
          <p:cNvPr id="47" name="Shape 47">
            <a:extLst>
              <a:ext uri="{FF2B5EF4-FFF2-40B4-BE49-F238E27FC236}">
                <a16:creationId xmlns:a16="http://schemas.microsoft.com/office/drawing/2014/main" id="{84C1C1D6-5F57-4D4D-9D8E-EA2789DAFAAF}"/>
              </a:ext>
            </a:extLst>
          </p:cNvPr>
          <p:cNvSpPr>
            <a:spLocks noGrp="1"/>
          </p:cNvSpPr>
          <p:nvPr/>
        </p:nvSpPr>
        <p:spPr>
          <a:xfrm>
            <a:off x="7810500" y="4800600"/>
            <a:ext cx="1657350" cy="914400"/>
          </a:xfrm>
          <a:prstGeom prst="roundRect">
            <a:avLst/>
          </a:prstGeom>
          <a:solidFill>
            <a:srgbClr val="FFFFFF"/>
          </a:solidFill>
          <a:ln w="12700">
            <a:solidFill>
              <a:srgbClr val="D9DEE3"/>
            </a:solidFill>
          </a:ln>
        </p:spPr>
      </p:sp>
      <p:sp>
        <p:nvSpPr>
          <p:cNvPr id="48" name="Shape 48">
            <a:extLst>
              <a:ext uri="{FF2B5EF4-FFF2-40B4-BE49-F238E27FC236}">
                <a16:creationId xmlns:a16="http://schemas.microsoft.com/office/drawing/2014/main" id="{1A339890-5D83-4F4A-8279-5E8042E87D39}"/>
              </a:ext>
            </a:extLst>
          </p:cNvPr>
          <p:cNvSpPr>
            <a:spLocks noGrp="1"/>
          </p:cNvSpPr>
          <p:nvPr/>
        </p:nvSpPr>
        <p:spPr>
          <a:xfrm>
            <a:off x="7810500" y="4800600"/>
            <a:ext cx="1657350" cy="47625"/>
          </a:xfrm>
          <a:prstGeom prst="rect">
            <a:avLst/>
          </a:prstGeom>
          <a:solidFill>
            <a:srgbClr val="B46B13"/>
          </a:solidFill>
          <a:ln w="12700">
            <a:solidFill>
              <a:srgbClr val="B46B13"/>
            </a:solidFill>
          </a:ln>
        </p:spPr>
      </p:sp>
      <p:sp>
        <p:nvSpPr>
          <p:cNvPr id="49" name="Text 49">
            <a:extLst>
              <a:ext uri="{FF2B5EF4-FFF2-40B4-BE49-F238E27FC236}">
                <a16:creationId xmlns:a16="http://schemas.microsoft.com/office/drawing/2014/main" id="{9CBE9E3D-A2E8-439C-80C9-69C28A77C33D}"/>
              </a:ext>
            </a:extLst>
          </p:cNvPr>
          <p:cNvSpPr>
            <a:spLocks noGrp="1"/>
          </p:cNvSpPr>
          <p:nvPr/>
        </p:nvSpPr>
        <p:spPr>
          <a:xfrm>
            <a:off x="7905750" y="4953000"/>
            <a:ext cx="1466850" cy="609600"/>
          </a:xfrm>
          <a:prstGeom prst="rect">
            <a:avLst/>
          </a:prstGeom>
          <a:noFill/>
          <a:ln>
            <a:noFill/>
          </a:ln>
        </p:spPr>
        <p:txBody>
          <a:bodyPr wrap="square" lIns="0" tIns="0" rIns="0" bIns="0" anchor="ctr"/>
          <a:lstStyle/>
          <a:p>
            <a:pPr algn="ctr">
              <a:buNone/>
            </a:pPr>
            <a:r>
              <a:rPr sz="1400" b="0">
                <a:solidFill>
                  <a:srgbClr val="17212B"/>
                </a:solidFill>
                <a:latin typeface="Arial"/>
                <a:ea typeface="Arial"/>
                <a:cs typeface="Arial"/>
              </a:rPr>
              <a:t>Deterministic · OpenAI</a:t>
            </a:r>
            <a:endParaRPr sz="1400"/>
          </a:p>
          <a:p>
            <a:pPr algn="ctr">
              <a:buNone/>
            </a:pPr>
            <a:r>
              <a:rPr sz="1400" b="0">
                <a:solidFill>
                  <a:srgbClr val="17212B"/>
                </a:solidFill>
                <a:latin typeface="Arial"/>
                <a:ea typeface="Arial"/>
                <a:cs typeface="Arial"/>
              </a:rPr>
              <a:t>LM Studio optional</a:t>
            </a:r>
            <a:endParaRPr sz="1400"/>
          </a:p>
        </p:txBody>
      </p:sp>
      <p:sp>
        <p:nvSpPr>
          <p:cNvPr id="50" name="Shape 50">
            <a:extLst>
              <a:ext uri="{FF2B5EF4-FFF2-40B4-BE49-F238E27FC236}">
                <a16:creationId xmlns:a16="http://schemas.microsoft.com/office/drawing/2014/main" id="{A9C84E7A-95D2-4A73-98D6-6305050450B0}"/>
              </a:ext>
            </a:extLst>
          </p:cNvPr>
          <p:cNvSpPr>
            <a:spLocks noGrp="1"/>
          </p:cNvSpPr>
          <p:nvPr/>
        </p:nvSpPr>
        <p:spPr>
          <a:xfrm>
            <a:off x="9620250" y="3962400"/>
            <a:ext cx="1657350" cy="666750"/>
          </a:xfrm>
          <a:prstGeom prst="roundRect">
            <a:avLst/>
          </a:prstGeom>
          <a:solidFill>
            <a:srgbClr val="FCEBEC"/>
          </a:solidFill>
          <a:ln w="25400">
            <a:solidFill>
              <a:srgbClr val="D71920"/>
            </a:solidFill>
          </a:ln>
        </p:spPr>
      </p:sp>
      <p:sp>
        <p:nvSpPr>
          <p:cNvPr id="51" name="Shape 51">
            <a:extLst>
              <a:ext uri="{FF2B5EF4-FFF2-40B4-BE49-F238E27FC236}">
                <a16:creationId xmlns:a16="http://schemas.microsoft.com/office/drawing/2014/main" id="{D5D0DF38-3020-42E8-B0E2-4DF684BD9D72}"/>
              </a:ext>
            </a:extLst>
          </p:cNvPr>
          <p:cNvSpPr>
            <a:spLocks noGrp="1"/>
          </p:cNvSpPr>
          <p:nvPr/>
        </p:nvSpPr>
        <p:spPr>
          <a:xfrm>
            <a:off x="9734550" y="4105275"/>
            <a:ext cx="381000" cy="381000"/>
          </a:xfrm>
          <a:prstGeom prst="roundRect">
            <a:avLst/>
          </a:prstGeom>
          <a:solidFill>
            <a:srgbClr val="FFFFFF"/>
          </a:solidFill>
          <a:ln w="19050">
            <a:solidFill>
              <a:srgbClr val="384754"/>
            </a:solidFill>
          </a:ln>
        </p:spPr>
      </p:sp>
      <p:pic>
        <p:nvPicPr>
          <p:cNvPr id="118" name="Picture 52"/>
          <p:cNvPicPr>
            <a:picLocks noChangeAspect="1"/>
          </p:cNvPicPr>
          <p:nvPr/>
        </p:nvPicPr>
        <p:blipFill>
          <a:blip r:embed="rId9"/>
          <a:stretch>
            <a:fillRect/>
          </a:stretch>
        </p:blipFill>
        <p:spPr>
          <a:xfrm>
            <a:off x="9829800" y="4200525"/>
            <a:ext cx="190500" cy="190500"/>
          </a:xfrm>
          <a:prstGeom prst="rect">
            <a:avLst/>
          </a:prstGeom>
          <a:ln>
            <a:noFill/>
          </a:ln>
        </p:spPr>
      </p:pic>
      <p:sp>
        <p:nvSpPr>
          <p:cNvPr id="53" name="Text 53">
            <a:extLst>
              <a:ext uri="{FF2B5EF4-FFF2-40B4-BE49-F238E27FC236}">
                <a16:creationId xmlns:a16="http://schemas.microsoft.com/office/drawing/2014/main" id="{7F73F82A-2702-4408-A697-A2F87C68D5AA}"/>
              </a:ext>
            </a:extLst>
          </p:cNvPr>
          <p:cNvSpPr>
            <a:spLocks noGrp="1"/>
          </p:cNvSpPr>
          <p:nvPr/>
        </p:nvSpPr>
        <p:spPr>
          <a:xfrm>
            <a:off x="10191750" y="4057650"/>
            <a:ext cx="990600" cy="476250"/>
          </a:xfrm>
          <a:prstGeom prst="rect">
            <a:avLst/>
          </a:prstGeom>
          <a:noFill/>
          <a:ln>
            <a:noFill/>
          </a:ln>
        </p:spPr>
        <p:txBody>
          <a:bodyPr wrap="square" lIns="0" tIns="0" rIns="0" bIns="0" anchor="ctr"/>
          <a:lstStyle/>
          <a:p>
            <a:pPr algn="l">
              <a:buNone/>
            </a:pPr>
            <a:r>
              <a:rPr sz="1200" b="1">
                <a:solidFill>
                  <a:srgbClr val="981B1E"/>
                </a:solidFill>
                <a:latin typeface="Arial"/>
                <a:ea typeface="Arial"/>
                <a:cs typeface="Arial"/>
              </a:rPr>
              <a:t>Analysis</a:t>
            </a:r>
            <a:endParaRPr sz="1200"/>
          </a:p>
          <a:p>
            <a:pPr algn="l">
              <a:buNone/>
            </a:pPr>
            <a:r>
              <a:rPr sz="1200" b="1">
                <a:solidFill>
                  <a:srgbClr val="981B1E"/>
                </a:solidFill>
                <a:latin typeface="Arial"/>
                <a:ea typeface="Arial"/>
                <a:cs typeface="Arial"/>
              </a:rPr>
              <a:t>HistoryPort</a:t>
            </a:r>
            <a:endParaRPr sz="1200"/>
          </a:p>
        </p:txBody>
      </p:sp>
      <p:sp>
        <p:nvSpPr>
          <p:cNvPr id="54" name="Shape 54">
            <a:extLst>
              <a:ext uri="{FF2B5EF4-FFF2-40B4-BE49-F238E27FC236}">
                <a16:creationId xmlns:a16="http://schemas.microsoft.com/office/drawing/2014/main" id="{46059CB8-6A2C-431B-85AA-C9EE182EA709}"/>
              </a:ext>
            </a:extLst>
          </p:cNvPr>
          <p:cNvSpPr>
            <a:spLocks noGrp="1"/>
          </p:cNvSpPr>
          <p:nvPr/>
        </p:nvSpPr>
        <p:spPr>
          <a:xfrm>
            <a:off x="9620250" y="4800600"/>
            <a:ext cx="1657350" cy="914400"/>
          </a:xfrm>
          <a:prstGeom prst="roundRect">
            <a:avLst/>
          </a:prstGeom>
          <a:solidFill>
            <a:srgbClr val="FFFFFF"/>
          </a:solidFill>
          <a:ln w="12700">
            <a:solidFill>
              <a:srgbClr val="D9DEE3"/>
            </a:solidFill>
          </a:ln>
        </p:spPr>
      </p:sp>
      <p:sp>
        <p:nvSpPr>
          <p:cNvPr id="55" name="Shape 55">
            <a:extLst>
              <a:ext uri="{FF2B5EF4-FFF2-40B4-BE49-F238E27FC236}">
                <a16:creationId xmlns:a16="http://schemas.microsoft.com/office/drawing/2014/main" id="{15682A54-1475-4504-AFC8-9884C534EC44}"/>
              </a:ext>
            </a:extLst>
          </p:cNvPr>
          <p:cNvSpPr>
            <a:spLocks noGrp="1"/>
          </p:cNvSpPr>
          <p:nvPr/>
        </p:nvSpPr>
        <p:spPr>
          <a:xfrm>
            <a:off x="9620250" y="4800600"/>
            <a:ext cx="1657350" cy="47625"/>
          </a:xfrm>
          <a:prstGeom prst="rect">
            <a:avLst/>
          </a:prstGeom>
          <a:solidFill>
            <a:srgbClr val="384754"/>
          </a:solidFill>
          <a:ln w="12700">
            <a:solidFill>
              <a:srgbClr val="384754"/>
            </a:solidFill>
          </a:ln>
        </p:spPr>
      </p:sp>
      <p:sp>
        <p:nvSpPr>
          <p:cNvPr id="56" name="Text 56">
            <a:extLst>
              <a:ext uri="{FF2B5EF4-FFF2-40B4-BE49-F238E27FC236}">
                <a16:creationId xmlns:a16="http://schemas.microsoft.com/office/drawing/2014/main" id="{AB745224-573F-4E3D-9D24-0C5F65DDD4A5}"/>
              </a:ext>
            </a:extLst>
          </p:cNvPr>
          <p:cNvSpPr>
            <a:spLocks noGrp="1"/>
          </p:cNvSpPr>
          <p:nvPr/>
        </p:nvSpPr>
        <p:spPr>
          <a:xfrm>
            <a:off x="9715500" y="4953000"/>
            <a:ext cx="1466850" cy="609600"/>
          </a:xfrm>
          <a:prstGeom prst="rect">
            <a:avLst/>
          </a:prstGeom>
          <a:noFill/>
          <a:ln>
            <a:noFill/>
          </a:ln>
        </p:spPr>
        <p:txBody>
          <a:bodyPr wrap="square" lIns="0" tIns="0" rIns="0" bIns="0" anchor="ctr"/>
          <a:lstStyle/>
          <a:p>
            <a:pPr algn="ctr">
              <a:buNone/>
            </a:pPr>
            <a:r>
              <a:rPr sz="1400" b="0">
                <a:solidFill>
                  <a:srgbClr val="17212B"/>
                </a:solidFill>
                <a:latin typeface="Arial"/>
                <a:ea typeface="Arial"/>
                <a:cs typeface="Arial"/>
              </a:rPr>
              <a:t>Hibernate/JPA</a:t>
            </a:r>
            <a:endParaRPr sz="1400"/>
          </a:p>
          <a:p>
            <a:pPr algn="ctr">
              <a:buNone/>
            </a:pPr>
            <a:r>
              <a:rPr sz="1400" b="0">
                <a:solidFill>
                  <a:srgbClr val="17212B"/>
                </a:solidFill>
                <a:latin typeface="Arial"/>
                <a:ea typeface="Arial"/>
                <a:cs typeface="Arial"/>
              </a:rPr>
              <a:t>Flyway schema</a:t>
            </a:r>
            <a:endParaRPr sz="1400"/>
          </a:p>
        </p:txBody>
      </p:sp>
      <p:sp>
        <p:nvSpPr>
          <p:cNvPr id="57" name="Text 57">
            <a:extLst>
              <a:ext uri="{FF2B5EF4-FFF2-40B4-BE49-F238E27FC236}">
                <a16:creationId xmlns:a16="http://schemas.microsoft.com/office/drawing/2014/main" id="{A53CA401-BDAD-49EF-B7A4-A0A05A145E56}"/>
              </a:ext>
            </a:extLst>
          </p:cNvPr>
          <p:cNvSpPr>
            <a:spLocks noGrp="1"/>
          </p:cNvSpPr>
          <p:nvPr/>
        </p:nvSpPr>
        <p:spPr>
          <a:xfrm>
            <a:off x="952500" y="5943600"/>
            <a:ext cx="10287000" cy="266700"/>
          </a:xfrm>
          <a:prstGeom prst="rect">
            <a:avLst/>
          </a:prstGeom>
          <a:noFill/>
          <a:ln>
            <a:noFill/>
          </a:ln>
        </p:spPr>
        <p:txBody>
          <a:bodyPr wrap="square" lIns="0" tIns="0" rIns="0" bIns="0" anchor="t"/>
          <a:lstStyle/>
          <a:p>
            <a:pPr algn="ctr">
              <a:buNone/>
            </a:pPr>
            <a:r>
              <a:rPr sz="1700" b="1">
                <a:solidFill>
                  <a:srgbClr val="5D6873"/>
                </a:solidFill>
                <a:latin typeface="Arial"/>
                <a:ea typeface="Arial"/>
                <a:cs typeface="Arial"/>
              </a:rPr>
              <a:t>Framework and provider types stop at the adapter boundary</a:t>
            </a:r>
            <a:endParaRPr sz="1700"/>
          </a:p>
        </p:txBody>
      </p:sp>
      <p:sp>
        <p:nvSpPr>
          <p:cNvPr id="58" name="Connector 58">
            <a:extLst>
              <a:ext uri="{FF2B5EF4-FFF2-40B4-BE49-F238E27FC236}">
                <a16:creationId xmlns:a16="http://schemas.microsoft.com/office/drawing/2014/main" id="{BEAE143B-7E59-49A0-8363-B80AF8D27848}"/>
              </a:ext>
            </a:extLst>
          </p:cNvPr>
          <p:cNvSpPr>
            <a:spLocks noGrp="1"/>
          </p:cNvSpPr>
          <p:nvPr/>
        </p:nvSpPr>
        <p:spPr>
          <a:xfrm>
            <a:off x="552450" y="6419850"/>
            <a:ext cx="11087100" cy="0"/>
          </a:xfrm>
          <a:prstGeom prst="line">
            <a:avLst/>
          </a:prstGeom>
          <a:ln w="12700">
            <a:solidFill>
              <a:srgbClr val="D9DEE3"/>
            </a:solidFill>
          </a:ln>
        </p:spPr>
      </p:sp>
      <p:sp>
        <p:nvSpPr>
          <p:cNvPr id="59" name="Text 59">
            <a:extLst>
              <a:ext uri="{FF2B5EF4-FFF2-40B4-BE49-F238E27FC236}">
                <a16:creationId xmlns:a16="http://schemas.microsoft.com/office/drawing/2014/main" id="{4458F8E6-89E5-4409-A260-5DA3CBD3849F}"/>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60" name="Text 60">
            <a:extLst>
              <a:ext uri="{FF2B5EF4-FFF2-40B4-BE49-F238E27FC236}">
                <a16:creationId xmlns:a16="http://schemas.microsoft.com/office/drawing/2014/main" id="{E563BEB1-1420-441E-B57E-4F1D248549C0}"/>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7</a:t>
            </a:r>
            <a:endParaRPr sz="1000"/>
          </a:p>
        </p:txBody>
      </p:sp>
    </p:spTree>
    <p:extLst>
      <p:ext uri="{BB962C8B-B14F-4D97-AF65-F5344CB8AC3E}">
        <p14:creationId xmlns:p14="http://schemas.microsoft.com/office/powerpoint/2010/main" val="1379359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3ED4C905-4A6C-42D4-9229-1601759202FC}"/>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CONCENTRIC DELIVERY</a:t>
            </a:r>
            <a:endParaRPr sz="1100"/>
          </a:p>
        </p:txBody>
      </p:sp>
      <p:sp>
        <p:nvSpPr>
          <p:cNvPr id="3" name="Text 3">
            <a:extLst>
              <a:ext uri="{FF2B5EF4-FFF2-40B4-BE49-F238E27FC236}">
                <a16:creationId xmlns:a16="http://schemas.microsoft.com/office/drawing/2014/main" id="{7C553F3D-F6B6-4E35-AA27-D154755221C6}"/>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Six delivery rings kept one deployable shell reviewable throughout the build</a:t>
            </a:r>
            <a:endParaRPr sz="3000"/>
          </a:p>
        </p:txBody>
      </p:sp>
      <p:sp>
        <p:nvSpPr>
          <p:cNvPr id="4" name="Shape 4">
            <a:extLst>
              <a:ext uri="{FF2B5EF4-FFF2-40B4-BE49-F238E27FC236}">
                <a16:creationId xmlns:a16="http://schemas.microsoft.com/office/drawing/2014/main" id="{B4861AEE-57A3-4CFF-872B-F72C3E7CEBAB}"/>
              </a:ext>
            </a:extLst>
          </p:cNvPr>
          <p:cNvSpPr>
            <a:spLocks noGrp="1"/>
          </p:cNvSpPr>
          <p:nvPr/>
        </p:nvSpPr>
        <p:spPr>
          <a:xfrm>
            <a:off x="704850" y="1619250"/>
            <a:ext cx="4095750" cy="4095750"/>
          </a:xfrm>
          <a:prstGeom prst="ellipse">
            <a:avLst/>
          </a:prstGeom>
          <a:noFill/>
          <a:ln w="38100">
            <a:solidFill>
              <a:srgbClr val="981B1E"/>
            </a:solidFill>
          </a:ln>
        </p:spPr>
      </p:sp>
      <p:sp>
        <p:nvSpPr>
          <p:cNvPr id="5" name="Shape 5">
            <a:extLst>
              <a:ext uri="{FF2B5EF4-FFF2-40B4-BE49-F238E27FC236}">
                <a16:creationId xmlns:a16="http://schemas.microsoft.com/office/drawing/2014/main" id="{82CE1741-668E-4FFD-8137-B4DF9DF65CE0}"/>
              </a:ext>
            </a:extLst>
          </p:cNvPr>
          <p:cNvSpPr>
            <a:spLocks noGrp="1"/>
          </p:cNvSpPr>
          <p:nvPr/>
        </p:nvSpPr>
        <p:spPr>
          <a:xfrm>
            <a:off x="990600" y="1905000"/>
            <a:ext cx="3524250" cy="3524250"/>
          </a:xfrm>
          <a:prstGeom prst="ellipse">
            <a:avLst/>
          </a:prstGeom>
          <a:noFill/>
          <a:ln w="38100">
            <a:solidFill>
              <a:srgbClr val="D71920"/>
            </a:solidFill>
          </a:ln>
        </p:spPr>
      </p:sp>
      <p:sp>
        <p:nvSpPr>
          <p:cNvPr id="6" name="Shape 6">
            <a:extLst>
              <a:ext uri="{FF2B5EF4-FFF2-40B4-BE49-F238E27FC236}">
                <a16:creationId xmlns:a16="http://schemas.microsoft.com/office/drawing/2014/main" id="{AC7165CC-8311-4588-ACFF-73CFF1BFDB96}"/>
              </a:ext>
            </a:extLst>
          </p:cNvPr>
          <p:cNvSpPr>
            <a:spLocks noGrp="1"/>
          </p:cNvSpPr>
          <p:nvPr/>
        </p:nvSpPr>
        <p:spPr>
          <a:xfrm>
            <a:off x="1276350" y="2190750"/>
            <a:ext cx="2952750" cy="2952750"/>
          </a:xfrm>
          <a:prstGeom prst="ellipse">
            <a:avLst/>
          </a:prstGeom>
          <a:noFill/>
          <a:ln w="25400">
            <a:solidFill>
              <a:srgbClr val="C94D52"/>
            </a:solidFill>
          </a:ln>
        </p:spPr>
      </p:sp>
      <p:sp>
        <p:nvSpPr>
          <p:cNvPr id="7" name="Shape 7">
            <a:extLst>
              <a:ext uri="{FF2B5EF4-FFF2-40B4-BE49-F238E27FC236}">
                <a16:creationId xmlns:a16="http://schemas.microsoft.com/office/drawing/2014/main" id="{D290452B-FFAA-4F85-A54E-C815748D509A}"/>
              </a:ext>
            </a:extLst>
          </p:cNvPr>
          <p:cNvSpPr>
            <a:spLocks noGrp="1"/>
          </p:cNvSpPr>
          <p:nvPr/>
        </p:nvSpPr>
        <p:spPr>
          <a:xfrm>
            <a:off x="1562100" y="2476500"/>
            <a:ext cx="2381250" cy="2381250"/>
          </a:xfrm>
          <a:prstGeom prst="ellipse">
            <a:avLst/>
          </a:prstGeom>
          <a:noFill/>
          <a:ln w="25400">
            <a:solidFill>
              <a:srgbClr val="977176"/>
            </a:solidFill>
          </a:ln>
        </p:spPr>
      </p:sp>
      <p:sp>
        <p:nvSpPr>
          <p:cNvPr id="8" name="Shape 8">
            <a:extLst>
              <a:ext uri="{FF2B5EF4-FFF2-40B4-BE49-F238E27FC236}">
                <a16:creationId xmlns:a16="http://schemas.microsoft.com/office/drawing/2014/main" id="{710DE01F-FEDF-4BC4-A2D8-12B35A4F7191}"/>
              </a:ext>
            </a:extLst>
          </p:cNvPr>
          <p:cNvSpPr>
            <a:spLocks noGrp="1"/>
          </p:cNvSpPr>
          <p:nvPr/>
        </p:nvSpPr>
        <p:spPr>
          <a:xfrm>
            <a:off x="1847850" y="2762250"/>
            <a:ext cx="1809750" cy="1809750"/>
          </a:xfrm>
          <a:prstGeom prst="ellipse">
            <a:avLst/>
          </a:prstGeom>
          <a:noFill/>
          <a:ln w="25400">
            <a:solidFill>
              <a:srgbClr val="2A5B84"/>
            </a:solidFill>
          </a:ln>
        </p:spPr>
      </p:sp>
      <p:sp>
        <p:nvSpPr>
          <p:cNvPr id="9" name="Shape 9">
            <a:extLst>
              <a:ext uri="{FF2B5EF4-FFF2-40B4-BE49-F238E27FC236}">
                <a16:creationId xmlns:a16="http://schemas.microsoft.com/office/drawing/2014/main" id="{35FF51F5-78F3-4B27-ABF5-791FAE587EDC}"/>
              </a:ext>
            </a:extLst>
          </p:cNvPr>
          <p:cNvSpPr>
            <a:spLocks noGrp="1"/>
          </p:cNvSpPr>
          <p:nvPr/>
        </p:nvSpPr>
        <p:spPr>
          <a:xfrm>
            <a:off x="2228850" y="3143250"/>
            <a:ext cx="1047750" cy="1047750"/>
          </a:xfrm>
          <a:prstGeom prst="ellipse">
            <a:avLst/>
          </a:prstGeom>
          <a:solidFill>
            <a:srgbClr val="FCEBEC"/>
          </a:solidFill>
          <a:ln w="25400">
            <a:solidFill>
              <a:srgbClr val="17212B"/>
            </a:solidFill>
          </a:ln>
        </p:spPr>
      </p:sp>
      <p:sp>
        <p:nvSpPr>
          <p:cNvPr id="10" name="Text 10">
            <a:extLst>
              <a:ext uri="{FF2B5EF4-FFF2-40B4-BE49-F238E27FC236}">
                <a16:creationId xmlns:a16="http://schemas.microsoft.com/office/drawing/2014/main" id="{3EACBFB4-AEB6-4D06-950D-90665D96E0B4}"/>
              </a:ext>
            </a:extLst>
          </p:cNvPr>
          <p:cNvSpPr>
            <a:spLocks noGrp="1"/>
          </p:cNvSpPr>
          <p:nvPr/>
        </p:nvSpPr>
        <p:spPr>
          <a:xfrm>
            <a:off x="2428875" y="3314700"/>
            <a:ext cx="647700" cy="381000"/>
          </a:xfrm>
          <a:prstGeom prst="rect">
            <a:avLst/>
          </a:prstGeom>
          <a:noFill/>
          <a:ln>
            <a:noFill/>
          </a:ln>
        </p:spPr>
        <p:txBody>
          <a:bodyPr wrap="square" lIns="0" tIns="0" rIns="0" bIns="0" anchor="t"/>
          <a:lstStyle/>
          <a:p>
            <a:pPr algn="ctr">
              <a:buNone/>
            </a:pPr>
            <a:r>
              <a:rPr sz="2200" b="1">
                <a:solidFill>
                  <a:srgbClr val="17212B"/>
                </a:solidFill>
                <a:latin typeface="Arial"/>
                <a:ea typeface="Arial"/>
                <a:cs typeface="Arial"/>
              </a:rPr>
              <a:t>R0</a:t>
            </a:r>
            <a:endParaRPr sz="2200"/>
          </a:p>
        </p:txBody>
      </p:sp>
      <p:sp>
        <p:nvSpPr>
          <p:cNvPr id="11" name="Text 11">
            <a:extLst>
              <a:ext uri="{FF2B5EF4-FFF2-40B4-BE49-F238E27FC236}">
                <a16:creationId xmlns:a16="http://schemas.microsoft.com/office/drawing/2014/main" id="{B400DACD-22C2-45D9-95E1-1C3E00389A5C}"/>
              </a:ext>
            </a:extLst>
          </p:cNvPr>
          <p:cNvSpPr>
            <a:spLocks noGrp="1"/>
          </p:cNvSpPr>
          <p:nvPr/>
        </p:nvSpPr>
        <p:spPr>
          <a:xfrm>
            <a:off x="2428875" y="2800350"/>
            <a:ext cx="647700" cy="228600"/>
          </a:xfrm>
          <a:prstGeom prst="rect">
            <a:avLst/>
          </a:prstGeom>
          <a:noFill/>
          <a:ln>
            <a:noFill/>
          </a:ln>
        </p:spPr>
        <p:txBody>
          <a:bodyPr wrap="square" lIns="0" tIns="0" rIns="0" bIns="0" anchor="t"/>
          <a:lstStyle/>
          <a:p>
            <a:pPr algn="ctr">
              <a:buNone/>
            </a:pPr>
            <a:r>
              <a:rPr sz="1300" b="1">
                <a:solidFill>
                  <a:srgbClr val="2A5B84"/>
                </a:solidFill>
                <a:latin typeface="Arial"/>
                <a:ea typeface="Arial"/>
                <a:cs typeface="Arial"/>
              </a:rPr>
              <a:t>R1</a:t>
            </a:r>
            <a:endParaRPr sz="1300"/>
          </a:p>
        </p:txBody>
      </p:sp>
      <p:sp>
        <p:nvSpPr>
          <p:cNvPr id="12" name="Text 12">
            <a:extLst>
              <a:ext uri="{FF2B5EF4-FFF2-40B4-BE49-F238E27FC236}">
                <a16:creationId xmlns:a16="http://schemas.microsoft.com/office/drawing/2014/main" id="{CF1F1722-4E3A-459D-8D59-D07729B7BBB9}"/>
              </a:ext>
            </a:extLst>
          </p:cNvPr>
          <p:cNvSpPr>
            <a:spLocks noGrp="1"/>
          </p:cNvSpPr>
          <p:nvPr/>
        </p:nvSpPr>
        <p:spPr>
          <a:xfrm>
            <a:off x="2428875" y="2514600"/>
            <a:ext cx="647700" cy="228600"/>
          </a:xfrm>
          <a:prstGeom prst="rect">
            <a:avLst/>
          </a:prstGeom>
          <a:noFill/>
          <a:ln>
            <a:noFill/>
          </a:ln>
        </p:spPr>
        <p:txBody>
          <a:bodyPr wrap="square" lIns="0" tIns="0" rIns="0" bIns="0" anchor="t"/>
          <a:lstStyle/>
          <a:p>
            <a:pPr algn="ctr">
              <a:buNone/>
            </a:pPr>
            <a:r>
              <a:rPr sz="1300" b="1">
                <a:solidFill>
                  <a:srgbClr val="977176"/>
                </a:solidFill>
                <a:latin typeface="Arial"/>
                <a:ea typeface="Arial"/>
                <a:cs typeface="Arial"/>
              </a:rPr>
              <a:t>R2</a:t>
            </a:r>
            <a:endParaRPr sz="1300"/>
          </a:p>
        </p:txBody>
      </p:sp>
      <p:sp>
        <p:nvSpPr>
          <p:cNvPr id="13" name="Text 13">
            <a:extLst>
              <a:ext uri="{FF2B5EF4-FFF2-40B4-BE49-F238E27FC236}">
                <a16:creationId xmlns:a16="http://schemas.microsoft.com/office/drawing/2014/main" id="{BFBE13A1-6F56-4EED-854E-D1427D06B8EF}"/>
              </a:ext>
            </a:extLst>
          </p:cNvPr>
          <p:cNvSpPr>
            <a:spLocks noGrp="1"/>
          </p:cNvSpPr>
          <p:nvPr/>
        </p:nvSpPr>
        <p:spPr>
          <a:xfrm>
            <a:off x="2428875" y="2228850"/>
            <a:ext cx="647700" cy="228600"/>
          </a:xfrm>
          <a:prstGeom prst="rect">
            <a:avLst/>
          </a:prstGeom>
          <a:noFill/>
          <a:ln>
            <a:noFill/>
          </a:ln>
        </p:spPr>
        <p:txBody>
          <a:bodyPr wrap="square" lIns="0" tIns="0" rIns="0" bIns="0" anchor="t"/>
          <a:lstStyle/>
          <a:p>
            <a:pPr algn="ctr">
              <a:buNone/>
            </a:pPr>
            <a:r>
              <a:rPr sz="1300" b="1">
                <a:solidFill>
                  <a:srgbClr val="C94D52"/>
                </a:solidFill>
                <a:latin typeface="Arial"/>
                <a:ea typeface="Arial"/>
                <a:cs typeface="Arial"/>
              </a:rPr>
              <a:t>R3</a:t>
            </a:r>
            <a:endParaRPr sz="1300"/>
          </a:p>
        </p:txBody>
      </p:sp>
      <p:sp>
        <p:nvSpPr>
          <p:cNvPr id="14" name="Text 14">
            <a:extLst>
              <a:ext uri="{FF2B5EF4-FFF2-40B4-BE49-F238E27FC236}">
                <a16:creationId xmlns:a16="http://schemas.microsoft.com/office/drawing/2014/main" id="{DA567247-9886-4590-95C9-1387F028C9B1}"/>
              </a:ext>
            </a:extLst>
          </p:cNvPr>
          <p:cNvSpPr>
            <a:spLocks noGrp="1"/>
          </p:cNvSpPr>
          <p:nvPr/>
        </p:nvSpPr>
        <p:spPr>
          <a:xfrm>
            <a:off x="2428875" y="1943100"/>
            <a:ext cx="647700" cy="228600"/>
          </a:xfrm>
          <a:prstGeom prst="rect">
            <a:avLst/>
          </a:prstGeom>
          <a:noFill/>
          <a:ln>
            <a:noFill/>
          </a:ln>
        </p:spPr>
        <p:txBody>
          <a:bodyPr wrap="square" lIns="0" tIns="0" rIns="0" bIns="0" anchor="t"/>
          <a:lstStyle/>
          <a:p>
            <a:pPr algn="ctr">
              <a:buNone/>
            </a:pPr>
            <a:r>
              <a:rPr sz="1300" b="1">
                <a:solidFill>
                  <a:srgbClr val="D71920"/>
                </a:solidFill>
                <a:latin typeface="Arial"/>
                <a:ea typeface="Arial"/>
                <a:cs typeface="Arial"/>
              </a:rPr>
              <a:t>R4</a:t>
            </a:r>
            <a:endParaRPr sz="1300"/>
          </a:p>
        </p:txBody>
      </p:sp>
      <p:sp>
        <p:nvSpPr>
          <p:cNvPr id="15" name="Text 15">
            <a:extLst>
              <a:ext uri="{FF2B5EF4-FFF2-40B4-BE49-F238E27FC236}">
                <a16:creationId xmlns:a16="http://schemas.microsoft.com/office/drawing/2014/main" id="{835B4ACF-A8E0-4D21-A6EE-6DAA6DB4EF05}"/>
              </a:ext>
            </a:extLst>
          </p:cNvPr>
          <p:cNvSpPr>
            <a:spLocks noGrp="1"/>
          </p:cNvSpPr>
          <p:nvPr/>
        </p:nvSpPr>
        <p:spPr>
          <a:xfrm>
            <a:off x="2428875" y="1657350"/>
            <a:ext cx="647700" cy="228600"/>
          </a:xfrm>
          <a:prstGeom prst="rect">
            <a:avLst/>
          </a:prstGeom>
          <a:noFill/>
          <a:ln>
            <a:noFill/>
          </a:ln>
        </p:spPr>
        <p:txBody>
          <a:bodyPr wrap="square" lIns="0" tIns="0" rIns="0" bIns="0" anchor="t"/>
          <a:lstStyle/>
          <a:p>
            <a:pPr algn="ctr">
              <a:buNone/>
            </a:pPr>
            <a:r>
              <a:rPr sz="1300" b="1">
                <a:solidFill>
                  <a:srgbClr val="981B1E"/>
                </a:solidFill>
                <a:latin typeface="Arial"/>
                <a:ea typeface="Arial"/>
                <a:cs typeface="Arial"/>
              </a:rPr>
              <a:t>R5</a:t>
            </a:r>
            <a:endParaRPr sz="1300"/>
          </a:p>
        </p:txBody>
      </p:sp>
      <p:sp>
        <p:nvSpPr>
          <p:cNvPr id="16" name="Text 16">
            <a:extLst>
              <a:ext uri="{FF2B5EF4-FFF2-40B4-BE49-F238E27FC236}">
                <a16:creationId xmlns:a16="http://schemas.microsoft.com/office/drawing/2014/main" id="{E3215C7C-E0BD-4553-A65E-E89963ABF6B5}"/>
              </a:ext>
            </a:extLst>
          </p:cNvPr>
          <p:cNvSpPr>
            <a:spLocks noGrp="1"/>
          </p:cNvSpPr>
          <p:nvPr/>
        </p:nvSpPr>
        <p:spPr>
          <a:xfrm>
            <a:off x="5429250" y="1714500"/>
            <a:ext cx="457200" cy="28575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R0</a:t>
            </a:r>
            <a:endParaRPr sz="1500"/>
          </a:p>
        </p:txBody>
      </p:sp>
      <p:sp>
        <p:nvSpPr>
          <p:cNvPr id="17" name="Connector 17">
            <a:extLst>
              <a:ext uri="{FF2B5EF4-FFF2-40B4-BE49-F238E27FC236}">
                <a16:creationId xmlns:a16="http://schemas.microsoft.com/office/drawing/2014/main" id="{E6F1E98B-42A1-420A-BCD8-731DE740D5B0}"/>
              </a:ext>
            </a:extLst>
          </p:cNvPr>
          <p:cNvSpPr>
            <a:spLocks noGrp="1"/>
          </p:cNvSpPr>
          <p:nvPr/>
        </p:nvSpPr>
        <p:spPr>
          <a:xfrm>
            <a:off x="5981700" y="1847850"/>
            <a:ext cx="419100" cy="0"/>
          </a:xfrm>
          <a:prstGeom prst="line">
            <a:avLst/>
          </a:prstGeom>
          <a:ln w="25400">
            <a:solidFill>
              <a:srgbClr val="D9DEE3"/>
            </a:solidFill>
          </a:ln>
        </p:spPr>
      </p:sp>
      <p:sp>
        <p:nvSpPr>
          <p:cNvPr id="18" name="Text 18">
            <a:extLst>
              <a:ext uri="{FF2B5EF4-FFF2-40B4-BE49-F238E27FC236}">
                <a16:creationId xmlns:a16="http://schemas.microsoft.com/office/drawing/2014/main" id="{D0C4785E-0CF4-4161-8B09-6AD3EE8B7465}"/>
              </a:ext>
            </a:extLst>
          </p:cNvPr>
          <p:cNvSpPr>
            <a:spLocks noGrp="1"/>
          </p:cNvSpPr>
          <p:nvPr/>
        </p:nvSpPr>
        <p:spPr>
          <a:xfrm>
            <a:off x="6534150" y="1695450"/>
            <a:ext cx="4476750" cy="285750"/>
          </a:xfrm>
          <a:prstGeom prst="rect">
            <a:avLst/>
          </a:prstGeom>
          <a:noFill/>
          <a:ln>
            <a:noFill/>
          </a:ln>
        </p:spPr>
        <p:txBody>
          <a:bodyPr wrap="square" lIns="0" tIns="0" rIns="0" bIns="0" anchor="t"/>
          <a:lstStyle/>
          <a:p>
            <a:pPr algn="l">
              <a:buNone/>
            </a:pPr>
            <a:r>
              <a:rPr sz="1700" b="1">
                <a:solidFill>
                  <a:srgbClr val="17212B"/>
                </a:solidFill>
                <a:latin typeface="Arial"/>
                <a:ea typeface="Arial"/>
                <a:cs typeface="Arial"/>
              </a:rPr>
              <a:t>Deployable hollow shell</a:t>
            </a:r>
            <a:endParaRPr sz="1700"/>
          </a:p>
        </p:txBody>
      </p:sp>
      <p:sp>
        <p:nvSpPr>
          <p:cNvPr id="19" name="Text 19">
            <a:extLst>
              <a:ext uri="{FF2B5EF4-FFF2-40B4-BE49-F238E27FC236}">
                <a16:creationId xmlns:a16="http://schemas.microsoft.com/office/drawing/2014/main" id="{445BF829-60B4-4ECA-95ED-5550C4CDB468}"/>
              </a:ext>
            </a:extLst>
          </p:cNvPr>
          <p:cNvSpPr>
            <a:spLocks noGrp="1"/>
          </p:cNvSpPr>
          <p:nvPr/>
        </p:nvSpPr>
        <p:spPr>
          <a:xfrm>
            <a:off x="6534150" y="1962150"/>
            <a:ext cx="4476750" cy="266700"/>
          </a:xfrm>
          <a:prstGeom prst="rect">
            <a:avLst/>
          </a:prstGeom>
          <a:noFill/>
          <a:ln>
            <a:noFill/>
          </a:ln>
        </p:spPr>
        <p:txBody>
          <a:bodyPr wrap="square" lIns="0" tIns="0" rIns="0" bIns="0" anchor="t"/>
          <a:lstStyle/>
          <a:p>
            <a:pPr algn="l">
              <a:buNone/>
            </a:pPr>
            <a:r>
              <a:rPr sz="1400" b="0">
                <a:solidFill>
                  <a:srgbClr val="5D6873"/>
                </a:solidFill>
                <a:latin typeface="Arial"/>
                <a:ea typeface="Arial"/>
                <a:cs typeface="Arial"/>
              </a:rPr>
              <a:t>Same browser, API, ports and packaging</a:t>
            </a:r>
            <a:endParaRPr sz="1400"/>
          </a:p>
        </p:txBody>
      </p:sp>
      <p:sp>
        <p:nvSpPr>
          <p:cNvPr id="20" name="Text 20">
            <a:extLst>
              <a:ext uri="{FF2B5EF4-FFF2-40B4-BE49-F238E27FC236}">
                <a16:creationId xmlns:a16="http://schemas.microsoft.com/office/drawing/2014/main" id="{45118B1F-036F-4207-BBA7-A04BD19E3F3D}"/>
              </a:ext>
            </a:extLst>
          </p:cNvPr>
          <p:cNvSpPr>
            <a:spLocks noGrp="1"/>
          </p:cNvSpPr>
          <p:nvPr/>
        </p:nvSpPr>
        <p:spPr>
          <a:xfrm>
            <a:off x="5429250" y="2362200"/>
            <a:ext cx="457200" cy="28575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R1</a:t>
            </a:r>
            <a:endParaRPr sz="1500"/>
          </a:p>
        </p:txBody>
      </p:sp>
      <p:sp>
        <p:nvSpPr>
          <p:cNvPr id="21" name="Connector 21">
            <a:extLst>
              <a:ext uri="{FF2B5EF4-FFF2-40B4-BE49-F238E27FC236}">
                <a16:creationId xmlns:a16="http://schemas.microsoft.com/office/drawing/2014/main" id="{5DA07DB2-85C9-4B1B-906A-B79F0B1D27D0}"/>
              </a:ext>
            </a:extLst>
          </p:cNvPr>
          <p:cNvSpPr>
            <a:spLocks noGrp="1"/>
          </p:cNvSpPr>
          <p:nvPr/>
        </p:nvSpPr>
        <p:spPr>
          <a:xfrm>
            <a:off x="5981700" y="2495550"/>
            <a:ext cx="419100" cy="0"/>
          </a:xfrm>
          <a:prstGeom prst="line">
            <a:avLst/>
          </a:prstGeom>
          <a:ln w="25400">
            <a:solidFill>
              <a:srgbClr val="D9DEE3"/>
            </a:solidFill>
          </a:ln>
        </p:spPr>
      </p:sp>
      <p:sp>
        <p:nvSpPr>
          <p:cNvPr id="22" name="Text 22">
            <a:extLst>
              <a:ext uri="{FF2B5EF4-FFF2-40B4-BE49-F238E27FC236}">
                <a16:creationId xmlns:a16="http://schemas.microsoft.com/office/drawing/2014/main" id="{C2BE0962-0834-44A1-98D0-75D2A5289EEF}"/>
              </a:ext>
            </a:extLst>
          </p:cNvPr>
          <p:cNvSpPr>
            <a:spLocks noGrp="1"/>
          </p:cNvSpPr>
          <p:nvPr/>
        </p:nvSpPr>
        <p:spPr>
          <a:xfrm>
            <a:off x="6534150" y="2343150"/>
            <a:ext cx="4476750" cy="285750"/>
          </a:xfrm>
          <a:prstGeom prst="rect">
            <a:avLst/>
          </a:prstGeom>
          <a:noFill/>
          <a:ln>
            <a:noFill/>
          </a:ln>
        </p:spPr>
        <p:txBody>
          <a:bodyPr wrap="square" lIns="0" tIns="0" rIns="0" bIns="0" anchor="t"/>
          <a:lstStyle/>
          <a:p>
            <a:pPr algn="l">
              <a:buNone/>
            </a:pPr>
            <a:r>
              <a:rPr sz="1700" b="1">
                <a:solidFill>
                  <a:srgbClr val="17212B"/>
                </a:solidFill>
                <a:latin typeface="Arial"/>
                <a:ea typeface="Arial"/>
                <a:cs typeface="Arial"/>
              </a:rPr>
              <a:t>Synthetic customer review</a:t>
            </a:r>
            <a:endParaRPr sz="1700"/>
          </a:p>
        </p:txBody>
      </p:sp>
      <p:sp>
        <p:nvSpPr>
          <p:cNvPr id="23" name="Text 23">
            <a:extLst>
              <a:ext uri="{FF2B5EF4-FFF2-40B4-BE49-F238E27FC236}">
                <a16:creationId xmlns:a16="http://schemas.microsoft.com/office/drawing/2014/main" id="{CF61B43F-39E3-4D3D-A9F8-068B0769C195}"/>
              </a:ext>
            </a:extLst>
          </p:cNvPr>
          <p:cNvSpPr>
            <a:spLocks noGrp="1"/>
          </p:cNvSpPr>
          <p:nvPr/>
        </p:nvSpPr>
        <p:spPr>
          <a:xfrm>
            <a:off x="6534150" y="2609850"/>
            <a:ext cx="4476750" cy="266700"/>
          </a:xfrm>
          <a:prstGeom prst="rect">
            <a:avLst/>
          </a:prstGeom>
          <a:noFill/>
          <a:ln>
            <a:noFill/>
          </a:ln>
        </p:spPr>
        <p:txBody>
          <a:bodyPr wrap="square" lIns="0" tIns="0" rIns="0" bIns="0" anchor="t"/>
          <a:lstStyle/>
          <a:p>
            <a:pPr algn="l">
              <a:buNone/>
            </a:pPr>
            <a:r>
              <a:rPr sz="1400" b="0">
                <a:solidFill>
                  <a:srgbClr val="5D6873"/>
                </a:solidFill>
                <a:latin typeface="Arial"/>
                <a:ea typeface="Arial"/>
                <a:cs typeface="Arial"/>
              </a:rPr>
              <a:t>First meaningful operator path</a:t>
            </a:r>
            <a:endParaRPr sz="1400"/>
          </a:p>
        </p:txBody>
      </p:sp>
      <p:sp>
        <p:nvSpPr>
          <p:cNvPr id="24" name="Text 24">
            <a:extLst>
              <a:ext uri="{FF2B5EF4-FFF2-40B4-BE49-F238E27FC236}">
                <a16:creationId xmlns:a16="http://schemas.microsoft.com/office/drawing/2014/main" id="{375A57B1-5604-4382-9812-8A395FB98CD8}"/>
              </a:ext>
            </a:extLst>
          </p:cNvPr>
          <p:cNvSpPr>
            <a:spLocks noGrp="1"/>
          </p:cNvSpPr>
          <p:nvPr/>
        </p:nvSpPr>
        <p:spPr>
          <a:xfrm>
            <a:off x="5429250" y="3009900"/>
            <a:ext cx="457200" cy="28575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R2</a:t>
            </a:r>
            <a:endParaRPr sz="1500"/>
          </a:p>
        </p:txBody>
      </p:sp>
      <p:sp>
        <p:nvSpPr>
          <p:cNvPr id="25" name="Connector 25">
            <a:extLst>
              <a:ext uri="{FF2B5EF4-FFF2-40B4-BE49-F238E27FC236}">
                <a16:creationId xmlns:a16="http://schemas.microsoft.com/office/drawing/2014/main" id="{0A25249C-ED5F-4651-8C4E-81992563EC7E}"/>
              </a:ext>
            </a:extLst>
          </p:cNvPr>
          <p:cNvSpPr>
            <a:spLocks noGrp="1"/>
          </p:cNvSpPr>
          <p:nvPr/>
        </p:nvSpPr>
        <p:spPr>
          <a:xfrm>
            <a:off x="5981700" y="3143250"/>
            <a:ext cx="419100" cy="0"/>
          </a:xfrm>
          <a:prstGeom prst="line">
            <a:avLst/>
          </a:prstGeom>
          <a:ln w="25400">
            <a:solidFill>
              <a:srgbClr val="D9DEE3"/>
            </a:solidFill>
          </a:ln>
        </p:spPr>
      </p:sp>
      <p:sp>
        <p:nvSpPr>
          <p:cNvPr id="26" name="Text 26">
            <a:extLst>
              <a:ext uri="{FF2B5EF4-FFF2-40B4-BE49-F238E27FC236}">
                <a16:creationId xmlns:a16="http://schemas.microsoft.com/office/drawing/2014/main" id="{B2ADE3B7-C1D0-493E-BEE5-A030B0E429BC}"/>
              </a:ext>
            </a:extLst>
          </p:cNvPr>
          <p:cNvSpPr>
            <a:spLocks noGrp="1"/>
          </p:cNvSpPr>
          <p:nvPr/>
        </p:nvSpPr>
        <p:spPr>
          <a:xfrm>
            <a:off x="6534150" y="2990850"/>
            <a:ext cx="4476750" cy="285750"/>
          </a:xfrm>
          <a:prstGeom prst="rect">
            <a:avLst/>
          </a:prstGeom>
          <a:noFill/>
          <a:ln>
            <a:noFill/>
          </a:ln>
        </p:spPr>
        <p:txBody>
          <a:bodyPr wrap="square" lIns="0" tIns="0" rIns="0" bIns="0" anchor="t"/>
          <a:lstStyle/>
          <a:p>
            <a:pPr algn="l">
              <a:buNone/>
            </a:pPr>
            <a:r>
              <a:rPr sz="1700" b="1">
                <a:solidFill>
                  <a:srgbClr val="17212B"/>
                </a:solidFill>
                <a:latin typeface="Arial"/>
                <a:ea typeface="Arial"/>
                <a:cs typeface="Arial"/>
              </a:rPr>
              <a:t>Relational substitution</a:t>
            </a:r>
            <a:endParaRPr sz="1700"/>
          </a:p>
        </p:txBody>
      </p:sp>
      <p:sp>
        <p:nvSpPr>
          <p:cNvPr id="27" name="Text 27">
            <a:extLst>
              <a:ext uri="{FF2B5EF4-FFF2-40B4-BE49-F238E27FC236}">
                <a16:creationId xmlns:a16="http://schemas.microsoft.com/office/drawing/2014/main" id="{814450E5-2F83-47A3-B77C-CF50F1A1889D}"/>
              </a:ext>
            </a:extLst>
          </p:cNvPr>
          <p:cNvSpPr>
            <a:spLocks noGrp="1"/>
          </p:cNvSpPr>
          <p:nvPr/>
        </p:nvSpPr>
        <p:spPr>
          <a:xfrm>
            <a:off x="6534150" y="3257550"/>
            <a:ext cx="4476750" cy="266700"/>
          </a:xfrm>
          <a:prstGeom prst="rect">
            <a:avLst/>
          </a:prstGeom>
          <a:noFill/>
          <a:ln>
            <a:noFill/>
          </a:ln>
        </p:spPr>
        <p:txBody>
          <a:bodyPr wrap="square" lIns="0" tIns="0" rIns="0" bIns="0" anchor="t"/>
          <a:lstStyle/>
          <a:p>
            <a:pPr algn="l">
              <a:buNone/>
            </a:pPr>
            <a:r>
              <a:rPr sz="1400" b="0">
                <a:solidFill>
                  <a:srgbClr val="5D6873"/>
                </a:solidFill>
                <a:latin typeface="Arial"/>
                <a:ea typeface="Arial"/>
                <a:cs typeface="Arial"/>
              </a:rPr>
              <a:t>PostgreSQL and source-shaped evidence</a:t>
            </a:r>
            <a:endParaRPr sz="1400"/>
          </a:p>
        </p:txBody>
      </p:sp>
      <p:sp>
        <p:nvSpPr>
          <p:cNvPr id="28" name="Text 28">
            <a:extLst>
              <a:ext uri="{FF2B5EF4-FFF2-40B4-BE49-F238E27FC236}">
                <a16:creationId xmlns:a16="http://schemas.microsoft.com/office/drawing/2014/main" id="{F993B263-75C3-4892-8E19-3D2D26DA533B}"/>
              </a:ext>
            </a:extLst>
          </p:cNvPr>
          <p:cNvSpPr>
            <a:spLocks noGrp="1"/>
          </p:cNvSpPr>
          <p:nvPr/>
        </p:nvSpPr>
        <p:spPr>
          <a:xfrm>
            <a:off x="5429250" y="3657600"/>
            <a:ext cx="457200" cy="28575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R3</a:t>
            </a:r>
            <a:endParaRPr sz="1500"/>
          </a:p>
        </p:txBody>
      </p:sp>
      <p:sp>
        <p:nvSpPr>
          <p:cNvPr id="29" name="Connector 29">
            <a:extLst>
              <a:ext uri="{FF2B5EF4-FFF2-40B4-BE49-F238E27FC236}">
                <a16:creationId xmlns:a16="http://schemas.microsoft.com/office/drawing/2014/main" id="{89A3F438-3F4B-4534-8DE3-87E445D8AD2B}"/>
              </a:ext>
            </a:extLst>
          </p:cNvPr>
          <p:cNvSpPr>
            <a:spLocks noGrp="1"/>
          </p:cNvSpPr>
          <p:nvPr/>
        </p:nvSpPr>
        <p:spPr>
          <a:xfrm>
            <a:off x="5981700" y="3790950"/>
            <a:ext cx="419100" cy="0"/>
          </a:xfrm>
          <a:prstGeom prst="line">
            <a:avLst/>
          </a:prstGeom>
          <a:ln w="25400">
            <a:solidFill>
              <a:srgbClr val="D9DEE3"/>
            </a:solidFill>
          </a:ln>
        </p:spPr>
      </p:sp>
      <p:sp>
        <p:nvSpPr>
          <p:cNvPr id="30" name="Text 30">
            <a:extLst>
              <a:ext uri="{FF2B5EF4-FFF2-40B4-BE49-F238E27FC236}">
                <a16:creationId xmlns:a16="http://schemas.microsoft.com/office/drawing/2014/main" id="{15847E0C-5D8E-4D61-850D-4CD187DD1646}"/>
              </a:ext>
            </a:extLst>
          </p:cNvPr>
          <p:cNvSpPr>
            <a:spLocks noGrp="1"/>
          </p:cNvSpPr>
          <p:nvPr/>
        </p:nvSpPr>
        <p:spPr>
          <a:xfrm>
            <a:off x="6534150" y="3638550"/>
            <a:ext cx="4476750" cy="285750"/>
          </a:xfrm>
          <a:prstGeom prst="rect">
            <a:avLst/>
          </a:prstGeom>
          <a:noFill/>
          <a:ln>
            <a:noFill/>
          </a:ln>
        </p:spPr>
        <p:txBody>
          <a:bodyPr wrap="square" lIns="0" tIns="0" rIns="0" bIns="0" anchor="t"/>
          <a:lstStyle/>
          <a:p>
            <a:pPr algn="l">
              <a:buNone/>
            </a:pPr>
            <a:r>
              <a:rPr sz="1700" b="1">
                <a:solidFill>
                  <a:srgbClr val="17212B"/>
                </a:solidFill>
                <a:latin typeface="Arial"/>
                <a:ea typeface="Arial"/>
                <a:cs typeface="Arial"/>
              </a:rPr>
              <a:t>Analysis and history</a:t>
            </a:r>
            <a:endParaRPr sz="1700"/>
          </a:p>
        </p:txBody>
      </p:sp>
      <p:sp>
        <p:nvSpPr>
          <p:cNvPr id="31" name="Text 31">
            <a:extLst>
              <a:ext uri="{FF2B5EF4-FFF2-40B4-BE49-F238E27FC236}">
                <a16:creationId xmlns:a16="http://schemas.microsoft.com/office/drawing/2014/main" id="{CCA54CF2-12A1-4CA0-8DB0-C66A818610C5}"/>
              </a:ext>
            </a:extLst>
          </p:cNvPr>
          <p:cNvSpPr>
            <a:spLocks noGrp="1"/>
          </p:cNvSpPr>
          <p:nvPr/>
        </p:nvSpPr>
        <p:spPr>
          <a:xfrm>
            <a:off x="6534150" y="3905250"/>
            <a:ext cx="4476750" cy="266700"/>
          </a:xfrm>
          <a:prstGeom prst="rect">
            <a:avLst/>
          </a:prstGeom>
          <a:noFill/>
          <a:ln>
            <a:noFill/>
          </a:ln>
        </p:spPr>
        <p:txBody>
          <a:bodyPr wrap="square" lIns="0" tIns="0" rIns="0" bIns="0" anchor="t"/>
          <a:lstStyle/>
          <a:p>
            <a:pPr algn="l">
              <a:buNone/>
            </a:pPr>
            <a:r>
              <a:rPr sz="1400" b="0">
                <a:solidFill>
                  <a:srgbClr val="5D6873"/>
                </a:solidFill>
                <a:latin typeface="Arial"/>
                <a:ea typeface="Arial"/>
                <a:cs typeface="Arial"/>
              </a:rPr>
              <a:t>Deterministic end-to-end baseline</a:t>
            </a:r>
            <a:endParaRPr sz="1400"/>
          </a:p>
        </p:txBody>
      </p:sp>
      <p:sp>
        <p:nvSpPr>
          <p:cNvPr id="32" name="Text 32">
            <a:extLst>
              <a:ext uri="{FF2B5EF4-FFF2-40B4-BE49-F238E27FC236}">
                <a16:creationId xmlns:a16="http://schemas.microsoft.com/office/drawing/2014/main" id="{93E0822D-4BD8-452A-B8A4-DCDBF96BA485}"/>
              </a:ext>
            </a:extLst>
          </p:cNvPr>
          <p:cNvSpPr>
            <a:spLocks noGrp="1"/>
          </p:cNvSpPr>
          <p:nvPr/>
        </p:nvSpPr>
        <p:spPr>
          <a:xfrm>
            <a:off x="5429250" y="4305300"/>
            <a:ext cx="457200" cy="285750"/>
          </a:xfrm>
          <a:prstGeom prst="rect">
            <a:avLst/>
          </a:prstGeom>
          <a:noFill/>
          <a:ln>
            <a:noFill/>
          </a:ln>
        </p:spPr>
        <p:txBody>
          <a:bodyPr wrap="square" lIns="0" tIns="0" rIns="0" bIns="0" anchor="t"/>
          <a:lstStyle/>
          <a:p>
            <a:pPr algn="l">
              <a:buNone/>
            </a:pPr>
            <a:r>
              <a:rPr sz="1500" b="1">
                <a:solidFill>
                  <a:srgbClr val="D71920"/>
                </a:solidFill>
                <a:latin typeface="Arial"/>
                <a:ea typeface="Arial"/>
                <a:cs typeface="Arial"/>
              </a:rPr>
              <a:t>R4</a:t>
            </a:r>
            <a:endParaRPr sz="1500"/>
          </a:p>
        </p:txBody>
      </p:sp>
      <p:sp>
        <p:nvSpPr>
          <p:cNvPr id="33" name="Connector 33">
            <a:extLst>
              <a:ext uri="{FF2B5EF4-FFF2-40B4-BE49-F238E27FC236}">
                <a16:creationId xmlns:a16="http://schemas.microsoft.com/office/drawing/2014/main" id="{0674909F-0A16-491D-9742-EB4ABB21F825}"/>
              </a:ext>
            </a:extLst>
          </p:cNvPr>
          <p:cNvSpPr>
            <a:spLocks noGrp="1"/>
          </p:cNvSpPr>
          <p:nvPr/>
        </p:nvSpPr>
        <p:spPr>
          <a:xfrm>
            <a:off x="5981700" y="4438650"/>
            <a:ext cx="419100" cy="0"/>
          </a:xfrm>
          <a:prstGeom prst="line">
            <a:avLst/>
          </a:prstGeom>
          <a:ln w="25400">
            <a:solidFill>
              <a:srgbClr val="D71920"/>
            </a:solidFill>
          </a:ln>
        </p:spPr>
      </p:sp>
      <p:sp>
        <p:nvSpPr>
          <p:cNvPr id="34" name="Text 34">
            <a:extLst>
              <a:ext uri="{FF2B5EF4-FFF2-40B4-BE49-F238E27FC236}">
                <a16:creationId xmlns:a16="http://schemas.microsoft.com/office/drawing/2014/main" id="{924AAD72-7BF6-4A56-A55C-B8FD92F65DC4}"/>
              </a:ext>
            </a:extLst>
          </p:cNvPr>
          <p:cNvSpPr>
            <a:spLocks noGrp="1"/>
          </p:cNvSpPr>
          <p:nvPr/>
        </p:nvSpPr>
        <p:spPr>
          <a:xfrm>
            <a:off x="6534150" y="4286250"/>
            <a:ext cx="4476750" cy="285750"/>
          </a:xfrm>
          <a:prstGeom prst="rect">
            <a:avLst/>
          </a:prstGeom>
          <a:noFill/>
          <a:ln>
            <a:noFill/>
          </a:ln>
        </p:spPr>
        <p:txBody>
          <a:bodyPr wrap="square" lIns="0" tIns="0" rIns="0" bIns="0" anchor="t"/>
          <a:lstStyle/>
          <a:p>
            <a:pPr algn="l">
              <a:buNone/>
            </a:pPr>
            <a:r>
              <a:rPr sz="1700" b="1">
                <a:solidFill>
                  <a:srgbClr val="17212B"/>
                </a:solidFill>
                <a:latin typeface="Arial"/>
                <a:ea typeface="Arial"/>
                <a:cs typeface="Arial"/>
              </a:rPr>
              <a:t>Authentication and real retrieval</a:t>
            </a:r>
            <a:endParaRPr sz="1700"/>
          </a:p>
        </p:txBody>
      </p:sp>
      <p:sp>
        <p:nvSpPr>
          <p:cNvPr id="35" name="Text 35">
            <a:extLst>
              <a:ext uri="{FF2B5EF4-FFF2-40B4-BE49-F238E27FC236}">
                <a16:creationId xmlns:a16="http://schemas.microsoft.com/office/drawing/2014/main" id="{9180A598-66D0-42E0-964A-45173F211ED0}"/>
              </a:ext>
            </a:extLst>
          </p:cNvPr>
          <p:cNvSpPr>
            <a:spLocks noGrp="1"/>
          </p:cNvSpPr>
          <p:nvPr/>
        </p:nvSpPr>
        <p:spPr>
          <a:xfrm>
            <a:off x="6534150" y="4552950"/>
            <a:ext cx="4476750" cy="266700"/>
          </a:xfrm>
          <a:prstGeom prst="rect">
            <a:avLst/>
          </a:prstGeom>
          <a:noFill/>
          <a:ln>
            <a:noFill/>
          </a:ln>
        </p:spPr>
        <p:txBody>
          <a:bodyPr wrap="square" lIns="0" tIns="0" rIns="0" bIns="0" anchor="t"/>
          <a:lstStyle/>
          <a:p>
            <a:pPr algn="l">
              <a:buNone/>
            </a:pPr>
            <a:r>
              <a:rPr sz="1400" b="0">
                <a:solidFill>
                  <a:srgbClr val="5D6873"/>
                </a:solidFill>
                <a:latin typeface="Arial"/>
                <a:ea typeface="Arial"/>
                <a:cs typeface="Arial"/>
              </a:rPr>
              <a:t>Current required capability</a:t>
            </a:r>
            <a:endParaRPr sz="1400"/>
          </a:p>
        </p:txBody>
      </p:sp>
      <p:sp>
        <p:nvSpPr>
          <p:cNvPr id="36" name="Text 36">
            <a:extLst>
              <a:ext uri="{FF2B5EF4-FFF2-40B4-BE49-F238E27FC236}">
                <a16:creationId xmlns:a16="http://schemas.microsoft.com/office/drawing/2014/main" id="{11119F76-4449-4BBE-9E51-75291383225E}"/>
              </a:ext>
            </a:extLst>
          </p:cNvPr>
          <p:cNvSpPr>
            <a:spLocks noGrp="1"/>
          </p:cNvSpPr>
          <p:nvPr/>
        </p:nvSpPr>
        <p:spPr>
          <a:xfrm>
            <a:off x="5429250" y="4953000"/>
            <a:ext cx="457200" cy="285750"/>
          </a:xfrm>
          <a:prstGeom prst="rect">
            <a:avLst/>
          </a:prstGeom>
          <a:noFill/>
          <a:ln>
            <a:noFill/>
          </a:ln>
        </p:spPr>
        <p:txBody>
          <a:bodyPr wrap="square" lIns="0" tIns="0" rIns="0" bIns="0" anchor="t"/>
          <a:lstStyle/>
          <a:p>
            <a:pPr algn="l">
              <a:buNone/>
            </a:pPr>
            <a:r>
              <a:rPr sz="1500" b="1">
                <a:solidFill>
                  <a:srgbClr val="D71920"/>
                </a:solidFill>
                <a:latin typeface="Arial"/>
                <a:ea typeface="Arial"/>
                <a:cs typeface="Arial"/>
              </a:rPr>
              <a:t>R5</a:t>
            </a:r>
            <a:endParaRPr sz="1500"/>
          </a:p>
        </p:txBody>
      </p:sp>
      <p:sp>
        <p:nvSpPr>
          <p:cNvPr id="37" name="Connector 37">
            <a:extLst>
              <a:ext uri="{FF2B5EF4-FFF2-40B4-BE49-F238E27FC236}">
                <a16:creationId xmlns:a16="http://schemas.microsoft.com/office/drawing/2014/main" id="{96D20B7F-B76E-4C03-84C8-AC0617E994E8}"/>
              </a:ext>
            </a:extLst>
          </p:cNvPr>
          <p:cNvSpPr>
            <a:spLocks noGrp="1"/>
          </p:cNvSpPr>
          <p:nvPr/>
        </p:nvSpPr>
        <p:spPr>
          <a:xfrm>
            <a:off x="5981700" y="5086350"/>
            <a:ext cx="419100" cy="0"/>
          </a:xfrm>
          <a:prstGeom prst="line">
            <a:avLst/>
          </a:prstGeom>
          <a:ln w="25400">
            <a:solidFill>
              <a:srgbClr val="D71920"/>
            </a:solidFill>
          </a:ln>
        </p:spPr>
      </p:sp>
      <p:sp>
        <p:nvSpPr>
          <p:cNvPr id="38" name="Text 38">
            <a:extLst>
              <a:ext uri="{FF2B5EF4-FFF2-40B4-BE49-F238E27FC236}">
                <a16:creationId xmlns:a16="http://schemas.microsoft.com/office/drawing/2014/main" id="{75829E83-D2EE-46EC-916A-8D100FE7119E}"/>
              </a:ext>
            </a:extLst>
          </p:cNvPr>
          <p:cNvSpPr>
            <a:spLocks noGrp="1"/>
          </p:cNvSpPr>
          <p:nvPr/>
        </p:nvSpPr>
        <p:spPr>
          <a:xfrm>
            <a:off x="6534150" y="4933950"/>
            <a:ext cx="4476750" cy="285750"/>
          </a:xfrm>
          <a:prstGeom prst="rect">
            <a:avLst/>
          </a:prstGeom>
          <a:noFill/>
          <a:ln>
            <a:noFill/>
          </a:ln>
        </p:spPr>
        <p:txBody>
          <a:bodyPr wrap="square" lIns="0" tIns="0" rIns="0" bIns="0" anchor="t"/>
          <a:lstStyle/>
          <a:p>
            <a:pPr algn="l">
              <a:buNone/>
            </a:pPr>
            <a:r>
              <a:rPr sz="1700" b="1">
                <a:solidFill>
                  <a:srgbClr val="17212B"/>
                </a:solidFill>
                <a:latin typeface="Arial"/>
                <a:ea typeface="Arial"/>
                <a:cs typeface="Arial"/>
              </a:rPr>
              <a:t>Hardening and comparison</a:t>
            </a:r>
            <a:endParaRPr sz="1700"/>
          </a:p>
        </p:txBody>
      </p:sp>
      <p:sp>
        <p:nvSpPr>
          <p:cNvPr id="39" name="Text 39">
            <a:extLst>
              <a:ext uri="{FF2B5EF4-FFF2-40B4-BE49-F238E27FC236}">
                <a16:creationId xmlns:a16="http://schemas.microsoft.com/office/drawing/2014/main" id="{B524E922-75D7-4324-8FF3-369CDA1C4BBF}"/>
              </a:ext>
            </a:extLst>
          </p:cNvPr>
          <p:cNvSpPr>
            <a:spLocks noGrp="1"/>
          </p:cNvSpPr>
          <p:nvPr/>
        </p:nvSpPr>
        <p:spPr>
          <a:xfrm>
            <a:off x="6534150" y="5200650"/>
            <a:ext cx="4476750" cy="266700"/>
          </a:xfrm>
          <a:prstGeom prst="rect">
            <a:avLst/>
          </a:prstGeom>
          <a:noFill/>
          <a:ln>
            <a:noFill/>
          </a:ln>
        </p:spPr>
        <p:txBody>
          <a:bodyPr wrap="square" lIns="0" tIns="0" rIns="0" bIns="0" anchor="t"/>
          <a:lstStyle/>
          <a:p>
            <a:pPr algn="l">
              <a:buNone/>
            </a:pPr>
            <a:r>
              <a:rPr sz="1400" b="0">
                <a:solidFill>
                  <a:srgbClr val="5D6873"/>
                </a:solidFill>
                <a:latin typeface="Arial"/>
                <a:ea typeface="Arial"/>
                <a:cs typeface="Arial"/>
              </a:rPr>
              <a:t>Delivered options with bounded claims</a:t>
            </a:r>
            <a:endParaRPr sz="1400"/>
          </a:p>
        </p:txBody>
      </p:sp>
      <p:sp>
        <p:nvSpPr>
          <p:cNvPr id="40" name="Connector 40">
            <a:extLst>
              <a:ext uri="{FF2B5EF4-FFF2-40B4-BE49-F238E27FC236}">
                <a16:creationId xmlns:a16="http://schemas.microsoft.com/office/drawing/2014/main" id="{D11A5E4E-652D-47DA-A3B5-2BBC09F0C0A6}"/>
              </a:ext>
            </a:extLst>
          </p:cNvPr>
          <p:cNvSpPr>
            <a:spLocks noGrp="1"/>
          </p:cNvSpPr>
          <p:nvPr/>
        </p:nvSpPr>
        <p:spPr>
          <a:xfrm>
            <a:off x="552450" y="6419850"/>
            <a:ext cx="11087100" cy="0"/>
          </a:xfrm>
          <a:prstGeom prst="line">
            <a:avLst/>
          </a:prstGeom>
          <a:ln w="12700">
            <a:solidFill>
              <a:srgbClr val="D9DEE3"/>
            </a:solidFill>
          </a:ln>
        </p:spPr>
      </p:sp>
      <p:sp>
        <p:nvSpPr>
          <p:cNvPr id="41" name="Text 41">
            <a:extLst>
              <a:ext uri="{FF2B5EF4-FFF2-40B4-BE49-F238E27FC236}">
                <a16:creationId xmlns:a16="http://schemas.microsoft.com/office/drawing/2014/main" id="{84B81BE6-44CD-4D24-A239-D5140990805F}"/>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42" name="Text 42">
            <a:extLst>
              <a:ext uri="{FF2B5EF4-FFF2-40B4-BE49-F238E27FC236}">
                <a16:creationId xmlns:a16="http://schemas.microsoft.com/office/drawing/2014/main" id="{2A23A7CD-9BF0-4FC1-AA29-4DE539739100}"/>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8</a:t>
            </a:r>
            <a:endParaRPr sz="1000"/>
          </a:p>
        </p:txBody>
      </p:sp>
    </p:spTree>
    <p:extLst>
      <p:ext uri="{BB962C8B-B14F-4D97-AF65-F5344CB8AC3E}">
        <p14:creationId xmlns:p14="http://schemas.microsoft.com/office/powerpoint/2010/main" val="358605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33B2FB36-C138-4758-8099-64B1DB01A7DA}"/>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ENGINEERING CONTROL PLANE</a:t>
            </a:r>
            <a:endParaRPr sz="1100"/>
          </a:p>
        </p:txBody>
      </p:sp>
      <p:sp>
        <p:nvSpPr>
          <p:cNvPr id="3" name="Text 3">
            <a:extLst>
              <a:ext uri="{FF2B5EF4-FFF2-40B4-BE49-F238E27FC236}">
                <a16:creationId xmlns:a16="http://schemas.microsoft.com/office/drawing/2014/main" id="{562BBC4A-480C-4735-8835-20CADCFA3EC2}"/>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GitHub mediated every hand-off between one accountable human and parallel agents</a:t>
            </a:r>
            <a:endParaRPr sz="3000"/>
          </a:p>
        </p:txBody>
      </p:sp>
      <p:sp>
        <p:nvSpPr>
          <p:cNvPr id="4" name="Connector 4">
            <a:extLst>
              <a:ext uri="{FF2B5EF4-FFF2-40B4-BE49-F238E27FC236}">
                <a16:creationId xmlns:a16="http://schemas.microsoft.com/office/drawing/2014/main" id="{1DA7FF1C-737E-4928-9102-780B4574E690}"/>
              </a:ext>
            </a:extLst>
          </p:cNvPr>
          <p:cNvSpPr>
            <a:spLocks noGrp="1"/>
          </p:cNvSpPr>
          <p:nvPr/>
        </p:nvSpPr>
        <p:spPr>
          <a:xfrm>
            <a:off x="2571750" y="3162300"/>
            <a:ext cx="1714500" cy="0"/>
          </a:xfrm>
          <a:prstGeom prst="line">
            <a:avLst/>
          </a:prstGeom>
          <a:ln w="38100">
            <a:solidFill>
              <a:srgbClr val="D71920"/>
            </a:solidFill>
            <a:headEnd type="triangle"/>
            <a:tailEnd type="triangle"/>
          </a:ln>
        </p:spPr>
      </p:sp>
      <p:sp>
        <p:nvSpPr>
          <p:cNvPr id="5" name="Connector 5">
            <a:extLst>
              <a:ext uri="{FF2B5EF4-FFF2-40B4-BE49-F238E27FC236}">
                <a16:creationId xmlns:a16="http://schemas.microsoft.com/office/drawing/2014/main" id="{99984FA5-068B-42D3-91AC-E7700A2A23AF}"/>
              </a:ext>
            </a:extLst>
          </p:cNvPr>
          <p:cNvSpPr>
            <a:spLocks noGrp="1"/>
          </p:cNvSpPr>
          <p:nvPr/>
        </p:nvSpPr>
        <p:spPr>
          <a:xfrm flipV="1">
            <a:off x="6762750" y="2190750"/>
            <a:ext cx="2095500" cy="495300"/>
          </a:xfrm>
          <a:prstGeom prst="line">
            <a:avLst/>
          </a:prstGeom>
          <a:ln w="25400">
            <a:solidFill>
              <a:srgbClr val="2A5B84"/>
            </a:solidFill>
            <a:headEnd type="triangle"/>
            <a:tailEnd type="triangle"/>
          </a:ln>
        </p:spPr>
      </p:sp>
      <p:sp>
        <p:nvSpPr>
          <p:cNvPr id="6" name="Connector 6">
            <a:extLst>
              <a:ext uri="{FF2B5EF4-FFF2-40B4-BE49-F238E27FC236}">
                <a16:creationId xmlns:a16="http://schemas.microsoft.com/office/drawing/2014/main" id="{6AD9953B-DCCB-4D11-AB2A-E426AD0F1C0A}"/>
              </a:ext>
            </a:extLst>
          </p:cNvPr>
          <p:cNvSpPr>
            <a:spLocks noGrp="1"/>
          </p:cNvSpPr>
          <p:nvPr/>
        </p:nvSpPr>
        <p:spPr>
          <a:xfrm>
            <a:off x="6762750" y="3162300"/>
            <a:ext cx="2095500" cy="0"/>
          </a:xfrm>
          <a:prstGeom prst="line">
            <a:avLst/>
          </a:prstGeom>
          <a:ln w="25400">
            <a:solidFill>
              <a:srgbClr val="2A5B84"/>
            </a:solidFill>
            <a:headEnd type="triangle"/>
            <a:tailEnd type="triangle"/>
          </a:ln>
        </p:spPr>
      </p:sp>
      <p:sp>
        <p:nvSpPr>
          <p:cNvPr id="7" name="Connector 7">
            <a:extLst>
              <a:ext uri="{FF2B5EF4-FFF2-40B4-BE49-F238E27FC236}">
                <a16:creationId xmlns:a16="http://schemas.microsoft.com/office/drawing/2014/main" id="{5EF73A74-7989-4DD3-B22C-DDB4BF76CE60}"/>
              </a:ext>
            </a:extLst>
          </p:cNvPr>
          <p:cNvSpPr>
            <a:spLocks noGrp="1"/>
          </p:cNvSpPr>
          <p:nvPr/>
        </p:nvSpPr>
        <p:spPr>
          <a:xfrm>
            <a:off x="6762750" y="3638550"/>
            <a:ext cx="2095500" cy="495300"/>
          </a:xfrm>
          <a:prstGeom prst="line">
            <a:avLst/>
          </a:prstGeom>
          <a:ln w="25400">
            <a:solidFill>
              <a:srgbClr val="2A5B84"/>
            </a:solidFill>
            <a:headEnd type="triangle"/>
            <a:tailEnd type="triangle"/>
          </a:ln>
        </p:spPr>
      </p:sp>
      <p:sp>
        <p:nvSpPr>
          <p:cNvPr id="8" name="Shape 8">
            <a:extLst>
              <a:ext uri="{FF2B5EF4-FFF2-40B4-BE49-F238E27FC236}">
                <a16:creationId xmlns:a16="http://schemas.microsoft.com/office/drawing/2014/main" id="{91373C5A-9812-4F77-8BD5-04AD5DF5DDA3}"/>
              </a:ext>
            </a:extLst>
          </p:cNvPr>
          <p:cNvSpPr>
            <a:spLocks noGrp="1"/>
          </p:cNvSpPr>
          <p:nvPr/>
        </p:nvSpPr>
        <p:spPr>
          <a:xfrm>
            <a:off x="800100" y="2305050"/>
            <a:ext cx="1771650" cy="1771650"/>
          </a:xfrm>
          <a:prstGeom prst="ellipse">
            <a:avLst/>
          </a:prstGeom>
          <a:solidFill>
            <a:srgbClr val="FCEBEC"/>
          </a:solidFill>
          <a:ln w="38100">
            <a:solidFill>
              <a:srgbClr val="D71920"/>
            </a:solidFill>
          </a:ln>
        </p:spPr>
      </p:sp>
      <p:pic>
        <p:nvPicPr>
          <p:cNvPr id="56" name="Picture 9"/>
          <p:cNvPicPr>
            <a:picLocks noChangeAspect="1"/>
          </p:cNvPicPr>
          <p:nvPr/>
        </p:nvPicPr>
        <p:blipFill>
          <a:blip r:embed="rId3"/>
          <a:stretch>
            <a:fillRect/>
          </a:stretch>
        </p:blipFill>
        <p:spPr>
          <a:xfrm>
            <a:off x="1381125" y="2533650"/>
            <a:ext cx="609600" cy="609600"/>
          </a:xfrm>
          <a:prstGeom prst="rect">
            <a:avLst/>
          </a:prstGeom>
          <a:ln>
            <a:noFill/>
          </a:ln>
        </p:spPr>
      </p:pic>
      <p:sp>
        <p:nvSpPr>
          <p:cNvPr id="10" name="Text 10">
            <a:extLst>
              <a:ext uri="{FF2B5EF4-FFF2-40B4-BE49-F238E27FC236}">
                <a16:creationId xmlns:a16="http://schemas.microsoft.com/office/drawing/2014/main" id="{370796EA-7A74-4C42-BF5C-730C918592EF}"/>
              </a:ext>
            </a:extLst>
          </p:cNvPr>
          <p:cNvSpPr>
            <a:spLocks noGrp="1"/>
          </p:cNvSpPr>
          <p:nvPr/>
        </p:nvSpPr>
        <p:spPr>
          <a:xfrm>
            <a:off x="1047750" y="3219450"/>
            <a:ext cx="1276350" cy="285750"/>
          </a:xfrm>
          <a:prstGeom prst="rect">
            <a:avLst/>
          </a:prstGeom>
          <a:noFill/>
          <a:ln>
            <a:noFill/>
          </a:ln>
        </p:spPr>
        <p:txBody>
          <a:bodyPr wrap="square" lIns="0" tIns="0" rIns="0" bIns="0" anchor="t"/>
          <a:lstStyle/>
          <a:p>
            <a:pPr algn="ctr">
              <a:buNone/>
            </a:pPr>
            <a:r>
              <a:rPr sz="1800" b="1">
                <a:solidFill>
                  <a:srgbClr val="981B1E"/>
                </a:solidFill>
                <a:latin typeface="Arial"/>
                <a:ea typeface="Arial"/>
                <a:cs typeface="Arial"/>
              </a:rPr>
              <a:t>HUMAN</a:t>
            </a:r>
            <a:endParaRPr sz="1800"/>
          </a:p>
        </p:txBody>
      </p:sp>
      <p:sp>
        <p:nvSpPr>
          <p:cNvPr id="11" name="Text 11">
            <a:extLst>
              <a:ext uri="{FF2B5EF4-FFF2-40B4-BE49-F238E27FC236}">
                <a16:creationId xmlns:a16="http://schemas.microsoft.com/office/drawing/2014/main" id="{2F410AD3-781E-4FD7-A562-6B31322634F8}"/>
              </a:ext>
            </a:extLst>
          </p:cNvPr>
          <p:cNvSpPr>
            <a:spLocks noGrp="1"/>
          </p:cNvSpPr>
          <p:nvPr/>
        </p:nvSpPr>
        <p:spPr>
          <a:xfrm>
            <a:off x="1009650" y="3562350"/>
            <a:ext cx="1352550" cy="266700"/>
          </a:xfrm>
          <a:prstGeom prst="rect">
            <a:avLst/>
          </a:prstGeom>
          <a:noFill/>
          <a:ln>
            <a:noFill/>
          </a:ln>
        </p:spPr>
        <p:txBody>
          <a:bodyPr wrap="square" lIns="0" tIns="0" rIns="0" bIns="0" anchor="t"/>
          <a:lstStyle/>
          <a:p>
            <a:pPr algn="ctr">
              <a:buNone/>
            </a:pPr>
            <a:r>
              <a:rPr sz="1300" b="0">
                <a:solidFill>
                  <a:srgbClr val="17212B"/>
                </a:solidFill>
                <a:latin typeface="Arial"/>
                <a:ea typeface="Arial"/>
                <a:cs typeface="Arial"/>
              </a:rPr>
              <a:t>Prioritizes and accepts</a:t>
            </a:r>
            <a:endParaRPr sz="1300"/>
          </a:p>
        </p:txBody>
      </p:sp>
      <p:sp>
        <p:nvSpPr>
          <p:cNvPr id="12" name="Shape 12">
            <a:extLst>
              <a:ext uri="{FF2B5EF4-FFF2-40B4-BE49-F238E27FC236}">
                <a16:creationId xmlns:a16="http://schemas.microsoft.com/office/drawing/2014/main" id="{98878372-784B-4834-819B-152EEE3BFC7E}"/>
              </a:ext>
            </a:extLst>
          </p:cNvPr>
          <p:cNvSpPr>
            <a:spLocks noGrp="1"/>
          </p:cNvSpPr>
          <p:nvPr/>
        </p:nvSpPr>
        <p:spPr>
          <a:xfrm>
            <a:off x="4286250" y="1924050"/>
            <a:ext cx="2476500" cy="2476500"/>
          </a:xfrm>
          <a:prstGeom prst="ellipse">
            <a:avLst/>
          </a:prstGeom>
          <a:solidFill>
            <a:srgbClr val="17212B"/>
          </a:solidFill>
          <a:ln w="12700">
            <a:solidFill>
              <a:srgbClr val="17212B"/>
            </a:solidFill>
          </a:ln>
        </p:spPr>
      </p:sp>
      <p:pic>
        <p:nvPicPr>
          <p:cNvPr id="60" name="Picture 13"/>
          <p:cNvPicPr>
            <a:picLocks noChangeAspect="1"/>
          </p:cNvPicPr>
          <p:nvPr/>
        </p:nvPicPr>
        <p:blipFill>
          <a:blip r:embed="rId4"/>
          <a:stretch>
            <a:fillRect/>
          </a:stretch>
        </p:blipFill>
        <p:spPr>
          <a:xfrm>
            <a:off x="5124450" y="2228850"/>
            <a:ext cx="800100" cy="800100"/>
          </a:xfrm>
          <a:prstGeom prst="rect">
            <a:avLst/>
          </a:prstGeom>
          <a:ln>
            <a:noFill/>
          </a:ln>
        </p:spPr>
      </p:pic>
      <p:sp>
        <p:nvSpPr>
          <p:cNvPr id="14" name="Text 14">
            <a:extLst>
              <a:ext uri="{FF2B5EF4-FFF2-40B4-BE49-F238E27FC236}">
                <a16:creationId xmlns:a16="http://schemas.microsoft.com/office/drawing/2014/main" id="{55C8C98B-8386-4C29-82E4-4F26E8412617}"/>
              </a:ext>
            </a:extLst>
          </p:cNvPr>
          <p:cNvSpPr>
            <a:spLocks noGrp="1"/>
          </p:cNvSpPr>
          <p:nvPr/>
        </p:nvSpPr>
        <p:spPr>
          <a:xfrm>
            <a:off x="4629150" y="3105150"/>
            <a:ext cx="1790700" cy="247650"/>
          </a:xfrm>
          <a:prstGeom prst="rect">
            <a:avLst/>
          </a:prstGeom>
          <a:noFill/>
          <a:ln>
            <a:noFill/>
          </a:ln>
        </p:spPr>
        <p:txBody>
          <a:bodyPr wrap="square" lIns="0" tIns="0" rIns="0" bIns="0" anchor="t"/>
          <a:lstStyle/>
          <a:p>
            <a:pPr algn="ctr">
              <a:buNone/>
            </a:pPr>
            <a:r>
              <a:rPr sz="1900" b="1">
                <a:solidFill>
                  <a:srgbClr val="FF8589"/>
                </a:solidFill>
                <a:latin typeface="Arial"/>
                <a:ea typeface="Arial"/>
                <a:cs typeface="Arial"/>
              </a:rPr>
              <a:t>GITHUB</a:t>
            </a:r>
            <a:endParaRPr sz="1900"/>
          </a:p>
        </p:txBody>
      </p:sp>
      <p:sp>
        <p:nvSpPr>
          <p:cNvPr id="15" name="Text 15">
            <a:extLst>
              <a:ext uri="{FF2B5EF4-FFF2-40B4-BE49-F238E27FC236}">
                <a16:creationId xmlns:a16="http://schemas.microsoft.com/office/drawing/2014/main" id="{74EA22E4-47C8-432B-88AB-36107FBD23B4}"/>
              </a:ext>
            </a:extLst>
          </p:cNvPr>
          <p:cNvSpPr>
            <a:spLocks noGrp="1"/>
          </p:cNvSpPr>
          <p:nvPr/>
        </p:nvSpPr>
        <p:spPr>
          <a:xfrm>
            <a:off x="4629150" y="3409950"/>
            <a:ext cx="1790700" cy="419100"/>
          </a:xfrm>
          <a:prstGeom prst="rect">
            <a:avLst/>
          </a:prstGeom>
          <a:noFill/>
          <a:ln>
            <a:noFill/>
          </a:ln>
        </p:spPr>
        <p:txBody>
          <a:bodyPr wrap="square" lIns="0" tIns="0" rIns="0" bIns="0" anchor="t"/>
          <a:lstStyle/>
          <a:p>
            <a:pPr algn="ctr">
              <a:buNone/>
            </a:pPr>
            <a:r>
              <a:rPr sz="1800" b="1">
                <a:solidFill>
                  <a:srgbClr val="FF8589"/>
                </a:solidFill>
                <a:latin typeface="Arial"/>
                <a:ea typeface="Arial"/>
                <a:cs typeface="Arial"/>
              </a:rPr>
              <a:t>CONTROL PLANE</a:t>
            </a:r>
            <a:endParaRPr sz="1800"/>
          </a:p>
        </p:txBody>
      </p:sp>
      <p:sp>
        <p:nvSpPr>
          <p:cNvPr id="16" name="Text 16">
            <a:extLst>
              <a:ext uri="{FF2B5EF4-FFF2-40B4-BE49-F238E27FC236}">
                <a16:creationId xmlns:a16="http://schemas.microsoft.com/office/drawing/2014/main" id="{1D07F296-B9BC-4971-B610-C236E4B88233}"/>
              </a:ext>
            </a:extLst>
          </p:cNvPr>
          <p:cNvSpPr>
            <a:spLocks noGrp="1"/>
          </p:cNvSpPr>
          <p:nvPr/>
        </p:nvSpPr>
        <p:spPr>
          <a:xfrm>
            <a:off x="4629150" y="3905250"/>
            <a:ext cx="1790700" cy="190500"/>
          </a:xfrm>
          <a:prstGeom prst="rect">
            <a:avLst/>
          </a:prstGeom>
          <a:noFill/>
          <a:ln>
            <a:noFill/>
          </a:ln>
        </p:spPr>
        <p:txBody>
          <a:bodyPr wrap="square" lIns="0" tIns="0" rIns="0" bIns="0" anchor="t"/>
          <a:lstStyle/>
          <a:p>
            <a:pPr algn="ctr">
              <a:buNone/>
            </a:pPr>
            <a:r>
              <a:rPr sz="1200" b="0">
                <a:solidFill>
                  <a:srgbClr val="DDE3E8"/>
                </a:solidFill>
                <a:latin typeface="Arial"/>
                <a:ea typeface="Arial"/>
                <a:cs typeface="Arial"/>
              </a:rPr>
              <a:t>work state + evidence</a:t>
            </a:r>
            <a:endParaRPr sz="1200"/>
          </a:p>
        </p:txBody>
      </p:sp>
      <p:sp>
        <p:nvSpPr>
          <p:cNvPr id="17" name="Shape 17">
            <a:extLst>
              <a:ext uri="{FF2B5EF4-FFF2-40B4-BE49-F238E27FC236}">
                <a16:creationId xmlns:a16="http://schemas.microsoft.com/office/drawing/2014/main" id="{24E2EF36-B879-4AE7-9D4B-35149F3F1E39}"/>
              </a:ext>
            </a:extLst>
          </p:cNvPr>
          <p:cNvSpPr>
            <a:spLocks noGrp="1"/>
          </p:cNvSpPr>
          <p:nvPr/>
        </p:nvSpPr>
        <p:spPr>
          <a:xfrm>
            <a:off x="8858250" y="1714500"/>
            <a:ext cx="2476500" cy="781050"/>
          </a:xfrm>
          <a:prstGeom prst="roundRect">
            <a:avLst/>
          </a:prstGeom>
          <a:solidFill>
            <a:srgbClr val="EAF1F7"/>
          </a:solidFill>
          <a:ln w="25400">
            <a:solidFill>
              <a:srgbClr val="2A5B84"/>
            </a:solidFill>
          </a:ln>
        </p:spPr>
      </p:sp>
      <p:sp>
        <p:nvSpPr>
          <p:cNvPr id="18" name="Shape 18">
            <a:extLst>
              <a:ext uri="{FF2B5EF4-FFF2-40B4-BE49-F238E27FC236}">
                <a16:creationId xmlns:a16="http://schemas.microsoft.com/office/drawing/2014/main" id="{0592E481-3715-4B95-AFF8-93701F055B23}"/>
              </a:ext>
            </a:extLst>
          </p:cNvPr>
          <p:cNvSpPr>
            <a:spLocks noGrp="1"/>
          </p:cNvSpPr>
          <p:nvPr/>
        </p:nvSpPr>
        <p:spPr>
          <a:xfrm>
            <a:off x="9010650" y="1866900"/>
            <a:ext cx="476250" cy="476250"/>
          </a:xfrm>
          <a:prstGeom prst="roundRect">
            <a:avLst/>
          </a:prstGeom>
          <a:solidFill>
            <a:srgbClr val="FFFFFF"/>
          </a:solidFill>
          <a:ln w="19050">
            <a:solidFill>
              <a:srgbClr val="2A5B84"/>
            </a:solidFill>
          </a:ln>
        </p:spPr>
      </p:sp>
      <p:pic>
        <p:nvPicPr>
          <p:cNvPr id="66" name="Picture 19"/>
          <p:cNvPicPr>
            <a:picLocks noChangeAspect="1"/>
          </p:cNvPicPr>
          <p:nvPr/>
        </p:nvPicPr>
        <p:blipFill>
          <a:blip r:embed="rId5"/>
          <a:stretch>
            <a:fillRect/>
          </a:stretch>
        </p:blipFill>
        <p:spPr>
          <a:xfrm>
            <a:off x="9134475" y="1990725"/>
            <a:ext cx="228600" cy="228600"/>
          </a:xfrm>
          <a:prstGeom prst="rect">
            <a:avLst/>
          </a:prstGeom>
          <a:ln>
            <a:noFill/>
          </a:ln>
        </p:spPr>
      </p:pic>
      <p:sp>
        <p:nvSpPr>
          <p:cNvPr id="20" name="Text 20">
            <a:extLst>
              <a:ext uri="{FF2B5EF4-FFF2-40B4-BE49-F238E27FC236}">
                <a16:creationId xmlns:a16="http://schemas.microsoft.com/office/drawing/2014/main" id="{9466EAFB-DD14-4737-94F6-14DBD657AD69}"/>
              </a:ext>
            </a:extLst>
          </p:cNvPr>
          <p:cNvSpPr>
            <a:spLocks noGrp="1"/>
          </p:cNvSpPr>
          <p:nvPr/>
        </p:nvSpPr>
        <p:spPr>
          <a:xfrm>
            <a:off x="9639300" y="1828800"/>
            <a:ext cx="1504950" cy="228600"/>
          </a:xfrm>
          <a:prstGeom prst="rect">
            <a:avLst/>
          </a:prstGeom>
          <a:noFill/>
          <a:ln>
            <a:noFill/>
          </a:ln>
        </p:spPr>
        <p:txBody>
          <a:bodyPr wrap="square" lIns="0" tIns="0" rIns="0" bIns="0" anchor="t"/>
          <a:lstStyle/>
          <a:p>
            <a:pPr algn="l">
              <a:buNone/>
            </a:pPr>
            <a:r>
              <a:rPr sz="1500" b="1">
                <a:solidFill>
                  <a:srgbClr val="2A5B84"/>
                </a:solidFill>
                <a:latin typeface="Arial"/>
                <a:ea typeface="Arial"/>
                <a:cs typeface="Arial"/>
              </a:rPr>
              <a:t>AGENT A</a:t>
            </a:r>
            <a:endParaRPr sz="1500"/>
          </a:p>
        </p:txBody>
      </p:sp>
      <p:sp>
        <p:nvSpPr>
          <p:cNvPr id="21" name="Text 21">
            <a:extLst>
              <a:ext uri="{FF2B5EF4-FFF2-40B4-BE49-F238E27FC236}">
                <a16:creationId xmlns:a16="http://schemas.microsoft.com/office/drawing/2014/main" id="{97581D5A-5D9F-4F7B-AC9D-A9DBB6A54D6E}"/>
              </a:ext>
            </a:extLst>
          </p:cNvPr>
          <p:cNvSpPr>
            <a:spLocks noGrp="1"/>
          </p:cNvSpPr>
          <p:nvPr/>
        </p:nvSpPr>
        <p:spPr>
          <a:xfrm>
            <a:off x="9639300" y="2114550"/>
            <a:ext cx="1504950" cy="266700"/>
          </a:xfrm>
          <a:prstGeom prst="rect">
            <a:avLst/>
          </a:prstGeom>
          <a:noFill/>
          <a:ln>
            <a:noFill/>
          </a:ln>
        </p:spPr>
        <p:txBody>
          <a:bodyPr wrap="square" lIns="0" tIns="0" rIns="0" bIns="0" anchor="t"/>
          <a:lstStyle/>
          <a:p>
            <a:pPr algn="l">
              <a:buNone/>
            </a:pPr>
            <a:r>
              <a:rPr sz="1300" b="0">
                <a:solidFill>
                  <a:srgbClr val="17212B"/>
                </a:solidFill>
                <a:latin typeface="Arial"/>
                <a:ea typeface="Arial"/>
                <a:cs typeface="Arial"/>
              </a:rPr>
              <a:t>bounded implementation</a:t>
            </a:r>
            <a:endParaRPr sz="1300"/>
          </a:p>
        </p:txBody>
      </p:sp>
      <p:sp>
        <p:nvSpPr>
          <p:cNvPr id="22" name="Shape 22">
            <a:extLst>
              <a:ext uri="{FF2B5EF4-FFF2-40B4-BE49-F238E27FC236}">
                <a16:creationId xmlns:a16="http://schemas.microsoft.com/office/drawing/2014/main" id="{031BFA70-79C5-423E-B679-F095C6794488}"/>
              </a:ext>
            </a:extLst>
          </p:cNvPr>
          <p:cNvSpPr>
            <a:spLocks noGrp="1"/>
          </p:cNvSpPr>
          <p:nvPr/>
        </p:nvSpPr>
        <p:spPr>
          <a:xfrm>
            <a:off x="8858250" y="2733675"/>
            <a:ext cx="2476500" cy="781050"/>
          </a:xfrm>
          <a:prstGeom prst="roundRect">
            <a:avLst/>
          </a:prstGeom>
          <a:solidFill>
            <a:srgbClr val="EAF1F7"/>
          </a:solidFill>
          <a:ln w="25400">
            <a:solidFill>
              <a:srgbClr val="2A5B84"/>
            </a:solidFill>
          </a:ln>
        </p:spPr>
      </p:sp>
      <p:sp>
        <p:nvSpPr>
          <p:cNvPr id="23" name="Shape 23">
            <a:extLst>
              <a:ext uri="{FF2B5EF4-FFF2-40B4-BE49-F238E27FC236}">
                <a16:creationId xmlns:a16="http://schemas.microsoft.com/office/drawing/2014/main" id="{00FB9E9B-236A-40F0-BFF4-CB3D7495C221}"/>
              </a:ext>
            </a:extLst>
          </p:cNvPr>
          <p:cNvSpPr>
            <a:spLocks noGrp="1"/>
          </p:cNvSpPr>
          <p:nvPr/>
        </p:nvSpPr>
        <p:spPr>
          <a:xfrm>
            <a:off x="9010650" y="2886075"/>
            <a:ext cx="476250" cy="476250"/>
          </a:xfrm>
          <a:prstGeom prst="roundRect">
            <a:avLst/>
          </a:prstGeom>
          <a:solidFill>
            <a:srgbClr val="FFFFFF"/>
          </a:solidFill>
          <a:ln w="19050">
            <a:solidFill>
              <a:srgbClr val="2A5B84"/>
            </a:solidFill>
          </a:ln>
        </p:spPr>
      </p:sp>
      <p:pic>
        <p:nvPicPr>
          <p:cNvPr id="71" name="Picture 24"/>
          <p:cNvPicPr>
            <a:picLocks noChangeAspect="1"/>
          </p:cNvPicPr>
          <p:nvPr/>
        </p:nvPicPr>
        <p:blipFill>
          <a:blip r:embed="rId5"/>
          <a:stretch>
            <a:fillRect/>
          </a:stretch>
        </p:blipFill>
        <p:spPr>
          <a:xfrm>
            <a:off x="9134475" y="3009900"/>
            <a:ext cx="228600" cy="228600"/>
          </a:xfrm>
          <a:prstGeom prst="rect">
            <a:avLst/>
          </a:prstGeom>
          <a:ln>
            <a:noFill/>
          </a:ln>
        </p:spPr>
      </p:pic>
      <p:sp>
        <p:nvSpPr>
          <p:cNvPr id="25" name="Text 25">
            <a:extLst>
              <a:ext uri="{FF2B5EF4-FFF2-40B4-BE49-F238E27FC236}">
                <a16:creationId xmlns:a16="http://schemas.microsoft.com/office/drawing/2014/main" id="{A953D755-2A7F-43E5-9E32-FF51E2CC31DD}"/>
              </a:ext>
            </a:extLst>
          </p:cNvPr>
          <p:cNvSpPr>
            <a:spLocks noGrp="1"/>
          </p:cNvSpPr>
          <p:nvPr/>
        </p:nvSpPr>
        <p:spPr>
          <a:xfrm>
            <a:off x="9639300" y="2847975"/>
            <a:ext cx="1504950" cy="228600"/>
          </a:xfrm>
          <a:prstGeom prst="rect">
            <a:avLst/>
          </a:prstGeom>
          <a:noFill/>
          <a:ln>
            <a:noFill/>
          </a:ln>
        </p:spPr>
        <p:txBody>
          <a:bodyPr wrap="square" lIns="0" tIns="0" rIns="0" bIns="0" anchor="t"/>
          <a:lstStyle/>
          <a:p>
            <a:pPr algn="l">
              <a:buNone/>
            </a:pPr>
            <a:r>
              <a:rPr sz="1500" b="1">
                <a:solidFill>
                  <a:srgbClr val="2A5B84"/>
                </a:solidFill>
                <a:latin typeface="Arial"/>
                <a:ea typeface="Arial"/>
                <a:cs typeface="Arial"/>
              </a:rPr>
              <a:t>AGENT B</a:t>
            </a:r>
            <a:endParaRPr sz="1500"/>
          </a:p>
        </p:txBody>
      </p:sp>
      <p:sp>
        <p:nvSpPr>
          <p:cNvPr id="26" name="Text 26">
            <a:extLst>
              <a:ext uri="{FF2B5EF4-FFF2-40B4-BE49-F238E27FC236}">
                <a16:creationId xmlns:a16="http://schemas.microsoft.com/office/drawing/2014/main" id="{C956F574-5E60-45CA-B8DD-1C27563512D4}"/>
              </a:ext>
            </a:extLst>
          </p:cNvPr>
          <p:cNvSpPr>
            <a:spLocks noGrp="1"/>
          </p:cNvSpPr>
          <p:nvPr/>
        </p:nvSpPr>
        <p:spPr>
          <a:xfrm>
            <a:off x="9639300" y="3133725"/>
            <a:ext cx="1504950" cy="266700"/>
          </a:xfrm>
          <a:prstGeom prst="rect">
            <a:avLst/>
          </a:prstGeom>
          <a:noFill/>
          <a:ln>
            <a:noFill/>
          </a:ln>
        </p:spPr>
        <p:txBody>
          <a:bodyPr wrap="square" lIns="0" tIns="0" rIns="0" bIns="0" anchor="t"/>
          <a:lstStyle/>
          <a:p>
            <a:pPr algn="l">
              <a:buNone/>
            </a:pPr>
            <a:r>
              <a:rPr sz="1300" b="0">
                <a:solidFill>
                  <a:srgbClr val="17212B"/>
                </a:solidFill>
                <a:latin typeface="Arial"/>
                <a:ea typeface="Arial"/>
                <a:cs typeface="Arial"/>
              </a:rPr>
              <a:t>independent review</a:t>
            </a:r>
            <a:endParaRPr sz="1300"/>
          </a:p>
        </p:txBody>
      </p:sp>
      <p:sp>
        <p:nvSpPr>
          <p:cNvPr id="27" name="Shape 27">
            <a:extLst>
              <a:ext uri="{FF2B5EF4-FFF2-40B4-BE49-F238E27FC236}">
                <a16:creationId xmlns:a16="http://schemas.microsoft.com/office/drawing/2014/main" id="{8F2B845A-C968-4349-A2E5-1F7CF8F367CB}"/>
              </a:ext>
            </a:extLst>
          </p:cNvPr>
          <p:cNvSpPr>
            <a:spLocks noGrp="1"/>
          </p:cNvSpPr>
          <p:nvPr/>
        </p:nvSpPr>
        <p:spPr>
          <a:xfrm>
            <a:off x="8858250" y="3752850"/>
            <a:ext cx="2476500" cy="781050"/>
          </a:xfrm>
          <a:prstGeom prst="roundRect">
            <a:avLst/>
          </a:prstGeom>
          <a:solidFill>
            <a:srgbClr val="EAF1F7"/>
          </a:solidFill>
          <a:ln w="25400">
            <a:solidFill>
              <a:srgbClr val="2A5B84"/>
            </a:solidFill>
          </a:ln>
        </p:spPr>
      </p:sp>
      <p:sp>
        <p:nvSpPr>
          <p:cNvPr id="28" name="Shape 28">
            <a:extLst>
              <a:ext uri="{FF2B5EF4-FFF2-40B4-BE49-F238E27FC236}">
                <a16:creationId xmlns:a16="http://schemas.microsoft.com/office/drawing/2014/main" id="{3BF38E5A-98C0-4B50-A954-2391D05496DE}"/>
              </a:ext>
            </a:extLst>
          </p:cNvPr>
          <p:cNvSpPr>
            <a:spLocks noGrp="1"/>
          </p:cNvSpPr>
          <p:nvPr/>
        </p:nvSpPr>
        <p:spPr>
          <a:xfrm>
            <a:off x="9010650" y="3905250"/>
            <a:ext cx="476250" cy="476250"/>
          </a:xfrm>
          <a:prstGeom prst="roundRect">
            <a:avLst/>
          </a:prstGeom>
          <a:solidFill>
            <a:srgbClr val="FFFFFF"/>
          </a:solidFill>
          <a:ln w="19050">
            <a:solidFill>
              <a:srgbClr val="2A5B84"/>
            </a:solidFill>
          </a:ln>
        </p:spPr>
      </p:sp>
      <p:pic>
        <p:nvPicPr>
          <p:cNvPr id="76" name="Picture 29"/>
          <p:cNvPicPr>
            <a:picLocks noChangeAspect="1"/>
          </p:cNvPicPr>
          <p:nvPr/>
        </p:nvPicPr>
        <p:blipFill>
          <a:blip r:embed="rId5"/>
          <a:stretch>
            <a:fillRect/>
          </a:stretch>
        </p:blipFill>
        <p:spPr>
          <a:xfrm>
            <a:off x="9134475" y="4029075"/>
            <a:ext cx="228600" cy="228600"/>
          </a:xfrm>
          <a:prstGeom prst="rect">
            <a:avLst/>
          </a:prstGeom>
          <a:ln>
            <a:noFill/>
          </a:ln>
        </p:spPr>
      </p:pic>
      <p:sp>
        <p:nvSpPr>
          <p:cNvPr id="30" name="Text 30">
            <a:extLst>
              <a:ext uri="{FF2B5EF4-FFF2-40B4-BE49-F238E27FC236}">
                <a16:creationId xmlns:a16="http://schemas.microsoft.com/office/drawing/2014/main" id="{80E55124-F1F9-4F88-A46A-48B751A481E2}"/>
              </a:ext>
            </a:extLst>
          </p:cNvPr>
          <p:cNvSpPr>
            <a:spLocks noGrp="1"/>
          </p:cNvSpPr>
          <p:nvPr/>
        </p:nvSpPr>
        <p:spPr>
          <a:xfrm>
            <a:off x="9639300" y="3867150"/>
            <a:ext cx="1504950" cy="228600"/>
          </a:xfrm>
          <a:prstGeom prst="rect">
            <a:avLst/>
          </a:prstGeom>
          <a:noFill/>
          <a:ln>
            <a:noFill/>
          </a:ln>
        </p:spPr>
        <p:txBody>
          <a:bodyPr wrap="square" lIns="0" tIns="0" rIns="0" bIns="0" anchor="t"/>
          <a:lstStyle/>
          <a:p>
            <a:pPr algn="l">
              <a:buNone/>
            </a:pPr>
            <a:r>
              <a:rPr sz="1500" b="1">
                <a:solidFill>
                  <a:srgbClr val="2A5B84"/>
                </a:solidFill>
                <a:latin typeface="Arial"/>
                <a:ea typeface="Arial"/>
                <a:cs typeface="Arial"/>
              </a:rPr>
              <a:t>AGENT C</a:t>
            </a:r>
            <a:endParaRPr sz="1500"/>
          </a:p>
        </p:txBody>
      </p:sp>
      <p:sp>
        <p:nvSpPr>
          <p:cNvPr id="31" name="Text 31">
            <a:extLst>
              <a:ext uri="{FF2B5EF4-FFF2-40B4-BE49-F238E27FC236}">
                <a16:creationId xmlns:a16="http://schemas.microsoft.com/office/drawing/2014/main" id="{4CF40D37-BCCC-4DE0-A9BF-1EC8AF60A056}"/>
              </a:ext>
            </a:extLst>
          </p:cNvPr>
          <p:cNvSpPr>
            <a:spLocks noGrp="1"/>
          </p:cNvSpPr>
          <p:nvPr/>
        </p:nvSpPr>
        <p:spPr>
          <a:xfrm>
            <a:off x="9639300" y="4152900"/>
            <a:ext cx="1504950" cy="266700"/>
          </a:xfrm>
          <a:prstGeom prst="rect">
            <a:avLst/>
          </a:prstGeom>
          <a:noFill/>
          <a:ln>
            <a:noFill/>
          </a:ln>
        </p:spPr>
        <p:txBody>
          <a:bodyPr wrap="square" lIns="0" tIns="0" rIns="0" bIns="0" anchor="t"/>
          <a:lstStyle/>
          <a:p>
            <a:pPr algn="l">
              <a:buNone/>
            </a:pPr>
            <a:r>
              <a:rPr sz="1300" b="0">
                <a:solidFill>
                  <a:srgbClr val="17212B"/>
                </a:solidFill>
                <a:latin typeface="Arial"/>
                <a:ea typeface="Arial"/>
                <a:cs typeface="Arial"/>
              </a:rPr>
              <a:t>verification or docs</a:t>
            </a:r>
            <a:endParaRPr sz="1300"/>
          </a:p>
        </p:txBody>
      </p:sp>
      <p:sp>
        <p:nvSpPr>
          <p:cNvPr id="32" name="Shape 32">
            <a:extLst>
              <a:ext uri="{FF2B5EF4-FFF2-40B4-BE49-F238E27FC236}">
                <a16:creationId xmlns:a16="http://schemas.microsoft.com/office/drawing/2014/main" id="{9455D5EB-E549-4907-B2B7-EBF15202C4DE}"/>
              </a:ext>
            </a:extLst>
          </p:cNvPr>
          <p:cNvSpPr>
            <a:spLocks noGrp="1"/>
          </p:cNvSpPr>
          <p:nvPr/>
        </p:nvSpPr>
        <p:spPr>
          <a:xfrm>
            <a:off x="3143250" y="4819650"/>
            <a:ext cx="5334000" cy="1200150"/>
          </a:xfrm>
          <a:prstGeom prst="roundRect">
            <a:avLst/>
          </a:prstGeom>
          <a:solidFill>
            <a:srgbClr val="F4F6F8"/>
          </a:solidFill>
          <a:ln w="12700">
            <a:solidFill>
              <a:srgbClr val="D9DEE3"/>
            </a:solidFill>
          </a:ln>
        </p:spPr>
      </p:sp>
      <p:sp>
        <p:nvSpPr>
          <p:cNvPr id="33" name="Shape 33">
            <a:extLst>
              <a:ext uri="{FF2B5EF4-FFF2-40B4-BE49-F238E27FC236}">
                <a16:creationId xmlns:a16="http://schemas.microsoft.com/office/drawing/2014/main" id="{F0FF3FB7-04F7-47D7-883C-8084E0FB2CDC}"/>
              </a:ext>
            </a:extLst>
          </p:cNvPr>
          <p:cNvSpPr>
            <a:spLocks noGrp="1"/>
          </p:cNvSpPr>
          <p:nvPr/>
        </p:nvSpPr>
        <p:spPr>
          <a:xfrm>
            <a:off x="3352800" y="5105400"/>
            <a:ext cx="533400" cy="533400"/>
          </a:xfrm>
          <a:prstGeom prst="roundRect">
            <a:avLst/>
          </a:prstGeom>
          <a:solidFill>
            <a:srgbClr val="FFFFFF"/>
          </a:solidFill>
          <a:ln w="19050">
            <a:solidFill>
              <a:srgbClr val="D71920"/>
            </a:solidFill>
          </a:ln>
        </p:spPr>
      </p:sp>
      <p:pic>
        <p:nvPicPr>
          <p:cNvPr id="81" name="Picture 34"/>
          <p:cNvPicPr>
            <a:picLocks noChangeAspect="1"/>
          </p:cNvPicPr>
          <p:nvPr/>
        </p:nvPicPr>
        <p:blipFill>
          <a:blip r:embed="rId6"/>
          <a:stretch>
            <a:fillRect/>
          </a:stretch>
        </p:blipFill>
        <p:spPr>
          <a:xfrm>
            <a:off x="3486150" y="5238750"/>
            <a:ext cx="266700" cy="266700"/>
          </a:xfrm>
          <a:prstGeom prst="rect">
            <a:avLst/>
          </a:prstGeom>
          <a:ln>
            <a:noFill/>
          </a:ln>
        </p:spPr>
      </p:pic>
      <p:sp>
        <p:nvSpPr>
          <p:cNvPr id="35" name="Text 35">
            <a:extLst>
              <a:ext uri="{FF2B5EF4-FFF2-40B4-BE49-F238E27FC236}">
                <a16:creationId xmlns:a16="http://schemas.microsoft.com/office/drawing/2014/main" id="{18FD3D6A-9390-430F-8E75-BA3EAF06C647}"/>
              </a:ext>
            </a:extLst>
          </p:cNvPr>
          <p:cNvSpPr>
            <a:spLocks noGrp="1"/>
          </p:cNvSpPr>
          <p:nvPr/>
        </p:nvSpPr>
        <p:spPr>
          <a:xfrm>
            <a:off x="4114800" y="4953000"/>
            <a:ext cx="4000500" cy="247650"/>
          </a:xfrm>
          <a:prstGeom prst="rect">
            <a:avLst/>
          </a:prstGeom>
          <a:noFill/>
          <a:ln>
            <a:noFill/>
          </a:ln>
        </p:spPr>
        <p:txBody>
          <a:bodyPr wrap="square" lIns="0" tIns="0" rIns="0" bIns="0" anchor="t"/>
          <a:lstStyle/>
          <a:p>
            <a:pPr algn="l">
              <a:buNone/>
            </a:pPr>
            <a:r>
              <a:rPr sz="1300" b="1">
                <a:solidFill>
                  <a:srgbClr val="17212B"/>
                </a:solidFill>
                <a:latin typeface="Arial"/>
                <a:ea typeface="Arial"/>
                <a:cs typeface="Arial"/>
              </a:rPr>
              <a:t>NATIVE WORK GRAPH</a:t>
            </a:r>
            <a:endParaRPr sz="1300"/>
          </a:p>
        </p:txBody>
      </p:sp>
      <p:sp>
        <p:nvSpPr>
          <p:cNvPr id="36" name="Text 36">
            <a:extLst>
              <a:ext uri="{FF2B5EF4-FFF2-40B4-BE49-F238E27FC236}">
                <a16:creationId xmlns:a16="http://schemas.microsoft.com/office/drawing/2014/main" id="{8179C6ED-0EAF-4332-B394-05074042C8C0}"/>
              </a:ext>
            </a:extLst>
          </p:cNvPr>
          <p:cNvSpPr>
            <a:spLocks noGrp="1"/>
          </p:cNvSpPr>
          <p:nvPr/>
        </p:nvSpPr>
        <p:spPr>
          <a:xfrm>
            <a:off x="4114800" y="5238750"/>
            <a:ext cx="4000500" cy="323850"/>
          </a:xfrm>
          <a:prstGeom prst="rect">
            <a:avLst/>
          </a:prstGeom>
          <a:noFill/>
          <a:ln>
            <a:noFill/>
          </a:ln>
        </p:spPr>
        <p:txBody>
          <a:bodyPr wrap="square" lIns="0" tIns="0" rIns="0" bIns="0" anchor="t"/>
          <a:lstStyle/>
          <a:p>
            <a:pPr algn="l">
              <a:buNone/>
            </a:pPr>
            <a:r>
              <a:rPr sz="1400" b="0">
                <a:solidFill>
                  <a:srgbClr val="5D6873"/>
                </a:solidFill>
                <a:latin typeface="Arial"/>
                <a:ea typeface="Arial"/>
                <a:cs typeface="Arial"/>
              </a:rPr>
              <a:t>Issues, PRs, relations, milestones and lifecycle</a:t>
            </a:r>
            <a:endParaRPr sz="1400"/>
          </a:p>
        </p:txBody>
      </p:sp>
      <p:sp>
        <p:nvSpPr>
          <p:cNvPr id="37" name="Connector 37">
            <a:extLst>
              <a:ext uri="{FF2B5EF4-FFF2-40B4-BE49-F238E27FC236}">
                <a16:creationId xmlns:a16="http://schemas.microsoft.com/office/drawing/2014/main" id="{0AEB635D-6BDE-480B-A666-DB93076482C7}"/>
              </a:ext>
            </a:extLst>
          </p:cNvPr>
          <p:cNvSpPr>
            <a:spLocks noGrp="1"/>
          </p:cNvSpPr>
          <p:nvPr/>
        </p:nvSpPr>
        <p:spPr>
          <a:xfrm>
            <a:off x="4114800" y="5657850"/>
            <a:ext cx="4000500" cy="0"/>
          </a:xfrm>
          <a:prstGeom prst="line">
            <a:avLst/>
          </a:prstGeom>
          <a:ln w="12700">
            <a:solidFill>
              <a:srgbClr val="D9DEE3"/>
            </a:solidFill>
          </a:ln>
        </p:spPr>
      </p:sp>
      <p:sp>
        <p:nvSpPr>
          <p:cNvPr id="38" name="Text 38">
            <a:extLst>
              <a:ext uri="{FF2B5EF4-FFF2-40B4-BE49-F238E27FC236}">
                <a16:creationId xmlns:a16="http://schemas.microsoft.com/office/drawing/2014/main" id="{DC6C374B-F98E-48B0-B204-7DB23708F1EB}"/>
              </a:ext>
            </a:extLst>
          </p:cNvPr>
          <p:cNvSpPr>
            <a:spLocks noGrp="1"/>
          </p:cNvSpPr>
          <p:nvPr/>
        </p:nvSpPr>
        <p:spPr>
          <a:xfrm>
            <a:off x="4114800" y="5734050"/>
            <a:ext cx="4000500" cy="209550"/>
          </a:xfrm>
          <a:prstGeom prst="rect">
            <a:avLst/>
          </a:prstGeom>
          <a:noFill/>
          <a:ln>
            <a:noFill/>
          </a:ln>
        </p:spPr>
        <p:txBody>
          <a:bodyPr wrap="square" lIns="0" tIns="0" rIns="0" bIns="0" anchor="t"/>
          <a:lstStyle/>
          <a:p>
            <a:pPr algn="l">
              <a:buNone/>
            </a:pPr>
            <a:r>
              <a:rPr sz="1300" b="1">
                <a:solidFill>
                  <a:srgbClr val="981B1E"/>
                </a:solidFill>
                <a:latin typeface="Arial"/>
                <a:ea typeface="Arial"/>
                <a:cs typeface="Arial"/>
              </a:rPr>
              <a:t>Delivery priority · Discovery disposition</a:t>
            </a:r>
            <a:endParaRPr sz="1300"/>
          </a:p>
        </p:txBody>
      </p:sp>
      <p:sp>
        <p:nvSpPr>
          <p:cNvPr id="39" name="Text 39">
            <a:extLst>
              <a:ext uri="{FF2B5EF4-FFF2-40B4-BE49-F238E27FC236}">
                <a16:creationId xmlns:a16="http://schemas.microsoft.com/office/drawing/2014/main" id="{C4B18DAE-8539-4A8F-917D-61A1DE1CE75E}"/>
              </a:ext>
            </a:extLst>
          </p:cNvPr>
          <p:cNvSpPr>
            <a:spLocks noGrp="1"/>
          </p:cNvSpPr>
          <p:nvPr/>
        </p:nvSpPr>
        <p:spPr>
          <a:xfrm>
            <a:off x="8724900" y="4895850"/>
            <a:ext cx="2762250" cy="1066800"/>
          </a:xfrm>
          <a:prstGeom prst="rect">
            <a:avLst/>
          </a:prstGeom>
          <a:noFill/>
          <a:ln>
            <a:noFill/>
          </a:ln>
        </p:spPr>
        <p:txBody>
          <a:bodyPr wrap="square" lIns="0" tIns="0" rIns="0" bIns="0" anchor="ctr"/>
          <a:lstStyle/>
          <a:p>
            <a:pPr algn="ctr">
              <a:buNone/>
            </a:pPr>
            <a:r>
              <a:rPr sz="1400" b="0">
                <a:solidFill>
                  <a:srgbClr val="5D6873"/>
                </a:solidFill>
                <a:latin typeface="Arial"/>
                <a:ea typeface="Arial"/>
                <a:cs typeface="Arial"/>
              </a:rPr>
              <a:t>The semantics can map to existing enterprise vocabulary. This exercise does not claim enterprise application integration.</a:t>
            </a:r>
            <a:endParaRPr sz="1400"/>
          </a:p>
        </p:txBody>
      </p:sp>
      <p:sp>
        <p:nvSpPr>
          <p:cNvPr id="40" name="Connector 40">
            <a:extLst>
              <a:ext uri="{FF2B5EF4-FFF2-40B4-BE49-F238E27FC236}">
                <a16:creationId xmlns:a16="http://schemas.microsoft.com/office/drawing/2014/main" id="{C54E0871-9EE3-4032-8E12-A9F1D2EFBEB2}"/>
              </a:ext>
            </a:extLst>
          </p:cNvPr>
          <p:cNvSpPr>
            <a:spLocks noGrp="1"/>
          </p:cNvSpPr>
          <p:nvPr/>
        </p:nvSpPr>
        <p:spPr>
          <a:xfrm>
            <a:off x="552450" y="6419850"/>
            <a:ext cx="11087100" cy="0"/>
          </a:xfrm>
          <a:prstGeom prst="line">
            <a:avLst/>
          </a:prstGeom>
          <a:ln w="12700">
            <a:solidFill>
              <a:srgbClr val="D9DEE3"/>
            </a:solidFill>
          </a:ln>
        </p:spPr>
      </p:sp>
      <p:sp>
        <p:nvSpPr>
          <p:cNvPr id="41" name="Text 41">
            <a:extLst>
              <a:ext uri="{FF2B5EF4-FFF2-40B4-BE49-F238E27FC236}">
                <a16:creationId xmlns:a16="http://schemas.microsoft.com/office/drawing/2014/main" id="{FB350149-4C1A-49F7-B650-2C63B6956E95}"/>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42" name="Text 42">
            <a:extLst>
              <a:ext uri="{FF2B5EF4-FFF2-40B4-BE49-F238E27FC236}">
                <a16:creationId xmlns:a16="http://schemas.microsoft.com/office/drawing/2014/main" id="{AD1FCB58-1515-4C9E-BF9F-8E2E3A942B67}"/>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9</a:t>
            </a:r>
            <a:endParaRPr sz="1000"/>
          </a:p>
        </p:txBody>
      </p:sp>
    </p:spTree>
    <p:extLst>
      <p:ext uri="{BB962C8B-B14F-4D97-AF65-F5344CB8AC3E}">
        <p14:creationId xmlns:p14="http://schemas.microsoft.com/office/powerpoint/2010/main" val="1224791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9EA969B9-752A-4A06-8F3A-001A0276489F}"/>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MANAGEMENT PROJECTIONS</a:t>
            </a:r>
            <a:endParaRPr sz="1100"/>
          </a:p>
        </p:txBody>
      </p:sp>
      <p:sp>
        <p:nvSpPr>
          <p:cNvPr id="3" name="Text 3">
            <a:extLst>
              <a:ext uri="{FF2B5EF4-FFF2-40B4-BE49-F238E27FC236}">
                <a16:creationId xmlns:a16="http://schemas.microsoft.com/office/drawing/2014/main" id="{0A3AA103-ADE6-4371-A935-CE544FA27ECF}"/>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One work graph supports delivery, schedule and scope conversations</a:t>
            </a:r>
            <a:endParaRPr sz="3000"/>
          </a:p>
        </p:txBody>
      </p:sp>
      <p:sp>
        <p:nvSpPr>
          <p:cNvPr id="4" name="Text 4">
            <a:extLst>
              <a:ext uri="{FF2B5EF4-FFF2-40B4-BE49-F238E27FC236}">
                <a16:creationId xmlns:a16="http://schemas.microsoft.com/office/drawing/2014/main" id="{52530010-963C-432D-8A7E-918039A8D33D}"/>
              </a:ext>
            </a:extLst>
          </p:cNvPr>
          <p:cNvSpPr>
            <a:spLocks noGrp="1"/>
          </p:cNvSpPr>
          <p:nvPr/>
        </p:nvSpPr>
        <p:spPr>
          <a:xfrm>
            <a:off x="8858250" y="1104900"/>
            <a:ext cx="2762250" cy="228600"/>
          </a:xfrm>
          <a:prstGeom prst="rect">
            <a:avLst/>
          </a:prstGeom>
          <a:noFill/>
          <a:ln>
            <a:noFill/>
          </a:ln>
        </p:spPr>
        <p:txBody>
          <a:bodyPr wrap="square" lIns="0" tIns="0" rIns="0" bIns="0" anchor="t"/>
          <a:lstStyle/>
          <a:p>
            <a:pPr algn="r">
              <a:buNone/>
            </a:pPr>
            <a:r>
              <a:rPr sz="1000" b="1" spc="120">
                <a:solidFill>
                  <a:srgbClr val="B46B13"/>
                </a:solidFill>
                <a:latin typeface="Arial"/>
                <a:ea typeface="Arial"/>
                <a:cs typeface="Arial"/>
              </a:rPr>
              <a:t>CONCEPTUAL PROJECTIONS</a:t>
            </a:r>
            <a:endParaRPr sz="1000"/>
          </a:p>
        </p:txBody>
      </p:sp>
      <p:sp>
        <p:nvSpPr>
          <p:cNvPr id="5" name="Shape 5">
            <a:extLst>
              <a:ext uri="{FF2B5EF4-FFF2-40B4-BE49-F238E27FC236}">
                <a16:creationId xmlns:a16="http://schemas.microsoft.com/office/drawing/2014/main" id="{9B666021-37EA-405C-8406-663866BB97B6}"/>
              </a:ext>
            </a:extLst>
          </p:cNvPr>
          <p:cNvSpPr>
            <a:spLocks noGrp="1"/>
          </p:cNvSpPr>
          <p:nvPr/>
        </p:nvSpPr>
        <p:spPr>
          <a:xfrm>
            <a:off x="552450" y="1524000"/>
            <a:ext cx="5219700" cy="1981200"/>
          </a:xfrm>
          <a:prstGeom prst="roundRect">
            <a:avLst/>
          </a:prstGeom>
          <a:solidFill>
            <a:srgbClr val="FFFFFF"/>
          </a:solidFill>
          <a:ln w="12700">
            <a:solidFill>
              <a:srgbClr val="D9DEE3"/>
            </a:solidFill>
          </a:ln>
        </p:spPr>
      </p:sp>
      <p:sp>
        <p:nvSpPr>
          <p:cNvPr id="6" name="Shape 6">
            <a:extLst>
              <a:ext uri="{FF2B5EF4-FFF2-40B4-BE49-F238E27FC236}">
                <a16:creationId xmlns:a16="http://schemas.microsoft.com/office/drawing/2014/main" id="{1DAB9A9A-3015-4034-B2B4-8C08B38498ED}"/>
              </a:ext>
            </a:extLst>
          </p:cNvPr>
          <p:cNvSpPr>
            <a:spLocks noGrp="1"/>
          </p:cNvSpPr>
          <p:nvPr/>
        </p:nvSpPr>
        <p:spPr>
          <a:xfrm>
            <a:off x="742950" y="1657350"/>
            <a:ext cx="400050" cy="400050"/>
          </a:xfrm>
          <a:prstGeom prst="roundRect">
            <a:avLst/>
          </a:prstGeom>
          <a:solidFill>
            <a:srgbClr val="FCEBEC"/>
          </a:solidFill>
          <a:ln w="19050">
            <a:solidFill>
              <a:srgbClr val="D71920"/>
            </a:solidFill>
          </a:ln>
        </p:spPr>
      </p:sp>
      <p:pic>
        <p:nvPicPr>
          <p:cNvPr id="78" name="Picture 7"/>
          <p:cNvPicPr>
            <a:picLocks noChangeAspect="1"/>
          </p:cNvPicPr>
          <p:nvPr/>
        </p:nvPicPr>
        <p:blipFill>
          <a:blip r:embed="rId3"/>
          <a:stretch>
            <a:fillRect/>
          </a:stretch>
        </p:blipFill>
        <p:spPr>
          <a:xfrm>
            <a:off x="847725" y="1762125"/>
            <a:ext cx="190500" cy="190500"/>
          </a:xfrm>
          <a:prstGeom prst="rect">
            <a:avLst/>
          </a:prstGeom>
          <a:ln>
            <a:noFill/>
          </a:ln>
        </p:spPr>
      </p:pic>
      <p:sp>
        <p:nvSpPr>
          <p:cNvPr id="8" name="Text 8">
            <a:extLst>
              <a:ext uri="{FF2B5EF4-FFF2-40B4-BE49-F238E27FC236}">
                <a16:creationId xmlns:a16="http://schemas.microsoft.com/office/drawing/2014/main" id="{B6D6F12B-0935-47DD-B87F-D9A0FD5B5D7A}"/>
              </a:ext>
            </a:extLst>
          </p:cNvPr>
          <p:cNvSpPr>
            <a:spLocks noGrp="1"/>
          </p:cNvSpPr>
          <p:nvPr/>
        </p:nvSpPr>
        <p:spPr>
          <a:xfrm>
            <a:off x="1295400" y="1733550"/>
            <a:ext cx="2095500" cy="266700"/>
          </a:xfrm>
          <a:prstGeom prst="rect">
            <a:avLst/>
          </a:prstGeom>
          <a:noFill/>
          <a:ln>
            <a:noFill/>
          </a:ln>
        </p:spPr>
        <p:txBody>
          <a:bodyPr wrap="square" lIns="0" tIns="0" rIns="0" bIns="0" anchor="t"/>
          <a:lstStyle/>
          <a:p>
            <a:pPr algn="l">
              <a:buNone/>
            </a:pPr>
            <a:r>
              <a:rPr sz="1600" b="1">
                <a:solidFill>
                  <a:srgbClr val="D71920"/>
                </a:solidFill>
                <a:latin typeface="Arial"/>
                <a:ea typeface="Arial"/>
                <a:cs typeface="Arial"/>
              </a:rPr>
              <a:t>WORKGRAPH</a:t>
            </a:r>
            <a:endParaRPr sz="1600"/>
          </a:p>
        </p:txBody>
      </p:sp>
      <p:sp>
        <p:nvSpPr>
          <p:cNvPr id="9" name="Connector 9">
            <a:extLst>
              <a:ext uri="{FF2B5EF4-FFF2-40B4-BE49-F238E27FC236}">
                <a16:creationId xmlns:a16="http://schemas.microsoft.com/office/drawing/2014/main" id="{8E14A5F5-AA12-4008-BB9A-0819295A773B}"/>
              </a:ext>
            </a:extLst>
          </p:cNvPr>
          <p:cNvSpPr>
            <a:spLocks noGrp="1"/>
          </p:cNvSpPr>
          <p:nvPr/>
        </p:nvSpPr>
        <p:spPr>
          <a:xfrm flipV="1">
            <a:off x="1524000" y="2133600"/>
            <a:ext cx="990600" cy="342900"/>
          </a:xfrm>
          <a:prstGeom prst="line">
            <a:avLst/>
          </a:prstGeom>
          <a:ln w="25400">
            <a:solidFill>
              <a:srgbClr val="D9DEE3"/>
            </a:solidFill>
            <a:headEnd type="triangle"/>
            <a:tailEnd type="triangle"/>
          </a:ln>
        </p:spPr>
      </p:sp>
      <p:sp>
        <p:nvSpPr>
          <p:cNvPr id="10" name="Connector 10">
            <a:extLst>
              <a:ext uri="{FF2B5EF4-FFF2-40B4-BE49-F238E27FC236}">
                <a16:creationId xmlns:a16="http://schemas.microsoft.com/office/drawing/2014/main" id="{A259FC81-559E-4B78-AB18-0D3B457E2C68}"/>
              </a:ext>
            </a:extLst>
          </p:cNvPr>
          <p:cNvSpPr>
            <a:spLocks noGrp="1"/>
          </p:cNvSpPr>
          <p:nvPr/>
        </p:nvSpPr>
        <p:spPr>
          <a:xfrm>
            <a:off x="2514600" y="2133600"/>
            <a:ext cx="990600" cy="590550"/>
          </a:xfrm>
          <a:prstGeom prst="line">
            <a:avLst/>
          </a:prstGeom>
          <a:ln w="25400">
            <a:solidFill>
              <a:srgbClr val="D9DEE3"/>
            </a:solidFill>
            <a:headEnd type="triangle"/>
            <a:tailEnd type="triangle"/>
          </a:ln>
        </p:spPr>
      </p:sp>
      <p:sp>
        <p:nvSpPr>
          <p:cNvPr id="11" name="Connector 11">
            <a:extLst>
              <a:ext uri="{FF2B5EF4-FFF2-40B4-BE49-F238E27FC236}">
                <a16:creationId xmlns:a16="http://schemas.microsoft.com/office/drawing/2014/main" id="{EF07F229-FF42-416F-A024-45C74D29DDD4}"/>
              </a:ext>
            </a:extLst>
          </p:cNvPr>
          <p:cNvSpPr>
            <a:spLocks noGrp="1"/>
          </p:cNvSpPr>
          <p:nvPr/>
        </p:nvSpPr>
        <p:spPr>
          <a:xfrm>
            <a:off x="2514600" y="2133600"/>
            <a:ext cx="1714500" cy="0"/>
          </a:xfrm>
          <a:prstGeom prst="line">
            <a:avLst/>
          </a:prstGeom>
          <a:ln w="25400">
            <a:solidFill>
              <a:srgbClr val="D9DEE3"/>
            </a:solidFill>
            <a:headEnd type="triangle"/>
            <a:tailEnd type="triangle"/>
          </a:ln>
        </p:spPr>
      </p:sp>
      <p:sp>
        <p:nvSpPr>
          <p:cNvPr id="12" name="Shape 12">
            <a:extLst>
              <a:ext uri="{FF2B5EF4-FFF2-40B4-BE49-F238E27FC236}">
                <a16:creationId xmlns:a16="http://schemas.microsoft.com/office/drawing/2014/main" id="{7A751222-1EB8-4051-8E83-9DDF09662808}"/>
              </a:ext>
            </a:extLst>
          </p:cNvPr>
          <p:cNvSpPr>
            <a:spLocks noGrp="1"/>
          </p:cNvSpPr>
          <p:nvPr/>
        </p:nvSpPr>
        <p:spPr>
          <a:xfrm>
            <a:off x="1143000" y="2305050"/>
            <a:ext cx="495300" cy="495300"/>
          </a:xfrm>
          <a:prstGeom prst="ellipse">
            <a:avLst/>
          </a:prstGeom>
          <a:solidFill>
            <a:srgbClr val="FCEBEC"/>
          </a:solidFill>
          <a:ln w="25400">
            <a:solidFill>
              <a:srgbClr val="D71920"/>
            </a:solidFill>
          </a:ln>
        </p:spPr>
      </p:sp>
      <p:sp>
        <p:nvSpPr>
          <p:cNvPr id="13" name="Text 13">
            <a:extLst>
              <a:ext uri="{FF2B5EF4-FFF2-40B4-BE49-F238E27FC236}">
                <a16:creationId xmlns:a16="http://schemas.microsoft.com/office/drawing/2014/main" id="{A2F1754D-AF8E-4E15-A344-3E3733DB8832}"/>
              </a:ext>
            </a:extLst>
          </p:cNvPr>
          <p:cNvSpPr>
            <a:spLocks noGrp="1"/>
          </p:cNvSpPr>
          <p:nvPr/>
        </p:nvSpPr>
        <p:spPr>
          <a:xfrm>
            <a:off x="1143000" y="2447925"/>
            <a:ext cx="495300" cy="209550"/>
          </a:xfrm>
          <a:prstGeom prst="rect">
            <a:avLst/>
          </a:prstGeom>
          <a:noFill/>
          <a:ln>
            <a:noFill/>
          </a:ln>
        </p:spPr>
        <p:txBody>
          <a:bodyPr wrap="square" lIns="0" tIns="0" rIns="0" bIns="0" anchor="t"/>
          <a:lstStyle/>
          <a:p>
            <a:pPr algn="ctr">
              <a:buNone/>
            </a:pPr>
            <a:r>
              <a:rPr sz="1000" b="1">
                <a:solidFill>
                  <a:srgbClr val="17212B"/>
                </a:solidFill>
                <a:latin typeface="Arial"/>
                <a:ea typeface="Arial"/>
                <a:cs typeface="Arial"/>
              </a:rPr>
              <a:t>ROOT</a:t>
            </a:r>
            <a:endParaRPr sz="1000"/>
          </a:p>
        </p:txBody>
      </p:sp>
      <p:sp>
        <p:nvSpPr>
          <p:cNvPr id="14" name="Shape 14">
            <a:extLst>
              <a:ext uri="{FF2B5EF4-FFF2-40B4-BE49-F238E27FC236}">
                <a16:creationId xmlns:a16="http://schemas.microsoft.com/office/drawing/2014/main" id="{3C5E0A15-2DB2-4729-B939-582033755315}"/>
              </a:ext>
            </a:extLst>
          </p:cNvPr>
          <p:cNvSpPr>
            <a:spLocks noGrp="1"/>
          </p:cNvSpPr>
          <p:nvPr/>
        </p:nvSpPr>
        <p:spPr>
          <a:xfrm>
            <a:off x="2209800" y="1962150"/>
            <a:ext cx="495300" cy="495300"/>
          </a:xfrm>
          <a:prstGeom prst="ellipse">
            <a:avLst/>
          </a:prstGeom>
          <a:solidFill>
            <a:srgbClr val="EAF1F7"/>
          </a:solidFill>
          <a:ln w="25400">
            <a:solidFill>
              <a:srgbClr val="2A5B84"/>
            </a:solidFill>
          </a:ln>
        </p:spPr>
      </p:sp>
      <p:sp>
        <p:nvSpPr>
          <p:cNvPr id="15" name="Text 15">
            <a:extLst>
              <a:ext uri="{FF2B5EF4-FFF2-40B4-BE49-F238E27FC236}">
                <a16:creationId xmlns:a16="http://schemas.microsoft.com/office/drawing/2014/main" id="{BCB5A99C-458C-4BA1-AEBC-19C04E730FE4}"/>
              </a:ext>
            </a:extLst>
          </p:cNvPr>
          <p:cNvSpPr>
            <a:spLocks noGrp="1"/>
          </p:cNvSpPr>
          <p:nvPr/>
        </p:nvSpPr>
        <p:spPr>
          <a:xfrm>
            <a:off x="2209800" y="2105025"/>
            <a:ext cx="495300" cy="209550"/>
          </a:xfrm>
          <a:prstGeom prst="rect">
            <a:avLst/>
          </a:prstGeom>
          <a:noFill/>
          <a:ln>
            <a:noFill/>
          </a:ln>
        </p:spPr>
        <p:txBody>
          <a:bodyPr wrap="square" lIns="0" tIns="0" rIns="0" bIns="0" anchor="t"/>
          <a:lstStyle/>
          <a:p>
            <a:pPr algn="ctr">
              <a:buNone/>
            </a:pPr>
            <a:r>
              <a:rPr sz="1000" b="1">
                <a:solidFill>
                  <a:srgbClr val="17212B"/>
                </a:solidFill>
                <a:latin typeface="Arial"/>
                <a:ea typeface="Arial"/>
                <a:cs typeface="Arial"/>
              </a:rPr>
              <a:t>#121</a:t>
            </a:r>
            <a:endParaRPr sz="1000"/>
          </a:p>
        </p:txBody>
      </p:sp>
      <p:sp>
        <p:nvSpPr>
          <p:cNvPr id="16" name="Shape 16">
            <a:extLst>
              <a:ext uri="{FF2B5EF4-FFF2-40B4-BE49-F238E27FC236}">
                <a16:creationId xmlns:a16="http://schemas.microsoft.com/office/drawing/2014/main" id="{6F796CD4-4213-46E1-9B30-DB0303CC5F8E}"/>
              </a:ext>
            </a:extLst>
          </p:cNvPr>
          <p:cNvSpPr>
            <a:spLocks noGrp="1"/>
          </p:cNvSpPr>
          <p:nvPr/>
        </p:nvSpPr>
        <p:spPr>
          <a:xfrm>
            <a:off x="3257550" y="2571750"/>
            <a:ext cx="495300" cy="495300"/>
          </a:xfrm>
          <a:prstGeom prst="ellipse">
            <a:avLst/>
          </a:prstGeom>
          <a:solidFill>
            <a:srgbClr val="EAF1F7"/>
          </a:solidFill>
          <a:ln w="25400">
            <a:solidFill>
              <a:srgbClr val="2A5B84"/>
            </a:solidFill>
          </a:ln>
        </p:spPr>
      </p:sp>
      <p:sp>
        <p:nvSpPr>
          <p:cNvPr id="17" name="Text 17">
            <a:extLst>
              <a:ext uri="{FF2B5EF4-FFF2-40B4-BE49-F238E27FC236}">
                <a16:creationId xmlns:a16="http://schemas.microsoft.com/office/drawing/2014/main" id="{EAA90C84-36E8-490E-A6B4-2F920D7CBA92}"/>
              </a:ext>
            </a:extLst>
          </p:cNvPr>
          <p:cNvSpPr>
            <a:spLocks noGrp="1"/>
          </p:cNvSpPr>
          <p:nvPr/>
        </p:nvSpPr>
        <p:spPr>
          <a:xfrm>
            <a:off x="3257550" y="2714625"/>
            <a:ext cx="495300" cy="209550"/>
          </a:xfrm>
          <a:prstGeom prst="rect">
            <a:avLst/>
          </a:prstGeom>
          <a:noFill/>
          <a:ln>
            <a:noFill/>
          </a:ln>
        </p:spPr>
        <p:txBody>
          <a:bodyPr wrap="square" lIns="0" tIns="0" rIns="0" bIns="0" anchor="t"/>
          <a:lstStyle/>
          <a:p>
            <a:pPr algn="ctr">
              <a:buNone/>
            </a:pPr>
            <a:r>
              <a:rPr sz="1000" b="1">
                <a:solidFill>
                  <a:srgbClr val="17212B"/>
                </a:solidFill>
                <a:latin typeface="Arial"/>
                <a:ea typeface="Arial"/>
                <a:cs typeface="Arial"/>
              </a:rPr>
              <a:t>#122</a:t>
            </a:r>
            <a:endParaRPr sz="1000"/>
          </a:p>
        </p:txBody>
      </p:sp>
      <p:sp>
        <p:nvSpPr>
          <p:cNvPr id="18" name="Shape 18">
            <a:extLst>
              <a:ext uri="{FF2B5EF4-FFF2-40B4-BE49-F238E27FC236}">
                <a16:creationId xmlns:a16="http://schemas.microsoft.com/office/drawing/2014/main" id="{AE6A35D4-D163-4F78-BDFB-C857CDDB2556}"/>
              </a:ext>
            </a:extLst>
          </p:cNvPr>
          <p:cNvSpPr>
            <a:spLocks noGrp="1"/>
          </p:cNvSpPr>
          <p:nvPr/>
        </p:nvSpPr>
        <p:spPr>
          <a:xfrm>
            <a:off x="4095750" y="1962150"/>
            <a:ext cx="495300" cy="495300"/>
          </a:xfrm>
          <a:prstGeom prst="ellipse">
            <a:avLst/>
          </a:prstGeom>
          <a:solidFill>
            <a:srgbClr val="EAF1F7"/>
          </a:solidFill>
          <a:ln w="25400">
            <a:solidFill>
              <a:srgbClr val="2A5B84"/>
            </a:solidFill>
          </a:ln>
        </p:spPr>
      </p:sp>
      <p:sp>
        <p:nvSpPr>
          <p:cNvPr id="19" name="Text 19">
            <a:extLst>
              <a:ext uri="{FF2B5EF4-FFF2-40B4-BE49-F238E27FC236}">
                <a16:creationId xmlns:a16="http://schemas.microsoft.com/office/drawing/2014/main" id="{7E94F11C-D065-4DFA-BA09-77A5F5EE4EBA}"/>
              </a:ext>
            </a:extLst>
          </p:cNvPr>
          <p:cNvSpPr>
            <a:spLocks noGrp="1"/>
          </p:cNvSpPr>
          <p:nvPr/>
        </p:nvSpPr>
        <p:spPr>
          <a:xfrm>
            <a:off x="4095750" y="2105025"/>
            <a:ext cx="495300" cy="209550"/>
          </a:xfrm>
          <a:prstGeom prst="rect">
            <a:avLst/>
          </a:prstGeom>
          <a:noFill/>
          <a:ln>
            <a:noFill/>
          </a:ln>
        </p:spPr>
        <p:txBody>
          <a:bodyPr wrap="square" lIns="0" tIns="0" rIns="0" bIns="0" anchor="t"/>
          <a:lstStyle/>
          <a:p>
            <a:pPr algn="ctr">
              <a:buNone/>
            </a:pPr>
            <a:r>
              <a:rPr sz="1000" b="1">
                <a:solidFill>
                  <a:srgbClr val="17212B"/>
                </a:solidFill>
                <a:latin typeface="Arial"/>
                <a:ea typeface="Arial"/>
                <a:cs typeface="Arial"/>
              </a:rPr>
              <a:t>#123</a:t>
            </a:r>
            <a:endParaRPr sz="1000"/>
          </a:p>
        </p:txBody>
      </p:sp>
      <p:sp>
        <p:nvSpPr>
          <p:cNvPr id="20" name="Text 20">
            <a:extLst>
              <a:ext uri="{FF2B5EF4-FFF2-40B4-BE49-F238E27FC236}">
                <a16:creationId xmlns:a16="http://schemas.microsoft.com/office/drawing/2014/main" id="{D3B7F71F-543D-4E69-A743-62CE1496E175}"/>
              </a:ext>
            </a:extLst>
          </p:cNvPr>
          <p:cNvSpPr>
            <a:spLocks noGrp="1"/>
          </p:cNvSpPr>
          <p:nvPr/>
        </p:nvSpPr>
        <p:spPr>
          <a:xfrm>
            <a:off x="742950" y="3124200"/>
            <a:ext cx="4743450" cy="228600"/>
          </a:xfrm>
          <a:prstGeom prst="rect">
            <a:avLst/>
          </a:prstGeom>
          <a:noFill/>
          <a:ln>
            <a:noFill/>
          </a:ln>
        </p:spPr>
        <p:txBody>
          <a:bodyPr wrap="square" lIns="0" tIns="0" rIns="0" bIns="0" anchor="t"/>
          <a:lstStyle/>
          <a:p>
            <a:pPr algn="ctr">
              <a:buNone/>
            </a:pPr>
            <a:r>
              <a:rPr sz="1300" b="0">
                <a:solidFill>
                  <a:srgbClr val="5D6873"/>
                </a:solidFill>
                <a:latin typeface="Arial"/>
                <a:ea typeface="Arial"/>
                <a:cs typeface="Arial"/>
              </a:rPr>
              <a:t>Hierarchy, dependencies and PR ownership</a:t>
            </a:r>
            <a:endParaRPr sz="1300"/>
          </a:p>
        </p:txBody>
      </p:sp>
      <p:sp>
        <p:nvSpPr>
          <p:cNvPr id="21" name="Shape 21">
            <a:extLst>
              <a:ext uri="{FF2B5EF4-FFF2-40B4-BE49-F238E27FC236}">
                <a16:creationId xmlns:a16="http://schemas.microsoft.com/office/drawing/2014/main" id="{BDC87CBC-ABA9-459B-8629-A52C7754ACFD}"/>
              </a:ext>
            </a:extLst>
          </p:cNvPr>
          <p:cNvSpPr>
            <a:spLocks noGrp="1"/>
          </p:cNvSpPr>
          <p:nvPr/>
        </p:nvSpPr>
        <p:spPr>
          <a:xfrm>
            <a:off x="6419850" y="1524000"/>
            <a:ext cx="5219700" cy="1981200"/>
          </a:xfrm>
          <a:prstGeom prst="roundRect">
            <a:avLst/>
          </a:prstGeom>
          <a:solidFill>
            <a:srgbClr val="FFFFFF"/>
          </a:solidFill>
          <a:ln w="12700">
            <a:solidFill>
              <a:srgbClr val="D9DEE3"/>
            </a:solidFill>
          </a:ln>
        </p:spPr>
      </p:sp>
      <p:sp>
        <p:nvSpPr>
          <p:cNvPr id="22" name="Shape 22">
            <a:extLst>
              <a:ext uri="{FF2B5EF4-FFF2-40B4-BE49-F238E27FC236}">
                <a16:creationId xmlns:a16="http://schemas.microsoft.com/office/drawing/2014/main" id="{93084B35-FC1F-445E-8643-D98EF5599D13}"/>
              </a:ext>
            </a:extLst>
          </p:cNvPr>
          <p:cNvSpPr>
            <a:spLocks noGrp="1"/>
          </p:cNvSpPr>
          <p:nvPr/>
        </p:nvSpPr>
        <p:spPr>
          <a:xfrm>
            <a:off x="6610350" y="1657350"/>
            <a:ext cx="400050" cy="400050"/>
          </a:xfrm>
          <a:prstGeom prst="roundRect">
            <a:avLst/>
          </a:prstGeom>
          <a:solidFill>
            <a:srgbClr val="EAF1F7"/>
          </a:solidFill>
          <a:ln w="19050">
            <a:solidFill>
              <a:srgbClr val="2A5B84"/>
            </a:solidFill>
          </a:ln>
        </p:spPr>
      </p:sp>
      <p:pic>
        <p:nvPicPr>
          <p:cNvPr id="94" name="Picture 23"/>
          <p:cNvPicPr>
            <a:picLocks noChangeAspect="1"/>
          </p:cNvPicPr>
          <p:nvPr/>
        </p:nvPicPr>
        <p:blipFill>
          <a:blip r:embed="rId4"/>
          <a:stretch>
            <a:fillRect/>
          </a:stretch>
        </p:blipFill>
        <p:spPr>
          <a:xfrm>
            <a:off x="6715125" y="1762125"/>
            <a:ext cx="190500" cy="190500"/>
          </a:xfrm>
          <a:prstGeom prst="rect">
            <a:avLst/>
          </a:prstGeom>
          <a:ln>
            <a:noFill/>
          </a:ln>
        </p:spPr>
      </p:pic>
      <p:sp>
        <p:nvSpPr>
          <p:cNvPr id="24" name="Text 24">
            <a:extLst>
              <a:ext uri="{FF2B5EF4-FFF2-40B4-BE49-F238E27FC236}">
                <a16:creationId xmlns:a16="http://schemas.microsoft.com/office/drawing/2014/main" id="{B7107C29-B444-4ED1-BB92-5E94D6260DCD}"/>
              </a:ext>
            </a:extLst>
          </p:cNvPr>
          <p:cNvSpPr>
            <a:spLocks noGrp="1"/>
          </p:cNvSpPr>
          <p:nvPr/>
        </p:nvSpPr>
        <p:spPr>
          <a:xfrm>
            <a:off x="7162800" y="1733550"/>
            <a:ext cx="2095500" cy="266700"/>
          </a:xfrm>
          <a:prstGeom prst="rect">
            <a:avLst/>
          </a:prstGeom>
          <a:noFill/>
          <a:ln>
            <a:noFill/>
          </a:ln>
        </p:spPr>
        <p:txBody>
          <a:bodyPr wrap="square" lIns="0" tIns="0" rIns="0" bIns="0" anchor="t"/>
          <a:lstStyle/>
          <a:p>
            <a:pPr algn="l">
              <a:buNone/>
            </a:pPr>
            <a:r>
              <a:rPr sz="1600" b="1">
                <a:solidFill>
                  <a:srgbClr val="D71920"/>
                </a:solidFill>
                <a:latin typeface="Arial"/>
                <a:ea typeface="Arial"/>
                <a:cs typeface="Arial"/>
              </a:rPr>
              <a:t>DELIVERY</a:t>
            </a:r>
            <a:endParaRPr sz="1600"/>
          </a:p>
        </p:txBody>
      </p:sp>
      <p:sp>
        <p:nvSpPr>
          <p:cNvPr id="25" name="Text 25">
            <a:extLst>
              <a:ext uri="{FF2B5EF4-FFF2-40B4-BE49-F238E27FC236}">
                <a16:creationId xmlns:a16="http://schemas.microsoft.com/office/drawing/2014/main" id="{E895F761-0A6F-40EA-8A60-E0F961799A79}"/>
              </a:ext>
            </a:extLst>
          </p:cNvPr>
          <p:cNvSpPr>
            <a:spLocks noGrp="1"/>
          </p:cNvSpPr>
          <p:nvPr/>
        </p:nvSpPr>
        <p:spPr>
          <a:xfrm>
            <a:off x="6705600" y="2095500"/>
            <a:ext cx="123825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TODO</a:t>
            </a:r>
            <a:endParaRPr sz="1100"/>
          </a:p>
        </p:txBody>
      </p:sp>
      <p:sp>
        <p:nvSpPr>
          <p:cNvPr id="26" name="Shape 26">
            <a:extLst>
              <a:ext uri="{FF2B5EF4-FFF2-40B4-BE49-F238E27FC236}">
                <a16:creationId xmlns:a16="http://schemas.microsoft.com/office/drawing/2014/main" id="{279BBF84-1AAC-48AA-A0D3-B40F57DEDC2D}"/>
              </a:ext>
            </a:extLst>
          </p:cNvPr>
          <p:cNvSpPr>
            <a:spLocks noGrp="1"/>
          </p:cNvSpPr>
          <p:nvPr/>
        </p:nvSpPr>
        <p:spPr>
          <a:xfrm>
            <a:off x="6705600" y="2362200"/>
            <a:ext cx="1238250" cy="400050"/>
          </a:xfrm>
          <a:prstGeom prst="roundRect">
            <a:avLst/>
          </a:prstGeom>
          <a:solidFill>
            <a:srgbClr val="F4F6F8"/>
          </a:solidFill>
          <a:ln w="12700">
            <a:solidFill>
              <a:srgbClr val="D9DEE3"/>
            </a:solidFill>
          </a:ln>
        </p:spPr>
      </p:sp>
      <p:sp>
        <p:nvSpPr>
          <p:cNvPr id="27" name="Shape 27">
            <a:extLst>
              <a:ext uri="{FF2B5EF4-FFF2-40B4-BE49-F238E27FC236}">
                <a16:creationId xmlns:a16="http://schemas.microsoft.com/office/drawing/2014/main" id="{A88E61B3-1664-47FF-8BA0-2A4DFB395EB0}"/>
              </a:ext>
            </a:extLst>
          </p:cNvPr>
          <p:cNvSpPr>
            <a:spLocks noGrp="1"/>
          </p:cNvSpPr>
          <p:nvPr/>
        </p:nvSpPr>
        <p:spPr>
          <a:xfrm>
            <a:off x="6705600" y="2857500"/>
            <a:ext cx="1238250" cy="285750"/>
          </a:xfrm>
          <a:prstGeom prst="roundRect">
            <a:avLst/>
          </a:prstGeom>
          <a:solidFill>
            <a:srgbClr val="FFFFFF"/>
          </a:solidFill>
          <a:ln w="12700">
            <a:solidFill>
              <a:srgbClr val="D9DEE3"/>
            </a:solidFill>
          </a:ln>
        </p:spPr>
      </p:sp>
      <p:sp>
        <p:nvSpPr>
          <p:cNvPr id="28" name="Text 28">
            <a:extLst>
              <a:ext uri="{FF2B5EF4-FFF2-40B4-BE49-F238E27FC236}">
                <a16:creationId xmlns:a16="http://schemas.microsoft.com/office/drawing/2014/main" id="{8C3D62D1-3870-4846-AD64-6426038AB5B5}"/>
              </a:ext>
            </a:extLst>
          </p:cNvPr>
          <p:cNvSpPr>
            <a:spLocks noGrp="1"/>
          </p:cNvSpPr>
          <p:nvPr/>
        </p:nvSpPr>
        <p:spPr>
          <a:xfrm>
            <a:off x="8229600" y="2095500"/>
            <a:ext cx="152400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IN PROGRESS</a:t>
            </a:r>
            <a:endParaRPr sz="1100"/>
          </a:p>
        </p:txBody>
      </p:sp>
      <p:sp>
        <p:nvSpPr>
          <p:cNvPr id="29" name="Shape 29">
            <a:extLst>
              <a:ext uri="{FF2B5EF4-FFF2-40B4-BE49-F238E27FC236}">
                <a16:creationId xmlns:a16="http://schemas.microsoft.com/office/drawing/2014/main" id="{F44333D4-CF0D-468C-84FC-2595564020AC}"/>
              </a:ext>
            </a:extLst>
          </p:cNvPr>
          <p:cNvSpPr>
            <a:spLocks noGrp="1"/>
          </p:cNvSpPr>
          <p:nvPr/>
        </p:nvSpPr>
        <p:spPr>
          <a:xfrm>
            <a:off x="8229600" y="2362200"/>
            <a:ext cx="1524000" cy="400050"/>
          </a:xfrm>
          <a:prstGeom prst="roundRect">
            <a:avLst/>
          </a:prstGeom>
          <a:solidFill>
            <a:srgbClr val="FCEBEC"/>
          </a:solidFill>
          <a:ln w="12700">
            <a:solidFill>
              <a:srgbClr val="D71920"/>
            </a:solidFill>
          </a:ln>
        </p:spPr>
      </p:sp>
      <p:sp>
        <p:nvSpPr>
          <p:cNvPr id="30" name="Shape 30">
            <a:extLst>
              <a:ext uri="{FF2B5EF4-FFF2-40B4-BE49-F238E27FC236}">
                <a16:creationId xmlns:a16="http://schemas.microsoft.com/office/drawing/2014/main" id="{A0AB04B0-6D74-4710-8A30-7820C9CCA5C7}"/>
              </a:ext>
            </a:extLst>
          </p:cNvPr>
          <p:cNvSpPr>
            <a:spLocks noGrp="1"/>
          </p:cNvSpPr>
          <p:nvPr/>
        </p:nvSpPr>
        <p:spPr>
          <a:xfrm>
            <a:off x="8229600" y="2857500"/>
            <a:ext cx="1524000" cy="285750"/>
          </a:xfrm>
          <a:prstGeom prst="roundRect">
            <a:avLst/>
          </a:prstGeom>
          <a:solidFill>
            <a:srgbClr val="FFFFFF"/>
          </a:solidFill>
          <a:ln w="12700">
            <a:solidFill>
              <a:srgbClr val="D9DEE3"/>
            </a:solidFill>
          </a:ln>
        </p:spPr>
      </p:sp>
      <p:sp>
        <p:nvSpPr>
          <p:cNvPr id="31" name="Text 31">
            <a:extLst>
              <a:ext uri="{FF2B5EF4-FFF2-40B4-BE49-F238E27FC236}">
                <a16:creationId xmlns:a16="http://schemas.microsoft.com/office/drawing/2014/main" id="{F534F713-351A-4897-901A-F5CFC35E27FF}"/>
              </a:ext>
            </a:extLst>
          </p:cNvPr>
          <p:cNvSpPr>
            <a:spLocks noGrp="1"/>
          </p:cNvSpPr>
          <p:nvPr/>
        </p:nvSpPr>
        <p:spPr>
          <a:xfrm>
            <a:off x="9982200" y="2095500"/>
            <a:ext cx="123825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DONE</a:t>
            </a:r>
            <a:endParaRPr sz="1100"/>
          </a:p>
        </p:txBody>
      </p:sp>
      <p:sp>
        <p:nvSpPr>
          <p:cNvPr id="32" name="Shape 32">
            <a:extLst>
              <a:ext uri="{FF2B5EF4-FFF2-40B4-BE49-F238E27FC236}">
                <a16:creationId xmlns:a16="http://schemas.microsoft.com/office/drawing/2014/main" id="{344EE7F6-31D1-4474-BA44-4480ABC23933}"/>
              </a:ext>
            </a:extLst>
          </p:cNvPr>
          <p:cNvSpPr>
            <a:spLocks noGrp="1"/>
          </p:cNvSpPr>
          <p:nvPr/>
        </p:nvSpPr>
        <p:spPr>
          <a:xfrm>
            <a:off x="9982200" y="2362200"/>
            <a:ext cx="1238250" cy="400050"/>
          </a:xfrm>
          <a:prstGeom prst="roundRect">
            <a:avLst/>
          </a:prstGeom>
          <a:solidFill>
            <a:srgbClr val="F4F6F8"/>
          </a:solidFill>
          <a:ln w="12700">
            <a:solidFill>
              <a:srgbClr val="D9DEE3"/>
            </a:solidFill>
          </a:ln>
        </p:spPr>
      </p:sp>
      <p:sp>
        <p:nvSpPr>
          <p:cNvPr id="33" name="Shape 33">
            <a:extLst>
              <a:ext uri="{FF2B5EF4-FFF2-40B4-BE49-F238E27FC236}">
                <a16:creationId xmlns:a16="http://schemas.microsoft.com/office/drawing/2014/main" id="{ED8533CF-C973-4AD6-A9A7-F1AE04D4C70E}"/>
              </a:ext>
            </a:extLst>
          </p:cNvPr>
          <p:cNvSpPr>
            <a:spLocks noGrp="1"/>
          </p:cNvSpPr>
          <p:nvPr/>
        </p:nvSpPr>
        <p:spPr>
          <a:xfrm>
            <a:off x="9982200" y="2857500"/>
            <a:ext cx="1238250" cy="285750"/>
          </a:xfrm>
          <a:prstGeom prst="roundRect">
            <a:avLst/>
          </a:prstGeom>
          <a:solidFill>
            <a:srgbClr val="FFFFFF"/>
          </a:solidFill>
          <a:ln w="12700">
            <a:solidFill>
              <a:srgbClr val="D9DEE3"/>
            </a:solidFill>
          </a:ln>
        </p:spPr>
      </p:sp>
      <p:sp>
        <p:nvSpPr>
          <p:cNvPr id="34" name="Shape 34">
            <a:extLst>
              <a:ext uri="{FF2B5EF4-FFF2-40B4-BE49-F238E27FC236}">
                <a16:creationId xmlns:a16="http://schemas.microsoft.com/office/drawing/2014/main" id="{D795987B-2FEA-4FA5-9DB0-1C9A91D4DB05}"/>
              </a:ext>
            </a:extLst>
          </p:cNvPr>
          <p:cNvSpPr>
            <a:spLocks noGrp="1"/>
          </p:cNvSpPr>
          <p:nvPr/>
        </p:nvSpPr>
        <p:spPr>
          <a:xfrm>
            <a:off x="552450" y="3752850"/>
            <a:ext cx="5219700" cy="2152650"/>
          </a:xfrm>
          <a:prstGeom prst="roundRect">
            <a:avLst/>
          </a:prstGeom>
          <a:solidFill>
            <a:srgbClr val="FFFFFF"/>
          </a:solidFill>
          <a:ln w="12700">
            <a:solidFill>
              <a:srgbClr val="D9DEE3"/>
            </a:solidFill>
          </a:ln>
        </p:spPr>
      </p:sp>
      <p:sp>
        <p:nvSpPr>
          <p:cNvPr id="35" name="Shape 35">
            <a:extLst>
              <a:ext uri="{FF2B5EF4-FFF2-40B4-BE49-F238E27FC236}">
                <a16:creationId xmlns:a16="http://schemas.microsoft.com/office/drawing/2014/main" id="{B671AF0C-AFA2-4EAF-94DC-DDA4DDF9543B}"/>
              </a:ext>
            </a:extLst>
          </p:cNvPr>
          <p:cNvSpPr>
            <a:spLocks noGrp="1"/>
          </p:cNvSpPr>
          <p:nvPr/>
        </p:nvSpPr>
        <p:spPr>
          <a:xfrm>
            <a:off x="742950" y="3886200"/>
            <a:ext cx="400050" cy="400050"/>
          </a:xfrm>
          <a:prstGeom prst="roundRect">
            <a:avLst/>
          </a:prstGeom>
          <a:solidFill>
            <a:srgbClr val="FFF7E8"/>
          </a:solidFill>
          <a:ln w="19050">
            <a:solidFill>
              <a:srgbClr val="B46B13"/>
            </a:solidFill>
          </a:ln>
        </p:spPr>
      </p:sp>
      <p:pic>
        <p:nvPicPr>
          <p:cNvPr id="107" name="Picture 36"/>
          <p:cNvPicPr>
            <a:picLocks noChangeAspect="1"/>
          </p:cNvPicPr>
          <p:nvPr/>
        </p:nvPicPr>
        <p:blipFill>
          <a:blip r:embed="rId5"/>
          <a:stretch>
            <a:fillRect/>
          </a:stretch>
        </p:blipFill>
        <p:spPr>
          <a:xfrm>
            <a:off x="847725" y="3990975"/>
            <a:ext cx="190500" cy="190500"/>
          </a:xfrm>
          <a:prstGeom prst="rect">
            <a:avLst/>
          </a:prstGeom>
          <a:ln>
            <a:noFill/>
          </a:ln>
        </p:spPr>
      </p:pic>
      <p:sp>
        <p:nvSpPr>
          <p:cNvPr id="37" name="Text 37">
            <a:extLst>
              <a:ext uri="{FF2B5EF4-FFF2-40B4-BE49-F238E27FC236}">
                <a16:creationId xmlns:a16="http://schemas.microsoft.com/office/drawing/2014/main" id="{B87F469B-949F-4971-A95B-1BD9BD2C5024}"/>
              </a:ext>
            </a:extLst>
          </p:cNvPr>
          <p:cNvSpPr>
            <a:spLocks noGrp="1"/>
          </p:cNvSpPr>
          <p:nvPr/>
        </p:nvSpPr>
        <p:spPr>
          <a:xfrm>
            <a:off x="1295400" y="3962400"/>
            <a:ext cx="2476500" cy="266700"/>
          </a:xfrm>
          <a:prstGeom prst="rect">
            <a:avLst/>
          </a:prstGeom>
          <a:noFill/>
          <a:ln>
            <a:noFill/>
          </a:ln>
        </p:spPr>
        <p:txBody>
          <a:bodyPr wrap="square" lIns="0" tIns="0" rIns="0" bIns="0" anchor="t"/>
          <a:lstStyle/>
          <a:p>
            <a:pPr algn="l">
              <a:buNone/>
            </a:pPr>
            <a:r>
              <a:rPr sz="1600" b="1">
                <a:solidFill>
                  <a:srgbClr val="D71920"/>
                </a:solidFill>
                <a:latin typeface="Arial"/>
                <a:ea typeface="Arial"/>
                <a:cs typeface="Arial"/>
              </a:rPr>
              <a:t>MILESTONES</a:t>
            </a:r>
            <a:endParaRPr sz="1600"/>
          </a:p>
        </p:txBody>
      </p:sp>
      <p:sp>
        <p:nvSpPr>
          <p:cNvPr id="38" name="Connector 38">
            <a:extLst>
              <a:ext uri="{FF2B5EF4-FFF2-40B4-BE49-F238E27FC236}">
                <a16:creationId xmlns:a16="http://schemas.microsoft.com/office/drawing/2014/main" id="{81383091-F3E0-4546-92F0-A3C26C2BF320}"/>
              </a:ext>
            </a:extLst>
          </p:cNvPr>
          <p:cNvSpPr>
            <a:spLocks noGrp="1"/>
          </p:cNvSpPr>
          <p:nvPr/>
        </p:nvSpPr>
        <p:spPr>
          <a:xfrm>
            <a:off x="990600" y="4476750"/>
            <a:ext cx="4095750" cy="0"/>
          </a:xfrm>
          <a:prstGeom prst="line">
            <a:avLst/>
          </a:prstGeom>
          <a:ln w="25400">
            <a:solidFill>
              <a:srgbClr val="D9DEE3"/>
            </a:solidFill>
          </a:ln>
        </p:spPr>
      </p:sp>
      <p:sp>
        <p:nvSpPr>
          <p:cNvPr id="39" name="Shape 39">
            <a:extLst>
              <a:ext uri="{FF2B5EF4-FFF2-40B4-BE49-F238E27FC236}">
                <a16:creationId xmlns:a16="http://schemas.microsoft.com/office/drawing/2014/main" id="{2E91038E-3F3A-4321-B996-458A8F2D8307}"/>
              </a:ext>
            </a:extLst>
          </p:cNvPr>
          <p:cNvSpPr>
            <a:spLocks noGrp="1"/>
          </p:cNvSpPr>
          <p:nvPr/>
        </p:nvSpPr>
        <p:spPr>
          <a:xfrm>
            <a:off x="1104900" y="4362450"/>
            <a:ext cx="228600" cy="228600"/>
          </a:xfrm>
          <a:prstGeom prst="ellipse">
            <a:avLst/>
          </a:prstGeom>
          <a:solidFill>
            <a:srgbClr val="D71920"/>
          </a:solidFill>
          <a:ln w="25400">
            <a:solidFill>
              <a:srgbClr val="D71920"/>
            </a:solidFill>
          </a:ln>
        </p:spPr>
      </p:sp>
      <p:sp>
        <p:nvSpPr>
          <p:cNvPr id="40" name="Text 40">
            <a:extLst>
              <a:ext uri="{FF2B5EF4-FFF2-40B4-BE49-F238E27FC236}">
                <a16:creationId xmlns:a16="http://schemas.microsoft.com/office/drawing/2014/main" id="{E8294CFE-87C7-4EA7-897C-842206D8FFA6}"/>
              </a:ext>
            </a:extLst>
          </p:cNvPr>
          <p:cNvSpPr>
            <a:spLocks noGrp="1"/>
          </p:cNvSpPr>
          <p:nvPr/>
        </p:nvSpPr>
        <p:spPr>
          <a:xfrm>
            <a:off x="990600" y="4686300"/>
            <a:ext cx="45720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J1</a:t>
            </a:r>
            <a:endParaRPr sz="1100"/>
          </a:p>
        </p:txBody>
      </p:sp>
      <p:sp>
        <p:nvSpPr>
          <p:cNvPr id="41" name="Shape 41">
            <a:extLst>
              <a:ext uri="{FF2B5EF4-FFF2-40B4-BE49-F238E27FC236}">
                <a16:creationId xmlns:a16="http://schemas.microsoft.com/office/drawing/2014/main" id="{CF0DBED9-F06A-4D55-85CB-0A1A22FB5E89}"/>
              </a:ext>
            </a:extLst>
          </p:cNvPr>
          <p:cNvSpPr>
            <a:spLocks noGrp="1"/>
          </p:cNvSpPr>
          <p:nvPr/>
        </p:nvSpPr>
        <p:spPr>
          <a:xfrm>
            <a:off x="2019300" y="4362450"/>
            <a:ext cx="228600" cy="228600"/>
          </a:xfrm>
          <a:prstGeom prst="ellipse">
            <a:avLst/>
          </a:prstGeom>
          <a:solidFill>
            <a:srgbClr val="D71920"/>
          </a:solidFill>
          <a:ln w="25400">
            <a:solidFill>
              <a:srgbClr val="D71920"/>
            </a:solidFill>
          </a:ln>
        </p:spPr>
      </p:sp>
      <p:sp>
        <p:nvSpPr>
          <p:cNvPr id="42" name="Text 42">
            <a:extLst>
              <a:ext uri="{FF2B5EF4-FFF2-40B4-BE49-F238E27FC236}">
                <a16:creationId xmlns:a16="http://schemas.microsoft.com/office/drawing/2014/main" id="{9BDBA795-6748-464A-8FF4-2EE4B66E53CC}"/>
              </a:ext>
            </a:extLst>
          </p:cNvPr>
          <p:cNvSpPr>
            <a:spLocks noGrp="1"/>
          </p:cNvSpPr>
          <p:nvPr/>
        </p:nvSpPr>
        <p:spPr>
          <a:xfrm>
            <a:off x="1905000" y="4686300"/>
            <a:ext cx="45720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J2</a:t>
            </a:r>
            <a:endParaRPr sz="1100"/>
          </a:p>
        </p:txBody>
      </p:sp>
      <p:sp>
        <p:nvSpPr>
          <p:cNvPr id="43" name="Shape 43">
            <a:extLst>
              <a:ext uri="{FF2B5EF4-FFF2-40B4-BE49-F238E27FC236}">
                <a16:creationId xmlns:a16="http://schemas.microsoft.com/office/drawing/2014/main" id="{59E1F381-55DB-4B9A-B9E3-99470B404B2B}"/>
              </a:ext>
            </a:extLst>
          </p:cNvPr>
          <p:cNvSpPr>
            <a:spLocks noGrp="1"/>
          </p:cNvSpPr>
          <p:nvPr/>
        </p:nvSpPr>
        <p:spPr>
          <a:xfrm>
            <a:off x="2933700" y="4362450"/>
            <a:ext cx="228600" cy="228600"/>
          </a:xfrm>
          <a:prstGeom prst="ellipse">
            <a:avLst/>
          </a:prstGeom>
          <a:solidFill>
            <a:srgbClr val="D71920"/>
          </a:solidFill>
          <a:ln w="25400">
            <a:solidFill>
              <a:srgbClr val="D71920"/>
            </a:solidFill>
          </a:ln>
        </p:spPr>
      </p:sp>
      <p:sp>
        <p:nvSpPr>
          <p:cNvPr id="44" name="Text 44">
            <a:extLst>
              <a:ext uri="{FF2B5EF4-FFF2-40B4-BE49-F238E27FC236}">
                <a16:creationId xmlns:a16="http://schemas.microsoft.com/office/drawing/2014/main" id="{B16EA94A-53EF-41CB-A56A-9F5898AA1068}"/>
              </a:ext>
            </a:extLst>
          </p:cNvPr>
          <p:cNvSpPr>
            <a:spLocks noGrp="1"/>
          </p:cNvSpPr>
          <p:nvPr/>
        </p:nvSpPr>
        <p:spPr>
          <a:xfrm>
            <a:off x="2819400" y="4686300"/>
            <a:ext cx="45720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J3</a:t>
            </a:r>
            <a:endParaRPr sz="1100"/>
          </a:p>
        </p:txBody>
      </p:sp>
      <p:sp>
        <p:nvSpPr>
          <p:cNvPr id="45" name="Shape 45">
            <a:extLst>
              <a:ext uri="{FF2B5EF4-FFF2-40B4-BE49-F238E27FC236}">
                <a16:creationId xmlns:a16="http://schemas.microsoft.com/office/drawing/2014/main" id="{3F2ACD18-4314-4483-850A-EDE5C9CEC983}"/>
              </a:ext>
            </a:extLst>
          </p:cNvPr>
          <p:cNvSpPr>
            <a:spLocks noGrp="1"/>
          </p:cNvSpPr>
          <p:nvPr/>
        </p:nvSpPr>
        <p:spPr>
          <a:xfrm>
            <a:off x="3848100" y="4362450"/>
            <a:ext cx="228600" cy="228600"/>
          </a:xfrm>
          <a:prstGeom prst="ellipse">
            <a:avLst/>
          </a:prstGeom>
          <a:solidFill>
            <a:srgbClr val="FFFFFF"/>
          </a:solidFill>
          <a:ln w="25400">
            <a:solidFill>
              <a:srgbClr val="D71920"/>
            </a:solidFill>
          </a:ln>
        </p:spPr>
      </p:sp>
      <p:sp>
        <p:nvSpPr>
          <p:cNvPr id="46" name="Text 46">
            <a:extLst>
              <a:ext uri="{FF2B5EF4-FFF2-40B4-BE49-F238E27FC236}">
                <a16:creationId xmlns:a16="http://schemas.microsoft.com/office/drawing/2014/main" id="{5451CB4C-C765-46FB-97F4-B03072815390}"/>
              </a:ext>
            </a:extLst>
          </p:cNvPr>
          <p:cNvSpPr>
            <a:spLocks noGrp="1"/>
          </p:cNvSpPr>
          <p:nvPr/>
        </p:nvSpPr>
        <p:spPr>
          <a:xfrm>
            <a:off x="3733800" y="4686300"/>
            <a:ext cx="45720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J4</a:t>
            </a:r>
            <a:endParaRPr sz="1100"/>
          </a:p>
        </p:txBody>
      </p:sp>
      <p:sp>
        <p:nvSpPr>
          <p:cNvPr id="47" name="Shape 47">
            <a:extLst>
              <a:ext uri="{FF2B5EF4-FFF2-40B4-BE49-F238E27FC236}">
                <a16:creationId xmlns:a16="http://schemas.microsoft.com/office/drawing/2014/main" id="{5AA452F2-1182-4FED-AB6F-402BCD9DF4D2}"/>
              </a:ext>
            </a:extLst>
          </p:cNvPr>
          <p:cNvSpPr>
            <a:spLocks noGrp="1"/>
          </p:cNvSpPr>
          <p:nvPr/>
        </p:nvSpPr>
        <p:spPr>
          <a:xfrm>
            <a:off x="4762500" y="4362450"/>
            <a:ext cx="228600" cy="228600"/>
          </a:xfrm>
          <a:prstGeom prst="ellipse">
            <a:avLst/>
          </a:prstGeom>
          <a:solidFill>
            <a:srgbClr val="FFFFFF"/>
          </a:solidFill>
          <a:ln w="25400">
            <a:solidFill>
              <a:srgbClr val="D71920"/>
            </a:solidFill>
          </a:ln>
        </p:spPr>
      </p:sp>
      <p:sp>
        <p:nvSpPr>
          <p:cNvPr id="48" name="Text 48">
            <a:extLst>
              <a:ext uri="{FF2B5EF4-FFF2-40B4-BE49-F238E27FC236}">
                <a16:creationId xmlns:a16="http://schemas.microsoft.com/office/drawing/2014/main" id="{4719AA7C-D01C-43B3-B499-3A55B8CC1C55}"/>
              </a:ext>
            </a:extLst>
          </p:cNvPr>
          <p:cNvSpPr>
            <a:spLocks noGrp="1"/>
          </p:cNvSpPr>
          <p:nvPr/>
        </p:nvSpPr>
        <p:spPr>
          <a:xfrm>
            <a:off x="4648200" y="4686300"/>
            <a:ext cx="457200" cy="190500"/>
          </a:xfrm>
          <a:prstGeom prst="rect">
            <a:avLst/>
          </a:prstGeom>
          <a:noFill/>
          <a:ln>
            <a:noFill/>
          </a:ln>
        </p:spPr>
        <p:txBody>
          <a:bodyPr wrap="square" lIns="0" tIns="0" rIns="0" bIns="0" anchor="t"/>
          <a:lstStyle/>
          <a:p>
            <a:pPr algn="ctr">
              <a:buNone/>
            </a:pPr>
            <a:r>
              <a:rPr sz="1100" b="1">
                <a:solidFill>
                  <a:srgbClr val="5D6873"/>
                </a:solidFill>
                <a:latin typeface="Arial"/>
                <a:ea typeface="Arial"/>
                <a:cs typeface="Arial"/>
              </a:rPr>
              <a:t>J5</a:t>
            </a:r>
            <a:endParaRPr sz="1100"/>
          </a:p>
        </p:txBody>
      </p:sp>
      <p:sp>
        <p:nvSpPr>
          <p:cNvPr id="49" name="Shape 49">
            <a:extLst>
              <a:ext uri="{FF2B5EF4-FFF2-40B4-BE49-F238E27FC236}">
                <a16:creationId xmlns:a16="http://schemas.microsoft.com/office/drawing/2014/main" id="{7289FD25-BBE5-411F-94AF-AD68067923D6}"/>
              </a:ext>
            </a:extLst>
          </p:cNvPr>
          <p:cNvSpPr>
            <a:spLocks noGrp="1"/>
          </p:cNvSpPr>
          <p:nvPr/>
        </p:nvSpPr>
        <p:spPr>
          <a:xfrm>
            <a:off x="1047750" y="5105400"/>
            <a:ext cx="2076450" cy="209550"/>
          </a:xfrm>
          <a:prstGeom prst="roundRect">
            <a:avLst/>
          </a:prstGeom>
          <a:solidFill>
            <a:srgbClr val="EAF1F7"/>
          </a:solidFill>
          <a:ln w="12700">
            <a:solidFill>
              <a:srgbClr val="2A5B84"/>
            </a:solidFill>
          </a:ln>
        </p:spPr>
      </p:sp>
      <p:sp>
        <p:nvSpPr>
          <p:cNvPr id="50" name="Shape 50">
            <a:extLst>
              <a:ext uri="{FF2B5EF4-FFF2-40B4-BE49-F238E27FC236}">
                <a16:creationId xmlns:a16="http://schemas.microsoft.com/office/drawing/2014/main" id="{FA3D0032-83BE-4E11-929D-956F3B7FE4D0}"/>
              </a:ext>
            </a:extLst>
          </p:cNvPr>
          <p:cNvSpPr>
            <a:spLocks noGrp="1"/>
          </p:cNvSpPr>
          <p:nvPr/>
        </p:nvSpPr>
        <p:spPr>
          <a:xfrm>
            <a:off x="2895600" y="5429250"/>
            <a:ext cx="2114550" cy="209550"/>
          </a:xfrm>
          <a:prstGeom prst="roundRect">
            <a:avLst/>
          </a:prstGeom>
          <a:solidFill>
            <a:srgbClr val="FCEBEC"/>
          </a:solidFill>
          <a:ln w="12700">
            <a:solidFill>
              <a:srgbClr val="D71920"/>
            </a:solidFill>
          </a:ln>
        </p:spPr>
      </p:sp>
      <p:sp>
        <p:nvSpPr>
          <p:cNvPr id="51" name="Shape 51">
            <a:extLst>
              <a:ext uri="{FF2B5EF4-FFF2-40B4-BE49-F238E27FC236}">
                <a16:creationId xmlns:a16="http://schemas.microsoft.com/office/drawing/2014/main" id="{6CE4A254-D9BD-4102-A05B-99B6DD2A24A8}"/>
              </a:ext>
            </a:extLst>
          </p:cNvPr>
          <p:cNvSpPr>
            <a:spLocks noGrp="1"/>
          </p:cNvSpPr>
          <p:nvPr/>
        </p:nvSpPr>
        <p:spPr>
          <a:xfrm>
            <a:off x="6419850" y="3752850"/>
            <a:ext cx="5219700" cy="2152650"/>
          </a:xfrm>
          <a:prstGeom prst="roundRect">
            <a:avLst/>
          </a:prstGeom>
          <a:solidFill>
            <a:srgbClr val="FFFFFF"/>
          </a:solidFill>
          <a:ln w="12700">
            <a:solidFill>
              <a:srgbClr val="D9DEE3"/>
            </a:solidFill>
          </a:ln>
        </p:spPr>
      </p:sp>
      <p:sp>
        <p:nvSpPr>
          <p:cNvPr id="52" name="Shape 52">
            <a:extLst>
              <a:ext uri="{FF2B5EF4-FFF2-40B4-BE49-F238E27FC236}">
                <a16:creationId xmlns:a16="http://schemas.microsoft.com/office/drawing/2014/main" id="{773DF644-4F57-4A96-B107-A40C72804C02}"/>
              </a:ext>
            </a:extLst>
          </p:cNvPr>
          <p:cNvSpPr>
            <a:spLocks noGrp="1"/>
          </p:cNvSpPr>
          <p:nvPr/>
        </p:nvSpPr>
        <p:spPr>
          <a:xfrm>
            <a:off x="6610350" y="3886200"/>
            <a:ext cx="400050" cy="400050"/>
          </a:xfrm>
          <a:prstGeom prst="roundRect">
            <a:avLst/>
          </a:prstGeom>
          <a:solidFill>
            <a:srgbClr val="EAF5F0"/>
          </a:solidFill>
          <a:ln w="19050">
            <a:solidFill>
              <a:srgbClr val="1F7A5A"/>
            </a:solidFill>
          </a:ln>
        </p:spPr>
      </p:sp>
      <p:pic>
        <p:nvPicPr>
          <p:cNvPr id="124" name="Picture 53"/>
          <p:cNvPicPr>
            <a:picLocks noChangeAspect="1"/>
          </p:cNvPicPr>
          <p:nvPr/>
        </p:nvPicPr>
        <p:blipFill>
          <a:blip r:embed="rId6"/>
          <a:stretch>
            <a:fillRect/>
          </a:stretch>
        </p:blipFill>
        <p:spPr>
          <a:xfrm>
            <a:off x="6715125" y="3990975"/>
            <a:ext cx="190500" cy="190500"/>
          </a:xfrm>
          <a:prstGeom prst="rect">
            <a:avLst/>
          </a:prstGeom>
          <a:ln>
            <a:noFill/>
          </a:ln>
        </p:spPr>
      </p:pic>
      <p:sp>
        <p:nvSpPr>
          <p:cNvPr id="54" name="Text 54">
            <a:extLst>
              <a:ext uri="{FF2B5EF4-FFF2-40B4-BE49-F238E27FC236}">
                <a16:creationId xmlns:a16="http://schemas.microsoft.com/office/drawing/2014/main" id="{0E0F7EB2-FC3D-4A6D-BC8C-7CEA82509E9C}"/>
              </a:ext>
            </a:extLst>
          </p:cNvPr>
          <p:cNvSpPr>
            <a:spLocks noGrp="1"/>
          </p:cNvSpPr>
          <p:nvPr/>
        </p:nvSpPr>
        <p:spPr>
          <a:xfrm>
            <a:off x="7162800" y="3962400"/>
            <a:ext cx="2476500" cy="266700"/>
          </a:xfrm>
          <a:prstGeom prst="rect">
            <a:avLst/>
          </a:prstGeom>
          <a:noFill/>
          <a:ln>
            <a:noFill/>
          </a:ln>
        </p:spPr>
        <p:txBody>
          <a:bodyPr wrap="square" lIns="0" tIns="0" rIns="0" bIns="0" anchor="t"/>
          <a:lstStyle/>
          <a:p>
            <a:pPr algn="l">
              <a:buNone/>
            </a:pPr>
            <a:r>
              <a:rPr sz="1600" b="1">
                <a:solidFill>
                  <a:srgbClr val="D71920"/>
                </a:solidFill>
                <a:latin typeface="Arial"/>
                <a:ea typeface="Arial"/>
                <a:cs typeface="Arial"/>
              </a:rPr>
              <a:t>BURN-UP</a:t>
            </a:r>
            <a:endParaRPr sz="1600"/>
          </a:p>
        </p:txBody>
      </p:sp>
      <p:sp>
        <p:nvSpPr>
          <p:cNvPr id="55" name="Connector 55">
            <a:extLst>
              <a:ext uri="{FF2B5EF4-FFF2-40B4-BE49-F238E27FC236}">
                <a16:creationId xmlns:a16="http://schemas.microsoft.com/office/drawing/2014/main" id="{E1C31374-59BB-4788-960A-BDF299513ED5}"/>
              </a:ext>
            </a:extLst>
          </p:cNvPr>
          <p:cNvSpPr>
            <a:spLocks noGrp="1"/>
          </p:cNvSpPr>
          <p:nvPr/>
        </p:nvSpPr>
        <p:spPr>
          <a:xfrm flipV="1">
            <a:off x="6896100" y="4381500"/>
            <a:ext cx="0" cy="1104900"/>
          </a:xfrm>
          <a:prstGeom prst="line">
            <a:avLst/>
          </a:prstGeom>
          <a:ln w="12700">
            <a:solidFill>
              <a:srgbClr val="5D6873"/>
            </a:solidFill>
          </a:ln>
        </p:spPr>
      </p:sp>
      <p:sp>
        <p:nvSpPr>
          <p:cNvPr id="56" name="Connector 56">
            <a:extLst>
              <a:ext uri="{FF2B5EF4-FFF2-40B4-BE49-F238E27FC236}">
                <a16:creationId xmlns:a16="http://schemas.microsoft.com/office/drawing/2014/main" id="{BC7AADF7-A34C-4D2C-BF87-8F6FFA4CCFAC}"/>
              </a:ext>
            </a:extLst>
          </p:cNvPr>
          <p:cNvSpPr>
            <a:spLocks noGrp="1"/>
          </p:cNvSpPr>
          <p:nvPr/>
        </p:nvSpPr>
        <p:spPr>
          <a:xfrm>
            <a:off x="6896100" y="5486400"/>
            <a:ext cx="4000500" cy="0"/>
          </a:xfrm>
          <a:prstGeom prst="line">
            <a:avLst/>
          </a:prstGeom>
          <a:ln w="12700">
            <a:solidFill>
              <a:srgbClr val="5D6873"/>
            </a:solidFill>
          </a:ln>
        </p:spPr>
      </p:sp>
      <p:sp>
        <p:nvSpPr>
          <p:cNvPr id="57" name="Connector 57">
            <a:extLst>
              <a:ext uri="{FF2B5EF4-FFF2-40B4-BE49-F238E27FC236}">
                <a16:creationId xmlns:a16="http://schemas.microsoft.com/office/drawing/2014/main" id="{97F644DA-AC0C-4C53-B621-CA408E440FA2}"/>
              </a:ext>
            </a:extLst>
          </p:cNvPr>
          <p:cNvSpPr>
            <a:spLocks noGrp="1"/>
          </p:cNvSpPr>
          <p:nvPr/>
        </p:nvSpPr>
        <p:spPr>
          <a:xfrm flipV="1">
            <a:off x="6896100" y="4876800"/>
            <a:ext cx="800100" cy="457200"/>
          </a:xfrm>
          <a:prstGeom prst="line">
            <a:avLst/>
          </a:prstGeom>
          <a:ln w="38100">
            <a:solidFill>
              <a:srgbClr val="2A5B84"/>
            </a:solidFill>
          </a:ln>
        </p:spPr>
      </p:sp>
      <p:sp>
        <p:nvSpPr>
          <p:cNvPr id="58" name="Connector 58">
            <a:extLst>
              <a:ext uri="{FF2B5EF4-FFF2-40B4-BE49-F238E27FC236}">
                <a16:creationId xmlns:a16="http://schemas.microsoft.com/office/drawing/2014/main" id="{353EC0A5-12CF-465E-853B-18CBE0D10C53}"/>
              </a:ext>
            </a:extLst>
          </p:cNvPr>
          <p:cNvSpPr>
            <a:spLocks noGrp="1"/>
          </p:cNvSpPr>
          <p:nvPr/>
        </p:nvSpPr>
        <p:spPr>
          <a:xfrm flipV="1">
            <a:off x="7696200" y="4800600"/>
            <a:ext cx="800100" cy="76200"/>
          </a:xfrm>
          <a:prstGeom prst="line">
            <a:avLst/>
          </a:prstGeom>
          <a:ln w="38100">
            <a:solidFill>
              <a:srgbClr val="2A5B84"/>
            </a:solidFill>
          </a:ln>
        </p:spPr>
      </p:sp>
      <p:sp>
        <p:nvSpPr>
          <p:cNvPr id="59" name="Connector 59">
            <a:extLst>
              <a:ext uri="{FF2B5EF4-FFF2-40B4-BE49-F238E27FC236}">
                <a16:creationId xmlns:a16="http://schemas.microsoft.com/office/drawing/2014/main" id="{B67498F7-27CC-41EB-B77B-39BBAFE7C432}"/>
              </a:ext>
            </a:extLst>
          </p:cNvPr>
          <p:cNvSpPr>
            <a:spLocks noGrp="1"/>
          </p:cNvSpPr>
          <p:nvPr/>
        </p:nvSpPr>
        <p:spPr>
          <a:xfrm flipV="1">
            <a:off x="8496300" y="4229100"/>
            <a:ext cx="800100" cy="571500"/>
          </a:xfrm>
          <a:prstGeom prst="line">
            <a:avLst/>
          </a:prstGeom>
          <a:ln w="38100">
            <a:solidFill>
              <a:srgbClr val="2A5B84"/>
            </a:solidFill>
          </a:ln>
        </p:spPr>
      </p:sp>
      <p:sp>
        <p:nvSpPr>
          <p:cNvPr id="60" name="Connector 60">
            <a:extLst>
              <a:ext uri="{FF2B5EF4-FFF2-40B4-BE49-F238E27FC236}">
                <a16:creationId xmlns:a16="http://schemas.microsoft.com/office/drawing/2014/main" id="{43541F69-C7B7-4DBE-B231-F9D619B9464D}"/>
              </a:ext>
            </a:extLst>
          </p:cNvPr>
          <p:cNvSpPr>
            <a:spLocks noGrp="1"/>
          </p:cNvSpPr>
          <p:nvPr/>
        </p:nvSpPr>
        <p:spPr>
          <a:xfrm flipV="1">
            <a:off x="9296400" y="4019550"/>
            <a:ext cx="800100" cy="209550"/>
          </a:xfrm>
          <a:prstGeom prst="line">
            <a:avLst/>
          </a:prstGeom>
          <a:ln w="38100">
            <a:solidFill>
              <a:srgbClr val="2A5B84"/>
            </a:solidFill>
          </a:ln>
        </p:spPr>
      </p:sp>
      <p:sp>
        <p:nvSpPr>
          <p:cNvPr id="61" name="Connector 61">
            <a:extLst>
              <a:ext uri="{FF2B5EF4-FFF2-40B4-BE49-F238E27FC236}">
                <a16:creationId xmlns:a16="http://schemas.microsoft.com/office/drawing/2014/main" id="{450E7806-136C-4CEF-9A6C-EF897358DB64}"/>
              </a:ext>
            </a:extLst>
          </p:cNvPr>
          <p:cNvSpPr>
            <a:spLocks noGrp="1"/>
          </p:cNvSpPr>
          <p:nvPr/>
        </p:nvSpPr>
        <p:spPr>
          <a:xfrm flipV="1">
            <a:off x="6896100" y="4876800"/>
            <a:ext cx="800100" cy="57150"/>
          </a:xfrm>
          <a:prstGeom prst="line">
            <a:avLst/>
          </a:prstGeom>
          <a:ln w="25400">
            <a:solidFill>
              <a:srgbClr val="D71920"/>
            </a:solidFill>
          </a:ln>
        </p:spPr>
      </p:sp>
      <p:sp>
        <p:nvSpPr>
          <p:cNvPr id="62" name="Connector 62">
            <a:extLst>
              <a:ext uri="{FF2B5EF4-FFF2-40B4-BE49-F238E27FC236}">
                <a16:creationId xmlns:a16="http://schemas.microsoft.com/office/drawing/2014/main" id="{20636968-8B2B-486F-A1B8-E47CAF147527}"/>
              </a:ext>
            </a:extLst>
          </p:cNvPr>
          <p:cNvSpPr>
            <a:spLocks noGrp="1"/>
          </p:cNvSpPr>
          <p:nvPr/>
        </p:nvSpPr>
        <p:spPr>
          <a:xfrm flipV="1">
            <a:off x="7696200" y="4629150"/>
            <a:ext cx="800100" cy="247650"/>
          </a:xfrm>
          <a:prstGeom prst="line">
            <a:avLst/>
          </a:prstGeom>
          <a:ln w="25400">
            <a:solidFill>
              <a:srgbClr val="D71920"/>
            </a:solidFill>
          </a:ln>
        </p:spPr>
      </p:sp>
      <p:sp>
        <p:nvSpPr>
          <p:cNvPr id="63" name="Connector 63">
            <a:extLst>
              <a:ext uri="{FF2B5EF4-FFF2-40B4-BE49-F238E27FC236}">
                <a16:creationId xmlns:a16="http://schemas.microsoft.com/office/drawing/2014/main" id="{E6078790-EE20-495F-B3FD-793A86D2CAD5}"/>
              </a:ext>
            </a:extLst>
          </p:cNvPr>
          <p:cNvSpPr>
            <a:spLocks noGrp="1"/>
          </p:cNvSpPr>
          <p:nvPr/>
        </p:nvSpPr>
        <p:spPr>
          <a:xfrm flipV="1">
            <a:off x="8496300" y="4533900"/>
            <a:ext cx="800100" cy="95250"/>
          </a:xfrm>
          <a:prstGeom prst="line">
            <a:avLst/>
          </a:prstGeom>
          <a:ln w="25400">
            <a:solidFill>
              <a:srgbClr val="D71920"/>
            </a:solidFill>
          </a:ln>
        </p:spPr>
      </p:sp>
      <p:sp>
        <p:nvSpPr>
          <p:cNvPr id="64" name="Connector 64">
            <a:extLst>
              <a:ext uri="{FF2B5EF4-FFF2-40B4-BE49-F238E27FC236}">
                <a16:creationId xmlns:a16="http://schemas.microsoft.com/office/drawing/2014/main" id="{404BE2C6-20C3-4916-AEEC-E4EB05B06AAD}"/>
              </a:ext>
            </a:extLst>
          </p:cNvPr>
          <p:cNvSpPr>
            <a:spLocks noGrp="1"/>
          </p:cNvSpPr>
          <p:nvPr/>
        </p:nvSpPr>
        <p:spPr>
          <a:xfrm flipV="1">
            <a:off x="9296400" y="4210050"/>
            <a:ext cx="800100" cy="323850"/>
          </a:xfrm>
          <a:prstGeom prst="line">
            <a:avLst/>
          </a:prstGeom>
          <a:ln w="25400">
            <a:solidFill>
              <a:srgbClr val="D71920"/>
            </a:solidFill>
          </a:ln>
        </p:spPr>
      </p:sp>
      <p:sp>
        <p:nvSpPr>
          <p:cNvPr id="65" name="Text 65">
            <a:extLst>
              <a:ext uri="{FF2B5EF4-FFF2-40B4-BE49-F238E27FC236}">
                <a16:creationId xmlns:a16="http://schemas.microsoft.com/office/drawing/2014/main" id="{87E819AA-B74B-4228-8C80-1A035DA40C46}"/>
              </a:ext>
            </a:extLst>
          </p:cNvPr>
          <p:cNvSpPr>
            <a:spLocks noGrp="1"/>
          </p:cNvSpPr>
          <p:nvPr/>
        </p:nvSpPr>
        <p:spPr>
          <a:xfrm>
            <a:off x="6705600" y="5619750"/>
            <a:ext cx="4324350" cy="171450"/>
          </a:xfrm>
          <a:prstGeom prst="rect">
            <a:avLst/>
          </a:prstGeom>
          <a:noFill/>
          <a:ln>
            <a:noFill/>
          </a:ln>
        </p:spPr>
        <p:txBody>
          <a:bodyPr wrap="square" lIns="0" tIns="0" rIns="0" bIns="0" anchor="t"/>
          <a:lstStyle/>
          <a:p>
            <a:pPr algn="ctr">
              <a:buNone/>
            </a:pPr>
            <a:r>
              <a:rPr sz="1100" b="0">
                <a:solidFill>
                  <a:srgbClr val="5D6873"/>
                </a:solidFill>
                <a:latin typeface="Arial"/>
                <a:ea typeface="Arial"/>
                <a:cs typeface="Arial"/>
              </a:rPr>
              <a:t>completed work and evolving scope</a:t>
            </a:r>
            <a:endParaRPr sz="1100"/>
          </a:p>
        </p:txBody>
      </p:sp>
      <p:sp>
        <p:nvSpPr>
          <p:cNvPr id="66" name="Connector 66">
            <a:extLst>
              <a:ext uri="{FF2B5EF4-FFF2-40B4-BE49-F238E27FC236}">
                <a16:creationId xmlns:a16="http://schemas.microsoft.com/office/drawing/2014/main" id="{BD341898-E01F-47AC-9ED4-CA65CD72682A}"/>
              </a:ext>
            </a:extLst>
          </p:cNvPr>
          <p:cNvSpPr>
            <a:spLocks noGrp="1"/>
          </p:cNvSpPr>
          <p:nvPr/>
        </p:nvSpPr>
        <p:spPr>
          <a:xfrm>
            <a:off x="552450" y="6419850"/>
            <a:ext cx="11087100" cy="0"/>
          </a:xfrm>
          <a:prstGeom prst="line">
            <a:avLst/>
          </a:prstGeom>
          <a:ln w="12700">
            <a:solidFill>
              <a:srgbClr val="D9DEE3"/>
            </a:solidFill>
          </a:ln>
        </p:spPr>
      </p:sp>
      <p:sp>
        <p:nvSpPr>
          <p:cNvPr id="67" name="Text 67">
            <a:extLst>
              <a:ext uri="{FF2B5EF4-FFF2-40B4-BE49-F238E27FC236}">
                <a16:creationId xmlns:a16="http://schemas.microsoft.com/office/drawing/2014/main" id="{4DF01B5B-DB75-4541-AC5C-E4554FF9AE0E}"/>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68" name="Text 68">
            <a:extLst>
              <a:ext uri="{FF2B5EF4-FFF2-40B4-BE49-F238E27FC236}">
                <a16:creationId xmlns:a16="http://schemas.microsoft.com/office/drawing/2014/main" id="{17420504-89BC-4822-9ACC-D513172FEF83}"/>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10</a:t>
            </a:r>
            <a:endParaRPr sz="1000"/>
          </a:p>
        </p:txBody>
      </p:sp>
    </p:spTree>
    <p:extLst>
      <p:ext uri="{BB962C8B-B14F-4D97-AF65-F5344CB8AC3E}">
        <p14:creationId xmlns:p14="http://schemas.microsoft.com/office/powerpoint/2010/main" val="1806274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9F27B159-F0FC-4C4B-B838-C3978801F778}"/>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AGENT QUALITY FEEDBACK</a:t>
            </a:r>
            <a:endParaRPr sz="1100"/>
          </a:p>
        </p:txBody>
      </p:sp>
      <p:sp>
        <p:nvSpPr>
          <p:cNvPr id="3" name="Text 3">
            <a:extLst>
              <a:ext uri="{FF2B5EF4-FFF2-40B4-BE49-F238E27FC236}">
                <a16:creationId xmlns:a16="http://schemas.microsoft.com/office/drawing/2014/main" id="{266C35C9-E6B9-4074-8D77-97DC881F35E9}"/>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Fast feedback catches defects early and exact-head CI remains authoritative</a:t>
            </a:r>
            <a:endParaRPr sz="3000"/>
          </a:p>
        </p:txBody>
      </p:sp>
      <p:sp>
        <p:nvSpPr>
          <p:cNvPr id="4" name="Connector 4">
            <a:extLst>
              <a:ext uri="{FF2B5EF4-FFF2-40B4-BE49-F238E27FC236}">
                <a16:creationId xmlns:a16="http://schemas.microsoft.com/office/drawing/2014/main" id="{F4E5C75A-8042-4035-BCBD-542A118FEE45}"/>
              </a:ext>
            </a:extLst>
          </p:cNvPr>
          <p:cNvSpPr>
            <a:spLocks noGrp="1"/>
          </p:cNvSpPr>
          <p:nvPr/>
        </p:nvSpPr>
        <p:spPr>
          <a:xfrm>
            <a:off x="2133600" y="3086100"/>
            <a:ext cx="285750" cy="0"/>
          </a:xfrm>
          <a:prstGeom prst="line">
            <a:avLst/>
          </a:prstGeom>
          <a:ln w="25400">
            <a:solidFill>
              <a:srgbClr val="D71920"/>
            </a:solidFill>
            <a:tailEnd type="triangle"/>
          </a:ln>
        </p:spPr>
      </p:sp>
      <p:sp>
        <p:nvSpPr>
          <p:cNvPr id="5" name="Connector 5">
            <a:extLst>
              <a:ext uri="{FF2B5EF4-FFF2-40B4-BE49-F238E27FC236}">
                <a16:creationId xmlns:a16="http://schemas.microsoft.com/office/drawing/2014/main" id="{8C727E87-AC6E-47EF-8E65-717D06F687E9}"/>
              </a:ext>
            </a:extLst>
          </p:cNvPr>
          <p:cNvSpPr>
            <a:spLocks noGrp="1"/>
          </p:cNvSpPr>
          <p:nvPr/>
        </p:nvSpPr>
        <p:spPr>
          <a:xfrm>
            <a:off x="3943350" y="3086100"/>
            <a:ext cx="285750" cy="0"/>
          </a:xfrm>
          <a:prstGeom prst="line">
            <a:avLst/>
          </a:prstGeom>
          <a:ln w="25400">
            <a:solidFill>
              <a:srgbClr val="D71920"/>
            </a:solidFill>
            <a:tailEnd type="triangle"/>
          </a:ln>
        </p:spPr>
      </p:sp>
      <p:sp>
        <p:nvSpPr>
          <p:cNvPr id="6" name="Connector 6">
            <a:extLst>
              <a:ext uri="{FF2B5EF4-FFF2-40B4-BE49-F238E27FC236}">
                <a16:creationId xmlns:a16="http://schemas.microsoft.com/office/drawing/2014/main" id="{F52AEFA0-6ABC-4C01-9EAF-11D19FB5A5C3}"/>
              </a:ext>
            </a:extLst>
          </p:cNvPr>
          <p:cNvSpPr>
            <a:spLocks noGrp="1"/>
          </p:cNvSpPr>
          <p:nvPr/>
        </p:nvSpPr>
        <p:spPr>
          <a:xfrm>
            <a:off x="5753100" y="3086100"/>
            <a:ext cx="285750" cy="0"/>
          </a:xfrm>
          <a:prstGeom prst="line">
            <a:avLst/>
          </a:prstGeom>
          <a:ln w="25400">
            <a:solidFill>
              <a:srgbClr val="D71920"/>
            </a:solidFill>
            <a:tailEnd type="triangle"/>
          </a:ln>
        </p:spPr>
      </p:sp>
      <p:sp>
        <p:nvSpPr>
          <p:cNvPr id="7" name="Connector 7">
            <a:extLst>
              <a:ext uri="{FF2B5EF4-FFF2-40B4-BE49-F238E27FC236}">
                <a16:creationId xmlns:a16="http://schemas.microsoft.com/office/drawing/2014/main" id="{9CA91BA0-6D61-473C-AF52-954093CD545C}"/>
              </a:ext>
            </a:extLst>
          </p:cNvPr>
          <p:cNvSpPr>
            <a:spLocks noGrp="1"/>
          </p:cNvSpPr>
          <p:nvPr/>
        </p:nvSpPr>
        <p:spPr>
          <a:xfrm>
            <a:off x="7562850" y="3086100"/>
            <a:ext cx="285750" cy="0"/>
          </a:xfrm>
          <a:prstGeom prst="line">
            <a:avLst/>
          </a:prstGeom>
          <a:ln w="25400">
            <a:solidFill>
              <a:srgbClr val="D71920"/>
            </a:solidFill>
            <a:tailEnd type="triangle"/>
          </a:ln>
        </p:spPr>
      </p:sp>
      <p:sp>
        <p:nvSpPr>
          <p:cNvPr id="8" name="Connector 8">
            <a:extLst>
              <a:ext uri="{FF2B5EF4-FFF2-40B4-BE49-F238E27FC236}">
                <a16:creationId xmlns:a16="http://schemas.microsoft.com/office/drawing/2014/main" id="{9B35CA7F-C25C-4793-AFB5-9BCF01086AF8}"/>
              </a:ext>
            </a:extLst>
          </p:cNvPr>
          <p:cNvSpPr>
            <a:spLocks noGrp="1"/>
          </p:cNvSpPr>
          <p:nvPr/>
        </p:nvSpPr>
        <p:spPr>
          <a:xfrm>
            <a:off x="9372600" y="3086100"/>
            <a:ext cx="285750" cy="0"/>
          </a:xfrm>
          <a:prstGeom prst="line">
            <a:avLst/>
          </a:prstGeom>
          <a:ln w="25400">
            <a:solidFill>
              <a:srgbClr val="D71920"/>
            </a:solidFill>
            <a:tailEnd type="triangle"/>
          </a:ln>
        </p:spPr>
      </p:sp>
      <p:sp>
        <p:nvSpPr>
          <p:cNvPr id="9" name="Shape 9">
            <a:extLst>
              <a:ext uri="{FF2B5EF4-FFF2-40B4-BE49-F238E27FC236}">
                <a16:creationId xmlns:a16="http://schemas.microsoft.com/office/drawing/2014/main" id="{8CA9608F-4210-4507-86DD-2397451E6D56}"/>
              </a:ext>
            </a:extLst>
          </p:cNvPr>
          <p:cNvSpPr>
            <a:spLocks noGrp="1"/>
          </p:cNvSpPr>
          <p:nvPr/>
        </p:nvSpPr>
        <p:spPr>
          <a:xfrm>
            <a:off x="419100" y="2114550"/>
            <a:ext cx="1714500" cy="1905000"/>
          </a:xfrm>
          <a:prstGeom prst="roundRect">
            <a:avLst/>
          </a:prstGeom>
          <a:solidFill>
            <a:srgbClr val="FFFFFF"/>
          </a:solidFill>
          <a:ln w="25400">
            <a:solidFill>
              <a:srgbClr val="17212B"/>
            </a:solidFill>
          </a:ln>
        </p:spPr>
      </p:sp>
      <p:sp>
        <p:nvSpPr>
          <p:cNvPr id="10" name="Text 10">
            <a:extLst>
              <a:ext uri="{FF2B5EF4-FFF2-40B4-BE49-F238E27FC236}">
                <a16:creationId xmlns:a16="http://schemas.microsoft.com/office/drawing/2014/main" id="{8F41A9C1-3810-4FE6-B90E-CF5DF2B72EF6}"/>
              </a:ext>
            </a:extLst>
          </p:cNvPr>
          <p:cNvSpPr>
            <a:spLocks noGrp="1"/>
          </p:cNvSpPr>
          <p:nvPr/>
        </p:nvSpPr>
        <p:spPr>
          <a:xfrm>
            <a:off x="533400" y="2266950"/>
            <a:ext cx="1485900" cy="209550"/>
          </a:xfrm>
          <a:prstGeom prst="rect">
            <a:avLst/>
          </a:prstGeom>
          <a:noFill/>
          <a:ln>
            <a:noFill/>
          </a:ln>
        </p:spPr>
        <p:txBody>
          <a:bodyPr wrap="square" lIns="0" tIns="0" rIns="0" bIns="0" anchor="t"/>
          <a:lstStyle/>
          <a:p>
            <a:pPr algn="ctr">
              <a:buNone/>
            </a:pPr>
            <a:r>
              <a:rPr sz="1300" b="1">
                <a:solidFill>
                  <a:srgbClr val="17212B"/>
                </a:solidFill>
                <a:latin typeface="Arial"/>
                <a:ea typeface="Arial"/>
                <a:cs typeface="Arial"/>
              </a:rPr>
              <a:t>BEFORE</a:t>
            </a:r>
            <a:endParaRPr sz="1300"/>
          </a:p>
        </p:txBody>
      </p:sp>
      <p:sp>
        <p:nvSpPr>
          <p:cNvPr id="11" name="Shape 11">
            <a:extLst>
              <a:ext uri="{FF2B5EF4-FFF2-40B4-BE49-F238E27FC236}">
                <a16:creationId xmlns:a16="http://schemas.microsoft.com/office/drawing/2014/main" id="{3474456C-1543-498D-BCA5-ED77857F8604}"/>
              </a:ext>
            </a:extLst>
          </p:cNvPr>
          <p:cNvSpPr>
            <a:spLocks noGrp="1"/>
          </p:cNvSpPr>
          <p:nvPr/>
        </p:nvSpPr>
        <p:spPr>
          <a:xfrm>
            <a:off x="1047750" y="2571750"/>
            <a:ext cx="457200" cy="457200"/>
          </a:xfrm>
          <a:prstGeom prst="roundRect">
            <a:avLst/>
          </a:prstGeom>
          <a:solidFill>
            <a:srgbClr val="FFFFFF"/>
          </a:solidFill>
          <a:ln w="19050">
            <a:solidFill>
              <a:srgbClr val="17212B"/>
            </a:solidFill>
          </a:ln>
        </p:spPr>
      </p:sp>
      <p:pic>
        <p:nvPicPr>
          <p:cNvPr id="70" name="Picture 12"/>
          <p:cNvPicPr>
            <a:picLocks noChangeAspect="1"/>
          </p:cNvPicPr>
          <p:nvPr/>
        </p:nvPicPr>
        <p:blipFill>
          <a:blip r:embed="rId3"/>
          <a:stretch>
            <a:fillRect/>
          </a:stretch>
        </p:blipFill>
        <p:spPr>
          <a:xfrm>
            <a:off x="1162050" y="2686050"/>
            <a:ext cx="228600" cy="228600"/>
          </a:xfrm>
          <a:prstGeom prst="rect">
            <a:avLst/>
          </a:prstGeom>
          <a:ln>
            <a:noFill/>
          </a:ln>
        </p:spPr>
      </p:pic>
      <p:sp>
        <p:nvSpPr>
          <p:cNvPr id="13" name="Text 13">
            <a:extLst>
              <a:ext uri="{FF2B5EF4-FFF2-40B4-BE49-F238E27FC236}">
                <a16:creationId xmlns:a16="http://schemas.microsoft.com/office/drawing/2014/main" id="{D7DA0EE3-772E-4080-8EA1-53CF53F79149}"/>
              </a:ext>
            </a:extLst>
          </p:cNvPr>
          <p:cNvSpPr>
            <a:spLocks noGrp="1"/>
          </p:cNvSpPr>
          <p:nvPr/>
        </p:nvSpPr>
        <p:spPr>
          <a:xfrm>
            <a:off x="533400" y="3143250"/>
            <a:ext cx="1485900" cy="4762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AGENTS.md policy</a:t>
            </a:r>
            <a:endParaRPr sz="1300"/>
          </a:p>
          <a:p>
            <a:pPr algn="ctr">
              <a:buNone/>
            </a:pPr>
            <a:r>
              <a:rPr sz="1300" b="0">
                <a:solidFill>
                  <a:srgbClr val="17212B"/>
                </a:solidFill>
                <a:latin typeface="Arial"/>
                <a:ea typeface="Arial"/>
                <a:cs typeface="Arial"/>
              </a:rPr>
              <a:t>and bounded context</a:t>
            </a:r>
            <a:endParaRPr sz="1300"/>
          </a:p>
        </p:txBody>
      </p:sp>
      <p:sp>
        <p:nvSpPr>
          <p:cNvPr id="14" name="Text 14">
            <a:extLst>
              <a:ext uri="{FF2B5EF4-FFF2-40B4-BE49-F238E27FC236}">
                <a16:creationId xmlns:a16="http://schemas.microsoft.com/office/drawing/2014/main" id="{CD29F728-1F80-4ECE-87A2-1404CDD63EEE}"/>
              </a:ext>
            </a:extLst>
          </p:cNvPr>
          <p:cNvSpPr>
            <a:spLocks noGrp="1"/>
          </p:cNvSpPr>
          <p:nvPr/>
        </p:nvSpPr>
        <p:spPr>
          <a:xfrm>
            <a:off x="571500" y="3752850"/>
            <a:ext cx="1409700" cy="171450"/>
          </a:xfrm>
          <a:prstGeom prst="rect">
            <a:avLst/>
          </a:prstGeom>
          <a:noFill/>
          <a:ln>
            <a:noFill/>
          </a:ln>
        </p:spPr>
        <p:txBody>
          <a:bodyPr wrap="square" lIns="0" tIns="0" rIns="0" bIns="0" anchor="t"/>
          <a:lstStyle/>
          <a:p>
            <a:pPr algn="ctr">
              <a:buNone/>
            </a:pPr>
            <a:r>
              <a:rPr sz="900" b="1" spc="70">
                <a:solidFill>
                  <a:srgbClr val="1F7A5A"/>
                </a:solidFill>
                <a:latin typeface="Arial"/>
                <a:ea typeface="Arial"/>
                <a:cs typeface="Arial"/>
              </a:rPr>
              <a:t>CURRENT</a:t>
            </a:r>
            <a:endParaRPr sz="900"/>
          </a:p>
        </p:txBody>
      </p:sp>
      <p:sp>
        <p:nvSpPr>
          <p:cNvPr id="15" name="Shape 15">
            <a:extLst>
              <a:ext uri="{FF2B5EF4-FFF2-40B4-BE49-F238E27FC236}">
                <a16:creationId xmlns:a16="http://schemas.microsoft.com/office/drawing/2014/main" id="{561445E2-6902-4868-BF36-A9A4B81956A8}"/>
              </a:ext>
            </a:extLst>
          </p:cNvPr>
          <p:cNvSpPr>
            <a:spLocks noGrp="1"/>
          </p:cNvSpPr>
          <p:nvPr/>
        </p:nvSpPr>
        <p:spPr>
          <a:xfrm>
            <a:off x="2228850" y="2114550"/>
            <a:ext cx="1714500" cy="1905000"/>
          </a:xfrm>
          <a:prstGeom prst="roundRect">
            <a:avLst/>
          </a:prstGeom>
          <a:solidFill>
            <a:srgbClr val="F4F6F8"/>
          </a:solidFill>
          <a:ln w="12700">
            <a:solidFill>
              <a:srgbClr val="2A5B84"/>
            </a:solidFill>
          </a:ln>
        </p:spPr>
      </p:sp>
      <p:sp>
        <p:nvSpPr>
          <p:cNvPr id="16" name="Text 16">
            <a:extLst>
              <a:ext uri="{FF2B5EF4-FFF2-40B4-BE49-F238E27FC236}">
                <a16:creationId xmlns:a16="http://schemas.microsoft.com/office/drawing/2014/main" id="{1C392FA9-35E7-4FB6-BE78-C6FC6AEC46FF}"/>
              </a:ext>
            </a:extLst>
          </p:cNvPr>
          <p:cNvSpPr>
            <a:spLocks noGrp="1"/>
          </p:cNvSpPr>
          <p:nvPr/>
        </p:nvSpPr>
        <p:spPr>
          <a:xfrm>
            <a:off x="2343150" y="2266950"/>
            <a:ext cx="1485900" cy="209550"/>
          </a:xfrm>
          <a:prstGeom prst="rect">
            <a:avLst/>
          </a:prstGeom>
          <a:noFill/>
          <a:ln>
            <a:noFill/>
          </a:ln>
        </p:spPr>
        <p:txBody>
          <a:bodyPr wrap="square" lIns="0" tIns="0" rIns="0" bIns="0" anchor="t"/>
          <a:lstStyle/>
          <a:p>
            <a:pPr algn="ctr">
              <a:buNone/>
            </a:pPr>
            <a:r>
              <a:rPr sz="1300" b="1">
                <a:solidFill>
                  <a:srgbClr val="2A5B84"/>
                </a:solidFill>
                <a:latin typeface="Arial"/>
                <a:ea typeface="Arial"/>
                <a:cs typeface="Arial"/>
              </a:rPr>
              <a:t>AFTER EDIT</a:t>
            </a:r>
            <a:endParaRPr sz="1300"/>
          </a:p>
        </p:txBody>
      </p:sp>
      <p:sp>
        <p:nvSpPr>
          <p:cNvPr id="17" name="Shape 17">
            <a:extLst>
              <a:ext uri="{FF2B5EF4-FFF2-40B4-BE49-F238E27FC236}">
                <a16:creationId xmlns:a16="http://schemas.microsoft.com/office/drawing/2014/main" id="{8201B1B7-5705-47D6-BE72-3E80FF54F8AE}"/>
              </a:ext>
            </a:extLst>
          </p:cNvPr>
          <p:cNvSpPr>
            <a:spLocks noGrp="1"/>
          </p:cNvSpPr>
          <p:nvPr/>
        </p:nvSpPr>
        <p:spPr>
          <a:xfrm>
            <a:off x="2857500" y="2571750"/>
            <a:ext cx="457200" cy="457200"/>
          </a:xfrm>
          <a:prstGeom prst="roundRect">
            <a:avLst/>
          </a:prstGeom>
          <a:solidFill>
            <a:srgbClr val="FFFFFF"/>
          </a:solidFill>
          <a:ln w="19050">
            <a:solidFill>
              <a:srgbClr val="2A5B84"/>
            </a:solidFill>
          </a:ln>
        </p:spPr>
      </p:sp>
      <p:pic>
        <p:nvPicPr>
          <p:cNvPr id="76" name="Picture 18"/>
          <p:cNvPicPr>
            <a:picLocks noChangeAspect="1"/>
          </p:cNvPicPr>
          <p:nvPr/>
        </p:nvPicPr>
        <p:blipFill>
          <a:blip r:embed="rId4"/>
          <a:stretch>
            <a:fillRect/>
          </a:stretch>
        </p:blipFill>
        <p:spPr>
          <a:xfrm>
            <a:off x="2971800" y="2686050"/>
            <a:ext cx="228600" cy="228600"/>
          </a:xfrm>
          <a:prstGeom prst="rect">
            <a:avLst/>
          </a:prstGeom>
          <a:ln>
            <a:noFill/>
          </a:ln>
        </p:spPr>
      </p:pic>
      <p:sp>
        <p:nvSpPr>
          <p:cNvPr id="19" name="Text 19">
            <a:extLst>
              <a:ext uri="{FF2B5EF4-FFF2-40B4-BE49-F238E27FC236}">
                <a16:creationId xmlns:a16="http://schemas.microsoft.com/office/drawing/2014/main" id="{4EFD0C50-288C-45BC-BF73-0B5A1CEECD31}"/>
              </a:ext>
            </a:extLst>
          </p:cNvPr>
          <p:cNvSpPr>
            <a:spLocks noGrp="1"/>
          </p:cNvSpPr>
          <p:nvPr/>
        </p:nvSpPr>
        <p:spPr>
          <a:xfrm>
            <a:off x="2343150" y="3143250"/>
            <a:ext cx="1485900" cy="4762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Earliest supported</a:t>
            </a:r>
            <a:endParaRPr sz="1300"/>
          </a:p>
          <a:p>
            <a:pPr algn="ctr">
              <a:buNone/>
            </a:pPr>
            <a:r>
              <a:rPr sz="1300" b="0">
                <a:solidFill>
                  <a:srgbClr val="17212B"/>
                </a:solidFill>
                <a:latin typeface="Arial"/>
                <a:ea typeface="Arial"/>
                <a:cs typeface="Arial"/>
              </a:rPr>
              <a:t>quality hook</a:t>
            </a:r>
            <a:endParaRPr sz="1300"/>
          </a:p>
        </p:txBody>
      </p:sp>
      <p:sp>
        <p:nvSpPr>
          <p:cNvPr id="20" name="Text 20">
            <a:extLst>
              <a:ext uri="{FF2B5EF4-FFF2-40B4-BE49-F238E27FC236}">
                <a16:creationId xmlns:a16="http://schemas.microsoft.com/office/drawing/2014/main" id="{1B307B57-2F67-4A07-AFDD-FC2E9E711264}"/>
              </a:ext>
            </a:extLst>
          </p:cNvPr>
          <p:cNvSpPr>
            <a:spLocks noGrp="1"/>
          </p:cNvSpPr>
          <p:nvPr/>
        </p:nvSpPr>
        <p:spPr>
          <a:xfrm>
            <a:off x="2381250" y="3752850"/>
            <a:ext cx="1409700" cy="171450"/>
          </a:xfrm>
          <a:prstGeom prst="rect">
            <a:avLst/>
          </a:prstGeom>
          <a:noFill/>
          <a:ln>
            <a:noFill/>
          </a:ln>
        </p:spPr>
        <p:txBody>
          <a:bodyPr wrap="square" lIns="0" tIns="0" rIns="0" bIns="0" anchor="t"/>
          <a:lstStyle/>
          <a:p>
            <a:pPr algn="ctr">
              <a:buNone/>
            </a:pPr>
            <a:r>
              <a:rPr sz="900" b="1" spc="70">
                <a:solidFill>
                  <a:srgbClr val="5D6873"/>
                </a:solidFill>
                <a:latin typeface="Arial"/>
                <a:ea typeface="Arial"/>
                <a:cs typeface="Arial"/>
              </a:rPr>
              <a:t>HARNESS ROADMAP</a:t>
            </a:r>
            <a:endParaRPr sz="900"/>
          </a:p>
        </p:txBody>
      </p:sp>
      <p:sp>
        <p:nvSpPr>
          <p:cNvPr id="21" name="Shape 21">
            <a:extLst>
              <a:ext uri="{FF2B5EF4-FFF2-40B4-BE49-F238E27FC236}">
                <a16:creationId xmlns:a16="http://schemas.microsoft.com/office/drawing/2014/main" id="{5FB63F45-B753-4429-AA57-A5332283788A}"/>
              </a:ext>
            </a:extLst>
          </p:cNvPr>
          <p:cNvSpPr>
            <a:spLocks noGrp="1"/>
          </p:cNvSpPr>
          <p:nvPr/>
        </p:nvSpPr>
        <p:spPr>
          <a:xfrm>
            <a:off x="4038600" y="2114550"/>
            <a:ext cx="1714500" cy="1905000"/>
          </a:xfrm>
          <a:prstGeom prst="roundRect">
            <a:avLst/>
          </a:prstGeom>
          <a:solidFill>
            <a:srgbClr val="F4F6F8"/>
          </a:solidFill>
          <a:ln w="12700">
            <a:solidFill>
              <a:srgbClr val="2A5B84"/>
            </a:solidFill>
          </a:ln>
        </p:spPr>
      </p:sp>
      <p:sp>
        <p:nvSpPr>
          <p:cNvPr id="22" name="Text 22">
            <a:extLst>
              <a:ext uri="{FF2B5EF4-FFF2-40B4-BE49-F238E27FC236}">
                <a16:creationId xmlns:a16="http://schemas.microsoft.com/office/drawing/2014/main" id="{DDC1121B-59CF-4162-B82E-BF432B974C41}"/>
              </a:ext>
            </a:extLst>
          </p:cNvPr>
          <p:cNvSpPr>
            <a:spLocks noGrp="1"/>
          </p:cNvSpPr>
          <p:nvPr/>
        </p:nvSpPr>
        <p:spPr>
          <a:xfrm>
            <a:off x="4152900" y="2266950"/>
            <a:ext cx="1485900" cy="209550"/>
          </a:xfrm>
          <a:prstGeom prst="rect">
            <a:avLst/>
          </a:prstGeom>
          <a:noFill/>
          <a:ln>
            <a:noFill/>
          </a:ln>
        </p:spPr>
        <p:txBody>
          <a:bodyPr wrap="square" lIns="0" tIns="0" rIns="0" bIns="0" anchor="t"/>
          <a:lstStyle/>
          <a:p>
            <a:pPr algn="ctr">
              <a:buNone/>
            </a:pPr>
            <a:r>
              <a:rPr sz="1300" b="1">
                <a:solidFill>
                  <a:srgbClr val="2A5B84"/>
                </a:solidFill>
                <a:latin typeface="Arial"/>
                <a:ea typeface="Arial"/>
                <a:cs typeface="Arial"/>
              </a:rPr>
              <a:t>PRE-COMMIT</a:t>
            </a:r>
            <a:endParaRPr sz="1300"/>
          </a:p>
        </p:txBody>
      </p:sp>
      <p:sp>
        <p:nvSpPr>
          <p:cNvPr id="23" name="Shape 23">
            <a:extLst>
              <a:ext uri="{FF2B5EF4-FFF2-40B4-BE49-F238E27FC236}">
                <a16:creationId xmlns:a16="http://schemas.microsoft.com/office/drawing/2014/main" id="{DCD578B8-B263-4EA2-B975-979442BB3B57}"/>
              </a:ext>
            </a:extLst>
          </p:cNvPr>
          <p:cNvSpPr>
            <a:spLocks noGrp="1"/>
          </p:cNvSpPr>
          <p:nvPr/>
        </p:nvSpPr>
        <p:spPr>
          <a:xfrm>
            <a:off x="4667250" y="2571750"/>
            <a:ext cx="457200" cy="457200"/>
          </a:xfrm>
          <a:prstGeom prst="roundRect">
            <a:avLst/>
          </a:prstGeom>
          <a:solidFill>
            <a:srgbClr val="FFFFFF"/>
          </a:solidFill>
          <a:ln w="19050">
            <a:solidFill>
              <a:srgbClr val="2A5B84"/>
            </a:solidFill>
          </a:ln>
        </p:spPr>
      </p:sp>
      <p:pic>
        <p:nvPicPr>
          <p:cNvPr id="82" name="Picture 24"/>
          <p:cNvPicPr>
            <a:picLocks noChangeAspect="1"/>
          </p:cNvPicPr>
          <p:nvPr/>
        </p:nvPicPr>
        <p:blipFill>
          <a:blip r:embed="rId5"/>
          <a:stretch>
            <a:fillRect/>
          </a:stretch>
        </p:blipFill>
        <p:spPr>
          <a:xfrm>
            <a:off x="4781550" y="2686050"/>
            <a:ext cx="228600" cy="228600"/>
          </a:xfrm>
          <a:prstGeom prst="rect">
            <a:avLst/>
          </a:prstGeom>
          <a:ln>
            <a:noFill/>
          </a:ln>
        </p:spPr>
      </p:pic>
      <p:sp>
        <p:nvSpPr>
          <p:cNvPr id="25" name="Text 25">
            <a:extLst>
              <a:ext uri="{FF2B5EF4-FFF2-40B4-BE49-F238E27FC236}">
                <a16:creationId xmlns:a16="http://schemas.microsoft.com/office/drawing/2014/main" id="{E26A07EA-1661-400D-9C2D-95FE61304892}"/>
              </a:ext>
            </a:extLst>
          </p:cNvPr>
          <p:cNvSpPr>
            <a:spLocks noGrp="1"/>
          </p:cNvSpPr>
          <p:nvPr/>
        </p:nvSpPr>
        <p:spPr>
          <a:xfrm>
            <a:off x="4152900" y="3143250"/>
            <a:ext cx="1485900" cy="4762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Shared lint and</a:t>
            </a:r>
            <a:endParaRPr sz="1300"/>
          </a:p>
          <a:p>
            <a:pPr algn="ctr">
              <a:buNone/>
            </a:pPr>
            <a:r>
              <a:rPr sz="1300" b="0">
                <a:solidFill>
                  <a:srgbClr val="17212B"/>
                </a:solidFill>
                <a:latin typeface="Arial"/>
                <a:ea typeface="Arial"/>
                <a:cs typeface="Arial"/>
              </a:rPr>
              <a:t>type-check command</a:t>
            </a:r>
            <a:endParaRPr sz="1300"/>
          </a:p>
        </p:txBody>
      </p:sp>
      <p:sp>
        <p:nvSpPr>
          <p:cNvPr id="26" name="Text 26">
            <a:extLst>
              <a:ext uri="{FF2B5EF4-FFF2-40B4-BE49-F238E27FC236}">
                <a16:creationId xmlns:a16="http://schemas.microsoft.com/office/drawing/2014/main" id="{481C8AED-0891-4DFB-8183-A8583E929404}"/>
              </a:ext>
            </a:extLst>
          </p:cNvPr>
          <p:cNvSpPr>
            <a:spLocks noGrp="1"/>
          </p:cNvSpPr>
          <p:nvPr/>
        </p:nvSpPr>
        <p:spPr>
          <a:xfrm>
            <a:off x="4191000" y="3752850"/>
            <a:ext cx="1409700" cy="171450"/>
          </a:xfrm>
          <a:prstGeom prst="rect">
            <a:avLst/>
          </a:prstGeom>
          <a:noFill/>
          <a:ln>
            <a:noFill/>
          </a:ln>
        </p:spPr>
        <p:txBody>
          <a:bodyPr wrap="square" lIns="0" tIns="0" rIns="0" bIns="0" anchor="t"/>
          <a:lstStyle/>
          <a:p>
            <a:pPr algn="ctr">
              <a:buNone/>
            </a:pPr>
            <a:r>
              <a:rPr sz="900" b="1" spc="70">
                <a:solidFill>
                  <a:srgbClr val="5D6873"/>
                </a:solidFill>
                <a:latin typeface="Arial"/>
                <a:ea typeface="Arial"/>
                <a:cs typeface="Arial"/>
              </a:rPr>
              <a:t>HARNESS ROADMAP</a:t>
            </a:r>
            <a:endParaRPr sz="900"/>
          </a:p>
        </p:txBody>
      </p:sp>
      <p:sp>
        <p:nvSpPr>
          <p:cNvPr id="27" name="Shape 27">
            <a:extLst>
              <a:ext uri="{FF2B5EF4-FFF2-40B4-BE49-F238E27FC236}">
                <a16:creationId xmlns:a16="http://schemas.microsoft.com/office/drawing/2014/main" id="{9393E2A2-9894-4F68-B947-34974B877AF8}"/>
              </a:ext>
            </a:extLst>
          </p:cNvPr>
          <p:cNvSpPr>
            <a:spLocks noGrp="1"/>
          </p:cNvSpPr>
          <p:nvPr/>
        </p:nvSpPr>
        <p:spPr>
          <a:xfrm>
            <a:off x="5848350" y="2114550"/>
            <a:ext cx="1714500" cy="1905000"/>
          </a:xfrm>
          <a:prstGeom prst="roundRect">
            <a:avLst/>
          </a:prstGeom>
          <a:solidFill>
            <a:srgbClr val="FFFFFF"/>
          </a:solidFill>
          <a:ln w="25400">
            <a:solidFill>
              <a:srgbClr val="1F7A5A"/>
            </a:solidFill>
          </a:ln>
        </p:spPr>
      </p:sp>
      <p:sp>
        <p:nvSpPr>
          <p:cNvPr id="28" name="Text 28">
            <a:extLst>
              <a:ext uri="{FF2B5EF4-FFF2-40B4-BE49-F238E27FC236}">
                <a16:creationId xmlns:a16="http://schemas.microsoft.com/office/drawing/2014/main" id="{5F1CD014-0DB9-4CBF-841A-8219B9F73AC6}"/>
              </a:ext>
            </a:extLst>
          </p:cNvPr>
          <p:cNvSpPr>
            <a:spLocks noGrp="1"/>
          </p:cNvSpPr>
          <p:nvPr/>
        </p:nvSpPr>
        <p:spPr>
          <a:xfrm>
            <a:off x="5962650" y="2266950"/>
            <a:ext cx="1485900" cy="209550"/>
          </a:xfrm>
          <a:prstGeom prst="rect">
            <a:avLst/>
          </a:prstGeom>
          <a:noFill/>
          <a:ln>
            <a:noFill/>
          </a:ln>
        </p:spPr>
        <p:txBody>
          <a:bodyPr wrap="square" lIns="0" tIns="0" rIns="0" bIns="0" anchor="t"/>
          <a:lstStyle/>
          <a:p>
            <a:pPr algn="ctr">
              <a:buNone/>
            </a:pPr>
            <a:r>
              <a:rPr sz="1300" b="1">
                <a:solidFill>
                  <a:srgbClr val="1F7A5A"/>
                </a:solidFill>
                <a:latin typeface="Arial"/>
                <a:ea typeface="Arial"/>
                <a:cs typeface="Arial"/>
              </a:rPr>
              <a:t>PR CHECKS</a:t>
            </a:r>
            <a:endParaRPr sz="1300"/>
          </a:p>
        </p:txBody>
      </p:sp>
      <p:sp>
        <p:nvSpPr>
          <p:cNvPr id="29" name="Shape 29">
            <a:extLst>
              <a:ext uri="{FF2B5EF4-FFF2-40B4-BE49-F238E27FC236}">
                <a16:creationId xmlns:a16="http://schemas.microsoft.com/office/drawing/2014/main" id="{E8AD0166-C616-46D2-BD79-49A8AA8C9661}"/>
              </a:ext>
            </a:extLst>
          </p:cNvPr>
          <p:cNvSpPr>
            <a:spLocks noGrp="1"/>
          </p:cNvSpPr>
          <p:nvPr/>
        </p:nvSpPr>
        <p:spPr>
          <a:xfrm>
            <a:off x="6477000" y="2571750"/>
            <a:ext cx="457200" cy="457200"/>
          </a:xfrm>
          <a:prstGeom prst="roundRect">
            <a:avLst/>
          </a:prstGeom>
          <a:solidFill>
            <a:srgbClr val="FFFFFF"/>
          </a:solidFill>
          <a:ln w="19050">
            <a:solidFill>
              <a:srgbClr val="1F7A5A"/>
            </a:solidFill>
          </a:ln>
        </p:spPr>
      </p:sp>
      <p:pic>
        <p:nvPicPr>
          <p:cNvPr id="88" name="Picture 30"/>
          <p:cNvPicPr>
            <a:picLocks noChangeAspect="1"/>
          </p:cNvPicPr>
          <p:nvPr/>
        </p:nvPicPr>
        <p:blipFill>
          <a:blip r:embed="rId6"/>
          <a:stretch>
            <a:fillRect/>
          </a:stretch>
        </p:blipFill>
        <p:spPr>
          <a:xfrm>
            <a:off x="6591300" y="2686050"/>
            <a:ext cx="228600" cy="228600"/>
          </a:xfrm>
          <a:prstGeom prst="rect">
            <a:avLst/>
          </a:prstGeom>
          <a:ln>
            <a:noFill/>
          </a:ln>
        </p:spPr>
      </p:pic>
      <p:sp>
        <p:nvSpPr>
          <p:cNvPr id="31" name="Text 31">
            <a:extLst>
              <a:ext uri="{FF2B5EF4-FFF2-40B4-BE49-F238E27FC236}">
                <a16:creationId xmlns:a16="http://schemas.microsoft.com/office/drawing/2014/main" id="{A176FF5F-EF4B-4061-88CA-AC2988963E75}"/>
              </a:ext>
            </a:extLst>
          </p:cNvPr>
          <p:cNvSpPr>
            <a:spLocks noGrp="1"/>
          </p:cNvSpPr>
          <p:nvPr/>
        </p:nvSpPr>
        <p:spPr>
          <a:xfrm>
            <a:off x="5962650" y="3143250"/>
            <a:ext cx="1485900" cy="4762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Design map, tests,</a:t>
            </a:r>
            <a:endParaRPr sz="1300"/>
          </a:p>
          <a:p>
            <a:pPr algn="ctr">
              <a:buNone/>
            </a:pPr>
            <a:r>
              <a:rPr sz="1300" b="0">
                <a:solidFill>
                  <a:srgbClr val="17212B"/>
                </a:solidFill>
                <a:latin typeface="Arial"/>
                <a:ea typeface="Arial"/>
                <a:cs typeface="Arial"/>
              </a:rPr>
              <a:t>security and E2E</a:t>
            </a:r>
            <a:endParaRPr sz="1300"/>
          </a:p>
        </p:txBody>
      </p:sp>
      <p:sp>
        <p:nvSpPr>
          <p:cNvPr id="32" name="Text 32">
            <a:extLst>
              <a:ext uri="{FF2B5EF4-FFF2-40B4-BE49-F238E27FC236}">
                <a16:creationId xmlns:a16="http://schemas.microsoft.com/office/drawing/2014/main" id="{E6E94399-22CE-4950-9A0B-EFF98B40A8B2}"/>
              </a:ext>
            </a:extLst>
          </p:cNvPr>
          <p:cNvSpPr>
            <a:spLocks noGrp="1"/>
          </p:cNvSpPr>
          <p:nvPr/>
        </p:nvSpPr>
        <p:spPr>
          <a:xfrm>
            <a:off x="6000750" y="3752850"/>
            <a:ext cx="1409700" cy="171450"/>
          </a:xfrm>
          <a:prstGeom prst="rect">
            <a:avLst/>
          </a:prstGeom>
          <a:noFill/>
          <a:ln>
            <a:noFill/>
          </a:ln>
        </p:spPr>
        <p:txBody>
          <a:bodyPr wrap="square" lIns="0" tIns="0" rIns="0" bIns="0" anchor="t"/>
          <a:lstStyle/>
          <a:p>
            <a:pPr algn="ctr">
              <a:buNone/>
            </a:pPr>
            <a:r>
              <a:rPr sz="900" b="1" spc="70">
                <a:solidFill>
                  <a:srgbClr val="1F7A5A"/>
                </a:solidFill>
                <a:latin typeface="Arial"/>
                <a:ea typeface="Arial"/>
                <a:cs typeface="Arial"/>
              </a:rPr>
              <a:t>CURRENT</a:t>
            </a:r>
            <a:endParaRPr sz="900"/>
          </a:p>
        </p:txBody>
      </p:sp>
      <p:sp>
        <p:nvSpPr>
          <p:cNvPr id="33" name="Shape 33">
            <a:extLst>
              <a:ext uri="{FF2B5EF4-FFF2-40B4-BE49-F238E27FC236}">
                <a16:creationId xmlns:a16="http://schemas.microsoft.com/office/drawing/2014/main" id="{86AF2B7B-F0A8-4C18-9DA7-FF00FF5AF983}"/>
              </a:ext>
            </a:extLst>
          </p:cNvPr>
          <p:cNvSpPr>
            <a:spLocks noGrp="1"/>
          </p:cNvSpPr>
          <p:nvPr/>
        </p:nvSpPr>
        <p:spPr>
          <a:xfrm>
            <a:off x="7658100" y="2114550"/>
            <a:ext cx="1714500" cy="1905000"/>
          </a:xfrm>
          <a:prstGeom prst="roundRect">
            <a:avLst/>
          </a:prstGeom>
          <a:solidFill>
            <a:srgbClr val="FFFFFF"/>
          </a:solidFill>
          <a:ln w="25400">
            <a:solidFill>
              <a:srgbClr val="B46B13"/>
            </a:solidFill>
          </a:ln>
        </p:spPr>
      </p:sp>
      <p:sp>
        <p:nvSpPr>
          <p:cNvPr id="34" name="Text 34">
            <a:extLst>
              <a:ext uri="{FF2B5EF4-FFF2-40B4-BE49-F238E27FC236}">
                <a16:creationId xmlns:a16="http://schemas.microsoft.com/office/drawing/2014/main" id="{692064F7-8D72-4C3A-9201-5B5DCFE081A0}"/>
              </a:ext>
            </a:extLst>
          </p:cNvPr>
          <p:cNvSpPr>
            <a:spLocks noGrp="1"/>
          </p:cNvSpPr>
          <p:nvPr/>
        </p:nvSpPr>
        <p:spPr>
          <a:xfrm>
            <a:off x="7772400" y="2266950"/>
            <a:ext cx="1485900" cy="209550"/>
          </a:xfrm>
          <a:prstGeom prst="rect">
            <a:avLst/>
          </a:prstGeom>
          <a:noFill/>
          <a:ln>
            <a:noFill/>
          </a:ln>
        </p:spPr>
        <p:txBody>
          <a:bodyPr wrap="square" lIns="0" tIns="0" rIns="0" bIns="0" anchor="t"/>
          <a:lstStyle/>
          <a:p>
            <a:pPr algn="ctr">
              <a:buNone/>
            </a:pPr>
            <a:r>
              <a:rPr sz="1300" b="1">
                <a:solidFill>
                  <a:srgbClr val="B46B13"/>
                </a:solidFill>
                <a:latin typeface="Arial"/>
                <a:ea typeface="Arial"/>
                <a:cs typeface="Arial"/>
              </a:rPr>
              <a:t>FROZEN HEAD</a:t>
            </a:r>
            <a:endParaRPr sz="1300"/>
          </a:p>
        </p:txBody>
      </p:sp>
      <p:sp>
        <p:nvSpPr>
          <p:cNvPr id="35" name="Shape 35">
            <a:extLst>
              <a:ext uri="{FF2B5EF4-FFF2-40B4-BE49-F238E27FC236}">
                <a16:creationId xmlns:a16="http://schemas.microsoft.com/office/drawing/2014/main" id="{8853A88B-412E-4E7C-BDED-393E9FAF3365}"/>
              </a:ext>
            </a:extLst>
          </p:cNvPr>
          <p:cNvSpPr>
            <a:spLocks noGrp="1"/>
          </p:cNvSpPr>
          <p:nvPr/>
        </p:nvSpPr>
        <p:spPr>
          <a:xfrm>
            <a:off x="8286750" y="2571750"/>
            <a:ext cx="457200" cy="457200"/>
          </a:xfrm>
          <a:prstGeom prst="roundRect">
            <a:avLst/>
          </a:prstGeom>
          <a:solidFill>
            <a:srgbClr val="FFFFFF"/>
          </a:solidFill>
          <a:ln w="19050">
            <a:solidFill>
              <a:srgbClr val="B46B13"/>
            </a:solidFill>
          </a:ln>
        </p:spPr>
      </p:sp>
      <p:pic>
        <p:nvPicPr>
          <p:cNvPr id="94" name="Picture 36"/>
          <p:cNvPicPr>
            <a:picLocks noChangeAspect="1"/>
          </p:cNvPicPr>
          <p:nvPr/>
        </p:nvPicPr>
        <p:blipFill>
          <a:blip r:embed="rId7"/>
          <a:stretch>
            <a:fillRect/>
          </a:stretch>
        </p:blipFill>
        <p:spPr>
          <a:xfrm>
            <a:off x="8401050" y="2686050"/>
            <a:ext cx="228600" cy="228600"/>
          </a:xfrm>
          <a:prstGeom prst="rect">
            <a:avLst/>
          </a:prstGeom>
          <a:ln>
            <a:noFill/>
          </a:ln>
        </p:spPr>
      </p:pic>
      <p:sp>
        <p:nvSpPr>
          <p:cNvPr id="37" name="Text 37">
            <a:extLst>
              <a:ext uri="{FF2B5EF4-FFF2-40B4-BE49-F238E27FC236}">
                <a16:creationId xmlns:a16="http://schemas.microsoft.com/office/drawing/2014/main" id="{F8BA99F5-EBA1-4F5A-A0AC-E649EDBD7161}"/>
              </a:ext>
            </a:extLst>
          </p:cNvPr>
          <p:cNvSpPr>
            <a:spLocks noGrp="1"/>
          </p:cNvSpPr>
          <p:nvPr/>
        </p:nvSpPr>
        <p:spPr>
          <a:xfrm>
            <a:off x="7772400" y="3143250"/>
            <a:ext cx="1485900" cy="4762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One current-SHA</a:t>
            </a:r>
            <a:endParaRPr sz="1300"/>
          </a:p>
          <a:p>
            <a:pPr algn="ctr">
              <a:buNone/>
            </a:pPr>
            <a:r>
              <a:rPr sz="1300" b="0">
                <a:solidFill>
                  <a:srgbClr val="17212B"/>
                </a:solidFill>
                <a:latin typeface="Arial"/>
                <a:ea typeface="Arial"/>
                <a:cs typeface="Arial"/>
              </a:rPr>
              <a:t>Codex review</a:t>
            </a:r>
            <a:endParaRPr sz="1300"/>
          </a:p>
        </p:txBody>
      </p:sp>
      <p:sp>
        <p:nvSpPr>
          <p:cNvPr id="38" name="Text 38">
            <a:extLst>
              <a:ext uri="{FF2B5EF4-FFF2-40B4-BE49-F238E27FC236}">
                <a16:creationId xmlns:a16="http://schemas.microsoft.com/office/drawing/2014/main" id="{6021E8B7-E4EF-45B0-AB7D-953FBF0F35CA}"/>
              </a:ext>
            </a:extLst>
          </p:cNvPr>
          <p:cNvSpPr>
            <a:spLocks noGrp="1"/>
          </p:cNvSpPr>
          <p:nvPr/>
        </p:nvSpPr>
        <p:spPr>
          <a:xfrm>
            <a:off x="7810500" y="3752850"/>
            <a:ext cx="1409700" cy="171450"/>
          </a:xfrm>
          <a:prstGeom prst="rect">
            <a:avLst/>
          </a:prstGeom>
          <a:noFill/>
          <a:ln>
            <a:noFill/>
          </a:ln>
        </p:spPr>
        <p:txBody>
          <a:bodyPr wrap="square" lIns="0" tIns="0" rIns="0" bIns="0" anchor="t"/>
          <a:lstStyle/>
          <a:p>
            <a:pPr algn="ctr">
              <a:buNone/>
            </a:pPr>
            <a:r>
              <a:rPr sz="900" b="1" spc="70">
                <a:solidFill>
                  <a:srgbClr val="1F7A5A"/>
                </a:solidFill>
                <a:latin typeface="Arial"/>
                <a:ea typeface="Arial"/>
                <a:cs typeface="Arial"/>
              </a:rPr>
              <a:t>CURRENT</a:t>
            </a:r>
            <a:endParaRPr sz="900"/>
          </a:p>
        </p:txBody>
      </p:sp>
      <p:sp>
        <p:nvSpPr>
          <p:cNvPr id="39" name="Shape 39">
            <a:extLst>
              <a:ext uri="{FF2B5EF4-FFF2-40B4-BE49-F238E27FC236}">
                <a16:creationId xmlns:a16="http://schemas.microsoft.com/office/drawing/2014/main" id="{10D8B9BF-F182-4D7A-9096-48667CE4494A}"/>
              </a:ext>
            </a:extLst>
          </p:cNvPr>
          <p:cNvSpPr>
            <a:spLocks noGrp="1"/>
          </p:cNvSpPr>
          <p:nvPr/>
        </p:nvSpPr>
        <p:spPr>
          <a:xfrm>
            <a:off x="9467850" y="2114550"/>
            <a:ext cx="1714500" cy="1905000"/>
          </a:xfrm>
          <a:prstGeom prst="roundRect">
            <a:avLst/>
          </a:prstGeom>
          <a:solidFill>
            <a:srgbClr val="FFFFFF"/>
          </a:solidFill>
          <a:ln w="25400">
            <a:solidFill>
              <a:srgbClr val="D71920"/>
            </a:solidFill>
          </a:ln>
        </p:spPr>
      </p:sp>
      <p:sp>
        <p:nvSpPr>
          <p:cNvPr id="40" name="Text 40">
            <a:extLst>
              <a:ext uri="{FF2B5EF4-FFF2-40B4-BE49-F238E27FC236}">
                <a16:creationId xmlns:a16="http://schemas.microsoft.com/office/drawing/2014/main" id="{4B8C83E8-C72E-40CC-9AB8-5A031AD25B4D}"/>
              </a:ext>
            </a:extLst>
          </p:cNvPr>
          <p:cNvSpPr>
            <a:spLocks noGrp="1"/>
          </p:cNvSpPr>
          <p:nvPr/>
        </p:nvSpPr>
        <p:spPr>
          <a:xfrm>
            <a:off x="9582150" y="2266950"/>
            <a:ext cx="1485900" cy="209550"/>
          </a:xfrm>
          <a:prstGeom prst="rect">
            <a:avLst/>
          </a:prstGeom>
          <a:noFill/>
          <a:ln>
            <a:noFill/>
          </a:ln>
        </p:spPr>
        <p:txBody>
          <a:bodyPr wrap="square" lIns="0" tIns="0" rIns="0" bIns="0" anchor="t"/>
          <a:lstStyle/>
          <a:p>
            <a:pPr algn="ctr">
              <a:buNone/>
            </a:pPr>
            <a:r>
              <a:rPr sz="1300" b="1">
                <a:solidFill>
                  <a:srgbClr val="D71920"/>
                </a:solidFill>
                <a:latin typeface="Arial"/>
                <a:ea typeface="Arial"/>
                <a:cs typeface="Arial"/>
              </a:rPr>
              <a:t>ACCEPT</a:t>
            </a:r>
            <a:endParaRPr sz="1300"/>
          </a:p>
        </p:txBody>
      </p:sp>
      <p:sp>
        <p:nvSpPr>
          <p:cNvPr id="41" name="Shape 41">
            <a:extLst>
              <a:ext uri="{FF2B5EF4-FFF2-40B4-BE49-F238E27FC236}">
                <a16:creationId xmlns:a16="http://schemas.microsoft.com/office/drawing/2014/main" id="{4831FE0C-856F-403C-A5FC-8119137C58A2}"/>
              </a:ext>
            </a:extLst>
          </p:cNvPr>
          <p:cNvSpPr>
            <a:spLocks noGrp="1"/>
          </p:cNvSpPr>
          <p:nvPr/>
        </p:nvSpPr>
        <p:spPr>
          <a:xfrm>
            <a:off x="10096500" y="2571750"/>
            <a:ext cx="457200" cy="457200"/>
          </a:xfrm>
          <a:prstGeom prst="roundRect">
            <a:avLst/>
          </a:prstGeom>
          <a:solidFill>
            <a:srgbClr val="FFFFFF"/>
          </a:solidFill>
          <a:ln w="19050">
            <a:solidFill>
              <a:srgbClr val="D71920"/>
            </a:solidFill>
          </a:ln>
        </p:spPr>
      </p:sp>
      <p:pic>
        <p:nvPicPr>
          <p:cNvPr id="100" name="Picture 42"/>
          <p:cNvPicPr>
            <a:picLocks noChangeAspect="1"/>
          </p:cNvPicPr>
          <p:nvPr/>
        </p:nvPicPr>
        <p:blipFill>
          <a:blip r:embed="rId8"/>
          <a:stretch>
            <a:fillRect/>
          </a:stretch>
        </p:blipFill>
        <p:spPr>
          <a:xfrm>
            <a:off x="10210800" y="2686050"/>
            <a:ext cx="228600" cy="228600"/>
          </a:xfrm>
          <a:prstGeom prst="rect">
            <a:avLst/>
          </a:prstGeom>
          <a:ln>
            <a:noFill/>
          </a:ln>
        </p:spPr>
      </p:pic>
      <p:sp>
        <p:nvSpPr>
          <p:cNvPr id="43" name="Text 43">
            <a:extLst>
              <a:ext uri="{FF2B5EF4-FFF2-40B4-BE49-F238E27FC236}">
                <a16:creationId xmlns:a16="http://schemas.microsoft.com/office/drawing/2014/main" id="{4BC1CF0D-0A5F-4B94-9AA7-E0C75B0DE4CB}"/>
              </a:ext>
            </a:extLst>
          </p:cNvPr>
          <p:cNvSpPr>
            <a:spLocks noGrp="1"/>
          </p:cNvSpPr>
          <p:nvPr/>
        </p:nvSpPr>
        <p:spPr>
          <a:xfrm>
            <a:off x="9582150" y="3143250"/>
            <a:ext cx="1485900" cy="476250"/>
          </a:xfrm>
          <a:prstGeom prst="rect">
            <a:avLst/>
          </a:prstGeom>
          <a:noFill/>
          <a:ln>
            <a:noFill/>
          </a:ln>
        </p:spPr>
        <p:txBody>
          <a:bodyPr wrap="square" lIns="0" tIns="0" rIns="0" bIns="0" anchor="ctr"/>
          <a:lstStyle/>
          <a:p>
            <a:pPr algn="ctr">
              <a:buNone/>
            </a:pPr>
            <a:r>
              <a:rPr sz="1300" b="0">
                <a:solidFill>
                  <a:srgbClr val="17212B"/>
                </a:solidFill>
                <a:latin typeface="Arial"/>
                <a:ea typeface="Arial"/>
                <a:cs typeface="Arial"/>
              </a:rPr>
              <a:t>Human merge with</a:t>
            </a:r>
            <a:endParaRPr sz="1300"/>
          </a:p>
          <a:p>
            <a:pPr algn="ctr">
              <a:buNone/>
            </a:pPr>
            <a:r>
              <a:rPr sz="1300" b="0">
                <a:solidFill>
                  <a:srgbClr val="17212B"/>
                </a:solidFill>
                <a:latin typeface="Arial"/>
                <a:ea typeface="Arial"/>
                <a:cs typeface="Arial"/>
              </a:rPr>
              <a:t>expected head SHA</a:t>
            </a:r>
            <a:endParaRPr sz="1300"/>
          </a:p>
        </p:txBody>
      </p:sp>
      <p:sp>
        <p:nvSpPr>
          <p:cNvPr id="44" name="Text 44">
            <a:extLst>
              <a:ext uri="{FF2B5EF4-FFF2-40B4-BE49-F238E27FC236}">
                <a16:creationId xmlns:a16="http://schemas.microsoft.com/office/drawing/2014/main" id="{81BD9591-41D4-4AD7-AC47-944EA7EF8A05}"/>
              </a:ext>
            </a:extLst>
          </p:cNvPr>
          <p:cNvSpPr>
            <a:spLocks noGrp="1"/>
          </p:cNvSpPr>
          <p:nvPr/>
        </p:nvSpPr>
        <p:spPr>
          <a:xfrm>
            <a:off x="9620250" y="3752850"/>
            <a:ext cx="1409700" cy="171450"/>
          </a:xfrm>
          <a:prstGeom prst="rect">
            <a:avLst/>
          </a:prstGeom>
          <a:noFill/>
          <a:ln>
            <a:noFill/>
          </a:ln>
        </p:spPr>
        <p:txBody>
          <a:bodyPr wrap="square" lIns="0" tIns="0" rIns="0" bIns="0" anchor="t"/>
          <a:lstStyle/>
          <a:p>
            <a:pPr algn="ctr">
              <a:buNone/>
            </a:pPr>
            <a:r>
              <a:rPr sz="900" b="1" spc="70">
                <a:solidFill>
                  <a:srgbClr val="1F7A5A"/>
                </a:solidFill>
                <a:latin typeface="Arial"/>
                <a:ea typeface="Arial"/>
                <a:cs typeface="Arial"/>
              </a:rPr>
              <a:t>CURRENT</a:t>
            </a:r>
            <a:endParaRPr sz="900"/>
          </a:p>
        </p:txBody>
      </p:sp>
      <p:sp>
        <p:nvSpPr>
          <p:cNvPr id="45" name="Connector 45">
            <a:extLst>
              <a:ext uri="{FF2B5EF4-FFF2-40B4-BE49-F238E27FC236}">
                <a16:creationId xmlns:a16="http://schemas.microsoft.com/office/drawing/2014/main" id="{E29D0B12-94E3-4FDF-88F9-E1ADAA2A12D8}"/>
              </a:ext>
            </a:extLst>
          </p:cNvPr>
          <p:cNvSpPr>
            <a:spLocks noGrp="1"/>
          </p:cNvSpPr>
          <p:nvPr/>
        </p:nvSpPr>
        <p:spPr>
          <a:xfrm>
            <a:off x="10325100" y="4171950"/>
            <a:ext cx="0" cy="990600"/>
          </a:xfrm>
          <a:prstGeom prst="line">
            <a:avLst/>
          </a:prstGeom>
          <a:ln w="25400">
            <a:solidFill>
              <a:srgbClr val="5D6873"/>
            </a:solidFill>
          </a:ln>
        </p:spPr>
      </p:sp>
      <p:sp>
        <p:nvSpPr>
          <p:cNvPr id="46" name="Connector 46">
            <a:extLst>
              <a:ext uri="{FF2B5EF4-FFF2-40B4-BE49-F238E27FC236}">
                <a16:creationId xmlns:a16="http://schemas.microsoft.com/office/drawing/2014/main" id="{3683F6F7-54BC-4970-9643-63DD698F32FB}"/>
              </a:ext>
            </a:extLst>
          </p:cNvPr>
          <p:cNvSpPr>
            <a:spLocks noGrp="1"/>
          </p:cNvSpPr>
          <p:nvPr/>
        </p:nvSpPr>
        <p:spPr>
          <a:xfrm flipH="1">
            <a:off x="3086100" y="5162550"/>
            <a:ext cx="7239000" cy="0"/>
          </a:xfrm>
          <a:prstGeom prst="line">
            <a:avLst/>
          </a:prstGeom>
          <a:ln w="25400">
            <a:solidFill>
              <a:srgbClr val="5D6873"/>
            </a:solidFill>
          </a:ln>
        </p:spPr>
      </p:sp>
      <p:sp>
        <p:nvSpPr>
          <p:cNvPr id="47" name="Connector 47">
            <a:extLst>
              <a:ext uri="{FF2B5EF4-FFF2-40B4-BE49-F238E27FC236}">
                <a16:creationId xmlns:a16="http://schemas.microsoft.com/office/drawing/2014/main" id="{ED44606B-0BEA-4E31-93C0-5F1CB2C9AA29}"/>
              </a:ext>
            </a:extLst>
          </p:cNvPr>
          <p:cNvSpPr>
            <a:spLocks noGrp="1"/>
          </p:cNvSpPr>
          <p:nvPr/>
        </p:nvSpPr>
        <p:spPr>
          <a:xfrm flipV="1">
            <a:off x="3086100" y="4171950"/>
            <a:ext cx="0" cy="990600"/>
          </a:xfrm>
          <a:prstGeom prst="line">
            <a:avLst/>
          </a:prstGeom>
          <a:ln w="25400">
            <a:solidFill>
              <a:srgbClr val="5D6873"/>
            </a:solidFill>
            <a:tailEnd type="triangle"/>
          </a:ln>
        </p:spPr>
      </p:sp>
      <p:sp>
        <p:nvSpPr>
          <p:cNvPr id="48" name="Text 48">
            <a:extLst>
              <a:ext uri="{FF2B5EF4-FFF2-40B4-BE49-F238E27FC236}">
                <a16:creationId xmlns:a16="http://schemas.microsoft.com/office/drawing/2014/main" id="{A6182A96-8C03-4C1C-A917-050D85BCFF9B}"/>
              </a:ext>
            </a:extLst>
          </p:cNvPr>
          <p:cNvSpPr>
            <a:spLocks noGrp="1"/>
          </p:cNvSpPr>
          <p:nvPr/>
        </p:nvSpPr>
        <p:spPr>
          <a:xfrm>
            <a:off x="4095750" y="4629150"/>
            <a:ext cx="5219700" cy="457200"/>
          </a:xfrm>
          <a:prstGeom prst="rect">
            <a:avLst/>
          </a:prstGeom>
          <a:solidFill>
            <a:srgbClr val="FFFFFF"/>
          </a:solidFill>
          <a:ln>
            <a:noFill/>
          </a:ln>
        </p:spPr>
        <p:txBody>
          <a:bodyPr wrap="square" lIns="38100" tIns="38100" rIns="38100" bIns="38100" anchor="ctr"/>
          <a:lstStyle/>
          <a:p>
            <a:pPr algn="ctr">
              <a:buNone/>
            </a:pPr>
            <a:r>
              <a:rPr sz="1300" b="1">
                <a:solidFill>
                  <a:srgbClr val="5D6873"/>
                </a:solidFill>
                <a:latin typeface="Arial"/>
                <a:ea typeface="Arial"/>
                <a:cs typeface="Arial"/>
              </a:rPr>
              <a:t>A failure returns the change to the shortest useful correction loop</a:t>
            </a:r>
            <a:endParaRPr sz="1300"/>
          </a:p>
        </p:txBody>
      </p:sp>
      <p:sp>
        <p:nvSpPr>
          <p:cNvPr id="49" name="Shape 49">
            <a:extLst>
              <a:ext uri="{FF2B5EF4-FFF2-40B4-BE49-F238E27FC236}">
                <a16:creationId xmlns:a16="http://schemas.microsoft.com/office/drawing/2014/main" id="{1342B669-A8BE-4B47-8883-103B27AAEF5E}"/>
              </a:ext>
            </a:extLst>
          </p:cNvPr>
          <p:cNvSpPr>
            <a:spLocks noGrp="1"/>
          </p:cNvSpPr>
          <p:nvPr/>
        </p:nvSpPr>
        <p:spPr>
          <a:xfrm>
            <a:off x="1657350" y="5429250"/>
            <a:ext cx="8877300" cy="609600"/>
          </a:xfrm>
          <a:prstGeom prst="roundRect">
            <a:avLst/>
          </a:prstGeom>
          <a:solidFill>
            <a:srgbClr val="F4F6F8"/>
          </a:solidFill>
          <a:ln w="12700">
            <a:solidFill>
              <a:srgbClr val="D9DEE3"/>
            </a:solidFill>
          </a:ln>
        </p:spPr>
      </p:sp>
      <p:sp>
        <p:nvSpPr>
          <p:cNvPr id="50" name="Text 50">
            <a:extLst>
              <a:ext uri="{FF2B5EF4-FFF2-40B4-BE49-F238E27FC236}">
                <a16:creationId xmlns:a16="http://schemas.microsoft.com/office/drawing/2014/main" id="{790A6C5C-7F77-4283-AB7F-F305DE842BB8}"/>
              </a:ext>
            </a:extLst>
          </p:cNvPr>
          <p:cNvSpPr>
            <a:spLocks noGrp="1"/>
          </p:cNvSpPr>
          <p:nvPr/>
        </p:nvSpPr>
        <p:spPr>
          <a:xfrm>
            <a:off x="1885950" y="5572125"/>
            <a:ext cx="8420100" cy="323850"/>
          </a:xfrm>
          <a:prstGeom prst="rect">
            <a:avLst/>
          </a:prstGeom>
          <a:noFill/>
          <a:ln>
            <a:noFill/>
          </a:ln>
        </p:spPr>
        <p:txBody>
          <a:bodyPr wrap="square" lIns="0" tIns="0" rIns="0" bIns="0" anchor="ctr"/>
          <a:lstStyle/>
          <a:p>
            <a:pPr algn="ctr">
              <a:buNone/>
            </a:pPr>
            <a:r>
              <a:rPr sz="1600" b="1">
                <a:solidFill>
                  <a:srgbClr val="17212B"/>
                </a:solidFill>
                <a:latin typeface="Arial"/>
                <a:ea typeface="Arial"/>
                <a:cs typeface="Arial"/>
              </a:rPr>
              <a:t>Hooks optimize latency. GitHub checks and the reviewed frozen SHA own merge authority.</a:t>
            </a:r>
            <a:endParaRPr sz="1600"/>
          </a:p>
        </p:txBody>
      </p:sp>
      <p:sp>
        <p:nvSpPr>
          <p:cNvPr id="51" name="Connector 51">
            <a:extLst>
              <a:ext uri="{FF2B5EF4-FFF2-40B4-BE49-F238E27FC236}">
                <a16:creationId xmlns:a16="http://schemas.microsoft.com/office/drawing/2014/main" id="{CCC2BA8D-BD30-48F4-9CF3-7E1A73DAEF93}"/>
              </a:ext>
            </a:extLst>
          </p:cNvPr>
          <p:cNvSpPr>
            <a:spLocks noGrp="1"/>
          </p:cNvSpPr>
          <p:nvPr/>
        </p:nvSpPr>
        <p:spPr>
          <a:xfrm>
            <a:off x="552450" y="6419850"/>
            <a:ext cx="11087100" cy="0"/>
          </a:xfrm>
          <a:prstGeom prst="line">
            <a:avLst/>
          </a:prstGeom>
          <a:ln w="12700">
            <a:solidFill>
              <a:srgbClr val="D9DEE3"/>
            </a:solidFill>
          </a:ln>
        </p:spPr>
      </p:sp>
      <p:sp>
        <p:nvSpPr>
          <p:cNvPr id="52" name="Text 52">
            <a:extLst>
              <a:ext uri="{FF2B5EF4-FFF2-40B4-BE49-F238E27FC236}">
                <a16:creationId xmlns:a16="http://schemas.microsoft.com/office/drawing/2014/main" id="{E6C12FA8-4759-4AD1-A0B4-9B9BECBBA99D}"/>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53" name="Text 53">
            <a:extLst>
              <a:ext uri="{FF2B5EF4-FFF2-40B4-BE49-F238E27FC236}">
                <a16:creationId xmlns:a16="http://schemas.microsoft.com/office/drawing/2014/main" id="{6ADCF336-CDEE-43D8-A381-231394DA69B2}"/>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11</a:t>
            </a:r>
            <a:endParaRPr sz="1000"/>
          </a:p>
        </p:txBody>
      </p:sp>
    </p:spTree>
    <p:extLst>
      <p:ext uri="{BB962C8B-B14F-4D97-AF65-F5344CB8AC3E}">
        <p14:creationId xmlns:p14="http://schemas.microsoft.com/office/powerpoint/2010/main" val="942303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481517C0-A90D-40DD-83B2-775E497AA8CE}"/>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CONCLUSION</a:t>
            </a:r>
            <a:endParaRPr sz="1100"/>
          </a:p>
        </p:txBody>
      </p:sp>
      <p:sp>
        <p:nvSpPr>
          <p:cNvPr id="3" name="Text 3">
            <a:extLst>
              <a:ext uri="{FF2B5EF4-FFF2-40B4-BE49-F238E27FC236}">
                <a16:creationId xmlns:a16="http://schemas.microsoft.com/office/drawing/2014/main" id="{21B5035D-03E2-498F-9849-512E82160659}"/>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The pilot validates a delivery cell while production scale remains the next test</a:t>
            </a:r>
            <a:endParaRPr sz="3000"/>
          </a:p>
        </p:txBody>
      </p:sp>
      <p:sp>
        <p:nvSpPr>
          <p:cNvPr id="4" name="Text 4">
            <a:extLst>
              <a:ext uri="{FF2B5EF4-FFF2-40B4-BE49-F238E27FC236}">
                <a16:creationId xmlns:a16="http://schemas.microsoft.com/office/drawing/2014/main" id="{568F8A2E-72A9-4D94-A16B-FE54C728B0ED}"/>
              </a:ext>
            </a:extLst>
          </p:cNvPr>
          <p:cNvSpPr>
            <a:spLocks noGrp="1"/>
          </p:cNvSpPr>
          <p:nvPr/>
        </p:nvSpPr>
        <p:spPr>
          <a:xfrm>
            <a:off x="685800" y="1619250"/>
            <a:ext cx="3143250" cy="228600"/>
          </a:xfrm>
          <a:prstGeom prst="rect">
            <a:avLst/>
          </a:prstGeom>
          <a:noFill/>
          <a:ln>
            <a:noFill/>
          </a:ln>
        </p:spPr>
        <p:txBody>
          <a:bodyPr wrap="square" lIns="0" tIns="0" rIns="0" bIns="0" anchor="t"/>
          <a:lstStyle/>
          <a:p>
            <a:pPr algn="l">
              <a:buNone/>
            </a:pPr>
            <a:r>
              <a:rPr sz="1200" b="1" spc="140">
                <a:solidFill>
                  <a:srgbClr val="D71920"/>
                </a:solidFill>
                <a:latin typeface="Arial"/>
                <a:ea typeface="Arial"/>
                <a:cs typeface="Arial"/>
              </a:rPr>
              <a:t>CURRENTLY DEMONSTRATED</a:t>
            </a:r>
            <a:endParaRPr sz="1200"/>
          </a:p>
        </p:txBody>
      </p:sp>
      <p:sp>
        <p:nvSpPr>
          <p:cNvPr id="5" name="Shape 5">
            <a:extLst>
              <a:ext uri="{FF2B5EF4-FFF2-40B4-BE49-F238E27FC236}">
                <a16:creationId xmlns:a16="http://schemas.microsoft.com/office/drawing/2014/main" id="{37321B6E-7DBA-4942-83BB-46BDF763CAE3}"/>
              </a:ext>
            </a:extLst>
          </p:cNvPr>
          <p:cNvSpPr>
            <a:spLocks noGrp="1"/>
          </p:cNvSpPr>
          <p:nvPr/>
        </p:nvSpPr>
        <p:spPr>
          <a:xfrm>
            <a:off x="666750" y="2000250"/>
            <a:ext cx="4000500" cy="3143250"/>
          </a:xfrm>
          <a:prstGeom prst="roundRect">
            <a:avLst/>
          </a:prstGeom>
          <a:solidFill>
            <a:srgbClr val="FFFFFF"/>
          </a:solidFill>
          <a:ln w="38100">
            <a:solidFill>
              <a:srgbClr val="D71920"/>
            </a:solidFill>
          </a:ln>
        </p:spPr>
      </p:sp>
      <p:sp>
        <p:nvSpPr>
          <p:cNvPr id="6" name="Shape 6">
            <a:extLst>
              <a:ext uri="{FF2B5EF4-FFF2-40B4-BE49-F238E27FC236}">
                <a16:creationId xmlns:a16="http://schemas.microsoft.com/office/drawing/2014/main" id="{675A5372-FCD9-4F97-B478-2568C4BD5867}"/>
              </a:ext>
            </a:extLst>
          </p:cNvPr>
          <p:cNvSpPr>
            <a:spLocks noGrp="1"/>
          </p:cNvSpPr>
          <p:nvPr/>
        </p:nvSpPr>
        <p:spPr>
          <a:xfrm>
            <a:off x="1047750" y="2457450"/>
            <a:ext cx="876300" cy="876300"/>
          </a:xfrm>
          <a:prstGeom prst="ellipse">
            <a:avLst/>
          </a:prstGeom>
          <a:solidFill>
            <a:srgbClr val="FCEBEC"/>
          </a:solidFill>
          <a:ln w="25400">
            <a:solidFill>
              <a:srgbClr val="D71920"/>
            </a:solidFill>
          </a:ln>
        </p:spPr>
      </p:sp>
      <p:pic>
        <p:nvPicPr>
          <p:cNvPr id="64" name="Picture 7"/>
          <p:cNvPicPr>
            <a:picLocks noChangeAspect="1"/>
          </p:cNvPicPr>
          <p:nvPr/>
        </p:nvPicPr>
        <p:blipFill>
          <a:blip r:embed="rId3"/>
          <a:stretch>
            <a:fillRect/>
          </a:stretch>
        </p:blipFill>
        <p:spPr>
          <a:xfrm>
            <a:off x="1276350" y="2628900"/>
            <a:ext cx="419100" cy="419100"/>
          </a:xfrm>
          <a:prstGeom prst="rect">
            <a:avLst/>
          </a:prstGeom>
          <a:ln>
            <a:noFill/>
          </a:ln>
        </p:spPr>
      </p:pic>
      <p:sp>
        <p:nvSpPr>
          <p:cNvPr id="8" name="Text 8">
            <a:extLst>
              <a:ext uri="{FF2B5EF4-FFF2-40B4-BE49-F238E27FC236}">
                <a16:creationId xmlns:a16="http://schemas.microsoft.com/office/drawing/2014/main" id="{BB4E7C92-3F7A-426A-94E1-9C32F6F2BF78}"/>
              </a:ext>
            </a:extLst>
          </p:cNvPr>
          <p:cNvSpPr>
            <a:spLocks noGrp="1"/>
          </p:cNvSpPr>
          <p:nvPr/>
        </p:nvSpPr>
        <p:spPr>
          <a:xfrm>
            <a:off x="1047750" y="3371850"/>
            <a:ext cx="876300" cy="209550"/>
          </a:xfrm>
          <a:prstGeom prst="rect">
            <a:avLst/>
          </a:prstGeom>
          <a:noFill/>
          <a:ln>
            <a:noFill/>
          </a:ln>
        </p:spPr>
        <p:txBody>
          <a:bodyPr wrap="square" lIns="0" tIns="0" rIns="0" bIns="0" anchor="t"/>
          <a:lstStyle/>
          <a:p>
            <a:pPr algn="ctr">
              <a:buNone/>
            </a:pPr>
            <a:r>
              <a:rPr sz="1200" b="1">
                <a:solidFill>
                  <a:srgbClr val="981B1E"/>
                </a:solidFill>
                <a:latin typeface="Arial"/>
                <a:ea typeface="Arial"/>
                <a:cs typeface="Arial"/>
              </a:rPr>
              <a:t>HUMAN</a:t>
            </a:r>
            <a:endParaRPr sz="1200"/>
          </a:p>
        </p:txBody>
      </p:sp>
      <p:sp>
        <p:nvSpPr>
          <p:cNvPr id="9" name="Shape 9">
            <a:extLst>
              <a:ext uri="{FF2B5EF4-FFF2-40B4-BE49-F238E27FC236}">
                <a16:creationId xmlns:a16="http://schemas.microsoft.com/office/drawing/2014/main" id="{A9E951F0-B80E-460F-B4DB-72AAF44E89DE}"/>
              </a:ext>
            </a:extLst>
          </p:cNvPr>
          <p:cNvSpPr>
            <a:spLocks noGrp="1"/>
          </p:cNvSpPr>
          <p:nvPr/>
        </p:nvSpPr>
        <p:spPr>
          <a:xfrm>
            <a:off x="2305050" y="2457450"/>
            <a:ext cx="876300" cy="876300"/>
          </a:xfrm>
          <a:prstGeom prst="ellipse">
            <a:avLst/>
          </a:prstGeom>
          <a:solidFill>
            <a:srgbClr val="17212B"/>
          </a:solidFill>
          <a:ln w="12700">
            <a:solidFill>
              <a:srgbClr val="17212B"/>
            </a:solidFill>
          </a:ln>
        </p:spPr>
      </p:sp>
      <p:pic>
        <p:nvPicPr>
          <p:cNvPr id="67" name="Picture 10"/>
          <p:cNvPicPr>
            <a:picLocks noChangeAspect="1"/>
          </p:cNvPicPr>
          <p:nvPr/>
        </p:nvPicPr>
        <p:blipFill>
          <a:blip r:embed="rId4"/>
          <a:stretch>
            <a:fillRect/>
          </a:stretch>
        </p:blipFill>
        <p:spPr>
          <a:xfrm>
            <a:off x="2533650" y="2628900"/>
            <a:ext cx="419100" cy="419100"/>
          </a:xfrm>
          <a:prstGeom prst="rect">
            <a:avLst/>
          </a:prstGeom>
          <a:ln>
            <a:noFill/>
          </a:ln>
        </p:spPr>
      </p:pic>
      <p:sp>
        <p:nvSpPr>
          <p:cNvPr id="11" name="Text 11">
            <a:extLst>
              <a:ext uri="{FF2B5EF4-FFF2-40B4-BE49-F238E27FC236}">
                <a16:creationId xmlns:a16="http://schemas.microsoft.com/office/drawing/2014/main" id="{281D27CA-CB6B-4DEE-A170-3EE870A4D6DA}"/>
              </a:ext>
            </a:extLst>
          </p:cNvPr>
          <p:cNvSpPr>
            <a:spLocks noGrp="1"/>
          </p:cNvSpPr>
          <p:nvPr/>
        </p:nvSpPr>
        <p:spPr>
          <a:xfrm>
            <a:off x="2305050" y="3371850"/>
            <a:ext cx="876300" cy="209550"/>
          </a:xfrm>
          <a:prstGeom prst="rect">
            <a:avLst/>
          </a:prstGeom>
          <a:noFill/>
          <a:ln>
            <a:noFill/>
          </a:ln>
        </p:spPr>
        <p:txBody>
          <a:bodyPr wrap="square" lIns="0" tIns="0" rIns="0" bIns="0" anchor="t"/>
          <a:lstStyle/>
          <a:p>
            <a:pPr algn="ctr">
              <a:buNone/>
            </a:pPr>
            <a:r>
              <a:rPr sz="1200" b="1">
                <a:solidFill>
                  <a:srgbClr val="17212B"/>
                </a:solidFill>
                <a:latin typeface="Arial"/>
                <a:ea typeface="Arial"/>
                <a:cs typeface="Arial"/>
              </a:rPr>
              <a:t>GITHUB</a:t>
            </a:r>
            <a:endParaRPr sz="1200"/>
          </a:p>
        </p:txBody>
      </p:sp>
      <p:sp>
        <p:nvSpPr>
          <p:cNvPr id="12" name="Shape 12">
            <a:extLst>
              <a:ext uri="{FF2B5EF4-FFF2-40B4-BE49-F238E27FC236}">
                <a16:creationId xmlns:a16="http://schemas.microsoft.com/office/drawing/2014/main" id="{993E8B9B-81BC-4343-BAD6-3D346E7758BC}"/>
              </a:ext>
            </a:extLst>
          </p:cNvPr>
          <p:cNvSpPr>
            <a:spLocks noGrp="1"/>
          </p:cNvSpPr>
          <p:nvPr/>
        </p:nvSpPr>
        <p:spPr>
          <a:xfrm>
            <a:off x="3562350" y="2457450"/>
            <a:ext cx="742950" cy="742950"/>
          </a:xfrm>
          <a:prstGeom prst="ellipse">
            <a:avLst/>
          </a:prstGeom>
          <a:solidFill>
            <a:srgbClr val="EAF1F7"/>
          </a:solidFill>
          <a:ln w="25400">
            <a:solidFill>
              <a:srgbClr val="2A5B84"/>
            </a:solidFill>
          </a:ln>
        </p:spPr>
      </p:sp>
      <p:pic>
        <p:nvPicPr>
          <p:cNvPr id="70" name="Picture 13"/>
          <p:cNvPicPr>
            <a:picLocks noChangeAspect="1"/>
          </p:cNvPicPr>
          <p:nvPr/>
        </p:nvPicPr>
        <p:blipFill>
          <a:blip r:embed="rId5"/>
          <a:stretch>
            <a:fillRect/>
          </a:stretch>
        </p:blipFill>
        <p:spPr>
          <a:xfrm>
            <a:off x="3752850" y="2628900"/>
            <a:ext cx="361950" cy="361950"/>
          </a:xfrm>
          <a:prstGeom prst="rect">
            <a:avLst/>
          </a:prstGeom>
          <a:ln>
            <a:noFill/>
          </a:ln>
        </p:spPr>
      </p:pic>
      <p:sp>
        <p:nvSpPr>
          <p:cNvPr id="14" name="Text 14">
            <a:extLst>
              <a:ext uri="{FF2B5EF4-FFF2-40B4-BE49-F238E27FC236}">
                <a16:creationId xmlns:a16="http://schemas.microsoft.com/office/drawing/2014/main" id="{070B3B3D-D019-49CB-B606-D339FBDEB32C}"/>
              </a:ext>
            </a:extLst>
          </p:cNvPr>
          <p:cNvSpPr>
            <a:spLocks noGrp="1"/>
          </p:cNvSpPr>
          <p:nvPr/>
        </p:nvSpPr>
        <p:spPr>
          <a:xfrm>
            <a:off x="3562350" y="3371850"/>
            <a:ext cx="742950" cy="209550"/>
          </a:xfrm>
          <a:prstGeom prst="rect">
            <a:avLst/>
          </a:prstGeom>
          <a:noFill/>
          <a:ln>
            <a:noFill/>
          </a:ln>
        </p:spPr>
        <p:txBody>
          <a:bodyPr wrap="square" lIns="0" tIns="0" rIns="0" bIns="0" anchor="t"/>
          <a:lstStyle/>
          <a:p>
            <a:pPr algn="ctr">
              <a:buNone/>
            </a:pPr>
            <a:r>
              <a:rPr sz="1200" b="1">
                <a:solidFill>
                  <a:srgbClr val="2A5B84"/>
                </a:solidFill>
                <a:latin typeface="Arial"/>
                <a:ea typeface="Arial"/>
                <a:cs typeface="Arial"/>
              </a:rPr>
              <a:t>AGENTS</a:t>
            </a:r>
            <a:endParaRPr sz="1200"/>
          </a:p>
        </p:txBody>
      </p:sp>
      <p:sp>
        <p:nvSpPr>
          <p:cNvPr id="15" name="Connector 15">
            <a:extLst>
              <a:ext uri="{FF2B5EF4-FFF2-40B4-BE49-F238E27FC236}">
                <a16:creationId xmlns:a16="http://schemas.microsoft.com/office/drawing/2014/main" id="{D20F6327-1EEE-4C04-9EC4-65BF1064B83F}"/>
              </a:ext>
            </a:extLst>
          </p:cNvPr>
          <p:cNvSpPr>
            <a:spLocks noGrp="1"/>
          </p:cNvSpPr>
          <p:nvPr/>
        </p:nvSpPr>
        <p:spPr>
          <a:xfrm>
            <a:off x="1924050" y="2895600"/>
            <a:ext cx="381000" cy="0"/>
          </a:xfrm>
          <a:prstGeom prst="line">
            <a:avLst/>
          </a:prstGeom>
          <a:ln w="25400">
            <a:solidFill>
              <a:srgbClr val="D71920"/>
            </a:solidFill>
            <a:headEnd type="triangle"/>
            <a:tailEnd type="triangle"/>
          </a:ln>
        </p:spPr>
      </p:sp>
      <p:sp>
        <p:nvSpPr>
          <p:cNvPr id="16" name="Connector 16">
            <a:extLst>
              <a:ext uri="{FF2B5EF4-FFF2-40B4-BE49-F238E27FC236}">
                <a16:creationId xmlns:a16="http://schemas.microsoft.com/office/drawing/2014/main" id="{191574B4-01BD-44C4-B88B-37E02AC535A9}"/>
              </a:ext>
            </a:extLst>
          </p:cNvPr>
          <p:cNvSpPr>
            <a:spLocks noGrp="1"/>
          </p:cNvSpPr>
          <p:nvPr/>
        </p:nvSpPr>
        <p:spPr>
          <a:xfrm>
            <a:off x="3181350" y="2895600"/>
            <a:ext cx="381000" cy="0"/>
          </a:xfrm>
          <a:prstGeom prst="line">
            <a:avLst/>
          </a:prstGeom>
          <a:ln w="25400">
            <a:solidFill>
              <a:srgbClr val="2A5B84"/>
            </a:solidFill>
            <a:headEnd type="triangle"/>
            <a:tailEnd type="triangle"/>
          </a:ln>
        </p:spPr>
      </p:sp>
      <p:sp>
        <p:nvSpPr>
          <p:cNvPr id="17" name="Text 17">
            <a:extLst>
              <a:ext uri="{FF2B5EF4-FFF2-40B4-BE49-F238E27FC236}">
                <a16:creationId xmlns:a16="http://schemas.microsoft.com/office/drawing/2014/main" id="{4B446B23-B702-4FAE-9942-3D2A382F99AA}"/>
              </a:ext>
            </a:extLst>
          </p:cNvPr>
          <p:cNvSpPr>
            <a:spLocks noGrp="1"/>
          </p:cNvSpPr>
          <p:nvPr/>
        </p:nvSpPr>
        <p:spPr>
          <a:xfrm>
            <a:off x="990600" y="3562350"/>
            <a:ext cx="3352800" cy="876300"/>
          </a:xfrm>
          <a:prstGeom prst="rect">
            <a:avLst/>
          </a:prstGeom>
          <a:noFill/>
          <a:ln>
            <a:noFill/>
          </a:ln>
        </p:spPr>
        <p:txBody>
          <a:bodyPr wrap="square" lIns="0" tIns="0" rIns="0" bIns="0" anchor="ctr"/>
          <a:lstStyle/>
          <a:p>
            <a:pPr algn="ctr">
              <a:buNone/>
            </a:pPr>
            <a:r>
              <a:rPr sz="1600" b="1">
                <a:solidFill>
                  <a:srgbClr val="17212B"/>
                </a:solidFill>
                <a:latin typeface="Arial"/>
                <a:ea typeface="Arial"/>
                <a:cs typeface="Arial"/>
              </a:rPr>
              <a:t>One accountable engineer coordinates bounded work and accepts evidence-backed change</a:t>
            </a:r>
            <a:endParaRPr sz="1600"/>
          </a:p>
        </p:txBody>
      </p:sp>
      <p:sp>
        <p:nvSpPr>
          <p:cNvPr id="18" name="Text 18">
            <a:extLst>
              <a:ext uri="{FF2B5EF4-FFF2-40B4-BE49-F238E27FC236}">
                <a16:creationId xmlns:a16="http://schemas.microsoft.com/office/drawing/2014/main" id="{BD18EA54-C06D-4746-B18D-5160302B8AD9}"/>
              </a:ext>
            </a:extLst>
          </p:cNvPr>
          <p:cNvSpPr>
            <a:spLocks noGrp="1"/>
          </p:cNvSpPr>
          <p:nvPr/>
        </p:nvSpPr>
        <p:spPr>
          <a:xfrm>
            <a:off x="990600" y="4591050"/>
            <a:ext cx="3352800" cy="323850"/>
          </a:xfrm>
          <a:prstGeom prst="rect">
            <a:avLst/>
          </a:prstGeom>
          <a:noFill/>
          <a:ln>
            <a:noFill/>
          </a:ln>
        </p:spPr>
        <p:txBody>
          <a:bodyPr wrap="square" lIns="0" tIns="0" rIns="0" bIns="0" anchor="t"/>
          <a:lstStyle/>
          <a:p>
            <a:pPr algn="ctr">
              <a:buNone/>
            </a:pPr>
            <a:r>
              <a:rPr sz="1400" b="0">
                <a:solidFill>
                  <a:srgbClr val="5D6873"/>
                </a:solidFill>
                <a:latin typeface="Arial"/>
                <a:ea typeface="Arial"/>
                <a:cs typeface="Arial"/>
              </a:rPr>
              <a:t>One operator retains the final review decision</a:t>
            </a:r>
            <a:endParaRPr sz="1400"/>
          </a:p>
        </p:txBody>
      </p:sp>
      <p:sp>
        <p:nvSpPr>
          <p:cNvPr id="19" name="Connector 19">
            <a:extLst>
              <a:ext uri="{FF2B5EF4-FFF2-40B4-BE49-F238E27FC236}">
                <a16:creationId xmlns:a16="http://schemas.microsoft.com/office/drawing/2014/main" id="{C8C38B3A-9541-4D0E-92ED-B7C140ABD933}"/>
              </a:ext>
            </a:extLst>
          </p:cNvPr>
          <p:cNvSpPr>
            <a:spLocks noGrp="1"/>
          </p:cNvSpPr>
          <p:nvPr/>
        </p:nvSpPr>
        <p:spPr>
          <a:xfrm>
            <a:off x="5200650" y="3543300"/>
            <a:ext cx="1181100" cy="0"/>
          </a:xfrm>
          <a:prstGeom prst="line">
            <a:avLst/>
          </a:prstGeom>
          <a:ln w="50800">
            <a:solidFill>
              <a:srgbClr val="D71920"/>
            </a:solidFill>
            <a:tailEnd type="triangle"/>
          </a:ln>
        </p:spPr>
      </p:sp>
      <p:sp>
        <p:nvSpPr>
          <p:cNvPr id="20" name="Text 20">
            <a:extLst>
              <a:ext uri="{FF2B5EF4-FFF2-40B4-BE49-F238E27FC236}">
                <a16:creationId xmlns:a16="http://schemas.microsoft.com/office/drawing/2014/main" id="{9A198E4F-8D2C-43C9-A225-CD10BB47BBE7}"/>
              </a:ext>
            </a:extLst>
          </p:cNvPr>
          <p:cNvSpPr>
            <a:spLocks noGrp="1"/>
          </p:cNvSpPr>
          <p:nvPr/>
        </p:nvSpPr>
        <p:spPr>
          <a:xfrm>
            <a:off x="6572250" y="1619250"/>
            <a:ext cx="4476750" cy="228600"/>
          </a:xfrm>
          <a:prstGeom prst="rect">
            <a:avLst/>
          </a:prstGeom>
          <a:noFill/>
          <a:ln>
            <a:noFill/>
          </a:ln>
        </p:spPr>
        <p:txBody>
          <a:bodyPr wrap="square" lIns="0" tIns="0" rIns="0" bIns="0" anchor="t"/>
          <a:lstStyle/>
          <a:p>
            <a:pPr algn="l">
              <a:buNone/>
            </a:pPr>
            <a:r>
              <a:rPr sz="1200" b="1" spc="140">
                <a:solidFill>
                  <a:srgbClr val="2A5B84"/>
                </a:solidFill>
                <a:latin typeface="Arial"/>
                <a:ea typeface="Arial"/>
                <a:cs typeface="Arial"/>
              </a:rPr>
              <a:t>NEXT PILOT HYPOTHESIS</a:t>
            </a:r>
            <a:endParaRPr sz="1200"/>
          </a:p>
        </p:txBody>
      </p:sp>
      <p:sp>
        <p:nvSpPr>
          <p:cNvPr id="21" name="Shape 21">
            <a:extLst>
              <a:ext uri="{FF2B5EF4-FFF2-40B4-BE49-F238E27FC236}">
                <a16:creationId xmlns:a16="http://schemas.microsoft.com/office/drawing/2014/main" id="{E277C026-B212-42A1-B3FF-4233A91ADD30}"/>
              </a:ext>
            </a:extLst>
          </p:cNvPr>
          <p:cNvSpPr>
            <a:spLocks noGrp="1"/>
          </p:cNvSpPr>
          <p:nvPr/>
        </p:nvSpPr>
        <p:spPr>
          <a:xfrm>
            <a:off x="6572250" y="2076450"/>
            <a:ext cx="2190750" cy="723900"/>
          </a:xfrm>
          <a:prstGeom prst="roundRect">
            <a:avLst/>
          </a:prstGeom>
          <a:solidFill>
            <a:srgbClr val="EAF1F7"/>
          </a:solidFill>
          <a:ln w="25400">
            <a:solidFill>
              <a:srgbClr val="2A5B84"/>
            </a:solidFill>
          </a:ln>
        </p:spPr>
      </p:sp>
      <p:sp>
        <p:nvSpPr>
          <p:cNvPr id="22" name="Shape 22">
            <a:extLst>
              <a:ext uri="{FF2B5EF4-FFF2-40B4-BE49-F238E27FC236}">
                <a16:creationId xmlns:a16="http://schemas.microsoft.com/office/drawing/2014/main" id="{5020AE06-F84D-4CE0-9607-0F4C55D94D73}"/>
              </a:ext>
            </a:extLst>
          </p:cNvPr>
          <p:cNvSpPr>
            <a:spLocks noGrp="1"/>
          </p:cNvSpPr>
          <p:nvPr/>
        </p:nvSpPr>
        <p:spPr>
          <a:xfrm>
            <a:off x="6705600" y="2209800"/>
            <a:ext cx="457200" cy="457200"/>
          </a:xfrm>
          <a:prstGeom prst="roundRect">
            <a:avLst/>
          </a:prstGeom>
          <a:solidFill>
            <a:srgbClr val="FFFFFF"/>
          </a:solidFill>
          <a:ln w="19050">
            <a:solidFill>
              <a:srgbClr val="2A5B84"/>
            </a:solidFill>
          </a:ln>
        </p:spPr>
      </p:sp>
      <p:pic>
        <p:nvPicPr>
          <p:cNvPr id="80" name="Picture 23"/>
          <p:cNvPicPr>
            <a:picLocks noChangeAspect="1"/>
          </p:cNvPicPr>
          <p:nvPr/>
        </p:nvPicPr>
        <p:blipFill>
          <a:blip r:embed="rId6"/>
          <a:stretch>
            <a:fillRect/>
          </a:stretch>
        </p:blipFill>
        <p:spPr>
          <a:xfrm>
            <a:off x="6819900" y="2324100"/>
            <a:ext cx="228600" cy="228600"/>
          </a:xfrm>
          <a:prstGeom prst="rect">
            <a:avLst/>
          </a:prstGeom>
          <a:ln>
            <a:noFill/>
          </a:ln>
        </p:spPr>
      </p:pic>
      <p:sp>
        <p:nvSpPr>
          <p:cNvPr id="24" name="Text 24">
            <a:extLst>
              <a:ext uri="{FF2B5EF4-FFF2-40B4-BE49-F238E27FC236}">
                <a16:creationId xmlns:a16="http://schemas.microsoft.com/office/drawing/2014/main" id="{C276168E-9120-49C5-93DD-83DF0C8597B1}"/>
              </a:ext>
            </a:extLst>
          </p:cNvPr>
          <p:cNvSpPr>
            <a:spLocks noGrp="1"/>
          </p:cNvSpPr>
          <p:nvPr/>
        </p:nvSpPr>
        <p:spPr>
          <a:xfrm>
            <a:off x="7258050" y="2171700"/>
            <a:ext cx="1371600" cy="209550"/>
          </a:xfrm>
          <a:prstGeom prst="rect">
            <a:avLst/>
          </a:prstGeom>
          <a:noFill/>
          <a:ln>
            <a:noFill/>
          </a:ln>
        </p:spPr>
        <p:txBody>
          <a:bodyPr wrap="square" lIns="0" tIns="0" rIns="0" bIns="0" anchor="t"/>
          <a:lstStyle/>
          <a:p>
            <a:pPr algn="l">
              <a:buNone/>
            </a:pPr>
            <a:r>
              <a:rPr sz="1300" b="1">
                <a:solidFill>
                  <a:srgbClr val="2A5B84"/>
                </a:solidFill>
                <a:latin typeface="Arial"/>
                <a:ea typeface="Arial"/>
                <a:cs typeface="Arial"/>
              </a:rPr>
              <a:t>CELL A</a:t>
            </a:r>
            <a:endParaRPr sz="1300"/>
          </a:p>
        </p:txBody>
      </p:sp>
      <p:sp>
        <p:nvSpPr>
          <p:cNvPr id="25" name="Text 25">
            <a:extLst>
              <a:ext uri="{FF2B5EF4-FFF2-40B4-BE49-F238E27FC236}">
                <a16:creationId xmlns:a16="http://schemas.microsoft.com/office/drawing/2014/main" id="{F377A807-078A-43E3-AC01-8EB6EFA16407}"/>
              </a:ext>
            </a:extLst>
          </p:cNvPr>
          <p:cNvSpPr>
            <a:spLocks noGrp="1"/>
          </p:cNvSpPr>
          <p:nvPr/>
        </p:nvSpPr>
        <p:spPr>
          <a:xfrm>
            <a:off x="7258050" y="2438400"/>
            <a:ext cx="1371600" cy="266700"/>
          </a:xfrm>
          <a:prstGeom prst="rect">
            <a:avLst/>
          </a:prstGeom>
          <a:noFill/>
          <a:ln>
            <a:noFill/>
          </a:ln>
        </p:spPr>
        <p:txBody>
          <a:bodyPr wrap="square" lIns="0" tIns="0" rIns="0" bIns="0" anchor="t"/>
          <a:lstStyle/>
          <a:p>
            <a:pPr algn="l">
              <a:buNone/>
            </a:pPr>
            <a:r>
              <a:rPr sz="1200" b="0">
                <a:solidFill>
                  <a:srgbClr val="17212B"/>
                </a:solidFill>
                <a:latin typeface="Arial"/>
                <a:ea typeface="Arial"/>
                <a:cs typeface="Arial"/>
              </a:rPr>
              <a:t>Customer Activity Analytics</a:t>
            </a:r>
            <a:endParaRPr sz="1200"/>
          </a:p>
        </p:txBody>
      </p:sp>
      <p:sp>
        <p:nvSpPr>
          <p:cNvPr id="26" name="Connector 26">
            <a:extLst>
              <a:ext uri="{FF2B5EF4-FFF2-40B4-BE49-F238E27FC236}">
                <a16:creationId xmlns:a16="http://schemas.microsoft.com/office/drawing/2014/main" id="{99819796-B3A6-4450-B32A-ACC684631D91}"/>
              </a:ext>
            </a:extLst>
          </p:cNvPr>
          <p:cNvSpPr>
            <a:spLocks noGrp="1"/>
          </p:cNvSpPr>
          <p:nvPr/>
        </p:nvSpPr>
        <p:spPr>
          <a:xfrm>
            <a:off x="8763000" y="2438400"/>
            <a:ext cx="666750" cy="0"/>
          </a:xfrm>
          <a:prstGeom prst="line">
            <a:avLst/>
          </a:prstGeom>
          <a:ln w="25400">
            <a:solidFill>
              <a:srgbClr val="2A5B84"/>
            </a:solidFill>
            <a:headEnd type="triangle"/>
            <a:tailEnd type="triangle"/>
          </a:ln>
        </p:spPr>
      </p:sp>
      <p:sp>
        <p:nvSpPr>
          <p:cNvPr id="27" name="Shape 27">
            <a:extLst>
              <a:ext uri="{FF2B5EF4-FFF2-40B4-BE49-F238E27FC236}">
                <a16:creationId xmlns:a16="http://schemas.microsoft.com/office/drawing/2014/main" id="{81DF28F0-E158-434F-949A-FDBD0D458B20}"/>
              </a:ext>
            </a:extLst>
          </p:cNvPr>
          <p:cNvSpPr>
            <a:spLocks noGrp="1"/>
          </p:cNvSpPr>
          <p:nvPr/>
        </p:nvSpPr>
        <p:spPr>
          <a:xfrm>
            <a:off x="6572250" y="3009900"/>
            <a:ext cx="2190750" cy="723900"/>
          </a:xfrm>
          <a:prstGeom prst="roundRect">
            <a:avLst/>
          </a:prstGeom>
          <a:solidFill>
            <a:srgbClr val="EAF1F7"/>
          </a:solidFill>
          <a:ln w="25400">
            <a:solidFill>
              <a:srgbClr val="2A5B84"/>
            </a:solidFill>
          </a:ln>
        </p:spPr>
      </p:sp>
      <p:sp>
        <p:nvSpPr>
          <p:cNvPr id="28" name="Shape 28">
            <a:extLst>
              <a:ext uri="{FF2B5EF4-FFF2-40B4-BE49-F238E27FC236}">
                <a16:creationId xmlns:a16="http://schemas.microsoft.com/office/drawing/2014/main" id="{B52A116C-2F6A-43DF-93C7-4158C202321F}"/>
              </a:ext>
            </a:extLst>
          </p:cNvPr>
          <p:cNvSpPr>
            <a:spLocks noGrp="1"/>
          </p:cNvSpPr>
          <p:nvPr/>
        </p:nvSpPr>
        <p:spPr>
          <a:xfrm>
            <a:off x="6705600" y="3143250"/>
            <a:ext cx="457200" cy="457200"/>
          </a:xfrm>
          <a:prstGeom prst="roundRect">
            <a:avLst/>
          </a:prstGeom>
          <a:solidFill>
            <a:srgbClr val="FFFFFF"/>
          </a:solidFill>
          <a:ln w="19050">
            <a:solidFill>
              <a:srgbClr val="2A5B84"/>
            </a:solidFill>
          </a:ln>
        </p:spPr>
      </p:sp>
      <p:pic>
        <p:nvPicPr>
          <p:cNvPr id="86" name="Picture 29"/>
          <p:cNvPicPr>
            <a:picLocks noChangeAspect="1"/>
          </p:cNvPicPr>
          <p:nvPr/>
        </p:nvPicPr>
        <p:blipFill>
          <a:blip r:embed="rId7"/>
          <a:stretch>
            <a:fillRect/>
          </a:stretch>
        </p:blipFill>
        <p:spPr>
          <a:xfrm>
            <a:off x="6819900" y="3257550"/>
            <a:ext cx="228600" cy="228600"/>
          </a:xfrm>
          <a:prstGeom prst="rect">
            <a:avLst/>
          </a:prstGeom>
          <a:ln>
            <a:noFill/>
          </a:ln>
        </p:spPr>
      </p:pic>
      <p:sp>
        <p:nvSpPr>
          <p:cNvPr id="30" name="Text 30">
            <a:extLst>
              <a:ext uri="{FF2B5EF4-FFF2-40B4-BE49-F238E27FC236}">
                <a16:creationId xmlns:a16="http://schemas.microsoft.com/office/drawing/2014/main" id="{9F41381C-400D-46B0-9F1F-3B97415903E0}"/>
              </a:ext>
            </a:extLst>
          </p:cNvPr>
          <p:cNvSpPr>
            <a:spLocks noGrp="1"/>
          </p:cNvSpPr>
          <p:nvPr/>
        </p:nvSpPr>
        <p:spPr>
          <a:xfrm>
            <a:off x="7258050" y="3105150"/>
            <a:ext cx="1371600" cy="209550"/>
          </a:xfrm>
          <a:prstGeom prst="rect">
            <a:avLst/>
          </a:prstGeom>
          <a:noFill/>
          <a:ln>
            <a:noFill/>
          </a:ln>
        </p:spPr>
        <p:txBody>
          <a:bodyPr wrap="square" lIns="0" tIns="0" rIns="0" bIns="0" anchor="t"/>
          <a:lstStyle/>
          <a:p>
            <a:pPr algn="l">
              <a:buNone/>
            </a:pPr>
            <a:r>
              <a:rPr sz="1300" b="1">
                <a:solidFill>
                  <a:srgbClr val="2A5B84"/>
                </a:solidFill>
                <a:latin typeface="Arial"/>
                <a:ea typeface="Arial"/>
                <a:cs typeface="Arial"/>
              </a:rPr>
              <a:t>CELL B</a:t>
            </a:r>
            <a:endParaRPr sz="1300"/>
          </a:p>
        </p:txBody>
      </p:sp>
      <p:sp>
        <p:nvSpPr>
          <p:cNvPr id="31" name="Text 31">
            <a:extLst>
              <a:ext uri="{FF2B5EF4-FFF2-40B4-BE49-F238E27FC236}">
                <a16:creationId xmlns:a16="http://schemas.microsoft.com/office/drawing/2014/main" id="{26414988-ABD2-46AE-BD91-03B83E823C4B}"/>
              </a:ext>
            </a:extLst>
          </p:cNvPr>
          <p:cNvSpPr>
            <a:spLocks noGrp="1"/>
          </p:cNvSpPr>
          <p:nvPr/>
        </p:nvSpPr>
        <p:spPr>
          <a:xfrm>
            <a:off x="7258050" y="3371850"/>
            <a:ext cx="1371600" cy="266700"/>
          </a:xfrm>
          <a:prstGeom prst="rect">
            <a:avLst/>
          </a:prstGeom>
          <a:noFill/>
          <a:ln>
            <a:noFill/>
          </a:ln>
        </p:spPr>
        <p:txBody>
          <a:bodyPr wrap="square" lIns="0" tIns="0" rIns="0" bIns="0" anchor="t"/>
          <a:lstStyle/>
          <a:p>
            <a:pPr algn="l">
              <a:buNone/>
            </a:pPr>
            <a:r>
              <a:rPr sz="1200" b="0">
                <a:solidFill>
                  <a:srgbClr val="17212B"/>
                </a:solidFill>
                <a:latin typeface="Arial"/>
                <a:ea typeface="Arial"/>
                <a:cs typeface="Arial"/>
              </a:rPr>
              <a:t>Another product team</a:t>
            </a:r>
            <a:endParaRPr sz="1200"/>
          </a:p>
        </p:txBody>
      </p:sp>
      <p:sp>
        <p:nvSpPr>
          <p:cNvPr id="32" name="Connector 32">
            <a:extLst>
              <a:ext uri="{FF2B5EF4-FFF2-40B4-BE49-F238E27FC236}">
                <a16:creationId xmlns:a16="http://schemas.microsoft.com/office/drawing/2014/main" id="{54122CDC-FA36-4DB1-B29F-409B4A47A688}"/>
              </a:ext>
            </a:extLst>
          </p:cNvPr>
          <p:cNvSpPr>
            <a:spLocks noGrp="1"/>
          </p:cNvSpPr>
          <p:nvPr/>
        </p:nvSpPr>
        <p:spPr>
          <a:xfrm>
            <a:off x="8763000" y="3371850"/>
            <a:ext cx="666750" cy="0"/>
          </a:xfrm>
          <a:prstGeom prst="line">
            <a:avLst/>
          </a:prstGeom>
          <a:ln w="25400">
            <a:solidFill>
              <a:srgbClr val="2A5B84"/>
            </a:solidFill>
            <a:headEnd type="triangle"/>
            <a:tailEnd type="triangle"/>
          </a:ln>
        </p:spPr>
      </p:sp>
      <p:sp>
        <p:nvSpPr>
          <p:cNvPr id="33" name="Shape 33">
            <a:extLst>
              <a:ext uri="{FF2B5EF4-FFF2-40B4-BE49-F238E27FC236}">
                <a16:creationId xmlns:a16="http://schemas.microsoft.com/office/drawing/2014/main" id="{88963185-7A2C-4D90-834F-2E7415ABA124}"/>
              </a:ext>
            </a:extLst>
          </p:cNvPr>
          <p:cNvSpPr>
            <a:spLocks noGrp="1"/>
          </p:cNvSpPr>
          <p:nvPr/>
        </p:nvSpPr>
        <p:spPr>
          <a:xfrm>
            <a:off x="6572250" y="3943350"/>
            <a:ext cx="2190750" cy="723900"/>
          </a:xfrm>
          <a:prstGeom prst="roundRect">
            <a:avLst/>
          </a:prstGeom>
          <a:solidFill>
            <a:srgbClr val="EAF1F7"/>
          </a:solidFill>
          <a:ln w="25400">
            <a:solidFill>
              <a:srgbClr val="2A5B84"/>
            </a:solidFill>
          </a:ln>
        </p:spPr>
      </p:sp>
      <p:sp>
        <p:nvSpPr>
          <p:cNvPr id="34" name="Shape 34">
            <a:extLst>
              <a:ext uri="{FF2B5EF4-FFF2-40B4-BE49-F238E27FC236}">
                <a16:creationId xmlns:a16="http://schemas.microsoft.com/office/drawing/2014/main" id="{3A30273A-302C-4CF0-BD5F-C42188613D6C}"/>
              </a:ext>
            </a:extLst>
          </p:cNvPr>
          <p:cNvSpPr>
            <a:spLocks noGrp="1"/>
          </p:cNvSpPr>
          <p:nvPr/>
        </p:nvSpPr>
        <p:spPr>
          <a:xfrm>
            <a:off x="6705600" y="4076700"/>
            <a:ext cx="457200" cy="457200"/>
          </a:xfrm>
          <a:prstGeom prst="roundRect">
            <a:avLst/>
          </a:prstGeom>
          <a:solidFill>
            <a:srgbClr val="FFFFFF"/>
          </a:solidFill>
          <a:ln w="19050">
            <a:solidFill>
              <a:srgbClr val="2A5B84"/>
            </a:solidFill>
          </a:ln>
        </p:spPr>
      </p:sp>
      <p:pic>
        <p:nvPicPr>
          <p:cNvPr id="92" name="Picture 35"/>
          <p:cNvPicPr>
            <a:picLocks noChangeAspect="1"/>
          </p:cNvPicPr>
          <p:nvPr/>
        </p:nvPicPr>
        <p:blipFill>
          <a:blip r:embed="rId8"/>
          <a:stretch>
            <a:fillRect/>
          </a:stretch>
        </p:blipFill>
        <p:spPr>
          <a:xfrm>
            <a:off x="6819900" y="4191000"/>
            <a:ext cx="228600" cy="228600"/>
          </a:xfrm>
          <a:prstGeom prst="rect">
            <a:avLst/>
          </a:prstGeom>
          <a:ln>
            <a:noFill/>
          </a:ln>
        </p:spPr>
      </p:pic>
      <p:sp>
        <p:nvSpPr>
          <p:cNvPr id="36" name="Text 36">
            <a:extLst>
              <a:ext uri="{FF2B5EF4-FFF2-40B4-BE49-F238E27FC236}">
                <a16:creationId xmlns:a16="http://schemas.microsoft.com/office/drawing/2014/main" id="{E5D3AA64-C657-4CB4-9719-5AF028634AF8}"/>
              </a:ext>
            </a:extLst>
          </p:cNvPr>
          <p:cNvSpPr>
            <a:spLocks noGrp="1"/>
          </p:cNvSpPr>
          <p:nvPr/>
        </p:nvSpPr>
        <p:spPr>
          <a:xfrm>
            <a:off x="7258050" y="4038600"/>
            <a:ext cx="1371600" cy="209550"/>
          </a:xfrm>
          <a:prstGeom prst="rect">
            <a:avLst/>
          </a:prstGeom>
          <a:noFill/>
          <a:ln>
            <a:noFill/>
          </a:ln>
        </p:spPr>
        <p:txBody>
          <a:bodyPr wrap="square" lIns="0" tIns="0" rIns="0" bIns="0" anchor="t"/>
          <a:lstStyle/>
          <a:p>
            <a:pPr algn="l">
              <a:buNone/>
            </a:pPr>
            <a:r>
              <a:rPr sz="1300" b="1">
                <a:solidFill>
                  <a:srgbClr val="2A5B84"/>
                </a:solidFill>
                <a:latin typeface="Arial"/>
                <a:ea typeface="Arial"/>
                <a:cs typeface="Arial"/>
              </a:rPr>
              <a:t>CELL C</a:t>
            </a:r>
            <a:endParaRPr sz="1300"/>
          </a:p>
        </p:txBody>
      </p:sp>
      <p:sp>
        <p:nvSpPr>
          <p:cNvPr id="37" name="Text 37">
            <a:extLst>
              <a:ext uri="{FF2B5EF4-FFF2-40B4-BE49-F238E27FC236}">
                <a16:creationId xmlns:a16="http://schemas.microsoft.com/office/drawing/2014/main" id="{E09A4F34-A1C6-44E6-984D-D4C53B1DD157}"/>
              </a:ext>
            </a:extLst>
          </p:cNvPr>
          <p:cNvSpPr>
            <a:spLocks noGrp="1"/>
          </p:cNvSpPr>
          <p:nvPr/>
        </p:nvSpPr>
        <p:spPr>
          <a:xfrm>
            <a:off x="7258050" y="4305300"/>
            <a:ext cx="1371600" cy="266700"/>
          </a:xfrm>
          <a:prstGeom prst="rect">
            <a:avLst/>
          </a:prstGeom>
          <a:noFill/>
          <a:ln>
            <a:noFill/>
          </a:ln>
        </p:spPr>
        <p:txBody>
          <a:bodyPr wrap="square" lIns="0" tIns="0" rIns="0" bIns="0" anchor="t"/>
          <a:lstStyle/>
          <a:p>
            <a:pPr algn="l">
              <a:buNone/>
            </a:pPr>
            <a:r>
              <a:rPr sz="1200" b="0">
                <a:solidFill>
                  <a:srgbClr val="17212B"/>
                </a:solidFill>
                <a:latin typeface="Arial"/>
                <a:ea typeface="Arial"/>
                <a:cs typeface="Arial"/>
              </a:rPr>
              <a:t>Another engineer</a:t>
            </a:r>
            <a:endParaRPr sz="1200"/>
          </a:p>
        </p:txBody>
      </p:sp>
      <p:sp>
        <p:nvSpPr>
          <p:cNvPr id="38" name="Connector 38">
            <a:extLst>
              <a:ext uri="{FF2B5EF4-FFF2-40B4-BE49-F238E27FC236}">
                <a16:creationId xmlns:a16="http://schemas.microsoft.com/office/drawing/2014/main" id="{2FE53FF9-E1A8-491D-AAC9-265F92A16ECB}"/>
              </a:ext>
            </a:extLst>
          </p:cNvPr>
          <p:cNvSpPr>
            <a:spLocks noGrp="1"/>
          </p:cNvSpPr>
          <p:nvPr/>
        </p:nvSpPr>
        <p:spPr>
          <a:xfrm>
            <a:off x="8763000" y="4305300"/>
            <a:ext cx="666750" cy="0"/>
          </a:xfrm>
          <a:prstGeom prst="line">
            <a:avLst/>
          </a:prstGeom>
          <a:ln w="25400">
            <a:solidFill>
              <a:srgbClr val="2A5B84"/>
            </a:solidFill>
            <a:headEnd type="triangle"/>
            <a:tailEnd type="triangle"/>
          </a:ln>
        </p:spPr>
      </p:sp>
      <p:sp>
        <p:nvSpPr>
          <p:cNvPr id="39" name="Shape 39">
            <a:extLst>
              <a:ext uri="{FF2B5EF4-FFF2-40B4-BE49-F238E27FC236}">
                <a16:creationId xmlns:a16="http://schemas.microsoft.com/office/drawing/2014/main" id="{698716C5-60E2-408D-AEEC-0201D7EA6A21}"/>
              </a:ext>
            </a:extLst>
          </p:cNvPr>
          <p:cNvSpPr>
            <a:spLocks noGrp="1"/>
          </p:cNvSpPr>
          <p:nvPr/>
        </p:nvSpPr>
        <p:spPr>
          <a:xfrm>
            <a:off x="9429750" y="2190750"/>
            <a:ext cx="2057400" cy="2381250"/>
          </a:xfrm>
          <a:prstGeom prst="roundRect">
            <a:avLst/>
          </a:prstGeom>
          <a:solidFill>
            <a:srgbClr val="17212B"/>
          </a:solidFill>
          <a:ln w="12700">
            <a:solidFill>
              <a:srgbClr val="17212B"/>
            </a:solidFill>
          </a:ln>
        </p:spPr>
      </p:sp>
      <p:pic>
        <p:nvPicPr>
          <p:cNvPr id="97" name="Picture 40"/>
          <p:cNvPicPr>
            <a:picLocks noChangeAspect="1"/>
          </p:cNvPicPr>
          <p:nvPr/>
        </p:nvPicPr>
        <p:blipFill>
          <a:blip r:embed="rId9"/>
          <a:stretch>
            <a:fillRect/>
          </a:stretch>
        </p:blipFill>
        <p:spPr>
          <a:xfrm>
            <a:off x="10115550" y="2362200"/>
            <a:ext cx="685800" cy="685800"/>
          </a:xfrm>
          <a:prstGeom prst="rect">
            <a:avLst/>
          </a:prstGeom>
          <a:ln>
            <a:noFill/>
          </a:ln>
        </p:spPr>
      </p:pic>
      <p:sp>
        <p:nvSpPr>
          <p:cNvPr id="41" name="Text 41">
            <a:extLst>
              <a:ext uri="{FF2B5EF4-FFF2-40B4-BE49-F238E27FC236}">
                <a16:creationId xmlns:a16="http://schemas.microsoft.com/office/drawing/2014/main" id="{AAF072DF-9AC1-411E-81F1-08B1BAA4408D}"/>
              </a:ext>
            </a:extLst>
          </p:cNvPr>
          <p:cNvSpPr>
            <a:spLocks noGrp="1"/>
          </p:cNvSpPr>
          <p:nvPr/>
        </p:nvSpPr>
        <p:spPr>
          <a:xfrm>
            <a:off x="9525000" y="3067050"/>
            <a:ext cx="1866900" cy="2286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SHARED</a:t>
            </a:r>
            <a:endParaRPr sz="1600"/>
          </a:p>
        </p:txBody>
      </p:sp>
      <p:sp>
        <p:nvSpPr>
          <p:cNvPr id="42" name="Text 42">
            <a:extLst>
              <a:ext uri="{FF2B5EF4-FFF2-40B4-BE49-F238E27FC236}">
                <a16:creationId xmlns:a16="http://schemas.microsoft.com/office/drawing/2014/main" id="{4B6F9599-6A0C-4C06-A778-2847551893F8}"/>
              </a:ext>
            </a:extLst>
          </p:cNvPr>
          <p:cNvSpPr>
            <a:spLocks noGrp="1"/>
          </p:cNvSpPr>
          <p:nvPr/>
        </p:nvSpPr>
        <p:spPr>
          <a:xfrm>
            <a:off x="9525000" y="3333750"/>
            <a:ext cx="1866900" cy="2667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CONTROL PLANE</a:t>
            </a:r>
            <a:endParaRPr sz="1600"/>
          </a:p>
        </p:txBody>
      </p:sp>
      <p:sp>
        <p:nvSpPr>
          <p:cNvPr id="43" name="Connector 43">
            <a:extLst>
              <a:ext uri="{FF2B5EF4-FFF2-40B4-BE49-F238E27FC236}">
                <a16:creationId xmlns:a16="http://schemas.microsoft.com/office/drawing/2014/main" id="{D3AC7D46-0B30-4010-958C-139E359474DF}"/>
              </a:ext>
            </a:extLst>
          </p:cNvPr>
          <p:cNvSpPr>
            <a:spLocks noGrp="1"/>
          </p:cNvSpPr>
          <p:nvPr/>
        </p:nvSpPr>
        <p:spPr>
          <a:xfrm>
            <a:off x="9696450" y="3714750"/>
            <a:ext cx="1524000" cy="0"/>
          </a:xfrm>
          <a:prstGeom prst="line">
            <a:avLst/>
          </a:prstGeom>
          <a:ln w="12700">
            <a:solidFill>
              <a:srgbClr val="667984"/>
            </a:solidFill>
          </a:ln>
        </p:spPr>
      </p:sp>
      <p:sp>
        <p:nvSpPr>
          <p:cNvPr id="44" name="Text 44">
            <a:extLst>
              <a:ext uri="{FF2B5EF4-FFF2-40B4-BE49-F238E27FC236}">
                <a16:creationId xmlns:a16="http://schemas.microsoft.com/office/drawing/2014/main" id="{920F42E0-9DCB-44B6-8626-150C50490F62}"/>
              </a:ext>
            </a:extLst>
          </p:cNvPr>
          <p:cNvSpPr>
            <a:spLocks noGrp="1"/>
          </p:cNvSpPr>
          <p:nvPr/>
        </p:nvSpPr>
        <p:spPr>
          <a:xfrm>
            <a:off x="9525000" y="3810000"/>
            <a:ext cx="1866900" cy="190500"/>
          </a:xfrm>
          <a:prstGeom prst="rect">
            <a:avLst/>
          </a:prstGeom>
          <a:noFill/>
          <a:ln>
            <a:noFill/>
          </a:ln>
        </p:spPr>
        <p:txBody>
          <a:bodyPr wrap="square" lIns="0" tIns="0" rIns="0" bIns="0" anchor="t"/>
          <a:lstStyle/>
          <a:p>
            <a:pPr algn="ctr">
              <a:buNone/>
            </a:pPr>
            <a:r>
              <a:rPr sz="1000" b="0">
                <a:solidFill>
                  <a:srgbClr val="DDE3E8"/>
                </a:solidFill>
                <a:latin typeface="Arial"/>
                <a:ea typeface="Arial"/>
                <a:cs typeface="Arial"/>
              </a:rPr>
              <a:t>Enterprise process fit</a:t>
            </a:r>
            <a:endParaRPr sz="1000"/>
          </a:p>
        </p:txBody>
      </p:sp>
      <p:sp>
        <p:nvSpPr>
          <p:cNvPr id="45" name="Text 45">
            <a:extLst>
              <a:ext uri="{FF2B5EF4-FFF2-40B4-BE49-F238E27FC236}">
                <a16:creationId xmlns:a16="http://schemas.microsoft.com/office/drawing/2014/main" id="{2BE91ADD-4C4B-4511-B2D9-0D803061340C}"/>
              </a:ext>
            </a:extLst>
          </p:cNvPr>
          <p:cNvSpPr>
            <a:spLocks noGrp="1"/>
          </p:cNvSpPr>
          <p:nvPr/>
        </p:nvSpPr>
        <p:spPr>
          <a:xfrm>
            <a:off x="9525000" y="4076700"/>
            <a:ext cx="1866900" cy="190500"/>
          </a:xfrm>
          <a:prstGeom prst="rect">
            <a:avLst/>
          </a:prstGeom>
          <a:noFill/>
          <a:ln>
            <a:noFill/>
          </a:ln>
        </p:spPr>
        <p:txBody>
          <a:bodyPr wrap="square" lIns="0" tIns="0" rIns="0" bIns="0" anchor="t"/>
          <a:lstStyle/>
          <a:p>
            <a:pPr algn="ctr">
              <a:buNone/>
            </a:pPr>
            <a:r>
              <a:rPr sz="1000" b="0">
                <a:solidFill>
                  <a:srgbClr val="DDE3E8"/>
                </a:solidFill>
                <a:latin typeface="Arial"/>
                <a:ea typeface="Arial"/>
                <a:cs typeface="Arial"/>
              </a:rPr>
              <a:t>Operational scale and HA</a:t>
            </a:r>
            <a:endParaRPr sz="1000"/>
          </a:p>
        </p:txBody>
      </p:sp>
      <p:sp>
        <p:nvSpPr>
          <p:cNvPr id="46" name="Text 46">
            <a:extLst>
              <a:ext uri="{FF2B5EF4-FFF2-40B4-BE49-F238E27FC236}">
                <a16:creationId xmlns:a16="http://schemas.microsoft.com/office/drawing/2014/main" id="{C5EF1828-7404-44B9-8DCE-4DF0B0E238CC}"/>
              </a:ext>
            </a:extLst>
          </p:cNvPr>
          <p:cNvSpPr>
            <a:spLocks noGrp="1"/>
          </p:cNvSpPr>
          <p:nvPr/>
        </p:nvSpPr>
        <p:spPr>
          <a:xfrm>
            <a:off x="9525000" y="4343400"/>
            <a:ext cx="1866900" cy="171450"/>
          </a:xfrm>
          <a:prstGeom prst="rect">
            <a:avLst/>
          </a:prstGeom>
          <a:noFill/>
          <a:ln>
            <a:noFill/>
          </a:ln>
        </p:spPr>
        <p:txBody>
          <a:bodyPr wrap="square" lIns="0" tIns="0" rIns="0" bIns="0" anchor="t"/>
          <a:lstStyle/>
          <a:p>
            <a:pPr algn="ctr">
              <a:buNone/>
            </a:pPr>
            <a:r>
              <a:rPr sz="1000" b="0">
                <a:solidFill>
                  <a:srgbClr val="DDE3E8"/>
                </a:solidFill>
                <a:latin typeface="Arial"/>
                <a:ea typeface="Arial"/>
                <a:cs typeface="Arial"/>
              </a:rPr>
              <a:t>Measured model quality</a:t>
            </a:r>
            <a:endParaRPr sz="1000"/>
          </a:p>
        </p:txBody>
      </p:sp>
      <p:sp>
        <p:nvSpPr>
          <p:cNvPr id="47" name="Shape 47">
            <a:extLst>
              <a:ext uri="{FF2B5EF4-FFF2-40B4-BE49-F238E27FC236}">
                <a16:creationId xmlns:a16="http://schemas.microsoft.com/office/drawing/2014/main" id="{0A0652E2-1E5D-45F0-A9C0-386EC4DF16F6}"/>
              </a:ext>
            </a:extLst>
          </p:cNvPr>
          <p:cNvSpPr>
            <a:spLocks noGrp="1"/>
          </p:cNvSpPr>
          <p:nvPr/>
        </p:nvSpPr>
        <p:spPr>
          <a:xfrm>
            <a:off x="1562100" y="5543550"/>
            <a:ext cx="9067800" cy="552450"/>
          </a:xfrm>
          <a:prstGeom prst="roundRect">
            <a:avLst/>
          </a:prstGeom>
          <a:solidFill>
            <a:srgbClr val="F4F6F8"/>
          </a:solidFill>
          <a:ln w="12700">
            <a:solidFill>
              <a:srgbClr val="D9DEE3"/>
            </a:solidFill>
          </a:ln>
        </p:spPr>
      </p:sp>
      <p:sp>
        <p:nvSpPr>
          <p:cNvPr id="48" name="Text 48">
            <a:extLst>
              <a:ext uri="{FF2B5EF4-FFF2-40B4-BE49-F238E27FC236}">
                <a16:creationId xmlns:a16="http://schemas.microsoft.com/office/drawing/2014/main" id="{6DAC2867-4161-445C-8F99-FAD9C2479A56}"/>
              </a:ext>
            </a:extLst>
          </p:cNvPr>
          <p:cNvSpPr>
            <a:spLocks noGrp="1"/>
          </p:cNvSpPr>
          <p:nvPr/>
        </p:nvSpPr>
        <p:spPr>
          <a:xfrm>
            <a:off x="1790700" y="5676900"/>
            <a:ext cx="8610600" cy="304800"/>
          </a:xfrm>
          <a:prstGeom prst="rect">
            <a:avLst/>
          </a:prstGeom>
          <a:noFill/>
          <a:ln>
            <a:noFill/>
          </a:ln>
        </p:spPr>
        <p:txBody>
          <a:bodyPr wrap="square" lIns="0" tIns="0" rIns="0" bIns="0" anchor="ctr"/>
          <a:lstStyle/>
          <a:p>
            <a:pPr algn="ctr">
              <a:buNone/>
            </a:pPr>
            <a:r>
              <a:rPr sz="1500" b="1">
                <a:solidFill>
                  <a:srgbClr val="17212B"/>
                </a:solidFill>
                <a:latin typeface="Arial"/>
                <a:ea typeface="Arial"/>
                <a:cs typeface="Arial"/>
              </a:rPr>
              <a:t>The next decision should be based on measured reuse, quality and operating cost across several real delivery cells</a:t>
            </a:r>
            <a:endParaRPr sz="1500"/>
          </a:p>
        </p:txBody>
      </p:sp>
      <p:sp>
        <p:nvSpPr>
          <p:cNvPr id="49" name="Connector 49">
            <a:extLst>
              <a:ext uri="{FF2B5EF4-FFF2-40B4-BE49-F238E27FC236}">
                <a16:creationId xmlns:a16="http://schemas.microsoft.com/office/drawing/2014/main" id="{0BC9EC80-9D28-4198-97B4-F952B829FC4F}"/>
              </a:ext>
            </a:extLst>
          </p:cNvPr>
          <p:cNvSpPr>
            <a:spLocks noGrp="1"/>
          </p:cNvSpPr>
          <p:nvPr/>
        </p:nvSpPr>
        <p:spPr>
          <a:xfrm>
            <a:off x="552450" y="6419850"/>
            <a:ext cx="11087100" cy="0"/>
          </a:xfrm>
          <a:prstGeom prst="line">
            <a:avLst/>
          </a:prstGeom>
          <a:ln w="12700">
            <a:solidFill>
              <a:srgbClr val="D9DEE3"/>
            </a:solidFill>
          </a:ln>
        </p:spPr>
      </p:sp>
      <p:sp>
        <p:nvSpPr>
          <p:cNvPr id="50" name="Text 50">
            <a:extLst>
              <a:ext uri="{FF2B5EF4-FFF2-40B4-BE49-F238E27FC236}">
                <a16:creationId xmlns:a16="http://schemas.microsoft.com/office/drawing/2014/main" id="{A97C5057-CAC1-4BF8-B578-9A3CBCE99863}"/>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CUSTOMER ACTIVITY ANALYTICS</a:t>
            </a:r>
            <a:endParaRPr sz="1000"/>
          </a:p>
        </p:txBody>
      </p:sp>
      <p:sp>
        <p:nvSpPr>
          <p:cNvPr id="51" name="Text 51">
            <a:extLst>
              <a:ext uri="{FF2B5EF4-FFF2-40B4-BE49-F238E27FC236}">
                <a16:creationId xmlns:a16="http://schemas.microsoft.com/office/drawing/2014/main" id="{DB87E940-D1B8-4411-8132-091087BB3B95}"/>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12</a:t>
            </a:r>
            <a:endParaRPr sz="1000"/>
          </a:p>
        </p:txBody>
      </p:sp>
    </p:spTree>
    <p:extLst>
      <p:ext uri="{BB962C8B-B14F-4D97-AF65-F5344CB8AC3E}">
        <p14:creationId xmlns:p14="http://schemas.microsoft.com/office/powerpoint/2010/main" val="1239429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B343FAB7-4B32-400F-B470-C29E49AA3D94}"/>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APPENDIX A · BROWSER EVIDENCE</a:t>
            </a:r>
            <a:endParaRPr sz="1100"/>
          </a:p>
        </p:txBody>
      </p:sp>
      <p:sp>
        <p:nvSpPr>
          <p:cNvPr id="3" name="Text 3">
            <a:extLst>
              <a:ext uri="{FF2B5EF4-FFF2-40B4-BE49-F238E27FC236}">
                <a16:creationId xmlns:a16="http://schemas.microsoft.com/office/drawing/2014/main" id="{6073168B-FD65-4965-AD18-2D3BA0B45FFF}"/>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Authentic Playwright captures document the capability growth from R1 to R4</a:t>
            </a:r>
            <a:endParaRPr sz="3000"/>
          </a:p>
        </p:txBody>
      </p:sp>
      <p:sp>
        <p:nvSpPr>
          <p:cNvPr id="4" name="Shape 4">
            <a:extLst>
              <a:ext uri="{FF2B5EF4-FFF2-40B4-BE49-F238E27FC236}">
                <a16:creationId xmlns:a16="http://schemas.microsoft.com/office/drawing/2014/main" id="{E574D6E2-629B-4830-A7CD-CCD31412BA39}"/>
              </a:ext>
            </a:extLst>
          </p:cNvPr>
          <p:cNvSpPr>
            <a:spLocks noGrp="1"/>
          </p:cNvSpPr>
          <p:nvPr/>
        </p:nvSpPr>
        <p:spPr>
          <a:xfrm>
            <a:off x="571500" y="1581150"/>
            <a:ext cx="5143500" cy="2209800"/>
          </a:xfrm>
          <a:prstGeom prst="rect">
            <a:avLst/>
          </a:prstGeom>
          <a:solidFill>
            <a:srgbClr val="FFFFFF"/>
          </a:solidFill>
          <a:ln w="12700">
            <a:solidFill>
              <a:srgbClr val="D9DEE3"/>
            </a:solidFill>
          </a:ln>
        </p:spPr>
      </p:sp>
      <p:pic>
        <p:nvPicPr>
          <p:cNvPr id="30" name="Picture 5"/>
          <p:cNvPicPr>
            <a:picLocks noChangeAspect="1"/>
          </p:cNvPicPr>
          <p:nvPr/>
        </p:nvPicPr>
        <p:blipFill>
          <a:blip r:embed="rId3"/>
          <a:stretch>
            <a:fillRect/>
          </a:stretch>
        </p:blipFill>
        <p:spPr>
          <a:xfrm>
            <a:off x="628650" y="1638300"/>
            <a:ext cx="5029200" cy="2143125"/>
          </a:xfrm>
          <a:prstGeom prst="rect">
            <a:avLst/>
          </a:prstGeom>
          <a:ln>
            <a:noFill/>
          </a:ln>
        </p:spPr>
      </p:pic>
      <p:sp>
        <p:nvSpPr>
          <p:cNvPr id="6" name="Text 6">
            <a:extLst>
              <a:ext uri="{FF2B5EF4-FFF2-40B4-BE49-F238E27FC236}">
                <a16:creationId xmlns:a16="http://schemas.microsoft.com/office/drawing/2014/main" id="{5F587AF2-7C67-4A97-A228-F5F233CF74B0}"/>
              </a:ext>
            </a:extLst>
          </p:cNvPr>
          <p:cNvSpPr>
            <a:spLocks noGrp="1"/>
          </p:cNvSpPr>
          <p:nvPr/>
        </p:nvSpPr>
        <p:spPr>
          <a:xfrm>
            <a:off x="704850" y="1695450"/>
            <a:ext cx="514350" cy="266700"/>
          </a:xfrm>
          <a:prstGeom prst="rect">
            <a:avLst/>
          </a:prstGeom>
          <a:solidFill>
            <a:srgbClr val="17212B"/>
          </a:solidFill>
          <a:ln>
            <a:noFill/>
          </a:ln>
        </p:spPr>
        <p:txBody>
          <a:bodyPr wrap="square" lIns="0" tIns="0" rIns="0" bIns="0" anchor="ctr"/>
          <a:lstStyle/>
          <a:p>
            <a:pPr algn="ctr">
              <a:buNone/>
            </a:pPr>
            <a:r>
              <a:rPr sz="1300" b="1">
                <a:solidFill>
                  <a:srgbClr val="FFFFFF"/>
                </a:solidFill>
                <a:latin typeface="Arial"/>
                <a:ea typeface="Arial"/>
                <a:cs typeface="Arial"/>
              </a:rPr>
              <a:t>R1</a:t>
            </a:r>
            <a:endParaRPr sz="1300"/>
          </a:p>
        </p:txBody>
      </p:sp>
      <p:sp>
        <p:nvSpPr>
          <p:cNvPr id="7" name="Text 7">
            <a:extLst>
              <a:ext uri="{FF2B5EF4-FFF2-40B4-BE49-F238E27FC236}">
                <a16:creationId xmlns:a16="http://schemas.microsoft.com/office/drawing/2014/main" id="{CA9911F4-47E3-4AC6-B9FD-8E3565420C4B}"/>
              </a:ext>
            </a:extLst>
          </p:cNvPr>
          <p:cNvSpPr>
            <a:spLocks noGrp="1"/>
          </p:cNvSpPr>
          <p:nvPr/>
        </p:nvSpPr>
        <p:spPr>
          <a:xfrm>
            <a:off x="1295400" y="1695450"/>
            <a:ext cx="2571750" cy="266700"/>
          </a:xfrm>
          <a:prstGeom prst="rect">
            <a:avLst/>
          </a:prstGeom>
          <a:solidFill>
            <a:srgbClr val="17212B"/>
          </a:solidFill>
          <a:ln>
            <a:noFill/>
          </a:ln>
        </p:spPr>
        <p:txBody>
          <a:bodyPr wrap="square" lIns="57150" tIns="57150" rIns="57150" bIns="57150" anchor="ctr"/>
          <a:lstStyle/>
          <a:p>
            <a:pPr algn="l">
              <a:buNone/>
            </a:pPr>
            <a:r>
              <a:rPr sz="1300" b="1">
                <a:solidFill>
                  <a:srgbClr val="FFFFFF"/>
                </a:solidFill>
                <a:latin typeface="Arial"/>
                <a:ea typeface="Arial"/>
                <a:cs typeface="Arial"/>
              </a:rPr>
              <a:t>Synthetic review</a:t>
            </a:r>
            <a:endParaRPr sz="1300"/>
          </a:p>
        </p:txBody>
      </p:sp>
      <p:sp>
        <p:nvSpPr>
          <p:cNvPr id="8" name="Shape 8">
            <a:extLst>
              <a:ext uri="{FF2B5EF4-FFF2-40B4-BE49-F238E27FC236}">
                <a16:creationId xmlns:a16="http://schemas.microsoft.com/office/drawing/2014/main" id="{6B5FA377-74CA-4BFF-806C-B62D6BCB7BD8}"/>
              </a:ext>
            </a:extLst>
          </p:cNvPr>
          <p:cNvSpPr>
            <a:spLocks noGrp="1"/>
          </p:cNvSpPr>
          <p:nvPr/>
        </p:nvSpPr>
        <p:spPr>
          <a:xfrm>
            <a:off x="6477000" y="1581150"/>
            <a:ext cx="5143500" cy="2209800"/>
          </a:xfrm>
          <a:prstGeom prst="rect">
            <a:avLst/>
          </a:prstGeom>
          <a:solidFill>
            <a:srgbClr val="FFFFFF"/>
          </a:solidFill>
          <a:ln w="12700">
            <a:solidFill>
              <a:srgbClr val="D9DEE3"/>
            </a:solidFill>
          </a:ln>
        </p:spPr>
      </p:sp>
      <p:pic>
        <p:nvPicPr>
          <p:cNvPr id="34" name="Picture 9"/>
          <p:cNvPicPr>
            <a:picLocks noChangeAspect="1"/>
          </p:cNvPicPr>
          <p:nvPr/>
        </p:nvPicPr>
        <p:blipFill>
          <a:blip r:embed="rId4"/>
          <a:stretch>
            <a:fillRect/>
          </a:stretch>
        </p:blipFill>
        <p:spPr>
          <a:xfrm>
            <a:off x="6534150" y="1638300"/>
            <a:ext cx="5029200" cy="2143125"/>
          </a:xfrm>
          <a:prstGeom prst="rect">
            <a:avLst/>
          </a:prstGeom>
          <a:ln>
            <a:noFill/>
          </a:ln>
        </p:spPr>
      </p:pic>
      <p:sp>
        <p:nvSpPr>
          <p:cNvPr id="10" name="Text 10">
            <a:extLst>
              <a:ext uri="{FF2B5EF4-FFF2-40B4-BE49-F238E27FC236}">
                <a16:creationId xmlns:a16="http://schemas.microsoft.com/office/drawing/2014/main" id="{D8145A61-15D6-4AAC-8D39-9C675323A817}"/>
              </a:ext>
            </a:extLst>
          </p:cNvPr>
          <p:cNvSpPr>
            <a:spLocks noGrp="1"/>
          </p:cNvSpPr>
          <p:nvPr/>
        </p:nvSpPr>
        <p:spPr>
          <a:xfrm>
            <a:off x="6610350" y="1695450"/>
            <a:ext cx="514350" cy="266700"/>
          </a:xfrm>
          <a:prstGeom prst="rect">
            <a:avLst/>
          </a:prstGeom>
          <a:solidFill>
            <a:srgbClr val="2A5B84"/>
          </a:solidFill>
          <a:ln>
            <a:noFill/>
          </a:ln>
        </p:spPr>
        <p:txBody>
          <a:bodyPr wrap="square" lIns="0" tIns="0" rIns="0" bIns="0" anchor="ctr"/>
          <a:lstStyle/>
          <a:p>
            <a:pPr algn="ctr">
              <a:buNone/>
            </a:pPr>
            <a:r>
              <a:rPr sz="1300" b="1">
                <a:solidFill>
                  <a:srgbClr val="FFFFFF"/>
                </a:solidFill>
                <a:latin typeface="Arial"/>
                <a:ea typeface="Arial"/>
                <a:cs typeface="Arial"/>
              </a:rPr>
              <a:t>R2</a:t>
            </a:r>
            <a:endParaRPr sz="1300"/>
          </a:p>
        </p:txBody>
      </p:sp>
      <p:sp>
        <p:nvSpPr>
          <p:cNvPr id="11" name="Text 11">
            <a:extLst>
              <a:ext uri="{FF2B5EF4-FFF2-40B4-BE49-F238E27FC236}">
                <a16:creationId xmlns:a16="http://schemas.microsoft.com/office/drawing/2014/main" id="{384765B8-C406-447C-A4FF-250037FF7376}"/>
              </a:ext>
            </a:extLst>
          </p:cNvPr>
          <p:cNvSpPr>
            <a:spLocks noGrp="1"/>
          </p:cNvSpPr>
          <p:nvPr/>
        </p:nvSpPr>
        <p:spPr>
          <a:xfrm>
            <a:off x="7200900" y="1695450"/>
            <a:ext cx="2571750" cy="266700"/>
          </a:xfrm>
          <a:prstGeom prst="rect">
            <a:avLst/>
          </a:prstGeom>
          <a:solidFill>
            <a:srgbClr val="2A5B84"/>
          </a:solidFill>
          <a:ln>
            <a:noFill/>
          </a:ln>
        </p:spPr>
        <p:txBody>
          <a:bodyPr wrap="square" lIns="57150" tIns="57150" rIns="57150" bIns="57150" anchor="ctr"/>
          <a:lstStyle/>
          <a:p>
            <a:pPr algn="l">
              <a:buNone/>
            </a:pPr>
            <a:r>
              <a:rPr sz="1300" b="1">
                <a:solidFill>
                  <a:srgbClr val="FFFFFF"/>
                </a:solidFill>
                <a:latin typeface="Arial"/>
                <a:ea typeface="Arial"/>
                <a:cs typeface="Arial"/>
              </a:rPr>
              <a:t>PostgreSQL substitution</a:t>
            </a:r>
            <a:endParaRPr sz="1300"/>
          </a:p>
        </p:txBody>
      </p:sp>
      <p:sp>
        <p:nvSpPr>
          <p:cNvPr id="12" name="Shape 12">
            <a:extLst>
              <a:ext uri="{FF2B5EF4-FFF2-40B4-BE49-F238E27FC236}">
                <a16:creationId xmlns:a16="http://schemas.microsoft.com/office/drawing/2014/main" id="{489CA6B2-4CD6-4183-B3BF-904458B80938}"/>
              </a:ext>
            </a:extLst>
          </p:cNvPr>
          <p:cNvSpPr>
            <a:spLocks noGrp="1"/>
          </p:cNvSpPr>
          <p:nvPr/>
        </p:nvSpPr>
        <p:spPr>
          <a:xfrm>
            <a:off x="571500" y="3943350"/>
            <a:ext cx="5143500" cy="2209800"/>
          </a:xfrm>
          <a:prstGeom prst="rect">
            <a:avLst/>
          </a:prstGeom>
          <a:solidFill>
            <a:srgbClr val="FFFFFF"/>
          </a:solidFill>
          <a:ln w="12700">
            <a:solidFill>
              <a:srgbClr val="D9DEE3"/>
            </a:solidFill>
          </a:ln>
        </p:spPr>
      </p:sp>
      <p:pic>
        <p:nvPicPr>
          <p:cNvPr id="38" name="Picture 13"/>
          <p:cNvPicPr>
            <a:picLocks noChangeAspect="1"/>
          </p:cNvPicPr>
          <p:nvPr/>
        </p:nvPicPr>
        <p:blipFill>
          <a:blip r:embed="rId5"/>
          <a:stretch>
            <a:fillRect/>
          </a:stretch>
        </p:blipFill>
        <p:spPr>
          <a:xfrm>
            <a:off x="628650" y="4000500"/>
            <a:ext cx="5029200" cy="2143125"/>
          </a:xfrm>
          <a:prstGeom prst="rect">
            <a:avLst/>
          </a:prstGeom>
          <a:ln>
            <a:noFill/>
          </a:ln>
        </p:spPr>
      </p:pic>
      <p:sp>
        <p:nvSpPr>
          <p:cNvPr id="14" name="Text 14">
            <a:extLst>
              <a:ext uri="{FF2B5EF4-FFF2-40B4-BE49-F238E27FC236}">
                <a16:creationId xmlns:a16="http://schemas.microsoft.com/office/drawing/2014/main" id="{EE93DC49-5B85-4EBA-A651-F299B88464DA}"/>
              </a:ext>
            </a:extLst>
          </p:cNvPr>
          <p:cNvSpPr>
            <a:spLocks noGrp="1"/>
          </p:cNvSpPr>
          <p:nvPr/>
        </p:nvSpPr>
        <p:spPr>
          <a:xfrm>
            <a:off x="704850" y="4057650"/>
            <a:ext cx="514350" cy="266700"/>
          </a:xfrm>
          <a:prstGeom prst="rect">
            <a:avLst/>
          </a:prstGeom>
          <a:solidFill>
            <a:srgbClr val="1F7A5A"/>
          </a:solidFill>
          <a:ln>
            <a:noFill/>
          </a:ln>
        </p:spPr>
        <p:txBody>
          <a:bodyPr wrap="square" lIns="0" tIns="0" rIns="0" bIns="0" anchor="ctr"/>
          <a:lstStyle/>
          <a:p>
            <a:pPr algn="ctr">
              <a:buNone/>
            </a:pPr>
            <a:r>
              <a:rPr sz="1300" b="1">
                <a:solidFill>
                  <a:srgbClr val="FFFFFF"/>
                </a:solidFill>
                <a:latin typeface="Arial"/>
                <a:ea typeface="Arial"/>
                <a:cs typeface="Arial"/>
              </a:rPr>
              <a:t>R3</a:t>
            </a:r>
            <a:endParaRPr sz="1300"/>
          </a:p>
        </p:txBody>
      </p:sp>
      <p:sp>
        <p:nvSpPr>
          <p:cNvPr id="15" name="Text 15">
            <a:extLst>
              <a:ext uri="{FF2B5EF4-FFF2-40B4-BE49-F238E27FC236}">
                <a16:creationId xmlns:a16="http://schemas.microsoft.com/office/drawing/2014/main" id="{69921E9E-C6DF-4725-87BD-D86584F670B6}"/>
              </a:ext>
            </a:extLst>
          </p:cNvPr>
          <p:cNvSpPr>
            <a:spLocks noGrp="1"/>
          </p:cNvSpPr>
          <p:nvPr/>
        </p:nvSpPr>
        <p:spPr>
          <a:xfrm>
            <a:off x="1295400" y="4057650"/>
            <a:ext cx="2571750" cy="266700"/>
          </a:xfrm>
          <a:prstGeom prst="rect">
            <a:avLst/>
          </a:prstGeom>
          <a:solidFill>
            <a:srgbClr val="1F7A5A"/>
          </a:solidFill>
          <a:ln>
            <a:noFill/>
          </a:ln>
        </p:spPr>
        <p:txBody>
          <a:bodyPr wrap="square" lIns="57150" tIns="57150" rIns="57150" bIns="57150" anchor="ctr"/>
          <a:lstStyle/>
          <a:p>
            <a:pPr algn="l">
              <a:buNone/>
            </a:pPr>
            <a:r>
              <a:rPr sz="1300" b="1">
                <a:solidFill>
                  <a:srgbClr val="FFFFFF"/>
                </a:solidFill>
                <a:latin typeface="Arial"/>
                <a:ea typeface="Arial"/>
                <a:cs typeface="Arial"/>
              </a:rPr>
              <a:t>Analysis and history</a:t>
            </a:r>
            <a:endParaRPr sz="1300"/>
          </a:p>
        </p:txBody>
      </p:sp>
      <p:sp>
        <p:nvSpPr>
          <p:cNvPr id="16" name="Shape 16">
            <a:extLst>
              <a:ext uri="{FF2B5EF4-FFF2-40B4-BE49-F238E27FC236}">
                <a16:creationId xmlns:a16="http://schemas.microsoft.com/office/drawing/2014/main" id="{9A91F2DD-CE13-418A-8AE4-36BB4ED6FE64}"/>
              </a:ext>
            </a:extLst>
          </p:cNvPr>
          <p:cNvSpPr>
            <a:spLocks noGrp="1"/>
          </p:cNvSpPr>
          <p:nvPr/>
        </p:nvSpPr>
        <p:spPr>
          <a:xfrm>
            <a:off x="6477000" y="3943350"/>
            <a:ext cx="5143500" cy="2209800"/>
          </a:xfrm>
          <a:prstGeom prst="rect">
            <a:avLst/>
          </a:prstGeom>
          <a:solidFill>
            <a:srgbClr val="FFFFFF"/>
          </a:solidFill>
          <a:ln w="12700">
            <a:solidFill>
              <a:srgbClr val="D9DEE3"/>
            </a:solidFill>
          </a:ln>
        </p:spPr>
      </p:sp>
      <p:pic>
        <p:nvPicPr>
          <p:cNvPr id="42" name="Picture 17"/>
          <p:cNvPicPr>
            <a:picLocks noChangeAspect="1"/>
          </p:cNvPicPr>
          <p:nvPr/>
        </p:nvPicPr>
        <p:blipFill>
          <a:blip r:embed="rId6"/>
          <a:stretch>
            <a:fillRect/>
          </a:stretch>
        </p:blipFill>
        <p:spPr>
          <a:xfrm>
            <a:off x="6534150" y="4000500"/>
            <a:ext cx="5029200" cy="2143125"/>
          </a:xfrm>
          <a:prstGeom prst="rect">
            <a:avLst/>
          </a:prstGeom>
          <a:ln>
            <a:noFill/>
          </a:ln>
        </p:spPr>
      </p:pic>
      <p:sp>
        <p:nvSpPr>
          <p:cNvPr id="18" name="Text 18">
            <a:extLst>
              <a:ext uri="{FF2B5EF4-FFF2-40B4-BE49-F238E27FC236}">
                <a16:creationId xmlns:a16="http://schemas.microsoft.com/office/drawing/2014/main" id="{F87CEE8C-AA90-4607-9411-71CF47F361AF}"/>
              </a:ext>
            </a:extLst>
          </p:cNvPr>
          <p:cNvSpPr>
            <a:spLocks noGrp="1"/>
          </p:cNvSpPr>
          <p:nvPr/>
        </p:nvSpPr>
        <p:spPr>
          <a:xfrm>
            <a:off x="6610350" y="4057650"/>
            <a:ext cx="514350" cy="266700"/>
          </a:xfrm>
          <a:prstGeom prst="rect">
            <a:avLst/>
          </a:prstGeom>
          <a:solidFill>
            <a:srgbClr val="D71920"/>
          </a:solidFill>
          <a:ln>
            <a:noFill/>
          </a:ln>
        </p:spPr>
        <p:txBody>
          <a:bodyPr wrap="square" lIns="0" tIns="0" rIns="0" bIns="0" anchor="ctr"/>
          <a:lstStyle/>
          <a:p>
            <a:pPr algn="ctr">
              <a:buNone/>
            </a:pPr>
            <a:r>
              <a:rPr sz="1300" b="1">
                <a:solidFill>
                  <a:srgbClr val="FFFFFF"/>
                </a:solidFill>
                <a:latin typeface="Arial"/>
                <a:ea typeface="Arial"/>
                <a:cs typeface="Arial"/>
              </a:rPr>
              <a:t>R4</a:t>
            </a:r>
            <a:endParaRPr sz="1300"/>
          </a:p>
        </p:txBody>
      </p:sp>
      <p:sp>
        <p:nvSpPr>
          <p:cNvPr id="19" name="Text 19">
            <a:extLst>
              <a:ext uri="{FF2B5EF4-FFF2-40B4-BE49-F238E27FC236}">
                <a16:creationId xmlns:a16="http://schemas.microsoft.com/office/drawing/2014/main" id="{00DA2457-0894-4A5B-92E5-1411DD327298}"/>
              </a:ext>
            </a:extLst>
          </p:cNvPr>
          <p:cNvSpPr>
            <a:spLocks noGrp="1"/>
          </p:cNvSpPr>
          <p:nvPr/>
        </p:nvSpPr>
        <p:spPr>
          <a:xfrm>
            <a:off x="7200900" y="4057650"/>
            <a:ext cx="2571750" cy="266700"/>
          </a:xfrm>
          <a:prstGeom prst="rect">
            <a:avLst/>
          </a:prstGeom>
          <a:solidFill>
            <a:srgbClr val="D71920"/>
          </a:solidFill>
          <a:ln>
            <a:noFill/>
          </a:ln>
        </p:spPr>
        <p:txBody>
          <a:bodyPr wrap="square" lIns="57150" tIns="57150" rIns="57150" bIns="57150" anchor="ctr"/>
          <a:lstStyle/>
          <a:p>
            <a:pPr algn="l">
              <a:buNone/>
            </a:pPr>
            <a:r>
              <a:rPr sz="1300" b="1">
                <a:solidFill>
                  <a:srgbClr val="FFFFFF"/>
                </a:solidFill>
                <a:latin typeface="Arial"/>
                <a:ea typeface="Arial"/>
                <a:cs typeface="Arial"/>
              </a:rPr>
              <a:t>Auth + real retrieval</a:t>
            </a:r>
            <a:endParaRPr sz="1300"/>
          </a:p>
        </p:txBody>
      </p:sp>
      <p:sp>
        <p:nvSpPr>
          <p:cNvPr id="20" name="Connector 20">
            <a:extLst>
              <a:ext uri="{FF2B5EF4-FFF2-40B4-BE49-F238E27FC236}">
                <a16:creationId xmlns:a16="http://schemas.microsoft.com/office/drawing/2014/main" id="{2C36719A-200C-4DAC-A759-10FE16D170C1}"/>
              </a:ext>
            </a:extLst>
          </p:cNvPr>
          <p:cNvSpPr>
            <a:spLocks noGrp="1"/>
          </p:cNvSpPr>
          <p:nvPr/>
        </p:nvSpPr>
        <p:spPr>
          <a:xfrm>
            <a:off x="552450" y="6419850"/>
            <a:ext cx="11087100" cy="0"/>
          </a:xfrm>
          <a:prstGeom prst="line">
            <a:avLst/>
          </a:prstGeom>
          <a:ln w="12700">
            <a:solidFill>
              <a:srgbClr val="BFC5CB"/>
            </a:solidFill>
          </a:ln>
        </p:spPr>
      </p:sp>
      <p:sp>
        <p:nvSpPr>
          <p:cNvPr id="21" name="Text 21">
            <a:extLst>
              <a:ext uri="{FF2B5EF4-FFF2-40B4-BE49-F238E27FC236}">
                <a16:creationId xmlns:a16="http://schemas.microsoft.com/office/drawing/2014/main" id="{9AB26F16-213D-4C12-B5B5-B2FEBDEA208C}"/>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22" name="Text 22">
            <a:extLst>
              <a:ext uri="{FF2B5EF4-FFF2-40B4-BE49-F238E27FC236}">
                <a16:creationId xmlns:a16="http://schemas.microsoft.com/office/drawing/2014/main" id="{60F19EDC-96DD-4B39-9E60-45C6CEC44FD6}"/>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A</a:t>
            </a:r>
            <a:endParaRPr sz="1000"/>
          </a:p>
        </p:txBody>
      </p:sp>
    </p:spTree>
    <p:extLst>
      <p:ext uri="{BB962C8B-B14F-4D97-AF65-F5344CB8AC3E}">
        <p14:creationId xmlns:p14="http://schemas.microsoft.com/office/powerpoint/2010/main" val="1009894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510AB1CC-ABD2-43D3-B89C-507A36EDF65F}"/>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APPENDIX B · DECISION RECORD</a:t>
            </a:r>
            <a:endParaRPr sz="1100"/>
          </a:p>
        </p:txBody>
      </p:sp>
      <p:sp>
        <p:nvSpPr>
          <p:cNvPr id="3" name="Text 3">
            <a:extLst>
              <a:ext uri="{FF2B5EF4-FFF2-40B4-BE49-F238E27FC236}">
                <a16:creationId xmlns:a16="http://schemas.microsoft.com/office/drawing/2014/main" id="{2A18CAA0-7704-489E-A8E8-24CE95E9BB44}"/>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Eight ADRs concentrate the durable choices and their trade-offs</a:t>
            </a:r>
            <a:endParaRPr sz="3000"/>
          </a:p>
        </p:txBody>
      </p:sp>
      <p:sp>
        <p:nvSpPr>
          <p:cNvPr id="4" name="Text 4">
            <a:extLst>
              <a:ext uri="{FF2B5EF4-FFF2-40B4-BE49-F238E27FC236}">
                <a16:creationId xmlns:a16="http://schemas.microsoft.com/office/drawing/2014/main" id="{68B03BB0-A51F-4D2B-B09E-024AFEFD5C3D}"/>
              </a:ext>
            </a:extLst>
          </p:cNvPr>
          <p:cNvSpPr>
            <a:spLocks noGrp="1"/>
          </p:cNvSpPr>
          <p:nvPr/>
        </p:nvSpPr>
        <p:spPr>
          <a:xfrm>
            <a:off x="571500" y="156210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3"/>
              </a:rPr>
              <a:t>ADR-001</a:t>
            </a:r>
            <a:endParaRPr sz="1500"/>
          </a:p>
        </p:txBody>
      </p:sp>
      <p:sp>
        <p:nvSpPr>
          <p:cNvPr id="5" name="Text 5">
            <a:extLst>
              <a:ext uri="{FF2B5EF4-FFF2-40B4-BE49-F238E27FC236}">
                <a16:creationId xmlns:a16="http://schemas.microsoft.com/office/drawing/2014/main" id="{FBE0E59C-D250-4C72-A98C-A6F9AC10571B}"/>
              </a:ext>
            </a:extLst>
          </p:cNvPr>
          <p:cNvSpPr>
            <a:spLocks noGrp="1"/>
          </p:cNvSpPr>
          <p:nvPr/>
        </p:nvSpPr>
        <p:spPr>
          <a:xfrm>
            <a:off x="1714500" y="156210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Modular monolith and strict hexagonal boundaries</a:t>
            </a:r>
            <a:endParaRPr sz="1600"/>
          </a:p>
        </p:txBody>
      </p:sp>
      <p:sp>
        <p:nvSpPr>
          <p:cNvPr id="6" name="Connector 6">
            <a:extLst>
              <a:ext uri="{FF2B5EF4-FFF2-40B4-BE49-F238E27FC236}">
                <a16:creationId xmlns:a16="http://schemas.microsoft.com/office/drawing/2014/main" id="{6067A8EF-4507-480B-A7D9-29A8EEC29A17}"/>
              </a:ext>
            </a:extLst>
          </p:cNvPr>
          <p:cNvSpPr>
            <a:spLocks noGrp="1"/>
          </p:cNvSpPr>
          <p:nvPr/>
        </p:nvSpPr>
        <p:spPr>
          <a:xfrm>
            <a:off x="571500" y="2190750"/>
            <a:ext cx="5219700" cy="0"/>
          </a:xfrm>
          <a:prstGeom prst="line">
            <a:avLst/>
          </a:prstGeom>
          <a:ln w="12700">
            <a:solidFill>
              <a:srgbClr val="D9DEE3"/>
            </a:solidFill>
          </a:ln>
        </p:spPr>
      </p:sp>
      <p:sp>
        <p:nvSpPr>
          <p:cNvPr id="7" name="Text 7">
            <a:extLst>
              <a:ext uri="{FF2B5EF4-FFF2-40B4-BE49-F238E27FC236}">
                <a16:creationId xmlns:a16="http://schemas.microsoft.com/office/drawing/2014/main" id="{1E9FB39E-3BAF-437E-A4B4-03D87B3F68DF}"/>
              </a:ext>
            </a:extLst>
          </p:cNvPr>
          <p:cNvSpPr>
            <a:spLocks noGrp="1"/>
          </p:cNvSpPr>
          <p:nvPr/>
        </p:nvSpPr>
        <p:spPr>
          <a:xfrm>
            <a:off x="571500" y="241935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4"/>
              </a:rPr>
              <a:t>ADR-002</a:t>
            </a:r>
            <a:endParaRPr sz="1500"/>
          </a:p>
        </p:txBody>
      </p:sp>
      <p:sp>
        <p:nvSpPr>
          <p:cNvPr id="8" name="Text 8">
            <a:extLst>
              <a:ext uri="{FF2B5EF4-FFF2-40B4-BE49-F238E27FC236}">
                <a16:creationId xmlns:a16="http://schemas.microsoft.com/office/drawing/2014/main" id="{DC38BBC3-7815-4E47-AAD0-C8A2697B107C}"/>
              </a:ext>
            </a:extLst>
          </p:cNvPr>
          <p:cNvSpPr>
            <a:spLocks noGrp="1"/>
          </p:cNvSpPr>
          <p:nvPr/>
        </p:nvSpPr>
        <p:spPr>
          <a:xfrm>
            <a:off x="1714500" y="241935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Provider-neutral analysis and trust boundary</a:t>
            </a:r>
            <a:endParaRPr sz="1600"/>
          </a:p>
        </p:txBody>
      </p:sp>
      <p:sp>
        <p:nvSpPr>
          <p:cNvPr id="9" name="Connector 9">
            <a:extLst>
              <a:ext uri="{FF2B5EF4-FFF2-40B4-BE49-F238E27FC236}">
                <a16:creationId xmlns:a16="http://schemas.microsoft.com/office/drawing/2014/main" id="{32A94B1D-509A-4DDD-A169-AFF7A9028A9F}"/>
              </a:ext>
            </a:extLst>
          </p:cNvPr>
          <p:cNvSpPr>
            <a:spLocks noGrp="1"/>
          </p:cNvSpPr>
          <p:nvPr/>
        </p:nvSpPr>
        <p:spPr>
          <a:xfrm>
            <a:off x="571500" y="3048000"/>
            <a:ext cx="5219700" cy="0"/>
          </a:xfrm>
          <a:prstGeom prst="line">
            <a:avLst/>
          </a:prstGeom>
          <a:ln w="12700">
            <a:solidFill>
              <a:srgbClr val="D9DEE3"/>
            </a:solidFill>
          </a:ln>
        </p:spPr>
      </p:sp>
      <p:sp>
        <p:nvSpPr>
          <p:cNvPr id="10" name="Text 10">
            <a:extLst>
              <a:ext uri="{FF2B5EF4-FFF2-40B4-BE49-F238E27FC236}">
                <a16:creationId xmlns:a16="http://schemas.microsoft.com/office/drawing/2014/main" id="{E8F04594-BB6C-45D5-81B3-028FE1A8A862}"/>
              </a:ext>
            </a:extLst>
          </p:cNvPr>
          <p:cNvSpPr>
            <a:spLocks noGrp="1"/>
          </p:cNvSpPr>
          <p:nvPr/>
        </p:nvSpPr>
        <p:spPr>
          <a:xfrm>
            <a:off x="571500" y="327660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5"/>
              </a:rPr>
              <a:t>ADR-003</a:t>
            </a:r>
            <a:endParaRPr sz="1500"/>
          </a:p>
        </p:txBody>
      </p:sp>
      <p:sp>
        <p:nvSpPr>
          <p:cNvPr id="11" name="Text 11">
            <a:extLst>
              <a:ext uri="{FF2B5EF4-FFF2-40B4-BE49-F238E27FC236}">
                <a16:creationId xmlns:a16="http://schemas.microsoft.com/office/drawing/2014/main" id="{B71BF684-9F48-4340-93A5-8F0A44A0B019}"/>
              </a:ext>
            </a:extLst>
          </p:cNvPr>
          <p:cNvSpPr>
            <a:spLocks noGrp="1"/>
          </p:cNvSpPr>
          <p:nvPr/>
        </p:nvSpPr>
        <p:spPr>
          <a:xfrm>
            <a:off x="1714500" y="327660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PostgreSQL and pgvector as one persistent store</a:t>
            </a:r>
            <a:endParaRPr sz="1600"/>
          </a:p>
        </p:txBody>
      </p:sp>
      <p:sp>
        <p:nvSpPr>
          <p:cNvPr id="12" name="Connector 12">
            <a:extLst>
              <a:ext uri="{FF2B5EF4-FFF2-40B4-BE49-F238E27FC236}">
                <a16:creationId xmlns:a16="http://schemas.microsoft.com/office/drawing/2014/main" id="{00335C24-E63F-488B-8D72-E321E69979CB}"/>
              </a:ext>
            </a:extLst>
          </p:cNvPr>
          <p:cNvSpPr>
            <a:spLocks noGrp="1"/>
          </p:cNvSpPr>
          <p:nvPr/>
        </p:nvSpPr>
        <p:spPr>
          <a:xfrm>
            <a:off x="571500" y="3905250"/>
            <a:ext cx="5219700" cy="0"/>
          </a:xfrm>
          <a:prstGeom prst="line">
            <a:avLst/>
          </a:prstGeom>
          <a:ln w="12700">
            <a:solidFill>
              <a:srgbClr val="D9DEE3"/>
            </a:solidFill>
          </a:ln>
        </p:spPr>
      </p:sp>
      <p:sp>
        <p:nvSpPr>
          <p:cNvPr id="13" name="Text 13">
            <a:extLst>
              <a:ext uri="{FF2B5EF4-FFF2-40B4-BE49-F238E27FC236}">
                <a16:creationId xmlns:a16="http://schemas.microsoft.com/office/drawing/2014/main" id="{0CBD6C96-71C8-469A-B42C-5CF201FDBAE6}"/>
              </a:ext>
            </a:extLst>
          </p:cNvPr>
          <p:cNvSpPr>
            <a:spLocks noGrp="1"/>
          </p:cNvSpPr>
          <p:nvPr/>
        </p:nvSpPr>
        <p:spPr>
          <a:xfrm>
            <a:off x="571500" y="413385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6"/>
              </a:rPr>
              <a:t>ADR-004</a:t>
            </a:r>
            <a:endParaRPr sz="1500"/>
          </a:p>
        </p:txBody>
      </p:sp>
      <p:sp>
        <p:nvSpPr>
          <p:cNvPr id="14" name="Text 14">
            <a:extLst>
              <a:ext uri="{FF2B5EF4-FFF2-40B4-BE49-F238E27FC236}">
                <a16:creationId xmlns:a16="http://schemas.microsoft.com/office/drawing/2014/main" id="{6BFD4D36-5AD6-4700-A413-0129C3913659}"/>
              </a:ext>
            </a:extLst>
          </p:cNvPr>
          <p:cNvSpPr>
            <a:spLocks noGrp="1"/>
          </p:cNvSpPr>
          <p:nvPr/>
        </p:nvSpPr>
        <p:spPr>
          <a:xfrm>
            <a:off x="1714500" y="413385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Preferred Java, Spring and React stack</a:t>
            </a:r>
            <a:endParaRPr sz="1600"/>
          </a:p>
        </p:txBody>
      </p:sp>
      <p:sp>
        <p:nvSpPr>
          <p:cNvPr id="15" name="Connector 15">
            <a:extLst>
              <a:ext uri="{FF2B5EF4-FFF2-40B4-BE49-F238E27FC236}">
                <a16:creationId xmlns:a16="http://schemas.microsoft.com/office/drawing/2014/main" id="{29134A94-DED3-4B9A-B6B4-8644921C9DC2}"/>
              </a:ext>
            </a:extLst>
          </p:cNvPr>
          <p:cNvSpPr>
            <a:spLocks noGrp="1"/>
          </p:cNvSpPr>
          <p:nvPr/>
        </p:nvSpPr>
        <p:spPr>
          <a:xfrm>
            <a:off x="571500" y="4762500"/>
            <a:ext cx="5219700" cy="0"/>
          </a:xfrm>
          <a:prstGeom prst="line">
            <a:avLst/>
          </a:prstGeom>
          <a:ln w="12700">
            <a:solidFill>
              <a:srgbClr val="D9DEE3"/>
            </a:solidFill>
          </a:ln>
        </p:spPr>
      </p:sp>
      <p:sp>
        <p:nvSpPr>
          <p:cNvPr id="16" name="Text 16">
            <a:extLst>
              <a:ext uri="{FF2B5EF4-FFF2-40B4-BE49-F238E27FC236}">
                <a16:creationId xmlns:a16="http://schemas.microsoft.com/office/drawing/2014/main" id="{8E55CDCE-342F-4F03-BA3A-CE288BCC65B8}"/>
              </a:ext>
            </a:extLst>
          </p:cNvPr>
          <p:cNvSpPr>
            <a:spLocks noGrp="1"/>
          </p:cNvSpPr>
          <p:nvPr/>
        </p:nvSpPr>
        <p:spPr>
          <a:xfrm>
            <a:off x="6286500" y="156210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7"/>
              </a:rPr>
              <a:t>ADR-005</a:t>
            </a:r>
            <a:endParaRPr sz="1500"/>
          </a:p>
        </p:txBody>
      </p:sp>
      <p:sp>
        <p:nvSpPr>
          <p:cNvPr id="17" name="Text 17">
            <a:extLst>
              <a:ext uri="{FF2B5EF4-FFF2-40B4-BE49-F238E27FC236}">
                <a16:creationId xmlns:a16="http://schemas.microsoft.com/office/drawing/2014/main" id="{7D83928A-BDE2-45E9-91A3-8AEBF151215B}"/>
              </a:ext>
            </a:extLst>
          </p:cNvPr>
          <p:cNvSpPr>
            <a:spLocks noGrp="1"/>
          </p:cNvSpPr>
          <p:nvPr/>
        </p:nvSpPr>
        <p:spPr>
          <a:xfrm>
            <a:off x="7429500" y="156210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One prebuilt application image per checkpoint</a:t>
            </a:r>
            <a:endParaRPr sz="1600"/>
          </a:p>
        </p:txBody>
      </p:sp>
      <p:sp>
        <p:nvSpPr>
          <p:cNvPr id="18" name="Connector 18">
            <a:extLst>
              <a:ext uri="{FF2B5EF4-FFF2-40B4-BE49-F238E27FC236}">
                <a16:creationId xmlns:a16="http://schemas.microsoft.com/office/drawing/2014/main" id="{149F9810-1A6B-46B1-B42D-90952F127242}"/>
              </a:ext>
            </a:extLst>
          </p:cNvPr>
          <p:cNvSpPr>
            <a:spLocks noGrp="1"/>
          </p:cNvSpPr>
          <p:nvPr/>
        </p:nvSpPr>
        <p:spPr>
          <a:xfrm>
            <a:off x="6286500" y="2190750"/>
            <a:ext cx="5219700" cy="0"/>
          </a:xfrm>
          <a:prstGeom prst="line">
            <a:avLst/>
          </a:prstGeom>
          <a:ln w="12700">
            <a:solidFill>
              <a:srgbClr val="D9DEE3"/>
            </a:solidFill>
          </a:ln>
        </p:spPr>
      </p:sp>
      <p:sp>
        <p:nvSpPr>
          <p:cNvPr id="19" name="Text 19">
            <a:extLst>
              <a:ext uri="{FF2B5EF4-FFF2-40B4-BE49-F238E27FC236}">
                <a16:creationId xmlns:a16="http://schemas.microsoft.com/office/drawing/2014/main" id="{2B35AE9C-48B0-4B67-BB5D-500AABE428B0}"/>
              </a:ext>
            </a:extLst>
          </p:cNvPr>
          <p:cNvSpPr>
            <a:spLocks noGrp="1"/>
          </p:cNvSpPr>
          <p:nvPr/>
        </p:nvSpPr>
        <p:spPr>
          <a:xfrm>
            <a:off x="6286500" y="241935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8"/>
              </a:rPr>
              <a:t>ADR-006</a:t>
            </a:r>
            <a:endParaRPr sz="1500"/>
          </a:p>
        </p:txBody>
      </p:sp>
      <p:sp>
        <p:nvSpPr>
          <p:cNvPr id="20" name="Text 20">
            <a:extLst>
              <a:ext uri="{FF2B5EF4-FFF2-40B4-BE49-F238E27FC236}">
                <a16:creationId xmlns:a16="http://schemas.microsoft.com/office/drawing/2014/main" id="{31A152F5-A9A5-4704-B0FD-F2A099D9EAAE}"/>
              </a:ext>
            </a:extLst>
          </p:cNvPr>
          <p:cNvSpPr>
            <a:spLocks noGrp="1"/>
          </p:cNvSpPr>
          <p:nvPr/>
        </p:nvSpPr>
        <p:spPr>
          <a:xfrm>
            <a:off x="7429500" y="241935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Compose OCI and multi-platform distribution</a:t>
            </a:r>
            <a:endParaRPr sz="1600"/>
          </a:p>
        </p:txBody>
      </p:sp>
      <p:sp>
        <p:nvSpPr>
          <p:cNvPr id="21" name="Connector 21">
            <a:extLst>
              <a:ext uri="{FF2B5EF4-FFF2-40B4-BE49-F238E27FC236}">
                <a16:creationId xmlns:a16="http://schemas.microsoft.com/office/drawing/2014/main" id="{E991B899-C817-4EBC-AFEF-10B1D584B0A4}"/>
              </a:ext>
            </a:extLst>
          </p:cNvPr>
          <p:cNvSpPr>
            <a:spLocks noGrp="1"/>
          </p:cNvSpPr>
          <p:nvPr/>
        </p:nvSpPr>
        <p:spPr>
          <a:xfrm>
            <a:off x="6286500" y="3048000"/>
            <a:ext cx="5219700" cy="0"/>
          </a:xfrm>
          <a:prstGeom prst="line">
            <a:avLst/>
          </a:prstGeom>
          <a:ln w="12700">
            <a:solidFill>
              <a:srgbClr val="D9DEE3"/>
            </a:solidFill>
          </a:ln>
        </p:spPr>
      </p:sp>
      <p:sp>
        <p:nvSpPr>
          <p:cNvPr id="22" name="Text 22">
            <a:extLst>
              <a:ext uri="{FF2B5EF4-FFF2-40B4-BE49-F238E27FC236}">
                <a16:creationId xmlns:a16="http://schemas.microsoft.com/office/drawing/2014/main" id="{1A28F10E-81CB-4EE0-9E58-59D5A95FE1D3}"/>
              </a:ext>
            </a:extLst>
          </p:cNvPr>
          <p:cNvSpPr>
            <a:spLocks noGrp="1"/>
          </p:cNvSpPr>
          <p:nvPr/>
        </p:nvSpPr>
        <p:spPr>
          <a:xfrm>
            <a:off x="6286500" y="327660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9"/>
              </a:rPr>
              <a:t>ADR-007</a:t>
            </a:r>
            <a:endParaRPr sz="1500"/>
          </a:p>
        </p:txBody>
      </p:sp>
      <p:sp>
        <p:nvSpPr>
          <p:cNvPr id="23" name="Text 23">
            <a:extLst>
              <a:ext uri="{FF2B5EF4-FFF2-40B4-BE49-F238E27FC236}">
                <a16:creationId xmlns:a16="http://schemas.microsoft.com/office/drawing/2014/main" id="{2DB4DBF7-02A1-46B8-A5FF-CC69F181FC3E}"/>
              </a:ext>
            </a:extLst>
          </p:cNvPr>
          <p:cNvSpPr>
            <a:spLocks noGrp="1"/>
          </p:cNvSpPr>
          <p:nvPr/>
        </p:nvSpPr>
        <p:spPr>
          <a:xfrm>
            <a:off x="7429500" y="327660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Hibernate/JPA adapters with Flyway-owned schema</a:t>
            </a:r>
            <a:endParaRPr sz="1600"/>
          </a:p>
        </p:txBody>
      </p:sp>
      <p:sp>
        <p:nvSpPr>
          <p:cNvPr id="24" name="Connector 24">
            <a:extLst>
              <a:ext uri="{FF2B5EF4-FFF2-40B4-BE49-F238E27FC236}">
                <a16:creationId xmlns:a16="http://schemas.microsoft.com/office/drawing/2014/main" id="{4BEA614E-91C1-4B3D-B942-A24FBDCC1B74}"/>
              </a:ext>
            </a:extLst>
          </p:cNvPr>
          <p:cNvSpPr>
            <a:spLocks noGrp="1"/>
          </p:cNvSpPr>
          <p:nvPr/>
        </p:nvSpPr>
        <p:spPr>
          <a:xfrm>
            <a:off x="6286500" y="3905250"/>
            <a:ext cx="5219700" cy="0"/>
          </a:xfrm>
          <a:prstGeom prst="line">
            <a:avLst/>
          </a:prstGeom>
          <a:ln w="12700">
            <a:solidFill>
              <a:srgbClr val="D9DEE3"/>
            </a:solidFill>
          </a:ln>
        </p:spPr>
      </p:sp>
      <p:sp>
        <p:nvSpPr>
          <p:cNvPr id="25" name="Text 25">
            <a:extLst>
              <a:ext uri="{FF2B5EF4-FFF2-40B4-BE49-F238E27FC236}">
                <a16:creationId xmlns:a16="http://schemas.microsoft.com/office/drawing/2014/main" id="{6D2FE2D7-D5C0-472E-BFB5-7EB87E65CE70}"/>
              </a:ext>
            </a:extLst>
          </p:cNvPr>
          <p:cNvSpPr>
            <a:spLocks noGrp="1"/>
          </p:cNvSpPr>
          <p:nvPr/>
        </p:nvSpPr>
        <p:spPr>
          <a:xfrm>
            <a:off x="6286500" y="4133850"/>
            <a:ext cx="1066800" cy="304800"/>
          </a:xfrm>
          <a:prstGeom prst="rect">
            <a:avLst/>
          </a:prstGeom>
          <a:noFill/>
          <a:ln>
            <a:noFill/>
          </a:ln>
        </p:spPr>
        <p:txBody>
          <a:bodyPr wrap="square" lIns="0" tIns="0" rIns="0" bIns="0" anchor="t"/>
          <a:lstStyle/>
          <a:p>
            <a:pPr algn="l">
              <a:buNone/>
            </a:pPr>
            <a:r>
              <a:rPr sz="1500" b="1" u="sng">
                <a:solidFill>
                  <a:srgbClr val="D71920"/>
                </a:solidFill>
                <a:latin typeface="Arial"/>
                <a:ea typeface="Arial"/>
                <a:cs typeface="Arial"/>
                <a:hlinkClick r:id="rId10"/>
              </a:rPr>
              <a:t>ADR-008</a:t>
            </a:r>
            <a:endParaRPr sz="1500"/>
          </a:p>
        </p:txBody>
      </p:sp>
      <p:sp>
        <p:nvSpPr>
          <p:cNvPr id="26" name="Text 26">
            <a:extLst>
              <a:ext uri="{FF2B5EF4-FFF2-40B4-BE49-F238E27FC236}">
                <a16:creationId xmlns:a16="http://schemas.microsoft.com/office/drawing/2014/main" id="{3AA8CA3A-21B9-477B-ADEC-AF49EC8523AC}"/>
              </a:ext>
            </a:extLst>
          </p:cNvPr>
          <p:cNvSpPr>
            <a:spLocks noGrp="1"/>
          </p:cNvSpPr>
          <p:nvPr/>
        </p:nvSpPr>
        <p:spPr>
          <a:xfrm>
            <a:off x="7429500" y="4133850"/>
            <a:ext cx="4381500" cy="514350"/>
          </a:xfrm>
          <a:prstGeom prst="rect">
            <a:avLst/>
          </a:prstGeom>
          <a:noFill/>
          <a:ln>
            <a:noFill/>
          </a:ln>
        </p:spPr>
        <p:txBody>
          <a:bodyPr wrap="square" lIns="0" tIns="0" rIns="0" bIns="0" anchor="t"/>
          <a:lstStyle/>
          <a:p>
            <a:pPr algn="l">
              <a:buNone/>
            </a:pPr>
            <a:r>
              <a:rPr sz="1600" b="1">
                <a:solidFill>
                  <a:srgbClr val="17212B"/>
                </a:solidFill>
                <a:latin typeface="Arial"/>
                <a:ea typeface="Arial"/>
                <a:cs typeface="Arial"/>
              </a:rPr>
              <a:t>Customer Activity Analytics public identity</a:t>
            </a:r>
            <a:endParaRPr sz="1600"/>
          </a:p>
        </p:txBody>
      </p:sp>
      <p:sp>
        <p:nvSpPr>
          <p:cNvPr id="27" name="Connector 27">
            <a:extLst>
              <a:ext uri="{FF2B5EF4-FFF2-40B4-BE49-F238E27FC236}">
                <a16:creationId xmlns:a16="http://schemas.microsoft.com/office/drawing/2014/main" id="{BC6A9D20-6145-49F5-A574-512710AD10F6}"/>
              </a:ext>
            </a:extLst>
          </p:cNvPr>
          <p:cNvSpPr>
            <a:spLocks noGrp="1"/>
          </p:cNvSpPr>
          <p:nvPr/>
        </p:nvSpPr>
        <p:spPr>
          <a:xfrm>
            <a:off x="6286500" y="4762500"/>
            <a:ext cx="5219700" cy="0"/>
          </a:xfrm>
          <a:prstGeom prst="line">
            <a:avLst/>
          </a:prstGeom>
          <a:ln w="12700">
            <a:solidFill>
              <a:srgbClr val="D9DEE3"/>
            </a:solidFill>
          </a:ln>
        </p:spPr>
      </p:sp>
      <p:sp>
        <p:nvSpPr>
          <p:cNvPr id="28" name="Shape 28">
            <a:extLst>
              <a:ext uri="{FF2B5EF4-FFF2-40B4-BE49-F238E27FC236}">
                <a16:creationId xmlns:a16="http://schemas.microsoft.com/office/drawing/2014/main" id="{C72591EB-B8E4-4FAC-8C7E-E54D6C204C80}"/>
              </a:ext>
            </a:extLst>
          </p:cNvPr>
          <p:cNvSpPr>
            <a:spLocks noGrp="1"/>
          </p:cNvSpPr>
          <p:nvPr/>
        </p:nvSpPr>
        <p:spPr>
          <a:xfrm>
            <a:off x="876300" y="5219700"/>
            <a:ext cx="10439400" cy="723900"/>
          </a:xfrm>
          <a:prstGeom prst="roundRect">
            <a:avLst/>
          </a:prstGeom>
          <a:solidFill>
            <a:srgbClr val="F4F6F8"/>
          </a:solidFill>
          <a:ln w="12700">
            <a:solidFill>
              <a:srgbClr val="D9DEE3"/>
            </a:solidFill>
          </a:ln>
        </p:spPr>
      </p:sp>
      <p:sp>
        <p:nvSpPr>
          <p:cNvPr id="29" name="Text 29">
            <a:extLst>
              <a:ext uri="{FF2B5EF4-FFF2-40B4-BE49-F238E27FC236}">
                <a16:creationId xmlns:a16="http://schemas.microsoft.com/office/drawing/2014/main" id="{2C22D3A7-1FED-4F73-952C-9757DFCFADDF}"/>
              </a:ext>
            </a:extLst>
          </p:cNvPr>
          <p:cNvSpPr>
            <a:spLocks noGrp="1"/>
          </p:cNvSpPr>
          <p:nvPr/>
        </p:nvSpPr>
        <p:spPr>
          <a:xfrm>
            <a:off x="1066800" y="5353050"/>
            <a:ext cx="10058400" cy="438150"/>
          </a:xfrm>
          <a:prstGeom prst="rect">
            <a:avLst/>
          </a:prstGeom>
          <a:noFill/>
          <a:ln>
            <a:noFill/>
          </a:ln>
        </p:spPr>
        <p:txBody>
          <a:bodyPr wrap="square" lIns="0" tIns="0" rIns="0" bIns="0" anchor="ctr"/>
          <a:lstStyle/>
          <a:p>
            <a:pPr algn="ctr">
              <a:buNone/>
            </a:pPr>
            <a:r>
              <a:rPr sz="1300" b="1" u="sng">
                <a:solidFill>
                  <a:srgbClr val="2A5B84"/>
                </a:solidFill>
                <a:latin typeface="Arial"/>
                <a:ea typeface="Arial"/>
                <a:cs typeface="Arial"/>
                <a:hlinkClick r:id="rId11"/>
              </a:rPr>
              <a:t>https://github.com/jdoe-dev-159753/specgraph-reference-app/tree/main/docs/assignment/ADR</a:t>
            </a:r>
            <a:endParaRPr sz="1300"/>
          </a:p>
        </p:txBody>
      </p:sp>
      <p:sp>
        <p:nvSpPr>
          <p:cNvPr id="30" name="Connector 30">
            <a:extLst>
              <a:ext uri="{FF2B5EF4-FFF2-40B4-BE49-F238E27FC236}">
                <a16:creationId xmlns:a16="http://schemas.microsoft.com/office/drawing/2014/main" id="{747AFC43-0582-44AD-9955-0937898EF9AD}"/>
              </a:ext>
            </a:extLst>
          </p:cNvPr>
          <p:cNvSpPr>
            <a:spLocks noGrp="1"/>
          </p:cNvSpPr>
          <p:nvPr/>
        </p:nvSpPr>
        <p:spPr>
          <a:xfrm>
            <a:off x="552450" y="6419850"/>
            <a:ext cx="11087100" cy="0"/>
          </a:xfrm>
          <a:prstGeom prst="line">
            <a:avLst/>
          </a:prstGeom>
          <a:ln w="12700">
            <a:solidFill>
              <a:srgbClr val="BFC5CB"/>
            </a:solidFill>
          </a:ln>
        </p:spPr>
      </p:sp>
      <p:sp>
        <p:nvSpPr>
          <p:cNvPr id="31" name="Text 31">
            <a:extLst>
              <a:ext uri="{FF2B5EF4-FFF2-40B4-BE49-F238E27FC236}">
                <a16:creationId xmlns:a16="http://schemas.microsoft.com/office/drawing/2014/main" id="{BA416F75-E367-4014-838B-102D8F24628A}"/>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32" name="Text 32">
            <a:extLst>
              <a:ext uri="{FF2B5EF4-FFF2-40B4-BE49-F238E27FC236}">
                <a16:creationId xmlns:a16="http://schemas.microsoft.com/office/drawing/2014/main" id="{8418FFF8-93F7-40B3-8419-D034BC0D5690}"/>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B</a:t>
            </a:r>
            <a:endParaRPr sz="1000"/>
          </a:p>
        </p:txBody>
      </p:sp>
    </p:spTree>
    <p:extLst>
      <p:ext uri="{BB962C8B-B14F-4D97-AF65-F5344CB8AC3E}">
        <p14:creationId xmlns:p14="http://schemas.microsoft.com/office/powerpoint/2010/main" val="1962982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A0CDE284-01A2-45A7-9893-B3CF2CAB5BB0}"/>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APPENDIX C · BETA-BINOMIAL DETECTOR</a:t>
            </a:r>
            <a:endParaRPr sz="1100"/>
          </a:p>
        </p:txBody>
      </p:sp>
      <p:sp>
        <p:nvSpPr>
          <p:cNvPr id="3" name="Text 3">
            <a:extLst>
              <a:ext uri="{FF2B5EF4-FFF2-40B4-BE49-F238E27FC236}">
                <a16:creationId xmlns:a16="http://schemas.microsoft.com/office/drawing/2014/main" id="{56FCDF1A-C7B6-4551-97F2-6F0C7FED7A2B}"/>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Three elevated observations shift the posterior toward higher review rates</a:t>
            </a:r>
            <a:endParaRPr sz="3000"/>
          </a:p>
        </p:txBody>
      </p:sp>
      <p:sp>
        <p:nvSpPr>
          <p:cNvPr id="4" name="Text 4">
            <a:extLst>
              <a:ext uri="{FF2B5EF4-FFF2-40B4-BE49-F238E27FC236}">
                <a16:creationId xmlns:a16="http://schemas.microsoft.com/office/drawing/2014/main" id="{75C8F141-A0DF-4000-AC8F-75E5C7C192B8}"/>
              </a:ext>
            </a:extLst>
          </p:cNvPr>
          <p:cNvSpPr>
            <a:spLocks noGrp="1"/>
          </p:cNvSpPr>
          <p:nvPr/>
        </p:nvSpPr>
        <p:spPr>
          <a:xfrm>
            <a:off x="704850" y="1409700"/>
            <a:ext cx="4762500" cy="228600"/>
          </a:xfrm>
          <a:prstGeom prst="rect">
            <a:avLst/>
          </a:prstGeom>
          <a:noFill/>
          <a:ln>
            <a:noFill/>
          </a:ln>
        </p:spPr>
        <p:txBody>
          <a:bodyPr wrap="square" lIns="0" tIns="0" rIns="0" bIns="0" anchor="t"/>
          <a:lstStyle/>
          <a:p>
            <a:pPr algn="l">
              <a:buNone/>
            </a:pPr>
            <a:r>
              <a:rPr sz="1300" b="1">
                <a:solidFill>
                  <a:srgbClr val="17212B"/>
                </a:solidFill>
                <a:latin typeface="Arial"/>
                <a:ea typeface="Arial"/>
                <a:cs typeface="Arial"/>
              </a:rPr>
              <a:t>Illustrative test case: 3 elevated observations out of 4</a:t>
            </a:r>
            <a:endParaRPr sz="1300"/>
          </a:p>
        </p:txBody>
      </p:sp>
      <p:sp>
        <p:nvSpPr>
          <p:cNvPr id="5" name="Text 5">
            <a:extLst>
              <a:ext uri="{FF2B5EF4-FFF2-40B4-BE49-F238E27FC236}">
                <a16:creationId xmlns:a16="http://schemas.microsoft.com/office/drawing/2014/main" id="{62D2B5A7-A249-414A-88F6-A1820DCCEC17}"/>
              </a:ext>
            </a:extLst>
          </p:cNvPr>
          <p:cNvSpPr>
            <a:spLocks noGrp="1"/>
          </p:cNvSpPr>
          <p:nvPr/>
        </p:nvSpPr>
        <p:spPr>
          <a:xfrm>
            <a:off x="6896100" y="1409700"/>
            <a:ext cx="4591050" cy="228600"/>
          </a:xfrm>
          <a:prstGeom prst="rect">
            <a:avLst/>
          </a:prstGeom>
          <a:noFill/>
          <a:ln>
            <a:noFill/>
          </a:ln>
        </p:spPr>
        <p:txBody>
          <a:bodyPr wrap="square" lIns="0" tIns="0" rIns="0" bIns="0" anchor="t"/>
          <a:lstStyle/>
          <a:p>
            <a:pPr algn="r">
              <a:buNone/>
            </a:pPr>
            <a:r>
              <a:rPr sz="1300" b="1">
                <a:solidFill>
                  <a:srgbClr val="981B1E"/>
                </a:solidFill>
                <a:latin typeface="Arial"/>
                <a:ea typeface="Arial"/>
                <a:cs typeface="Arial"/>
              </a:rPr>
              <a:t>Beta(1, 4) updated to Beta(4, 5)</a:t>
            </a:r>
            <a:endParaRPr sz="1300"/>
          </a:p>
        </p:txBody>
      </p:sp>
      <p:sp>
        <p:nvSpPr>
          <p:cNvPr id="6" name="Connector 6">
            <a:extLst>
              <a:ext uri="{FF2B5EF4-FFF2-40B4-BE49-F238E27FC236}">
                <a16:creationId xmlns:a16="http://schemas.microsoft.com/office/drawing/2014/main" id="{91AF783A-9A80-458C-8E12-8913A7EC90D5}"/>
              </a:ext>
            </a:extLst>
          </p:cNvPr>
          <p:cNvSpPr>
            <a:spLocks noGrp="1"/>
          </p:cNvSpPr>
          <p:nvPr/>
        </p:nvSpPr>
        <p:spPr>
          <a:xfrm>
            <a:off x="1181100" y="4056743"/>
            <a:ext cx="10210800" cy="0"/>
          </a:xfrm>
          <a:prstGeom prst="line">
            <a:avLst/>
          </a:prstGeom>
          <a:ln w="12700">
            <a:solidFill>
              <a:srgbClr val="E8EBEE"/>
            </a:solidFill>
          </a:ln>
        </p:spPr>
      </p:sp>
      <p:sp>
        <p:nvSpPr>
          <p:cNvPr id="7" name="Text 7">
            <a:extLst>
              <a:ext uri="{FF2B5EF4-FFF2-40B4-BE49-F238E27FC236}">
                <a16:creationId xmlns:a16="http://schemas.microsoft.com/office/drawing/2014/main" id="{DCF5F5BF-198F-4BBC-BDBB-41E718A3AD87}"/>
              </a:ext>
            </a:extLst>
          </p:cNvPr>
          <p:cNvSpPr>
            <a:spLocks noGrp="1"/>
          </p:cNvSpPr>
          <p:nvPr/>
        </p:nvSpPr>
        <p:spPr>
          <a:xfrm>
            <a:off x="819150" y="3980543"/>
            <a:ext cx="28575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a:t>
            </a:r>
            <a:endParaRPr sz="1000"/>
          </a:p>
        </p:txBody>
      </p:sp>
      <p:sp>
        <p:nvSpPr>
          <p:cNvPr id="8" name="Connector 8">
            <a:extLst>
              <a:ext uri="{FF2B5EF4-FFF2-40B4-BE49-F238E27FC236}">
                <a16:creationId xmlns:a16="http://schemas.microsoft.com/office/drawing/2014/main" id="{1769A540-C0BC-4C0E-88E9-26AD3F3ED922}"/>
              </a:ext>
            </a:extLst>
          </p:cNvPr>
          <p:cNvSpPr>
            <a:spLocks noGrp="1"/>
          </p:cNvSpPr>
          <p:nvPr/>
        </p:nvSpPr>
        <p:spPr>
          <a:xfrm>
            <a:off x="1181100" y="3408136"/>
            <a:ext cx="10210800" cy="0"/>
          </a:xfrm>
          <a:prstGeom prst="line">
            <a:avLst/>
          </a:prstGeom>
          <a:ln w="12700">
            <a:solidFill>
              <a:srgbClr val="E8EBEE"/>
            </a:solidFill>
          </a:ln>
        </p:spPr>
      </p:sp>
      <p:sp>
        <p:nvSpPr>
          <p:cNvPr id="9" name="Text 9">
            <a:extLst>
              <a:ext uri="{FF2B5EF4-FFF2-40B4-BE49-F238E27FC236}">
                <a16:creationId xmlns:a16="http://schemas.microsoft.com/office/drawing/2014/main" id="{A07350EC-AA72-4718-B496-802987C94FCA}"/>
              </a:ext>
            </a:extLst>
          </p:cNvPr>
          <p:cNvSpPr>
            <a:spLocks noGrp="1"/>
          </p:cNvSpPr>
          <p:nvPr/>
        </p:nvSpPr>
        <p:spPr>
          <a:xfrm>
            <a:off x="819150" y="3331936"/>
            <a:ext cx="28575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2</a:t>
            </a:r>
            <a:endParaRPr sz="1000"/>
          </a:p>
        </p:txBody>
      </p:sp>
      <p:sp>
        <p:nvSpPr>
          <p:cNvPr id="10" name="Connector 10">
            <a:extLst>
              <a:ext uri="{FF2B5EF4-FFF2-40B4-BE49-F238E27FC236}">
                <a16:creationId xmlns:a16="http://schemas.microsoft.com/office/drawing/2014/main" id="{C9B0DDBD-D5C8-4CB9-A267-B6A21EBE7930}"/>
              </a:ext>
            </a:extLst>
          </p:cNvPr>
          <p:cNvSpPr>
            <a:spLocks noGrp="1"/>
          </p:cNvSpPr>
          <p:nvPr/>
        </p:nvSpPr>
        <p:spPr>
          <a:xfrm>
            <a:off x="1181100" y="2759529"/>
            <a:ext cx="10210800" cy="0"/>
          </a:xfrm>
          <a:prstGeom prst="line">
            <a:avLst/>
          </a:prstGeom>
          <a:ln w="12700">
            <a:solidFill>
              <a:srgbClr val="E8EBEE"/>
            </a:solidFill>
          </a:ln>
        </p:spPr>
      </p:sp>
      <p:sp>
        <p:nvSpPr>
          <p:cNvPr id="11" name="Text 11">
            <a:extLst>
              <a:ext uri="{FF2B5EF4-FFF2-40B4-BE49-F238E27FC236}">
                <a16:creationId xmlns:a16="http://schemas.microsoft.com/office/drawing/2014/main" id="{744AD2AC-4E51-44C6-BC2A-DA9C5116F0F0}"/>
              </a:ext>
            </a:extLst>
          </p:cNvPr>
          <p:cNvSpPr>
            <a:spLocks noGrp="1"/>
          </p:cNvSpPr>
          <p:nvPr/>
        </p:nvSpPr>
        <p:spPr>
          <a:xfrm>
            <a:off x="819150" y="2683329"/>
            <a:ext cx="28575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3</a:t>
            </a:r>
            <a:endParaRPr sz="1000"/>
          </a:p>
        </p:txBody>
      </p:sp>
      <p:sp>
        <p:nvSpPr>
          <p:cNvPr id="12" name="Connector 12">
            <a:extLst>
              <a:ext uri="{FF2B5EF4-FFF2-40B4-BE49-F238E27FC236}">
                <a16:creationId xmlns:a16="http://schemas.microsoft.com/office/drawing/2014/main" id="{DB07BE8C-5F6C-403C-9AE4-1548BB0819C8}"/>
              </a:ext>
            </a:extLst>
          </p:cNvPr>
          <p:cNvSpPr>
            <a:spLocks noGrp="1"/>
          </p:cNvSpPr>
          <p:nvPr/>
        </p:nvSpPr>
        <p:spPr>
          <a:xfrm>
            <a:off x="1181100" y="2110921"/>
            <a:ext cx="10210800" cy="0"/>
          </a:xfrm>
          <a:prstGeom prst="line">
            <a:avLst/>
          </a:prstGeom>
          <a:ln w="12700">
            <a:solidFill>
              <a:srgbClr val="E8EBEE"/>
            </a:solidFill>
          </a:ln>
        </p:spPr>
      </p:sp>
      <p:sp>
        <p:nvSpPr>
          <p:cNvPr id="13" name="Text 13">
            <a:extLst>
              <a:ext uri="{FF2B5EF4-FFF2-40B4-BE49-F238E27FC236}">
                <a16:creationId xmlns:a16="http://schemas.microsoft.com/office/drawing/2014/main" id="{EC3D118E-AB9A-4964-957F-62CFA7204991}"/>
              </a:ext>
            </a:extLst>
          </p:cNvPr>
          <p:cNvSpPr>
            <a:spLocks noGrp="1"/>
          </p:cNvSpPr>
          <p:nvPr/>
        </p:nvSpPr>
        <p:spPr>
          <a:xfrm>
            <a:off x="819150" y="2034721"/>
            <a:ext cx="28575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4</a:t>
            </a:r>
            <a:endParaRPr sz="1000"/>
          </a:p>
        </p:txBody>
      </p:sp>
      <p:sp>
        <p:nvSpPr>
          <p:cNvPr id="14" name="Connector 14">
            <a:extLst>
              <a:ext uri="{FF2B5EF4-FFF2-40B4-BE49-F238E27FC236}">
                <a16:creationId xmlns:a16="http://schemas.microsoft.com/office/drawing/2014/main" id="{E480C01A-53FA-447E-BF96-E28F9B278CDE}"/>
              </a:ext>
            </a:extLst>
          </p:cNvPr>
          <p:cNvSpPr>
            <a:spLocks noGrp="1"/>
          </p:cNvSpPr>
          <p:nvPr/>
        </p:nvSpPr>
        <p:spPr>
          <a:xfrm>
            <a:off x="5265420" y="3199004"/>
            <a:ext cx="0" cy="1506346"/>
          </a:xfrm>
          <a:prstGeom prst="line">
            <a:avLst/>
          </a:prstGeom>
          <a:ln w="88900">
            <a:solidFill>
              <a:srgbClr val="FCEBEC"/>
            </a:solidFill>
          </a:ln>
        </p:spPr>
      </p:sp>
      <p:sp>
        <p:nvSpPr>
          <p:cNvPr id="15" name="Connector 15">
            <a:extLst>
              <a:ext uri="{FF2B5EF4-FFF2-40B4-BE49-F238E27FC236}">
                <a16:creationId xmlns:a16="http://schemas.microsoft.com/office/drawing/2014/main" id="{195E6B4D-8607-425A-942C-FB6A8E7BFCAB}"/>
              </a:ext>
            </a:extLst>
          </p:cNvPr>
          <p:cNvSpPr>
            <a:spLocks noGrp="1"/>
          </p:cNvSpPr>
          <p:nvPr/>
        </p:nvSpPr>
        <p:spPr>
          <a:xfrm>
            <a:off x="5469636" y="3182702"/>
            <a:ext cx="0" cy="1522648"/>
          </a:xfrm>
          <a:prstGeom prst="line">
            <a:avLst/>
          </a:prstGeom>
          <a:ln w="88900">
            <a:solidFill>
              <a:srgbClr val="FCEBEC"/>
            </a:solidFill>
          </a:ln>
        </p:spPr>
      </p:sp>
      <p:sp>
        <p:nvSpPr>
          <p:cNvPr id="16" name="Connector 16">
            <a:extLst>
              <a:ext uri="{FF2B5EF4-FFF2-40B4-BE49-F238E27FC236}">
                <a16:creationId xmlns:a16="http://schemas.microsoft.com/office/drawing/2014/main" id="{F479B05A-8C54-4CAD-8862-06F44CBB368F}"/>
              </a:ext>
            </a:extLst>
          </p:cNvPr>
          <p:cNvSpPr>
            <a:spLocks noGrp="1"/>
          </p:cNvSpPr>
          <p:nvPr/>
        </p:nvSpPr>
        <p:spPr>
          <a:xfrm>
            <a:off x="5673852" y="3183927"/>
            <a:ext cx="0" cy="1521423"/>
          </a:xfrm>
          <a:prstGeom prst="line">
            <a:avLst/>
          </a:prstGeom>
          <a:ln w="88900">
            <a:solidFill>
              <a:srgbClr val="FCEBEC"/>
            </a:solidFill>
          </a:ln>
        </p:spPr>
      </p:sp>
      <p:sp>
        <p:nvSpPr>
          <p:cNvPr id="17" name="Connector 17">
            <a:extLst>
              <a:ext uri="{FF2B5EF4-FFF2-40B4-BE49-F238E27FC236}">
                <a16:creationId xmlns:a16="http://schemas.microsoft.com/office/drawing/2014/main" id="{4A9E04A9-E85E-4F7C-9BA2-8CBF03F40E07}"/>
              </a:ext>
            </a:extLst>
          </p:cNvPr>
          <p:cNvSpPr>
            <a:spLocks noGrp="1"/>
          </p:cNvSpPr>
          <p:nvPr/>
        </p:nvSpPr>
        <p:spPr>
          <a:xfrm>
            <a:off x="5878068" y="3202249"/>
            <a:ext cx="0" cy="1503101"/>
          </a:xfrm>
          <a:prstGeom prst="line">
            <a:avLst/>
          </a:prstGeom>
          <a:ln w="88900">
            <a:solidFill>
              <a:srgbClr val="FCEBEC"/>
            </a:solidFill>
          </a:ln>
        </p:spPr>
      </p:sp>
      <p:sp>
        <p:nvSpPr>
          <p:cNvPr id="18" name="Connector 18">
            <a:extLst>
              <a:ext uri="{FF2B5EF4-FFF2-40B4-BE49-F238E27FC236}">
                <a16:creationId xmlns:a16="http://schemas.microsoft.com/office/drawing/2014/main" id="{776D74D4-82E2-4921-95B0-0FF97EF57055}"/>
              </a:ext>
            </a:extLst>
          </p:cNvPr>
          <p:cNvSpPr>
            <a:spLocks noGrp="1"/>
          </p:cNvSpPr>
          <p:nvPr/>
        </p:nvSpPr>
        <p:spPr>
          <a:xfrm>
            <a:off x="6082284" y="3236840"/>
            <a:ext cx="0" cy="1468510"/>
          </a:xfrm>
          <a:prstGeom prst="line">
            <a:avLst/>
          </a:prstGeom>
          <a:ln w="88900">
            <a:solidFill>
              <a:srgbClr val="FCEBEC"/>
            </a:solidFill>
          </a:ln>
        </p:spPr>
      </p:sp>
      <p:sp>
        <p:nvSpPr>
          <p:cNvPr id="19" name="Connector 19">
            <a:extLst>
              <a:ext uri="{FF2B5EF4-FFF2-40B4-BE49-F238E27FC236}">
                <a16:creationId xmlns:a16="http://schemas.microsoft.com/office/drawing/2014/main" id="{35A5A77D-8E91-4F16-937A-C133B27E3495}"/>
              </a:ext>
            </a:extLst>
          </p:cNvPr>
          <p:cNvSpPr>
            <a:spLocks noGrp="1"/>
          </p:cNvSpPr>
          <p:nvPr/>
        </p:nvSpPr>
        <p:spPr>
          <a:xfrm>
            <a:off x="6286500" y="3286522"/>
            <a:ext cx="0" cy="1418828"/>
          </a:xfrm>
          <a:prstGeom prst="line">
            <a:avLst/>
          </a:prstGeom>
          <a:ln w="88900">
            <a:solidFill>
              <a:srgbClr val="FCEBEC"/>
            </a:solidFill>
          </a:ln>
        </p:spPr>
      </p:sp>
      <p:sp>
        <p:nvSpPr>
          <p:cNvPr id="20" name="Connector 20">
            <a:extLst>
              <a:ext uri="{FF2B5EF4-FFF2-40B4-BE49-F238E27FC236}">
                <a16:creationId xmlns:a16="http://schemas.microsoft.com/office/drawing/2014/main" id="{F38FC2C0-6049-4C70-823A-179C94826173}"/>
              </a:ext>
            </a:extLst>
          </p:cNvPr>
          <p:cNvSpPr>
            <a:spLocks noGrp="1"/>
          </p:cNvSpPr>
          <p:nvPr/>
        </p:nvSpPr>
        <p:spPr>
          <a:xfrm>
            <a:off x="6490716" y="3349803"/>
            <a:ext cx="0" cy="1355547"/>
          </a:xfrm>
          <a:prstGeom prst="line">
            <a:avLst/>
          </a:prstGeom>
          <a:ln w="88900">
            <a:solidFill>
              <a:srgbClr val="FCEBEC"/>
            </a:solidFill>
          </a:ln>
        </p:spPr>
      </p:sp>
      <p:sp>
        <p:nvSpPr>
          <p:cNvPr id="21" name="Connector 21">
            <a:extLst>
              <a:ext uri="{FF2B5EF4-FFF2-40B4-BE49-F238E27FC236}">
                <a16:creationId xmlns:a16="http://schemas.microsoft.com/office/drawing/2014/main" id="{C2C520A7-DFDD-49AB-9700-925963410CEB}"/>
              </a:ext>
            </a:extLst>
          </p:cNvPr>
          <p:cNvSpPr>
            <a:spLocks noGrp="1"/>
          </p:cNvSpPr>
          <p:nvPr/>
        </p:nvSpPr>
        <p:spPr>
          <a:xfrm>
            <a:off x="6694932" y="3424930"/>
            <a:ext cx="0" cy="1280420"/>
          </a:xfrm>
          <a:prstGeom prst="line">
            <a:avLst/>
          </a:prstGeom>
          <a:ln w="88900">
            <a:solidFill>
              <a:srgbClr val="FCEBEC"/>
            </a:solidFill>
          </a:ln>
        </p:spPr>
      </p:sp>
      <p:sp>
        <p:nvSpPr>
          <p:cNvPr id="22" name="Connector 22">
            <a:extLst>
              <a:ext uri="{FF2B5EF4-FFF2-40B4-BE49-F238E27FC236}">
                <a16:creationId xmlns:a16="http://schemas.microsoft.com/office/drawing/2014/main" id="{1DB5E0C6-F7F9-4C50-89A6-75E34CEAB55C}"/>
              </a:ext>
            </a:extLst>
          </p:cNvPr>
          <p:cNvSpPr>
            <a:spLocks noGrp="1"/>
          </p:cNvSpPr>
          <p:nvPr/>
        </p:nvSpPr>
        <p:spPr>
          <a:xfrm>
            <a:off x="6899148" y="3509946"/>
            <a:ext cx="0" cy="1195404"/>
          </a:xfrm>
          <a:prstGeom prst="line">
            <a:avLst/>
          </a:prstGeom>
          <a:ln w="88900">
            <a:solidFill>
              <a:srgbClr val="FCEBEC"/>
            </a:solidFill>
          </a:ln>
        </p:spPr>
      </p:sp>
      <p:sp>
        <p:nvSpPr>
          <p:cNvPr id="23" name="Connector 23">
            <a:extLst>
              <a:ext uri="{FF2B5EF4-FFF2-40B4-BE49-F238E27FC236}">
                <a16:creationId xmlns:a16="http://schemas.microsoft.com/office/drawing/2014/main" id="{17495949-58B1-438D-AD39-DE92D4014B56}"/>
              </a:ext>
            </a:extLst>
          </p:cNvPr>
          <p:cNvSpPr>
            <a:spLocks noGrp="1"/>
          </p:cNvSpPr>
          <p:nvPr/>
        </p:nvSpPr>
        <p:spPr>
          <a:xfrm>
            <a:off x="7103364" y="3602743"/>
            <a:ext cx="0" cy="1102607"/>
          </a:xfrm>
          <a:prstGeom prst="line">
            <a:avLst/>
          </a:prstGeom>
          <a:ln w="88900">
            <a:solidFill>
              <a:srgbClr val="FCEBEC"/>
            </a:solidFill>
          </a:ln>
        </p:spPr>
      </p:sp>
      <p:sp>
        <p:nvSpPr>
          <p:cNvPr id="24" name="Connector 24">
            <a:extLst>
              <a:ext uri="{FF2B5EF4-FFF2-40B4-BE49-F238E27FC236}">
                <a16:creationId xmlns:a16="http://schemas.microsoft.com/office/drawing/2014/main" id="{0FCE76E2-0322-4D4B-AA48-E9BA7AE22BEA}"/>
              </a:ext>
            </a:extLst>
          </p:cNvPr>
          <p:cNvSpPr>
            <a:spLocks noGrp="1"/>
          </p:cNvSpPr>
          <p:nvPr/>
        </p:nvSpPr>
        <p:spPr>
          <a:xfrm>
            <a:off x="7307580" y="3701119"/>
            <a:ext cx="0" cy="1004231"/>
          </a:xfrm>
          <a:prstGeom prst="line">
            <a:avLst/>
          </a:prstGeom>
          <a:ln w="88900">
            <a:solidFill>
              <a:srgbClr val="FCEBEC"/>
            </a:solidFill>
          </a:ln>
        </p:spPr>
      </p:sp>
      <p:sp>
        <p:nvSpPr>
          <p:cNvPr id="25" name="Connector 25">
            <a:extLst>
              <a:ext uri="{FF2B5EF4-FFF2-40B4-BE49-F238E27FC236}">
                <a16:creationId xmlns:a16="http://schemas.microsoft.com/office/drawing/2014/main" id="{89B7E3CA-6EAC-4165-A882-36D5642C1EF2}"/>
              </a:ext>
            </a:extLst>
          </p:cNvPr>
          <p:cNvSpPr>
            <a:spLocks noGrp="1"/>
          </p:cNvSpPr>
          <p:nvPr/>
        </p:nvSpPr>
        <p:spPr>
          <a:xfrm>
            <a:off x="7511796" y="3802846"/>
            <a:ext cx="0" cy="902504"/>
          </a:xfrm>
          <a:prstGeom prst="line">
            <a:avLst/>
          </a:prstGeom>
          <a:ln w="88900">
            <a:solidFill>
              <a:srgbClr val="FCEBEC"/>
            </a:solidFill>
          </a:ln>
        </p:spPr>
      </p:sp>
      <p:sp>
        <p:nvSpPr>
          <p:cNvPr id="26" name="Connector 26">
            <a:extLst>
              <a:ext uri="{FF2B5EF4-FFF2-40B4-BE49-F238E27FC236}">
                <a16:creationId xmlns:a16="http://schemas.microsoft.com/office/drawing/2014/main" id="{C8DD0192-1FCF-4E17-A0D0-D7C234D083AC}"/>
              </a:ext>
            </a:extLst>
          </p:cNvPr>
          <p:cNvSpPr>
            <a:spLocks noGrp="1"/>
          </p:cNvSpPr>
          <p:nvPr/>
        </p:nvSpPr>
        <p:spPr>
          <a:xfrm>
            <a:off x="7716012" y="3905719"/>
            <a:ext cx="0" cy="799631"/>
          </a:xfrm>
          <a:prstGeom prst="line">
            <a:avLst/>
          </a:prstGeom>
          <a:ln w="88900">
            <a:solidFill>
              <a:srgbClr val="FCEBEC"/>
            </a:solidFill>
          </a:ln>
        </p:spPr>
      </p:sp>
      <p:sp>
        <p:nvSpPr>
          <p:cNvPr id="27" name="Connector 27">
            <a:extLst>
              <a:ext uri="{FF2B5EF4-FFF2-40B4-BE49-F238E27FC236}">
                <a16:creationId xmlns:a16="http://schemas.microsoft.com/office/drawing/2014/main" id="{7B0EC548-602D-4917-8F28-783137FCCA11}"/>
              </a:ext>
            </a:extLst>
          </p:cNvPr>
          <p:cNvSpPr>
            <a:spLocks noGrp="1"/>
          </p:cNvSpPr>
          <p:nvPr/>
        </p:nvSpPr>
        <p:spPr>
          <a:xfrm>
            <a:off x="7920228" y="4007620"/>
            <a:ext cx="0" cy="697730"/>
          </a:xfrm>
          <a:prstGeom prst="line">
            <a:avLst/>
          </a:prstGeom>
          <a:ln w="88900">
            <a:solidFill>
              <a:srgbClr val="FCEBEC"/>
            </a:solidFill>
          </a:ln>
        </p:spPr>
      </p:sp>
      <p:sp>
        <p:nvSpPr>
          <p:cNvPr id="28" name="Connector 28">
            <a:extLst>
              <a:ext uri="{FF2B5EF4-FFF2-40B4-BE49-F238E27FC236}">
                <a16:creationId xmlns:a16="http://schemas.microsoft.com/office/drawing/2014/main" id="{BFE9F91C-2E44-43D8-9478-23D2E1DBDF59}"/>
              </a:ext>
            </a:extLst>
          </p:cNvPr>
          <p:cNvSpPr>
            <a:spLocks noGrp="1"/>
          </p:cNvSpPr>
          <p:nvPr/>
        </p:nvSpPr>
        <p:spPr>
          <a:xfrm>
            <a:off x="8124444" y="4106571"/>
            <a:ext cx="0" cy="598779"/>
          </a:xfrm>
          <a:prstGeom prst="line">
            <a:avLst/>
          </a:prstGeom>
          <a:ln w="88900">
            <a:solidFill>
              <a:srgbClr val="FCEBEC"/>
            </a:solidFill>
          </a:ln>
        </p:spPr>
      </p:sp>
      <p:sp>
        <p:nvSpPr>
          <p:cNvPr id="29" name="Connector 29">
            <a:extLst>
              <a:ext uri="{FF2B5EF4-FFF2-40B4-BE49-F238E27FC236}">
                <a16:creationId xmlns:a16="http://schemas.microsoft.com/office/drawing/2014/main" id="{A2A9EA79-D9BB-44A8-9601-7A9985D944E2}"/>
              </a:ext>
            </a:extLst>
          </p:cNvPr>
          <p:cNvSpPr>
            <a:spLocks noGrp="1"/>
          </p:cNvSpPr>
          <p:nvPr/>
        </p:nvSpPr>
        <p:spPr>
          <a:xfrm>
            <a:off x="8328660" y="4200783"/>
            <a:ext cx="0" cy="504567"/>
          </a:xfrm>
          <a:prstGeom prst="line">
            <a:avLst/>
          </a:prstGeom>
          <a:ln w="88900">
            <a:solidFill>
              <a:srgbClr val="FCEBEC"/>
            </a:solidFill>
          </a:ln>
        </p:spPr>
      </p:sp>
      <p:sp>
        <p:nvSpPr>
          <p:cNvPr id="30" name="Connector 30">
            <a:extLst>
              <a:ext uri="{FF2B5EF4-FFF2-40B4-BE49-F238E27FC236}">
                <a16:creationId xmlns:a16="http://schemas.microsoft.com/office/drawing/2014/main" id="{7C7A545C-9426-4A91-90CA-B807B79F06F6}"/>
              </a:ext>
            </a:extLst>
          </p:cNvPr>
          <p:cNvSpPr>
            <a:spLocks noGrp="1"/>
          </p:cNvSpPr>
          <p:nvPr/>
        </p:nvSpPr>
        <p:spPr>
          <a:xfrm>
            <a:off x="8532876" y="4288702"/>
            <a:ext cx="0" cy="416648"/>
          </a:xfrm>
          <a:prstGeom prst="line">
            <a:avLst/>
          </a:prstGeom>
          <a:ln w="88900">
            <a:solidFill>
              <a:srgbClr val="FCEBEC"/>
            </a:solidFill>
          </a:ln>
        </p:spPr>
      </p:sp>
      <p:sp>
        <p:nvSpPr>
          <p:cNvPr id="31" name="Connector 31">
            <a:extLst>
              <a:ext uri="{FF2B5EF4-FFF2-40B4-BE49-F238E27FC236}">
                <a16:creationId xmlns:a16="http://schemas.microsoft.com/office/drawing/2014/main" id="{2106947F-23CA-43E7-B229-955AAA5B4FD9}"/>
              </a:ext>
            </a:extLst>
          </p:cNvPr>
          <p:cNvSpPr>
            <a:spLocks noGrp="1"/>
          </p:cNvSpPr>
          <p:nvPr/>
        </p:nvSpPr>
        <p:spPr>
          <a:xfrm>
            <a:off x="8737092" y="4369049"/>
            <a:ext cx="0" cy="336301"/>
          </a:xfrm>
          <a:prstGeom prst="line">
            <a:avLst/>
          </a:prstGeom>
          <a:ln w="88900">
            <a:solidFill>
              <a:srgbClr val="FCEBEC"/>
            </a:solidFill>
          </a:ln>
        </p:spPr>
      </p:sp>
      <p:sp>
        <p:nvSpPr>
          <p:cNvPr id="32" name="Connector 32">
            <a:extLst>
              <a:ext uri="{FF2B5EF4-FFF2-40B4-BE49-F238E27FC236}">
                <a16:creationId xmlns:a16="http://schemas.microsoft.com/office/drawing/2014/main" id="{C1F3CBF4-1C26-4D34-9B95-C4C37FAEEFAA}"/>
              </a:ext>
            </a:extLst>
          </p:cNvPr>
          <p:cNvSpPr>
            <a:spLocks noGrp="1"/>
          </p:cNvSpPr>
          <p:nvPr/>
        </p:nvSpPr>
        <p:spPr>
          <a:xfrm>
            <a:off x="8941308" y="4440850"/>
            <a:ext cx="0" cy="264500"/>
          </a:xfrm>
          <a:prstGeom prst="line">
            <a:avLst/>
          </a:prstGeom>
          <a:ln w="88900">
            <a:solidFill>
              <a:srgbClr val="FCEBEC"/>
            </a:solidFill>
          </a:ln>
        </p:spPr>
      </p:sp>
      <p:sp>
        <p:nvSpPr>
          <p:cNvPr id="33" name="Connector 33">
            <a:extLst>
              <a:ext uri="{FF2B5EF4-FFF2-40B4-BE49-F238E27FC236}">
                <a16:creationId xmlns:a16="http://schemas.microsoft.com/office/drawing/2014/main" id="{E360CA7F-026F-4014-B786-914D28E6D3DA}"/>
              </a:ext>
            </a:extLst>
          </p:cNvPr>
          <p:cNvSpPr>
            <a:spLocks noGrp="1"/>
          </p:cNvSpPr>
          <p:nvPr/>
        </p:nvSpPr>
        <p:spPr>
          <a:xfrm>
            <a:off x="9145524" y="4503460"/>
            <a:ext cx="0" cy="201890"/>
          </a:xfrm>
          <a:prstGeom prst="line">
            <a:avLst/>
          </a:prstGeom>
          <a:ln w="88900">
            <a:solidFill>
              <a:srgbClr val="FCEBEC"/>
            </a:solidFill>
          </a:ln>
        </p:spPr>
      </p:sp>
      <p:sp>
        <p:nvSpPr>
          <p:cNvPr id="34" name="Connector 34">
            <a:extLst>
              <a:ext uri="{FF2B5EF4-FFF2-40B4-BE49-F238E27FC236}">
                <a16:creationId xmlns:a16="http://schemas.microsoft.com/office/drawing/2014/main" id="{39D2328A-022D-4AA5-886A-5AD15880D009}"/>
              </a:ext>
            </a:extLst>
          </p:cNvPr>
          <p:cNvSpPr>
            <a:spLocks noGrp="1"/>
          </p:cNvSpPr>
          <p:nvPr/>
        </p:nvSpPr>
        <p:spPr>
          <a:xfrm>
            <a:off x="9349740" y="4556575"/>
            <a:ext cx="0" cy="148775"/>
          </a:xfrm>
          <a:prstGeom prst="line">
            <a:avLst/>
          </a:prstGeom>
          <a:ln w="88900">
            <a:solidFill>
              <a:srgbClr val="FCEBEC"/>
            </a:solidFill>
          </a:ln>
        </p:spPr>
      </p:sp>
      <p:sp>
        <p:nvSpPr>
          <p:cNvPr id="35" name="Connector 35">
            <a:extLst>
              <a:ext uri="{FF2B5EF4-FFF2-40B4-BE49-F238E27FC236}">
                <a16:creationId xmlns:a16="http://schemas.microsoft.com/office/drawing/2014/main" id="{7657A708-733C-44AE-B74F-1235A75BFFCE}"/>
              </a:ext>
            </a:extLst>
          </p:cNvPr>
          <p:cNvSpPr>
            <a:spLocks noGrp="1"/>
          </p:cNvSpPr>
          <p:nvPr/>
        </p:nvSpPr>
        <p:spPr>
          <a:xfrm>
            <a:off x="9553956" y="4600233"/>
            <a:ext cx="0" cy="105117"/>
          </a:xfrm>
          <a:prstGeom prst="line">
            <a:avLst/>
          </a:prstGeom>
          <a:ln w="88900">
            <a:solidFill>
              <a:srgbClr val="FCEBEC"/>
            </a:solidFill>
          </a:ln>
        </p:spPr>
      </p:sp>
      <p:sp>
        <p:nvSpPr>
          <p:cNvPr id="36" name="Connector 36">
            <a:extLst>
              <a:ext uri="{FF2B5EF4-FFF2-40B4-BE49-F238E27FC236}">
                <a16:creationId xmlns:a16="http://schemas.microsoft.com/office/drawing/2014/main" id="{61C1CFC8-D518-495F-89CC-4F8634189255}"/>
              </a:ext>
            </a:extLst>
          </p:cNvPr>
          <p:cNvSpPr>
            <a:spLocks noGrp="1"/>
          </p:cNvSpPr>
          <p:nvPr/>
        </p:nvSpPr>
        <p:spPr>
          <a:xfrm>
            <a:off x="9758172" y="4634806"/>
            <a:ext cx="0" cy="70544"/>
          </a:xfrm>
          <a:prstGeom prst="line">
            <a:avLst/>
          </a:prstGeom>
          <a:ln w="88900">
            <a:solidFill>
              <a:srgbClr val="FCEBEC"/>
            </a:solidFill>
          </a:ln>
        </p:spPr>
      </p:sp>
      <p:sp>
        <p:nvSpPr>
          <p:cNvPr id="37" name="Connector 37">
            <a:extLst>
              <a:ext uri="{FF2B5EF4-FFF2-40B4-BE49-F238E27FC236}">
                <a16:creationId xmlns:a16="http://schemas.microsoft.com/office/drawing/2014/main" id="{4C1BAEE5-E130-49A2-8186-D1827EDC94CC}"/>
              </a:ext>
            </a:extLst>
          </p:cNvPr>
          <p:cNvSpPr>
            <a:spLocks noGrp="1"/>
          </p:cNvSpPr>
          <p:nvPr/>
        </p:nvSpPr>
        <p:spPr>
          <a:xfrm>
            <a:off x="9962388" y="4660974"/>
            <a:ext cx="0" cy="44376"/>
          </a:xfrm>
          <a:prstGeom prst="line">
            <a:avLst/>
          </a:prstGeom>
          <a:ln w="88900">
            <a:solidFill>
              <a:srgbClr val="FCEBEC"/>
            </a:solidFill>
          </a:ln>
        </p:spPr>
      </p:sp>
      <p:sp>
        <p:nvSpPr>
          <p:cNvPr id="38" name="Connector 38">
            <a:extLst>
              <a:ext uri="{FF2B5EF4-FFF2-40B4-BE49-F238E27FC236}">
                <a16:creationId xmlns:a16="http://schemas.microsoft.com/office/drawing/2014/main" id="{3245C15C-AD3A-480A-9CF4-6B2EF3CCA7D7}"/>
              </a:ext>
            </a:extLst>
          </p:cNvPr>
          <p:cNvSpPr>
            <a:spLocks noGrp="1"/>
          </p:cNvSpPr>
          <p:nvPr/>
        </p:nvSpPr>
        <p:spPr>
          <a:xfrm>
            <a:off x="10166604" y="4679687"/>
            <a:ext cx="0" cy="25663"/>
          </a:xfrm>
          <a:prstGeom prst="line">
            <a:avLst/>
          </a:prstGeom>
          <a:ln w="88900">
            <a:solidFill>
              <a:srgbClr val="FCEBEC"/>
            </a:solidFill>
          </a:ln>
        </p:spPr>
      </p:sp>
      <p:sp>
        <p:nvSpPr>
          <p:cNvPr id="39" name="Connector 39">
            <a:extLst>
              <a:ext uri="{FF2B5EF4-FFF2-40B4-BE49-F238E27FC236}">
                <a16:creationId xmlns:a16="http://schemas.microsoft.com/office/drawing/2014/main" id="{A8A95C51-36E4-4E60-A85F-EFF7678C4970}"/>
              </a:ext>
            </a:extLst>
          </p:cNvPr>
          <p:cNvSpPr>
            <a:spLocks noGrp="1"/>
          </p:cNvSpPr>
          <p:nvPr/>
        </p:nvSpPr>
        <p:spPr>
          <a:xfrm>
            <a:off x="10370820" y="4692111"/>
            <a:ext cx="0" cy="13239"/>
          </a:xfrm>
          <a:prstGeom prst="line">
            <a:avLst/>
          </a:prstGeom>
          <a:ln w="88900">
            <a:solidFill>
              <a:srgbClr val="FCEBEC"/>
            </a:solidFill>
          </a:ln>
        </p:spPr>
      </p:sp>
      <p:sp>
        <p:nvSpPr>
          <p:cNvPr id="40" name="Connector 40">
            <a:extLst>
              <a:ext uri="{FF2B5EF4-FFF2-40B4-BE49-F238E27FC236}">
                <a16:creationId xmlns:a16="http://schemas.microsoft.com/office/drawing/2014/main" id="{F0BA3474-AD02-4B8A-AD67-FFBBF72551A7}"/>
              </a:ext>
            </a:extLst>
          </p:cNvPr>
          <p:cNvSpPr>
            <a:spLocks noGrp="1"/>
          </p:cNvSpPr>
          <p:nvPr/>
        </p:nvSpPr>
        <p:spPr>
          <a:xfrm>
            <a:off x="10575036" y="4699558"/>
            <a:ext cx="0" cy="5792"/>
          </a:xfrm>
          <a:prstGeom prst="line">
            <a:avLst/>
          </a:prstGeom>
          <a:ln w="88900">
            <a:solidFill>
              <a:srgbClr val="FCEBEC"/>
            </a:solidFill>
          </a:ln>
        </p:spPr>
      </p:sp>
      <p:sp>
        <p:nvSpPr>
          <p:cNvPr id="41" name="Connector 41">
            <a:extLst>
              <a:ext uri="{FF2B5EF4-FFF2-40B4-BE49-F238E27FC236}">
                <a16:creationId xmlns:a16="http://schemas.microsoft.com/office/drawing/2014/main" id="{A10CC925-95FE-4B9E-93FB-1F10EC66E696}"/>
              </a:ext>
            </a:extLst>
          </p:cNvPr>
          <p:cNvSpPr>
            <a:spLocks noGrp="1"/>
          </p:cNvSpPr>
          <p:nvPr/>
        </p:nvSpPr>
        <p:spPr>
          <a:xfrm>
            <a:off x="10779252" y="4703395"/>
            <a:ext cx="0" cy="1955"/>
          </a:xfrm>
          <a:prstGeom prst="line">
            <a:avLst/>
          </a:prstGeom>
          <a:ln w="88900">
            <a:solidFill>
              <a:srgbClr val="FCEBEC"/>
            </a:solidFill>
          </a:ln>
        </p:spPr>
      </p:sp>
      <p:sp>
        <p:nvSpPr>
          <p:cNvPr id="42" name="Connector 42">
            <a:extLst>
              <a:ext uri="{FF2B5EF4-FFF2-40B4-BE49-F238E27FC236}">
                <a16:creationId xmlns:a16="http://schemas.microsoft.com/office/drawing/2014/main" id="{D06A32E5-316A-47F3-82F5-72763A5BEFD5}"/>
              </a:ext>
            </a:extLst>
          </p:cNvPr>
          <p:cNvSpPr>
            <a:spLocks noGrp="1"/>
          </p:cNvSpPr>
          <p:nvPr/>
        </p:nvSpPr>
        <p:spPr>
          <a:xfrm>
            <a:off x="10983468" y="4704939"/>
            <a:ext cx="0" cy="411"/>
          </a:xfrm>
          <a:prstGeom prst="line">
            <a:avLst/>
          </a:prstGeom>
          <a:ln w="88900">
            <a:solidFill>
              <a:srgbClr val="FCEBEC"/>
            </a:solidFill>
          </a:ln>
        </p:spPr>
      </p:sp>
      <p:sp>
        <p:nvSpPr>
          <p:cNvPr id="43" name="Connector 43">
            <a:extLst>
              <a:ext uri="{FF2B5EF4-FFF2-40B4-BE49-F238E27FC236}">
                <a16:creationId xmlns:a16="http://schemas.microsoft.com/office/drawing/2014/main" id="{B1EC8451-9443-4EAF-8B06-007041BD5656}"/>
              </a:ext>
            </a:extLst>
          </p:cNvPr>
          <p:cNvSpPr>
            <a:spLocks noGrp="1"/>
          </p:cNvSpPr>
          <p:nvPr/>
        </p:nvSpPr>
        <p:spPr>
          <a:xfrm>
            <a:off x="11187684" y="4705323"/>
            <a:ext cx="0" cy="27"/>
          </a:xfrm>
          <a:prstGeom prst="line">
            <a:avLst/>
          </a:prstGeom>
          <a:ln w="88900">
            <a:solidFill>
              <a:srgbClr val="FCEBEC"/>
            </a:solidFill>
          </a:ln>
        </p:spPr>
      </p:sp>
      <p:sp>
        <p:nvSpPr>
          <p:cNvPr id="44" name="Connector 44">
            <a:extLst>
              <a:ext uri="{FF2B5EF4-FFF2-40B4-BE49-F238E27FC236}">
                <a16:creationId xmlns:a16="http://schemas.microsoft.com/office/drawing/2014/main" id="{E00F47B4-D043-4BEC-A30F-FF98CCA0FFF5}"/>
              </a:ext>
            </a:extLst>
          </p:cNvPr>
          <p:cNvSpPr>
            <a:spLocks noGrp="1"/>
          </p:cNvSpPr>
          <p:nvPr/>
        </p:nvSpPr>
        <p:spPr>
          <a:xfrm>
            <a:off x="11391900" y="4705350"/>
            <a:ext cx="0" cy="0"/>
          </a:xfrm>
          <a:prstGeom prst="line">
            <a:avLst/>
          </a:prstGeom>
          <a:ln w="88900">
            <a:solidFill>
              <a:srgbClr val="FCEBEC"/>
            </a:solidFill>
          </a:ln>
        </p:spPr>
      </p:sp>
      <p:sp>
        <p:nvSpPr>
          <p:cNvPr id="45" name="Connector 45">
            <a:extLst>
              <a:ext uri="{FF2B5EF4-FFF2-40B4-BE49-F238E27FC236}">
                <a16:creationId xmlns:a16="http://schemas.microsoft.com/office/drawing/2014/main" id="{2CF2FA4B-6F85-47AC-A3BF-1553C2522450}"/>
              </a:ext>
            </a:extLst>
          </p:cNvPr>
          <p:cNvSpPr>
            <a:spLocks noGrp="1"/>
          </p:cNvSpPr>
          <p:nvPr/>
        </p:nvSpPr>
        <p:spPr>
          <a:xfrm>
            <a:off x="1181100" y="1981200"/>
            <a:ext cx="0" cy="2724150"/>
          </a:xfrm>
          <a:prstGeom prst="line">
            <a:avLst/>
          </a:prstGeom>
          <a:ln w="19050">
            <a:solidFill>
              <a:srgbClr val="384754"/>
            </a:solidFill>
          </a:ln>
        </p:spPr>
      </p:sp>
      <p:sp>
        <p:nvSpPr>
          <p:cNvPr id="46" name="Connector 46">
            <a:extLst>
              <a:ext uri="{FF2B5EF4-FFF2-40B4-BE49-F238E27FC236}">
                <a16:creationId xmlns:a16="http://schemas.microsoft.com/office/drawing/2014/main" id="{E615403B-7FB4-4EFF-8666-F3C04979DDB9}"/>
              </a:ext>
            </a:extLst>
          </p:cNvPr>
          <p:cNvSpPr>
            <a:spLocks noGrp="1"/>
          </p:cNvSpPr>
          <p:nvPr/>
        </p:nvSpPr>
        <p:spPr>
          <a:xfrm>
            <a:off x="1181100" y="4705350"/>
            <a:ext cx="10210800" cy="0"/>
          </a:xfrm>
          <a:prstGeom prst="line">
            <a:avLst/>
          </a:prstGeom>
          <a:ln w="19050">
            <a:solidFill>
              <a:srgbClr val="384754"/>
            </a:solidFill>
          </a:ln>
        </p:spPr>
      </p:sp>
      <p:sp>
        <p:nvSpPr>
          <p:cNvPr id="47" name="Connector 47">
            <a:extLst>
              <a:ext uri="{FF2B5EF4-FFF2-40B4-BE49-F238E27FC236}">
                <a16:creationId xmlns:a16="http://schemas.microsoft.com/office/drawing/2014/main" id="{1323A839-1AFA-4290-8A53-017627D500FE}"/>
              </a:ext>
            </a:extLst>
          </p:cNvPr>
          <p:cNvSpPr>
            <a:spLocks noGrp="1"/>
          </p:cNvSpPr>
          <p:nvPr/>
        </p:nvSpPr>
        <p:spPr>
          <a:xfrm>
            <a:off x="1181100" y="4705350"/>
            <a:ext cx="0" cy="66675"/>
          </a:xfrm>
          <a:prstGeom prst="line">
            <a:avLst/>
          </a:prstGeom>
          <a:ln w="12700">
            <a:solidFill>
              <a:srgbClr val="384754"/>
            </a:solidFill>
          </a:ln>
        </p:spPr>
      </p:sp>
      <p:sp>
        <p:nvSpPr>
          <p:cNvPr id="48" name="Text 48">
            <a:extLst>
              <a:ext uri="{FF2B5EF4-FFF2-40B4-BE49-F238E27FC236}">
                <a16:creationId xmlns:a16="http://schemas.microsoft.com/office/drawing/2014/main" id="{759F98B3-4212-4BAE-B394-ACCE21027BFB}"/>
              </a:ext>
            </a:extLst>
          </p:cNvPr>
          <p:cNvSpPr>
            <a:spLocks noGrp="1"/>
          </p:cNvSpPr>
          <p:nvPr/>
        </p:nvSpPr>
        <p:spPr>
          <a:xfrm>
            <a:off x="952500" y="4800600"/>
            <a:ext cx="457200" cy="17145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0.0</a:t>
            </a:r>
            <a:endParaRPr sz="1000"/>
          </a:p>
        </p:txBody>
      </p:sp>
      <p:sp>
        <p:nvSpPr>
          <p:cNvPr id="49" name="Connector 49">
            <a:extLst>
              <a:ext uri="{FF2B5EF4-FFF2-40B4-BE49-F238E27FC236}">
                <a16:creationId xmlns:a16="http://schemas.microsoft.com/office/drawing/2014/main" id="{E3C081E7-6CCA-417F-97BB-AB8F94E04227}"/>
              </a:ext>
            </a:extLst>
          </p:cNvPr>
          <p:cNvSpPr>
            <a:spLocks noGrp="1"/>
          </p:cNvSpPr>
          <p:nvPr/>
        </p:nvSpPr>
        <p:spPr>
          <a:xfrm>
            <a:off x="3223260" y="4705350"/>
            <a:ext cx="0" cy="66675"/>
          </a:xfrm>
          <a:prstGeom prst="line">
            <a:avLst/>
          </a:prstGeom>
          <a:ln w="12700">
            <a:solidFill>
              <a:srgbClr val="384754"/>
            </a:solidFill>
          </a:ln>
        </p:spPr>
      </p:sp>
      <p:sp>
        <p:nvSpPr>
          <p:cNvPr id="50" name="Text 50">
            <a:extLst>
              <a:ext uri="{FF2B5EF4-FFF2-40B4-BE49-F238E27FC236}">
                <a16:creationId xmlns:a16="http://schemas.microsoft.com/office/drawing/2014/main" id="{9592BA09-82CB-4124-9376-5404B0F8EBFA}"/>
              </a:ext>
            </a:extLst>
          </p:cNvPr>
          <p:cNvSpPr>
            <a:spLocks noGrp="1"/>
          </p:cNvSpPr>
          <p:nvPr/>
        </p:nvSpPr>
        <p:spPr>
          <a:xfrm>
            <a:off x="2994660" y="4800600"/>
            <a:ext cx="457200" cy="17145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0.2</a:t>
            </a:r>
            <a:endParaRPr sz="1000"/>
          </a:p>
        </p:txBody>
      </p:sp>
      <p:sp>
        <p:nvSpPr>
          <p:cNvPr id="51" name="Connector 51">
            <a:extLst>
              <a:ext uri="{FF2B5EF4-FFF2-40B4-BE49-F238E27FC236}">
                <a16:creationId xmlns:a16="http://schemas.microsoft.com/office/drawing/2014/main" id="{5125AF76-4637-45E6-B7DA-E215556A6A0F}"/>
              </a:ext>
            </a:extLst>
          </p:cNvPr>
          <p:cNvSpPr>
            <a:spLocks noGrp="1"/>
          </p:cNvSpPr>
          <p:nvPr/>
        </p:nvSpPr>
        <p:spPr>
          <a:xfrm>
            <a:off x="5265420" y="4705350"/>
            <a:ext cx="0" cy="66675"/>
          </a:xfrm>
          <a:prstGeom prst="line">
            <a:avLst/>
          </a:prstGeom>
          <a:ln w="12700">
            <a:solidFill>
              <a:srgbClr val="384754"/>
            </a:solidFill>
          </a:ln>
        </p:spPr>
      </p:sp>
      <p:sp>
        <p:nvSpPr>
          <p:cNvPr id="52" name="Text 52">
            <a:extLst>
              <a:ext uri="{FF2B5EF4-FFF2-40B4-BE49-F238E27FC236}">
                <a16:creationId xmlns:a16="http://schemas.microsoft.com/office/drawing/2014/main" id="{BCFFCC6C-28AA-4896-BA60-9DBF0C674CE5}"/>
              </a:ext>
            </a:extLst>
          </p:cNvPr>
          <p:cNvSpPr>
            <a:spLocks noGrp="1"/>
          </p:cNvSpPr>
          <p:nvPr/>
        </p:nvSpPr>
        <p:spPr>
          <a:xfrm>
            <a:off x="5036820" y="4800600"/>
            <a:ext cx="457200" cy="17145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0.4</a:t>
            </a:r>
            <a:endParaRPr sz="1000"/>
          </a:p>
        </p:txBody>
      </p:sp>
      <p:sp>
        <p:nvSpPr>
          <p:cNvPr id="53" name="Connector 53">
            <a:extLst>
              <a:ext uri="{FF2B5EF4-FFF2-40B4-BE49-F238E27FC236}">
                <a16:creationId xmlns:a16="http://schemas.microsoft.com/office/drawing/2014/main" id="{CF54F134-FC20-4450-A886-AC13575718DE}"/>
              </a:ext>
            </a:extLst>
          </p:cNvPr>
          <p:cNvSpPr>
            <a:spLocks noGrp="1"/>
          </p:cNvSpPr>
          <p:nvPr/>
        </p:nvSpPr>
        <p:spPr>
          <a:xfrm>
            <a:off x="7307580" y="4705350"/>
            <a:ext cx="0" cy="66675"/>
          </a:xfrm>
          <a:prstGeom prst="line">
            <a:avLst/>
          </a:prstGeom>
          <a:ln w="12700">
            <a:solidFill>
              <a:srgbClr val="384754"/>
            </a:solidFill>
          </a:ln>
        </p:spPr>
      </p:sp>
      <p:sp>
        <p:nvSpPr>
          <p:cNvPr id="54" name="Text 54">
            <a:extLst>
              <a:ext uri="{FF2B5EF4-FFF2-40B4-BE49-F238E27FC236}">
                <a16:creationId xmlns:a16="http://schemas.microsoft.com/office/drawing/2014/main" id="{C668B6C0-3B05-4EDA-8EA2-53A948AE054A}"/>
              </a:ext>
            </a:extLst>
          </p:cNvPr>
          <p:cNvSpPr>
            <a:spLocks noGrp="1"/>
          </p:cNvSpPr>
          <p:nvPr/>
        </p:nvSpPr>
        <p:spPr>
          <a:xfrm>
            <a:off x="7078980" y="4800600"/>
            <a:ext cx="457200" cy="17145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0.6</a:t>
            </a:r>
            <a:endParaRPr sz="1000"/>
          </a:p>
        </p:txBody>
      </p:sp>
      <p:sp>
        <p:nvSpPr>
          <p:cNvPr id="55" name="Connector 55">
            <a:extLst>
              <a:ext uri="{FF2B5EF4-FFF2-40B4-BE49-F238E27FC236}">
                <a16:creationId xmlns:a16="http://schemas.microsoft.com/office/drawing/2014/main" id="{71B29FA2-141D-400C-B852-C11B7720B6D1}"/>
              </a:ext>
            </a:extLst>
          </p:cNvPr>
          <p:cNvSpPr>
            <a:spLocks noGrp="1"/>
          </p:cNvSpPr>
          <p:nvPr/>
        </p:nvSpPr>
        <p:spPr>
          <a:xfrm>
            <a:off x="9349740" y="4705350"/>
            <a:ext cx="0" cy="66675"/>
          </a:xfrm>
          <a:prstGeom prst="line">
            <a:avLst/>
          </a:prstGeom>
          <a:ln w="12700">
            <a:solidFill>
              <a:srgbClr val="384754"/>
            </a:solidFill>
          </a:ln>
        </p:spPr>
      </p:sp>
      <p:sp>
        <p:nvSpPr>
          <p:cNvPr id="56" name="Text 56">
            <a:extLst>
              <a:ext uri="{FF2B5EF4-FFF2-40B4-BE49-F238E27FC236}">
                <a16:creationId xmlns:a16="http://schemas.microsoft.com/office/drawing/2014/main" id="{6E2DAE03-DF40-473A-9F00-D00B62FB3349}"/>
              </a:ext>
            </a:extLst>
          </p:cNvPr>
          <p:cNvSpPr>
            <a:spLocks noGrp="1"/>
          </p:cNvSpPr>
          <p:nvPr/>
        </p:nvSpPr>
        <p:spPr>
          <a:xfrm>
            <a:off x="9121140" y="4800600"/>
            <a:ext cx="457200" cy="17145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0.8</a:t>
            </a:r>
            <a:endParaRPr sz="1000"/>
          </a:p>
        </p:txBody>
      </p:sp>
      <p:sp>
        <p:nvSpPr>
          <p:cNvPr id="57" name="Connector 57">
            <a:extLst>
              <a:ext uri="{FF2B5EF4-FFF2-40B4-BE49-F238E27FC236}">
                <a16:creationId xmlns:a16="http://schemas.microsoft.com/office/drawing/2014/main" id="{C8BEBA4D-7029-4603-8B53-FAD1EEB21D28}"/>
              </a:ext>
            </a:extLst>
          </p:cNvPr>
          <p:cNvSpPr>
            <a:spLocks noGrp="1"/>
          </p:cNvSpPr>
          <p:nvPr/>
        </p:nvSpPr>
        <p:spPr>
          <a:xfrm>
            <a:off x="11391900" y="4705350"/>
            <a:ext cx="0" cy="66675"/>
          </a:xfrm>
          <a:prstGeom prst="line">
            <a:avLst/>
          </a:prstGeom>
          <a:ln w="12700">
            <a:solidFill>
              <a:srgbClr val="384754"/>
            </a:solidFill>
          </a:ln>
        </p:spPr>
      </p:sp>
      <p:sp>
        <p:nvSpPr>
          <p:cNvPr id="58" name="Text 58">
            <a:extLst>
              <a:ext uri="{FF2B5EF4-FFF2-40B4-BE49-F238E27FC236}">
                <a16:creationId xmlns:a16="http://schemas.microsoft.com/office/drawing/2014/main" id="{A2F71450-D649-4DEA-9FB9-0B7ABD3BB209}"/>
              </a:ext>
            </a:extLst>
          </p:cNvPr>
          <p:cNvSpPr>
            <a:spLocks noGrp="1"/>
          </p:cNvSpPr>
          <p:nvPr/>
        </p:nvSpPr>
        <p:spPr>
          <a:xfrm>
            <a:off x="11163300" y="4800600"/>
            <a:ext cx="457200" cy="17145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1.0</a:t>
            </a:r>
            <a:endParaRPr sz="1000"/>
          </a:p>
        </p:txBody>
      </p:sp>
      <p:sp>
        <p:nvSpPr>
          <p:cNvPr id="59" name="Connector 59">
            <a:extLst>
              <a:ext uri="{FF2B5EF4-FFF2-40B4-BE49-F238E27FC236}">
                <a16:creationId xmlns:a16="http://schemas.microsoft.com/office/drawing/2014/main" id="{6466A87C-6C94-4ADB-B7AD-B270EBD397C2}"/>
              </a:ext>
            </a:extLst>
          </p:cNvPr>
          <p:cNvSpPr>
            <a:spLocks noGrp="1"/>
          </p:cNvSpPr>
          <p:nvPr/>
        </p:nvSpPr>
        <p:spPr>
          <a:xfrm>
            <a:off x="1181100" y="2110921"/>
            <a:ext cx="127635" cy="96080"/>
          </a:xfrm>
          <a:prstGeom prst="line">
            <a:avLst/>
          </a:prstGeom>
          <a:ln w="38100">
            <a:solidFill>
              <a:srgbClr val="2A5B84"/>
            </a:solidFill>
          </a:ln>
        </p:spPr>
      </p:sp>
      <p:sp>
        <p:nvSpPr>
          <p:cNvPr id="60" name="Connector 60">
            <a:extLst>
              <a:ext uri="{FF2B5EF4-FFF2-40B4-BE49-F238E27FC236}">
                <a16:creationId xmlns:a16="http://schemas.microsoft.com/office/drawing/2014/main" id="{5BCE93AA-D48F-485C-9F0A-6EEB2E0F39DD}"/>
              </a:ext>
            </a:extLst>
          </p:cNvPr>
          <p:cNvSpPr>
            <a:spLocks noGrp="1"/>
          </p:cNvSpPr>
          <p:nvPr/>
        </p:nvSpPr>
        <p:spPr>
          <a:xfrm>
            <a:off x="1308735" y="2207001"/>
            <a:ext cx="127635" cy="93678"/>
          </a:xfrm>
          <a:prstGeom prst="line">
            <a:avLst/>
          </a:prstGeom>
          <a:ln w="38100">
            <a:solidFill>
              <a:srgbClr val="2A5B84"/>
            </a:solidFill>
          </a:ln>
        </p:spPr>
      </p:sp>
      <p:sp>
        <p:nvSpPr>
          <p:cNvPr id="61" name="Connector 61">
            <a:extLst>
              <a:ext uri="{FF2B5EF4-FFF2-40B4-BE49-F238E27FC236}">
                <a16:creationId xmlns:a16="http://schemas.microsoft.com/office/drawing/2014/main" id="{D140FDDA-13BC-4E9C-B28B-C1125199D9BE}"/>
              </a:ext>
            </a:extLst>
          </p:cNvPr>
          <p:cNvSpPr>
            <a:spLocks noGrp="1"/>
          </p:cNvSpPr>
          <p:nvPr/>
        </p:nvSpPr>
        <p:spPr>
          <a:xfrm>
            <a:off x="1436370" y="2300680"/>
            <a:ext cx="127635" cy="91307"/>
          </a:xfrm>
          <a:prstGeom prst="line">
            <a:avLst/>
          </a:prstGeom>
          <a:ln w="38100">
            <a:solidFill>
              <a:srgbClr val="2A5B84"/>
            </a:solidFill>
          </a:ln>
        </p:spPr>
      </p:sp>
      <p:sp>
        <p:nvSpPr>
          <p:cNvPr id="62" name="Connector 62">
            <a:extLst>
              <a:ext uri="{FF2B5EF4-FFF2-40B4-BE49-F238E27FC236}">
                <a16:creationId xmlns:a16="http://schemas.microsoft.com/office/drawing/2014/main" id="{E72BB39B-882A-4E4E-910A-C75C6C43395D}"/>
              </a:ext>
            </a:extLst>
          </p:cNvPr>
          <p:cNvSpPr>
            <a:spLocks noGrp="1"/>
          </p:cNvSpPr>
          <p:nvPr/>
        </p:nvSpPr>
        <p:spPr>
          <a:xfrm>
            <a:off x="1564005" y="2391986"/>
            <a:ext cx="127635" cy="88966"/>
          </a:xfrm>
          <a:prstGeom prst="line">
            <a:avLst/>
          </a:prstGeom>
          <a:ln w="38100">
            <a:solidFill>
              <a:srgbClr val="2A5B84"/>
            </a:solidFill>
          </a:ln>
        </p:spPr>
      </p:sp>
      <p:sp>
        <p:nvSpPr>
          <p:cNvPr id="63" name="Connector 63">
            <a:extLst>
              <a:ext uri="{FF2B5EF4-FFF2-40B4-BE49-F238E27FC236}">
                <a16:creationId xmlns:a16="http://schemas.microsoft.com/office/drawing/2014/main" id="{77B68698-0A5F-4823-AB65-BC508617961A}"/>
              </a:ext>
            </a:extLst>
          </p:cNvPr>
          <p:cNvSpPr>
            <a:spLocks noGrp="1"/>
          </p:cNvSpPr>
          <p:nvPr/>
        </p:nvSpPr>
        <p:spPr>
          <a:xfrm>
            <a:off x="1691640" y="2480952"/>
            <a:ext cx="127635" cy="86655"/>
          </a:xfrm>
          <a:prstGeom prst="line">
            <a:avLst/>
          </a:prstGeom>
          <a:ln w="38100">
            <a:solidFill>
              <a:srgbClr val="2A5B84"/>
            </a:solidFill>
          </a:ln>
        </p:spPr>
      </p:sp>
      <p:sp>
        <p:nvSpPr>
          <p:cNvPr id="64" name="Connector 64">
            <a:extLst>
              <a:ext uri="{FF2B5EF4-FFF2-40B4-BE49-F238E27FC236}">
                <a16:creationId xmlns:a16="http://schemas.microsoft.com/office/drawing/2014/main" id="{03714F04-4088-4DC1-9079-B0A00DCC571D}"/>
              </a:ext>
            </a:extLst>
          </p:cNvPr>
          <p:cNvSpPr>
            <a:spLocks noGrp="1"/>
          </p:cNvSpPr>
          <p:nvPr/>
        </p:nvSpPr>
        <p:spPr>
          <a:xfrm>
            <a:off x="1819275" y="2567607"/>
            <a:ext cx="127635" cy="84375"/>
          </a:xfrm>
          <a:prstGeom prst="line">
            <a:avLst/>
          </a:prstGeom>
          <a:ln w="38100">
            <a:solidFill>
              <a:srgbClr val="2A5B84"/>
            </a:solidFill>
          </a:ln>
        </p:spPr>
      </p:sp>
      <p:sp>
        <p:nvSpPr>
          <p:cNvPr id="65" name="Connector 65">
            <a:extLst>
              <a:ext uri="{FF2B5EF4-FFF2-40B4-BE49-F238E27FC236}">
                <a16:creationId xmlns:a16="http://schemas.microsoft.com/office/drawing/2014/main" id="{C26086EC-FE87-4680-BAA1-04D69AF2CC68}"/>
              </a:ext>
            </a:extLst>
          </p:cNvPr>
          <p:cNvSpPr>
            <a:spLocks noGrp="1"/>
          </p:cNvSpPr>
          <p:nvPr/>
        </p:nvSpPr>
        <p:spPr>
          <a:xfrm>
            <a:off x="1946910" y="2651981"/>
            <a:ext cx="127635" cy="82125"/>
          </a:xfrm>
          <a:prstGeom prst="line">
            <a:avLst/>
          </a:prstGeom>
          <a:ln w="38100">
            <a:solidFill>
              <a:srgbClr val="2A5B84"/>
            </a:solidFill>
          </a:ln>
        </p:spPr>
      </p:sp>
      <p:sp>
        <p:nvSpPr>
          <p:cNvPr id="66" name="Connector 66">
            <a:extLst>
              <a:ext uri="{FF2B5EF4-FFF2-40B4-BE49-F238E27FC236}">
                <a16:creationId xmlns:a16="http://schemas.microsoft.com/office/drawing/2014/main" id="{9E0D2CF2-D06B-4255-83A7-81B000051630}"/>
              </a:ext>
            </a:extLst>
          </p:cNvPr>
          <p:cNvSpPr>
            <a:spLocks noGrp="1"/>
          </p:cNvSpPr>
          <p:nvPr/>
        </p:nvSpPr>
        <p:spPr>
          <a:xfrm>
            <a:off x="2074545" y="2734106"/>
            <a:ext cx="127635" cy="79905"/>
          </a:xfrm>
          <a:prstGeom prst="line">
            <a:avLst/>
          </a:prstGeom>
          <a:ln w="38100">
            <a:solidFill>
              <a:srgbClr val="2A5B84"/>
            </a:solidFill>
          </a:ln>
        </p:spPr>
      </p:sp>
      <p:sp>
        <p:nvSpPr>
          <p:cNvPr id="67" name="Connector 67">
            <a:extLst>
              <a:ext uri="{FF2B5EF4-FFF2-40B4-BE49-F238E27FC236}">
                <a16:creationId xmlns:a16="http://schemas.microsoft.com/office/drawing/2014/main" id="{E3C3869A-CFE9-48A2-9C09-DE6F798F1BBF}"/>
              </a:ext>
            </a:extLst>
          </p:cNvPr>
          <p:cNvSpPr>
            <a:spLocks noGrp="1"/>
          </p:cNvSpPr>
          <p:nvPr/>
        </p:nvSpPr>
        <p:spPr>
          <a:xfrm>
            <a:off x="2202180" y="2814012"/>
            <a:ext cx="127635" cy="77716"/>
          </a:xfrm>
          <a:prstGeom prst="line">
            <a:avLst/>
          </a:prstGeom>
          <a:ln w="38100">
            <a:solidFill>
              <a:srgbClr val="2A5B84"/>
            </a:solidFill>
          </a:ln>
        </p:spPr>
      </p:sp>
      <p:sp>
        <p:nvSpPr>
          <p:cNvPr id="68" name="Connector 68">
            <a:extLst>
              <a:ext uri="{FF2B5EF4-FFF2-40B4-BE49-F238E27FC236}">
                <a16:creationId xmlns:a16="http://schemas.microsoft.com/office/drawing/2014/main" id="{B870410D-D4FD-412C-AA9E-08250681FBE9}"/>
              </a:ext>
            </a:extLst>
          </p:cNvPr>
          <p:cNvSpPr>
            <a:spLocks noGrp="1"/>
          </p:cNvSpPr>
          <p:nvPr/>
        </p:nvSpPr>
        <p:spPr>
          <a:xfrm>
            <a:off x="2329815" y="2891728"/>
            <a:ext cx="127635" cy="75558"/>
          </a:xfrm>
          <a:prstGeom prst="line">
            <a:avLst/>
          </a:prstGeom>
          <a:ln w="38100">
            <a:solidFill>
              <a:srgbClr val="2A5B84"/>
            </a:solidFill>
          </a:ln>
        </p:spPr>
      </p:sp>
      <p:sp>
        <p:nvSpPr>
          <p:cNvPr id="69" name="Connector 69">
            <a:extLst>
              <a:ext uri="{FF2B5EF4-FFF2-40B4-BE49-F238E27FC236}">
                <a16:creationId xmlns:a16="http://schemas.microsoft.com/office/drawing/2014/main" id="{D2480238-43A1-4204-8998-C96DD09CAAAA}"/>
              </a:ext>
            </a:extLst>
          </p:cNvPr>
          <p:cNvSpPr>
            <a:spLocks noGrp="1"/>
          </p:cNvSpPr>
          <p:nvPr/>
        </p:nvSpPr>
        <p:spPr>
          <a:xfrm>
            <a:off x="2457450" y="2967286"/>
            <a:ext cx="127635" cy="73429"/>
          </a:xfrm>
          <a:prstGeom prst="line">
            <a:avLst/>
          </a:prstGeom>
          <a:ln w="38100">
            <a:solidFill>
              <a:srgbClr val="2A5B84"/>
            </a:solidFill>
          </a:ln>
        </p:spPr>
      </p:sp>
      <p:sp>
        <p:nvSpPr>
          <p:cNvPr id="70" name="Connector 70">
            <a:extLst>
              <a:ext uri="{FF2B5EF4-FFF2-40B4-BE49-F238E27FC236}">
                <a16:creationId xmlns:a16="http://schemas.microsoft.com/office/drawing/2014/main" id="{44180963-B858-41FB-BE85-07B2A44172CD}"/>
              </a:ext>
            </a:extLst>
          </p:cNvPr>
          <p:cNvSpPr>
            <a:spLocks noGrp="1"/>
          </p:cNvSpPr>
          <p:nvPr/>
        </p:nvSpPr>
        <p:spPr>
          <a:xfrm>
            <a:off x="2585085" y="3040715"/>
            <a:ext cx="127635" cy="71332"/>
          </a:xfrm>
          <a:prstGeom prst="line">
            <a:avLst/>
          </a:prstGeom>
          <a:ln w="38100">
            <a:solidFill>
              <a:srgbClr val="2A5B84"/>
            </a:solidFill>
          </a:ln>
        </p:spPr>
      </p:sp>
      <p:sp>
        <p:nvSpPr>
          <p:cNvPr id="71" name="Connector 71">
            <a:extLst>
              <a:ext uri="{FF2B5EF4-FFF2-40B4-BE49-F238E27FC236}">
                <a16:creationId xmlns:a16="http://schemas.microsoft.com/office/drawing/2014/main" id="{280A6A29-B389-4A53-950F-A3D42A182A0A}"/>
              </a:ext>
            </a:extLst>
          </p:cNvPr>
          <p:cNvSpPr>
            <a:spLocks noGrp="1"/>
          </p:cNvSpPr>
          <p:nvPr/>
        </p:nvSpPr>
        <p:spPr>
          <a:xfrm>
            <a:off x="2712720" y="3112047"/>
            <a:ext cx="127635" cy="69264"/>
          </a:xfrm>
          <a:prstGeom prst="line">
            <a:avLst/>
          </a:prstGeom>
          <a:ln w="38100">
            <a:solidFill>
              <a:srgbClr val="2A5B84"/>
            </a:solidFill>
          </a:ln>
        </p:spPr>
      </p:sp>
      <p:sp>
        <p:nvSpPr>
          <p:cNvPr id="72" name="Connector 72">
            <a:extLst>
              <a:ext uri="{FF2B5EF4-FFF2-40B4-BE49-F238E27FC236}">
                <a16:creationId xmlns:a16="http://schemas.microsoft.com/office/drawing/2014/main" id="{C258751D-4D73-4D5D-B12D-AF28F09EB314}"/>
              </a:ext>
            </a:extLst>
          </p:cNvPr>
          <p:cNvSpPr>
            <a:spLocks noGrp="1"/>
          </p:cNvSpPr>
          <p:nvPr/>
        </p:nvSpPr>
        <p:spPr>
          <a:xfrm>
            <a:off x="2840355" y="3181311"/>
            <a:ext cx="127635" cy="67227"/>
          </a:xfrm>
          <a:prstGeom prst="line">
            <a:avLst/>
          </a:prstGeom>
          <a:ln w="38100">
            <a:solidFill>
              <a:srgbClr val="2A5B84"/>
            </a:solidFill>
          </a:ln>
        </p:spPr>
      </p:sp>
      <p:sp>
        <p:nvSpPr>
          <p:cNvPr id="73" name="Connector 73">
            <a:extLst>
              <a:ext uri="{FF2B5EF4-FFF2-40B4-BE49-F238E27FC236}">
                <a16:creationId xmlns:a16="http://schemas.microsoft.com/office/drawing/2014/main" id="{214B4B06-9FEE-4EE5-9C5B-7A7165C1F025}"/>
              </a:ext>
            </a:extLst>
          </p:cNvPr>
          <p:cNvSpPr>
            <a:spLocks noGrp="1"/>
          </p:cNvSpPr>
          <p:nvPr/>
        </p:nvSpPr>
        <p:spPr>
          <a:xfrm>
            <a:off x="2967990" y="3248538"/>
            <a:ext cx="127635" cy="65220"/>
          </a:xfrm>
          <a:prstGeom prst="line">
            <a:avLst/>
          </a:prstGeom>
          <a:ln w="38100">
            <a:solidFill>
              <a:srgbClr val="2A5B84"/>
            </a:solidFill>
          </a:ln>
        </p:spPr>
      </p:sp>
      <p:sp>
        <p:nvSpPr>
          <p:cNvPr id="74" name="Connector 74">
            <a:extLst>
              <a:ext uri="{FF2B5EF4-FFF2-40B4-BE49-F238E27FC236}">
                <a16:creationId xmlns:a16="http://schemas.microsoft.com/office/drawing/2014/main" id="{F9E2230E-0CCC-4491-8698-6E8CD90A976A}"/>
              </a:ext>
            </a:extLst>
          </p:cNvPr>
          <p:cNvSpPr>
            <a:spLocks noGrp="1"/>
          </p:cNvSpPr>
          <p:nvPr/>
        </p:nvSpPr>
        <p:spPr>
          <a:xfrm>
            <a:off x="3095625" y="3313758"/>
            <a:ext cx="127635" cy="63244"/>
          </a:xfrm>
          <a:prstGeom prst="line">
            <a:avLst/>
          </a:prstGeom>
          <a:ln w="38100">
            <a:solidFill>
              <a:srgbClr val="2A5B84"/>
            </a:solidFill>
          </a:ln>
        </p:spPr>
      </p:sp>
      <p:sp>
        <p:nvSpPr>
          <p:cNvPr id="75" name="Connector 75">
            <a:extLst>
              <a:ext uri="{FF2B5EF4-FFF2-40B4-BE49-F238E27FC236}">
                <a16:creationId xmlns:a16="http://schemas.microsoft.com/office/drawing/2014/main" id="{752149AD-DE6C-4B6F-87A7-078301865F06}"/>
              </a:ext>
            </a:extLst>
          </p:cNvPr>
          <p:cNvSpPr>
            <a:spLocks noGrp="1"/>
          </p:cNvSpPr>
          <p:nvPr/>
        </p:nvSpPr>
        <p:spPr>
          <a:xfrm>
            <a:off x="3223260" y="3377003"/>
            <a:ext cx="127635" cy="61298"/>
          </a:xfrm>
          <a:prstGeom prst="line">
            <a:avLst/>
          </a:prstGeom>
          <a:ln w="38100">
            <a:solidFill>
              <a:srgbClr val="2A5B84"/>
            </a:solidFill>
          </a:ln>
        </p:spPr>
      </p:sp>
      <p:sp>
        <p:nvSpPr>
          <p:cNvPr id="76" name="Connector 76">
            <a:extLst>
              <a:ext uri="{FF2B5EF4-FFF2-40B4-BE49-F238E27FC236}">
                <a16:creationId xmlns:a16="http://schemas.microsoft.com/office/drawing/2014/main" id="{7AA2A569-F756-41DA-B89C-D71B82EFE4BF}"/>
              </a:ext>
            </a:extLst>
          </p:cNvPr>
          <p:cNvSpPr>
            <a:spLocks noGrp="1"/>
          </p:cNvSpPr>
          <p:nvPr/>
        </p:nvSpPr>
        <p:spPr>
          <a:xfrm>
            <a:off x="3350895" y="3438301"/>
            <a:ext cx="127635" cy="59383"/>
          </a:xfrm>
          <a:prstGeom prst="line">
            <a:avLst/>
          </a:prstGeom>
          <a:ln w="38100">
            <a:solidFill>
              <a:srgbClr val="2A5B84"/>
            </a:solidFill>
          </a:ln>
        </p:spPr>
      </p:sp>
      <p:sp>
        <p:nvSpPr>
          <p:cNvPr id="77" name="Connector 77">
            <a:extLst>
              <a:ext uri="{FF2B5EF4-FFF2-40B4-BE49-F238E27FC236}">
                <a16:creationId xmlns:a16="http://schemas.microsoft.com/office/drawing/2014/main" id="{F904A2FA-0D8A-4D82-A2A7-28DCF7D9628F}"/>
              </a:ext>
            </a:extLst>
          </p:cNvPr>
          <p:cNvSpPr>
            <a:spLocks noGrp="1"/>
          </p:cNvSpPr>
          <p:nvPr/>
        </p:nvSpPr>
        <p:spPr>
          <a:xfrm>
            <a:off x="3478530" y="3497684"/>
            <a:ext cx="127635" cy="57498"/>
          </a:xfrm>
          <a:prstGeom prst="line">
            <a:avLst/>
          </a:prstGeom>
          <a:ln w="38100">
            <a:solidFill>
              <a:srgbClr val="2A5B84"/>
            </a:solidFill>
          </a:ln>
        </p:spPr>
      </p:sp>
      <p:sp>
        <p:nvSpPr>
          <p:cNvPr id="78" name="Connector 78">
            <a:extLst>
              <a:ext uri="{FF2B5EF4-FFF2-40B4-BE49-F238E27FC236}">
                <a16:creationId xmlns:a16="http://schemas.microsoft.com/office/drawing/2014/main" id="{2257B2F3-EFFB-488B-B828-175B5A9E0461}"/>
              </a:ext>
            </a:extLst>
          </p:cNvPr>
          <p:cNvSpPr>
            <a:spLocks noGrp="1"/>
          </p:cNvSpPr>
          <p:nvPr/>
        </p:nvSpPr>
        <p:spPr>
          <a:xfrm>
            <a:off x="3606165" y="3555182"/>
            <a:ext cx="127635" cy="55643"/>
          </a:xfrm>
          <a:prstGeom prst="line">
            <a:avLst/>
          </a:prstGeom>
          <a:ln w="38100">
            <a:solidFill>
              <a:srgbClr val="2A5B84"/>
            </a:solidFill>
          </a:ln>
        </p:spPr>
      </p:sp>
      <p:sp>
        <p:nvSpPr>
          <p:cNvPr id="79" name="Connector 79">
            <a:extLst>
              <a:ext uri="{FF2B5EF4-FFF2-40B4-BE49-F238E27FC236}">
                <a16:creationId xmlns:a16="http://schemas.microsoft.com/office/drawing/2014/main" id="{1B05BF44-5E07-4BE0-9DDD-940338B68A6F}"/>
              </a:ext>
            </a:extLst>
          </p:cNvPr>
          <p:cNvSpPr>
            <a:spLocks noGrp="1"/>
          </p:cNvSpPr>
          <p:nvPr/>
        </p:nvSpPr>
        <p:spPr>
          <a:xfrm>
            <a:off x="3733800" y="3610825"/>
            <a:ext cx="127635" cy="53819"/>
          </a:xfrm>
          <a:prstGeom prst="line">
            <a:avLst/>
          </a:prstGeom>
          <a:ln w="38100">
            <a:solidFill>
              <a:srgbClr val="2A5B84"/>
            </a:solidFill>
          </a:ln>
        </p:spPr>
      </p:sp>
      <p:sp>
        <p:nvSpPr>
          <p:cNvPr id="80" name="Connector 80">
            <a:extLst>
              <a:ext uri="{FF2B5EF4-FFF2-40B4-BE49-F238E27FC236}">
                <a16:creationId xmlns:a16="http://schemas.microsoft.com/office/drawing/2014/main" id="{75409E8C-F252-4DBE-B4DC-33567243F61C}"/>
              </a:ext>
            </a:extLst>
          </p:cNvPr>
          <p:cNvSpPr>
            <a:spLocks noGrp="1"/>
          </p:cNvSpPr>
          <p:nvPr/>
        </p:nvSpPr>
        <p:spPr>
          <a:xfrm>
            <a:off x="3861435" y="3664645"/>
            <a:ext cx="127635" cy="52025"/>
          </a:xfrm>
          <a:prstGeom prst="line">
            <a:avLst/>
          </a:prstGeom>
          <a:ln w="38100">
            <a:solidFill>
              <a:srgbClr val="2A5B84"/>
            </a:solidFill>
          </a:ln>
        </p:spPr>
      </p:sp>
      <p:sp>
        <p:nvSpPr>
          <p:cNvPr id="81" name="Connector 81">
            <a:extLst>
              <a:ext uri="{FF2B5EF4-FFF2-40B4-BE49-F238E27FC236}">
                <a16:creationId xmlns:a16="http://schemas.microsoft.com/office/drawing/2014/main" id="{173A9F74-AD71-42FB-9B78-33B2DD4F2CBA}"/>
              </a:ext>
            </a:extLst>
          </p:cNvPr>
          <p:cNvSpPr>
            <a:spLocks noGrp="1"/>
          </p:cNvSpPr>
          <p:nvPr/>
        </p:nvSpPr>
        <p:spPr>
          <a:xfrm>
            <a:off x="3989070" y="3716670"/>
            <a:ext cx="127635" cy="50262"/>
          </a:xfrm>
          <a:prstGeom prst="line">
            <a:avLst/>
          </a:prstGeom>
          <a:ln w="38100">
            <a:solidFill>
              <a:srgbClr val="2A5B84"/>
            </a:solidFill>
          </a:ln>
        </p:spPr>
      </p:sp>
      <p:sp>
        <p:nvSpPr>
          <p:cNvPr id="82" name="Connector 82">
            <a:extLst>
              <a:ext uri="{FF2B5EF4-FFF2-40B4-BE49-F238E27FC236}">
                <a16:creationId xmlns:a16="http://schemas.microsoft.com/office/drawing/2014/main" id="{EC00097F-8F0F-4185-9834-5328A6AE09EB}"/>
              </a:ext>
            </a:extLst>
          </p:cNvPr>
          <p:cNvSpPr>
            <a:spLocks noGrp="1"/>
          </p:cNvSpPr>
          <p:nvPr/>
        </p:nvSpPr>
        <p:spPr>
          <a:xfrm>
            <a:off x="4116705" y="3766932"/>
            <a:ext cx="127635" cy="48529"/>
          </a:xfrm>
          <a:prstGeom prst="line">
            <a:avLst/>
          </a:prstGeom>
          <a:ln w="38100">
            <a:solidFill>
              <a:srgbClr val="2A5B84"/>
            </a:solidFill>
          </a:ln>
        </p:spPr>
      </p:sp>
      <p:sp>
        <p:nvSpPr>
          <p:cNvPr id="83" name="Connector 83">
            <a:extLst>
              <a:ext uri="{FF2B5EF4-FFF2-40B4-BE49-F238E27FC236}">
                <a16:creationId xmlns:a16="http://schemas.microsoft.com/office/drawing/2014/main" id="{E71FED72-A353-4C51-95E7-51B9DEF6E32B}"/>
              </a:ext>
            </a:extLst>
          </p:cNvPr>
          <p:cNvSpPr>
            <a:spLocks noGrp="1"/>
          </p:cNvSpPr>
          <p:nvPr/>
        </p:nvSpPr>
        <p:spPr>
          <a:xfrm>
            <a:off x="4244340" y="3815461"/>
            <a:ext cx="127635" cy="46826"/>
          </a:xfrm>
          <a:prstGeom prst="line">
            <a:avLst/>
          </a:prstGeom>
          <a:ln w="38100">
            <a:solidFill>
              <a:srgbClr val="2A5B84"/>
            </a:solidFill>
          </a:ln>
        </p:spPr>
      </p:sp>
      <p:sp>
        <p:nvSpPr>
          <p:cNvPr id="84" name="Connector 84">
            <a:extLst>
              <a:ext uri="{FF2B5EF4-FFF2-40B4-BE49-F238E27FC236}">
                <a16:creationId xmlns:a16="http://schemas.microsoft.com/office/drawing/2014/main" id="{AFB8224F-1A38-4AEB-B9BD-66231B288981}"/>
              </a:ext>
            </a:extLst>
          </p:cNvPr>
          <p:cNvSpPr>
            <a:spLocks noGrp="1"/>
          </p:cNvSpPr>
          <p:nvPr/>
        </p:nvSpPr>
        <p:spPr>
          <a:xfrm>
            <a:off x="4371975" y="3862287"/>
            <a:ext cx="127635" cy="45154"/>
          </a:xfrm>
          <a:prstGeom prst="line">
            <a:avLst/>
          </a:prstGeom>
          <a:ln w="38100">
            <a:solidFill>
              <a:srgbClr val="2A5B84"/>
            </a:solidFill>
          </a:ln>
        </p:spPr>
      </p:sp>
      <p:sp>
        <p:nvSpPr>
          <p:cNvPr id="85" name="Connector 85">
            <a:extLst>
              <a:ext uri="{FF2B5EF4-FFF2-40B4-BE49-F238E27FC236}">
                <a16:creationId xmlns:a16="http://schemas.microsoft.com/office/drawing/2014/main" id="{667D752A-3229-4650-90F4-04863EA952AB}"/>
              </a:ext>
            </a:extLst>
          </p:cNvPr>
          <p:cNvSpPr>
            <a:spLocks noGrp="1"/>
          </p:cNvSpPr>
          <p:nvPr/>
        </p:nvSpPr>
        <p:spPr>
          <a:xfrm>
            <a:off x="4499610" y="3907442"/>
            <a:ext cx="127635" cy="43512"/>
          </a:xfrm>
          <a:prstGeom prst="line">
            <a:avLst/>
          </a:prstGeom>
          <a:ln w="38100">
            <a:solidFill>
              <a:srgbClr val="2A5B84"/>
            </a:solidFill>
          </a:ln>
        </p:spPr>
      </p:sp>
      <p:sp>
        <p:nvSpPr>
          <p:cNvPr id="86" name="Connector 86">
            <a:extLst>
              <a:ext uri="{FF2B5EF4-FFF2-40B4-BE49-F238E27FC236}">
                <a16:creationId xmlns:a16="http://schemas.microsoft.com/office/drawing/2014/main" id="{A588B86B-F3D3-41A6-83AB-122F27CE9F4B}"/>
              </a:ext>
            </a:extLst>
          </p:cNvPr>
          <p:cNvSpPr>
            <a:spLocks noGrp="1"/>
          </p:cNvSpPr>
          <p:nvPr/>
        </p:nvSpPr>
        <p:spPr>
          <a:xfrm>
            <a:off x="4627245" y="3950954"/>
            <a:ext cx="127635" cy="41901"/>
          </a:xfrm>
          <a:prstGeom prst="line">
            <a:avLst/>
          </a:prstGeom>
          <a:ln w="38100">
            <a:solidFill>
              <a:srgbClr val="2A5B84"/>
            </a:solidFill>
          </a:ln>
        </p:spPr>
      </p:sp>
      <p:sp>
        <p:nvSpPr>
          <p:cNvPr id="87" name="Connector 87">
            <a:extLst>
              <a:ext uri="{FF2B5EF4-FFF2-40B4-BE49-F238E27FC236}">
                <a16:creationId xmlns:a16="http://schemas.microsoft.com/office/drawing/2014/main" id="{3EDDFAD8-C709-4FBB-839B-82ECBA02A31A}"/>
              </a:ext>
            </a:extLst>
          </p:cNvPr>
          <p:cNvSpPr>
            <a:spLocks noGrp="1"/>
          </p:cNvSpPr>
          <p:nvPr/>
        </p:nvSpPr>
        <p:spPr>
          <a:xfrm>
            <a:off x="4754880" y="3992855"/>
            <a:ext cx="127635" cy="40320"/>
          </a:xfrm>
          <a:prstGeom prst="line">
            <a:avLst/>
          </a:prstGeom>
          <a:ln w="38100">
            <a:solidFill>
              <a:srgbClr val="2A5B84"/>
            </a:solidFill>
          </a:ln>
        </p:spPr>
      </p:sp>
      <p:sp>
        <p:nvSpPr>
          <p:cNvPr id="88" name="Connector 88">
            <a:extLst>
              <a:ext uri="{FF2B5EF4-FFF2-40B4-BE49-F238E27FC236}">
                <a16:creationId xmlns:a16="http://schemas.microsoft.com/office/drawing/2014/main" id="{3AEEE67C-E99A-46AF-A69F-8C4DCFDE6DC9}"/>
              </a:ext>
            </a:extLst>
          </p:cNvPr>
          <p:cNvSpPr>
            <a:spLocks noGrp="1"/>
          </p:cNvSpPr>
          <p:nvPr/>
        </p:nvSpPr>
        <p:spPr>
          <a:xfrm>
            <a:off x="4882515" y="4033175"/>
            <a:ext cx="127635" cy="38769"/>
          </a:xfrm>
          <a:prstGeom prst="line">
            <a:avLst/>
          </a:prstGeom>
          <a:ln w="38100">
            <a:solidFill>
              <a:srgbClr val="2A5B84"/>
            </a:solidFill>
          </a:ln>
        </p:spPr>
      </p:sp>
      <p:sp>
        <p:nvSpPr>
          <p:cNvPr id="89" name="Connector 89">
            <a:extLst>
              <a:ext uri="{FF2B5EF4-FFF2-40B4-BE49-F238E27FC236}">
                <a16:creationId xmlns:a16="http://schemas.microsoft.com/office/drawing/2014/main" id="{D548E47F-8513-4784-B298-5B8A7481C40C}"/>
              </a:ext>
            </a:extLst>
          </p:cNvPr>
          <p:cNvSpPr>
            <a:spLocks noGrp="1"/>
          </p:cNvSpPr>
          <p:nvPr/>
        </p:nvSpPr>
        <p:spPr>
          <a:xfrm>
            <a:off x="5010150" y="4071945"/>
            <a:ext cx="127635" cy="37249"/>
          </a:xfrm>
          <a:prstGeom prst="line">
            <a:avLst/>
          </a:prstGeom>
          <a:ln w="38100">
            <a:solidFill>
              <a:srgbClr val="2A5B84"/>
            </a:solidFill>
          </a:ln>
        </p:spPr>
      </p:sp>
      <p:sp>
        <p:nvSpPr>
          <p:cNvPr id="90" name="Connector 90">
            <a:extLst>
              <a:ext uri="{FF2B5EF4-FFF2-40B4-BE49-F238E27FC236}">
                <a16:creationId xmlns:a16="http://schemas.microsoft.com/office/drawing/2014/main" id="{9B34DD70-6E41-4E62-AD18-D7316DF7E988}"/>
              </a:ext>
            </a:extLst>
          </p:cNvPr>
          <p:cNvSpPr>
            <a:spLocks noGrp="1"/>
          </p:cNvSpPr>
          <p:nvPr/>
        </p:nvSpPr>
        <p:spPr>
          <a:xfrm>
            <a:off x="5137785" y="4109194"/>
            <a:ext cx="127635" cy="35760"/>
          </a:xfrm>
          <a:prstGeom prst="line">
            <a:avLst/>
          </a:prstGeom>
          <a:ln w="38100">
            <a:solidFill>
              <a:srgbClr val="2A5B84"/>
            </a:solidFill>
          </a:ln>
        </p:spPr>
      </p:sp>
      <p:sp>
        <p:nvSpPr>
          <p:cNvPr id="91" name="Connector 91">
            <a:extLst>
              <a:ext uri="{FF2B5EF4-FFF2-40B4-BE49-F238E27FC236}">
                <a16:creationId xmlns:a16="http://schemas.microsoft.com/office/drawing/2014/main" id="{2EECCF51-C256-4279-8A50-441062AFC3E7}"/>
              </a:ext>
            </a:extLst>
          </p:cNvPr>
          <p:cNvSpPr>
            <a:spLocks noGrp="1"/>
          </p:cNvSpPr>
          <p:nvPr/>
        </p:nvSpPr>
        <p:spPr>
          <a:xfrm>
            <a:off x="5265420" y="4144953"/>
            <a:ext cx="127635" cy="34300"/>
          </a:xfrm>
          <a:prstGeom prst="line">
            <a:avLst/>
          </a:prstGeom>
          <a:ln w="38100">
            <a:solidFill>
              <a:srgbClr val="2A5B84"/>
            </a:solidFill>
          </a:ln>
        </p:spPr>
      </p:sp>
      <p:sp>
        <p:nvSpPr>
          <p:cNvPr id="92" name="Connector 92">
            <a:extLst>
              <a:ext uri="{FF2B5EF4-FFF2-40B4-BE49-F238E27FC236}">
                <a16:creationId xmlns:a16="http://schemas.microsoft.com/office/drawing/2014/main" id="{D85E6552-BA8C-426B-97EF-6E738808E22B}"/>
              </a:ext>
            </a:extLst>
          </p:cNvPr>
          <p:cNvSpPr>
            <a:spLocks noGrp="1"/>
          </p:cNvSpPr>
          <p:nvPr/>
        </p:nvSpPr>
        <p:spPr>
          <a:xfrm>
            <a:off x="5393055" y="4179254"/>
            <a:ext cx="127635" cy="32871"/>
          </a:xfrm>
          <a:prstGeom prst="line">
            <a:avLst/>
          </a:prstGeom>
          <a:ln w="38100">
            <a:solidFill>
              <a:srgbClr val="2A5B84"/>
            </a:solidFill>
          </a:ln>
        </p:spPr>
      </p:sp>
      <p:sp>
        <p:nvSpPr>
          <p:cNvPr id="93" name="Connector 93">
            <a:extLst>
              <a:ext uri="{FF2B5EF4-FFF2-40B4-BE49-F238E27FC236}">
                <a16:creationId xmlns:a16="http://schemas.microsoft.com/office/drawing/2014/main" id="{DFEDDAAB-4AFE-4A00-8051-E71DE681314E}"/>
              </a:ext>
            </a:extLst>
          </p:cNvPr>
          <p:cNvSpPr>
            <a:spLocks noGrp="1"/>
          </p:cNvSpPr>
          <p:nvPr/>
        </p:nvSpPr>
        <p:spPr>
          <a:xfrm>
            <a:off x="5520690" y="4212125"/>
            <a:ext cx="127635" cy="31473"/>
          </a:xfrm>
          <a:prstGeom prst="line">
            <a:avLst/>
          </a:prstGeom>
          <a:ln w="38100">
            <a:solidFill>
              <a:srgbClr val="2A5B84"/>
            </a:solidFill>
          </a:ln>
        </p:spPr>
      </p:sp>
      <p:sp>
        <p:nvSpPr>
          <p:cNvPr id="94" name="Connector 94">
            <a:extLst>
              <a:ext uri="{FF2B5EF4-FFF2-40B4-BE49-F238E27FC236}">
                <a16:creationId xmlns:a16="http://schemas.microsoft.com/office/drawing/2014/main" id="{CEEA5626-E7F6-44E0-9E59-D960AF401A67}"/>
              </a:ext>
            </a:extLst>
          </p:cNvPr>
          <p:cNvSpPr>
            <a:spLocks noGrp="1"/>
          </p:cNvSpPr>
          <p:nvPr/>
        </p:nvSpPr>
        <p:spPr>
          <a:xfrm>
            <a:off x="5648325" y="4243597"/>
            <a:ext cx="127635" cy="30104"/>
          </a:xfrm>
          <a:prstGeom prst="line">
            <a:avLst/>
          </a:prstGeom>
          <a:ln w="38100">
            <a:solidFill>
              <a:srgbClr val="2A5B84"/>
            </a:solidFill>
          </a:ln>
        </p:spPr>
      </p:sp>
      <p:sp>
        <p:nvSpPr>
          <p:cNvPr id="95" name="Connector 95">
            <a:extLst>
              <a:ext uri="{FF2B5EF4-FFF2-40B4-BE49-F238E27FC236}">
                <a16:creationId xmlns:a16="http://schemas.microsoft.com/office/drawing/2014/main" id="{94B36B46-FAD8-4532-BA90-3E675B6B61DF}"/>
              </a:ext>
            </a:extLst>
          </p:cNvPr>
          <p:cNvSpPr>
            <a:spLocks noGrp="1"/>
          </p:cNvSpPr>
          <p:nvPr/>
        </p:nvSpPr>
        <p:spPr>
          <a:xfrm>
            <a:off x="5775960" y="4273702"/>
            <a:ext cx="127635" cy="28767"/>
          </a:xfrm>
          <a:prstGeom prst="line">
            <a:avLst/>
          </a:prstGeom>
          <a:ln w="38100">
            <a:solidFill>
              <a:srgbClr val="2A5B84"/>
            </a:solidFill>
          </a:ln>
        </p:spPr>
      </p:sp>
      <p:sp>
        <p:nvSpPr>
          <p:cNvPr id="96" name="Connector 96">
            <a:extLst>
              <a:ext uri="{FF2B5EF4-FFF2-40B4-BE49-F238E27FC236}">
                <a16:creationId xmlns:a16="http://schemas.microsoft.com/office/drawing/2014/main" id="{404CD2C9-A1B9-43AE-91B5-0414ED86E64A}"/>
              </a:ext>
            </a:extLst>
          </p:cNvPr>
          <p:cNvSpPr>
            <a:spLocks noGrp="1"/>
          </p:cNvSpPr>
          <p:nvPr/>
        </p:nvSpPr>
        <p:spPr>
          <a:xfrm>
            <a:off x="5903595" y="4302469"/>
            <a:ext cx="127635" cy="27459"/>
          </a:xfrm>
          <a:prstGeom prst="line">
            <a:avLst/>
          </a:prstGeom>
          <a:ln w="38100">
            <a:solidFill>
              <a:srgbClr val="2A5B84"/>
            </a:solidFill>
          </a:ln>
        </p:spPr>
      </p:sp>
      <p:sp>
        <p:nvSpPr>
          <p:cNvPr id="97" name="Connector 97">
            <a:extLst>
              <a:ext uri="{FF2B5EF4-FFF2-40B4-BE49-F238E27FC236}">
                <a16:creationId xmlns:a16="http://schemas.microsoft.com/office/drawing/2014/main" id="{8D06794E-EEF5-496C-AF52-8F957F8D9510}"/>
              </a:ext>
            </a:extLst>
          </p:cNvPr>
          <p:cNvSpPr>
            <a:spLocks noGrp="1"/>
          </p:cNvSpPr>
          <p:nvPr/>
        </p:nvSpPr>
        <p:spPr>
          <a:xfrm>
            <a:off x="6031230" y="4329928"/>
            <a:ext cx="127635" cy="26182"/>
          </a:xfrm>
          <a:prstGeom prst="line">
            <a:avLst/>
          </a:prstGeom>
          <a:ln w="38100">
            <a:solidFill>
              <a:srgbClr val="2A5B84"/>
            </a:solidFill>
          </a:ln>
        </p:spPr>
      </p:sp>
      <p:sp>
        <p:nvSpPr>
          <p:cNvPr id="98" name="Connector 98">
            <a:extLst>
              <a:ext uri="{FF2B5EF4-FFF2-40B4-BE49-F238E27FC236}">
                <a16:creationId xmlns:a16="http://schemas.microsoft.com/office/drawing/2014/main" id="{0A7A7500-FCE1-477D-90FC-8EB7A64646BF}"/>
              </a:ext>
            </a:extLst>
          </p:cNvPr>
          <p:cNvSpPr>
            <a:spLocks noGrp="1"/>
          </p:cNvSpPr>
          <p:nvPr/>
        </p:nvSpPr>
        <p:spPr>
          <a:xfrm>
            <a:off x="6158865" y="4356111"/>
            <a:ext cx="127635" cy="24936"/>
          </a:xfrm>
          <a:prstGeom prst="line">
            <a:avLst/>
          </a:prstGeom>
          <a:ln w="38100">
            <a:solidFill>
              <a:srgbClr val="2A5B84"/>
            </a:solidFill>
          </a:ln>
        </p:spPr>
      </p:sp>
      <p:sp>
        <p:nvSpPr>
          <p:cNvPr id="99" name="Connector 99">
            <a:extLst>
              <a:ext uri="{FF2B5EF4-FFF2-40B4-BE49-F238E27FC236}">
                <a16:creationId xmlns:a16="http://schemas.microsoft.com/office/drawing/2014/main" id="{0BA3003C-8AD2-4D43-AE49-547324D332DC}"/>
              </a:ext>
            </a:extLst>
          </p:cNvPr>
          <p:cNvSpPr>
            <a:spLocks noGrp="1"/>
          </p:cNvSpPr>
          <p:nvPr/>
        </p:nvSpPr>
        <p:spPr>
          <a:xfrm>
            <a:off x="6286500" y="4381046"/>
            <a:ext cx="127635" cy="23720"/>
          </a:xfrm>
          <a:prstGeom prst="line">
            <a:avLst/>
          </a:prstGeom>
          <a:ln w="38100">
            <a:solidFill>
              <a:srgbClr val="2A5B84"/>
            </a:solidFill>
          </a:ln>
        </p:spPr>
      </p:sp>
      <p:sp>
        <p:nvSpPr>
          <p:cNvPr id="100" name="Connector 100">
            <a:extLst>
              <a:ext uri="{FF2B5EF4-FFF2-40B4-BE49-F238E27FC236}">
                <a16:creationId xmlns:a16="http://schemas.microsoft.com/office/drawing/2014/main" id="{F8D54667-54D2-4B58-A914-87F9C352398D}"/>
              </a:ext>
            </a:extLst>
          </p:cNvPr>
          <p:cNvSpPr>
            <a:spLocks noGrp="1"/>
          </p:cNvSpPr>
          <p:nvPr/>
        </p:nvSpPr>
        <p:spPr>
          <a:xfrm>
            <a:off x="6414135" y="4404766"/>
            <a:ext cx="127635" cy="22534"/>
          </a:xfrm>
          <a:prstGeom prst="line">
            <a:avLst/>
          </a:prstGeom>
          <a:ln w="38100">
            <a:solidFill>
              <a:srgbClr val="2A5B84"/>
            </a:solidFill>
          </a:ln>
        </p:spPr>
      </p:sp>
      <p:sp>
        <p:nvSpPr>
          <p:cNvPr id="101" name="Connector 101">
            <a:extLst>
              <a:ext uri="{FF2B5EF4-FFF2-40B4-BE49-F238E27FC236}">
                <a16:creationId xmlns:a16="http://schemas.microsoft.com/office/drawing/2014/main" id="{DC06B2DA-2741-4D83-BE84-705FFA89E86C}"/>
              </a:ext>
            </a:extLst>
          </p:cNvPr>
          <p:cNvSpPr>
            <a:spLocks noGrp="1"/>
          </p:cNvSpPr>
          <p:nvPr/>
        </p:nvSpPr>
        <p:spPr>
          <a:xfrm>
            <a:off x="6541770" y="4427300"/>
            <a:ext cx="127635" cy="21379"/>
          </a:xfrm>
          <a:prstGeom prst="line">
            <a:avLst/>
          </a:prstGeom>
          <a:ln w="38100">
            <a:solidFill>
              <a:srgbClr val="2A5B84"/>
            </a:solidFill>
          </a:ln>
        </p:spPr>
      </p:sp>
      <p:sp>
        <p:nvSpPr>
          <p:cNvPr id="102" name="Connector 102">
            <a:extLst>
              <a:ext uri="{FF2B5EF4-FFF2-40B4-BE49-F238E27FC236}">
                <a16:creationId xmlns:a16="http://schemas.microsoft.com/office/drawing/2014/main" id="{E7F3346A-FF1C-4388-B0D0-2A994095D9C2}"/>
              </a:ext>
            </a:extLst>
          </p:cNvPr>
          <p:cNvSpPr>
            <a:spLocks noGrp="1"/>
          </p:cNvSpPr>
          <p:nvPr/>
        </p:nvSpPr>
        <p:spPr>
          <a:xfrm>
            <a:off x="6669405" y="4448679"/>
            <a:ext cx="127635" cy="20254"/>
          </a:xfrm>
          <a:prstGeom prst="line">
            <a:avLst/>
          </a:prstGeom>
          <a:ln w="38100">
            <a:solidFill>
              <a:srgbClr val="2A5B84"/>
            </a:solidFill>
          </a:ln>
        </p:spPr>
      </p:sp>
      <p:sp>
        <p:nvSpPr>
          <p:cNvPr id="103" name="Connector 103">
            <a:extLst>
              <a:ext uri="{FF2B5EF4-FFF2-40B4-BE49-F238E27FC236}">
                <a16:creationId xmlns:a16="http://schemas.microsoft.com/office/drawing/2014/main" id="{44F5D3B6-2A01-4C23-8458-58DC0D14A70A}"/>
              </a:ext>
            </a:extLst>
          </p:cNvPr>
          <p:cNvSpPr>
            <a:spLocks noGrp="1"/>
          </p:cNvSpPr>
          <p:nvPr/>
        </p:nvSpPr>
        <p:spPr>
          <a:xfrm>
            <a:off x="6797040" y="4468933"/>
            <a:ext cx="127635" cy="19159"/>
          </a:xfrm>
          <a:prstGeom prst="line">
            <a:avLst/>
          </a:prstGeom>
          <a:ln w="38100">
            <a:solidFill>
              <a:srgbClr val="2A5B84"/>
            </a:solidFill>
          </a:ln>
        </p:spPr>
      </p:sp>
      <p:sp>
        <p:nvSpPr>
          <p:cNvPr id="104" name="Connector 104">
            <a:extLst>
              <a:ext uri="{FF2B5EF4-FFF2-40B4-BE49-F238E27FC236}">
                <a16:creationId xmlns:a16="http://schemas.microsoft.com/office/drawing/2014/main" id="{FB45200F-C3D4-49B6-B4AB-2A3920B24474}"/>
              </a:ext>
            </a:extLst>
          </p:cNvPr>
          <p:cNvSpPr>
            <a:spLocks noGrp="1"/>
          </p:cNvSpPr>
          <p:nvPr/>
        </p:nvSpPr>
        <p:spPr>
          <a:xfrm>
            <a:off x="6924675" y="4488092"/>
            <a:ext cx="127635" cy="18095"/>
          </a:xfrm>
          <a:prstGeom prst="line">
            <a:avLst/>
          </a:prstGeom>
          <a:ln w="38100">
            <a:solidFill>
              <a:srgbClr val="2A5B84"/>
            </a:solidFill>
          </a:ln>
        </p:spPr>
      </p:sp>
      <p:sp>
        <p:nvSpPr>
          <p:cNvPr id="105" name="Connector 105">
            <a:extLst>
              <a:ext uri="{FF2B5EF4-FFF2-40B4-BE49-F238E27FC236}">
                <a16:creationId xmlns:a16="http://schemas.microsoft.com/office/drawing/2014/main" id="{7B4EC03C-4DEA-466B-9DFD-68A7B0832239}"/>
              </a:ext>
            </a:extLst>
          </p:cNvPr>
          <p:cNvSpPr>
            <a:spLocks noGrp="1"/>
          </p:cNvSpPr>
          <p:nvPr/>
        </p:nvSpPr>
        <p:spPr>
          <a:xfrm>
            <a:off x="7052310" y="4506187"/>
            <a:ext cx="127635" cy="17061"/>
          </a:xfrm>
          <a:prstGeom prst="line">
            <a:avLst/>
          </a:prstGeom>
          <a:ln w="38100">
            <a:solidFill>
              <a:srgbClr val="2A5B84"/>
            </a:solidFill>
          </a:ln>
        </p:spPr>
      </p:sp>
      <p:sp>
        <p:nvSpPr>
          <p:cNvPr id="106" name="Connector 106">
            <a:extLst>
              <a:ext uri="{FF2B5EF4-FFF2-40B4-BE49-F238E27FC236}">
                <a16:creationId xmlns:a16="http://schemas.microsoft.com/office/drawing/2014/main" id="{2AB164E4-DD66-4F11-99F0-F2C2DBEE1DC3}"/>
              </a:ext>
            </a:extLst>
          </p:cNvPr>
          <p:cNvSpPr>
            <a:spLocks noGrp="1"/>
          </p:cNvSpPr>
          <p:nvPr/>
        </p:nvSpPr>
        <p:spPr>
          <a:xfrm>
            <a:off x="7179945" y="4523248"/>
            <a:ext cx="127635" cy="16058"/>
          </a:xfrm>
          <a:prstGeom prst="line">
            <a:avLst/>
          </a:prstGeom>
          <a:ln w="38100">
            <a:solidFill>
              <a:srgbClr val="2A5B84"/>
            </a:solidFill>
          </a:ln>
        </p:spPr>
      </p:sp>
      <p:sp>
        <p:nvSpPr>
          <p:cNvPr id="107" name="Connector 107">
            <a:extLst>
              <a:ext uri="{FF2B5EF4-FFF2-40B4-BE49-F238E27FC236}">
                <a16:creationId xmlns:a16="http://schemas.microsoft.com/office/drawing/2014/main" id="{5F942B71-BDDD-4D0D-8BD8-CBAC4DC5CE9F}"/>
              </a:ext>
            </a:extLst>
          </p:cNvPr>
          <p:cNvSpPr>
            <a:spLocks noGrp="1"/>
          </p:cNvSpPr>
          <p:nvPr/>
        </p:nvSpPr>
        <p:spPr>
          <a:xfrm>
            <a:off x="7307580" y="4539307"/>
            <a:ext cx="127635" cy="15085"/>
          </a:xfrm>
          <a:prstGeom prst="line">
            <a:avLst/>
          </a:prstGeom>
          <a:ln w="38100">
            <a:solidFill>
              <a:srgbClr val="2A5B84"/>
            </a:solidFill>
          </a:ln>
        </p:spPr>
      </p:sp>
      <p:sp>
        <p:nvSpPr>
          <p:cNvPr id="108" name="Connector 108">
            <a:extLst>
              <a:ext uri="{FF2B5EF4-FFF2-40B4-BE49-F238E27FC236}">
                <a16:creationId xmlns:a16="http://schemas.microsoft.com/office/drawing/2014/main" id="{E8E1FDFD-A5CA-48A5-9177-3D7E6F069393}"/>
              </a:ext>
            </a:extLst>
          </p:cNvPr>
          <p:cNvSpPr>
            <a:spLocks noGrp="1"/>
          </p:cNvSpPr>
          <p:nvPr/>
        </p:nvSpPr>
        <p:spPr>
          <a:xfrm>
            <a:off x="7435215" y="4554392"/>
            <a:ext cx="127635" cy="14143"/>
          </a:xfrm>
          <a:prstGeom prst="line">
            <a:avLst/>
          </a:prstGeom>
          <a:ln w="38100">
            <a:solidFill>
              <a:srgbClr val="2A5B84"/>
            </a:solidFill>
          </a:ln>
        </p:spPr>
      </p:sp>
      <p:sp>
        <p:nvSpPr>
          <p:cNvPr id="109" name="Connector 109">
            <a:extLst>
              <a:ext uri="{FF2B5EF4-FFF2-40B4-BE49-F238E27FC236}">
                <a16:creationId xmlns:a16="http://schemas.microsoft.com/office/drawing/2014/main" id="{F5F2B9D7-7AB0-4709-AFE4-884EB567BAFE}"/>
              </a:ext>
            </a:extLst>
          </p:cNvPr>
          <p:cNvSpPr>
            <a:spLocks noGrp="1"/>
          </p:cNvSpPr>
          <p:nvPr/>
        </p:nvSpPr>
        <p:spPr>
          <a:xfrm>
            <a:off x="7562850" y="4568534"/>
            <a:ext cx="127635" cy="13231"/>
          </a:xfrm>
          <a:prstGeom prst="line">
            <a:avLst/>
          </a:prstGeom>
          <a:ln w="38100">
            <a:solidFill>
              <a:srgbClr val="2A5B84"/>
            </a:solidFill>
          </a:ln>
        </p:spPr>
      </p:sp>
      <p:sp>
        <p:nvSpPr>
          <p:cNvPr id="110" name="Connector 110">
            <a:extLst>
              <a:ext uri="{FF2B5EF4-FFF2-40B4-BE49-F238E27FC236}">
                <a16:creationId xmlns:a16="http://schemas.microsoft.com/office/drawing/2014/main" id="{D6FA35CF-C51D-4AD7-852E-2858C3863D3E}"/>
              </a:ext>
            </a:extLst>
          </p:cNvPr>
          <p:cNvSpPr>
            <a:spLocks noGrp="1"/>
          </p:cNvSpPr>
          <p:nvPr/>
        </p:nvSpPr>
        <p:spPr>
          <a:xfrm>
            <a:off x="7690485" y="4581765"/>
            <a:ext cx="127635" cy="12349"/>
          </a:xfrm>
          <a:prstGeom prst="line">
            <a:avLst/>
          </a:prstGeom>
          <a:ln w="38100">
            <a:solidFill>
              <a:srgbClr val="2A5B84"/>
            </a:solidFill>
          </a:ln>
        </p:spPr>
      </p:sp>
      <p:sp>
        <p:nvSpPr>
          <p:cNvPr id="111" name="Connector 111">
            <a:extLst>
              <a:ext uri="{FF2B5EF4-FFF2-40B4-BE49-F238E27FC236}">
                <a16:creationId xmlns:a16="http://schemas.microsoft.com/office/drawing/2014/main" id="{0351FA0A-F272-4164-9B66-049EBDD002B7}"/>
              </a:ext>
            </a:extLst>
          </p:cNvPr>
          <p:cNvSpPr>
            <a:spLocks noGrp="1"/>
          </p:cNvSpPr>
          <p:nvPr/>
        </p:nvSpPr>
        <p:spPr>
          <a:xfrm>
            <a:off x="7818120" y="4594114"/>
            <a:ext cx="127635" cy="11498"/>
          </a:xfrm>
          <a:prstGeom prst="line">
            <a:avLst/>
          </a:prstGeom>
          <a:ln w="38100">
            <a:solidFill>
              <a:srgbClr val="2A5B84"/>
            </a:solidFill>
          </a:ln>
        </p:spPr>
      </p:sp>
      <p:sp>
        <p:nvSpPr>
          <p:cNvPr id="112" name="Connector 112">
            <a:extLst>
              <a:ext uri="{FF2B5EF4-FFF2-40B4-BE49-F238E27FC236}">
                <a16:creationId xmlns:a16="http://schemas.microsoft.com/office/drawing/2014/main" id="{0B03BD7D-252E-458E-B037-99ABF30B16AE}"/>
              </a:ext>
            </a:extLst>
          </p:cNvPr>
          <p:cNvSpPr>
            <a:spLocks noGrp="1"/>
          </p:cNvSpPr>
          <p:nvPr/>
        </p:nvSpPr>
        <p:spPr>
          <a:xfrm>
            <a:off x="7945755" y="4605611"/>
            <a:ext cx="127635" cy="10677"/>
          </a:xfrm>
          <a:prstGeom prst="line">
            <a:avLst/>
          </a:prstGeom>
          <a:ln w="38100">
            <a:solidFill>
              <a:srgbClr val="2A5B84"/>
            </a:solidFill>
          </a:ln>
        </p:spPr>
      </p:sp>
      <p:sp>
        <p:nvSpPr>
          <p:cNvPr id="113" name="Connector 113">
            <a:extLst>
              <a:ext uri="{FF2B5EF4-FFF2-40B4-BE49-F238E27FC236}">
                <a16:creationId xmlns:a16="http://schemas.microsoft.com/office/drawing/2014/main" id="{54E8F3E8-0487-4F0F-8953-517C2058F798}"/>
              </a:ext>
            </a:extLst>
          </p:cNvPr>
          <p:cNvSpPr>
            <a:spLocks noGrp="1"/>
          </p:cNvSpPr>
          <p:nvPr/>
        </p:nvSpPr>
        <p:spPr>
          <a:xfrm>
            <a:off x="8073390" y="4616288"/>
            <a:ext cx="127635" cy="9886"/>
          </a:xfrm>
          <a:prstGeom prst="line">
            <a:avLst/>
          </a:prstGeom>
          <a:ln w="38100">
            <a:solidFill>
              <a:srgbClr val="2A5B84"/>
            </a:solidFill>
          </a:ln>
        </p:spPr>
      </p:sp>
      <p:sp>
        <p:nvSpPr>
          <p:cNvPr id="114" name="Connector 114">
            <a:extLst>
              <a:ext uri="{FF2B5EF4-FFF2-40B4-BE49-F238E27FC236}">
                <a16:creationId xmlns:a16="http://schemas.microsoft.com/office/drawing/2014/main" id="{BE1B91B7-E354-473F-9857-231FE0214B6F}"/>
              </a:ext>
            </a:extLst>
          </p:cNvPr>
          <p:cNvSpPr>
            <a:spLocks noGrp="1"/>
          </p:cNvSpPr>
          <p:nvPr/>
        </p:nvSpPr>
        <p:spPr>
          <a:xfrm>
            <a:off x="8201025" y="4626174"/>
            <a:ext cx="127635" cy="9126"/>
          </a:xfrm>
          <a:prstGeom prst="line">
            <a:avLst/>
          </a:prstGeom>
          <a:ln w="38100">
            <a:solidFill>
              <a:srgbClr val="2A5B84"/>
            </a:solidFill>
          </a:ln>
        </p:spPr>
      </p:sp>
      <p:sp>
        <p:nvSpPr>
          <p:cNvPr id="115" name="Connector 115">
            <a:extLst>
              <a:ext uri="{FF2B5EF4-FFF2-40B4-BE49-F238E27FC236}">
                <a16:creationId xmlns:a16="http://schemas.microsoft.com/office/drawing/2014/main" id="{AB7AF9A8-1110-4FD5-8F1F-945CB112F6D8}"/>
              </a:ext>
            </a:extLst>
          </p:cNvPr>
          <p:cNvSpPr>
            <a:spLocks noGrp="1"/>
          </p:cNvSpPr>
          <p:nvPr/>
        </p:nvSpPr>
        <p:spPr>
          <a:xfrm>
            <a:off x="8328660" y="4635300"/>
            <a:ext cx="127635" cy="8396"/>
          </a:xfrm>
          <a:prstGeom prst="line">
            <a:avLst/>
          </a:prstGeom>
          <a:ln w="38100">
            <a:solidFill>
              <a:srgbClr val="2A5B84"/>
            </a:solidFill>
          </a:ln>
        </p:spPr>
      </p:sp>
      <p:sp>
        <p:nvSpPr>
          <p:cNvPr id="116" name="Connector 116">
            <a:extLst>
              <a:ext uri="{FF2B5EF4-FFF2-40B4-BE49-F238E27FC236}">
                <a16:creationId xmlns:a16="http://schemas.microsoft.com/office/drawing/2014/main" id="{1FB3511C-D11D-4A69-B471-94B4BF9F132A}"/>
              </a:ext>
            </a:extLst>
          </p:cNvPr>
          <p:cNvSpPr>
            <a:spLocks noGrp="1"/>
          </p:cNvSpPr>
          <p:nvPr/>
        </p:nvSpPr>
        <p:spPr>
          <a:xfrm>
            <a:off x="8456295" y="4643697"/>
            <a:ext cx="127635" cy="7697"/>
          </a:xfrm>
          <a:prstGeom prst="line">
            <a:avLst/>
          </a:prstGeom>
          <a:ln w="38100">
            <a:solidFill>
              <a:srgbClr val="2A5B84"/>
            </a:solidFill>
          </a:ln>
        </p:spPr>
      </p:sp>
      <p:sp>
        <p:nvSpPr>
          <p:cNvPr id="117" name="Connector 117">
            <a:extLst>
              <a:ext uri="{FF2B5EF4-FFF2-40B4-BE49-F238E27FC236}">
                <a16:creationId xmlns:a16="http://schemas.microsoft.com/office/drawing/2014/main" id="{FA22D449-CD09-48A5-8588-A8AEE44F051F}"/>
              </a:ext>
            </a:extLst>
          </p:cNvPr>
          <p:cNvSpPr>
            <a:spLocks noGrp="1"/>
          </p:cNvSpPr>
          <p:nvPr/>
        </p:nvSpPr>
        <p:spPr>
          <a:xfrm>
            <a:off x="8583930" y="4651394"/>
            <a:ext cx="127635" cy="7028"/>
          </a:xfrm>
          <a:prstGeom prst="line">
            <a:avLst/>
          </a:prstGeom>
          <a:ln w="38100">
            <a:solidFill>
              <a:srgbClr val="2A5B84"/>
            </a:solidFill>
          </a:ln>
        </p:spPr>
      </p:sp>
      <p:sp>
        <p:nvSpPr>
          <p:cNvPr id="118" name="Connector 118">
            <a:extLst>
              <a:ext uri="{FF2B5EF4-FFF2-40B4-BE49-F238E27FC236}">
                <a16:creationId xmlns:a16="http://schemas.microsoft.com/office/drawing/2014/main" id="{6B6ACA8B-869C-4C93-BB0C-F1545CC9F080}"/>
              </a:ext>
            </a:extLst>
          </p:cNvPr>
          <p:cNvSpPr>
            <a:spLocks noGrp="1"/>
          </p:cNvSpPr>
          <p:nvPr/>
        </p:nvSpPr>
        <p:spPr>
          <a:xfrm>
            <a:off x="8711565" y="4658422"/>
            <a:ext cx="127635" cy="6390"/>
          </a:xfrm>
          <a:prstGeom prst="line">
            <a:avLst/>
          </a:prstGeom>
          <a:ln w="38100">
            <a:solidFill>
              <a:srgbClr val="2A5B84"/>
            </a:solidFill>
          </a:ln>
        </p:spPr>
      </p:sp>
      <p:sp>
        <p:nvSpPr>
          <p:cNvPr id="119" name="Connector 119">
            <a:extLst>
              <a:ext uri="{FF2B5EF4-FFF2-40B4-BE49-F238E27FC236}">
                <a16:creationId xmlns:a16="http://schemas.microsoft.com/office/drawing/2014/main" id="{1A4569C0-D853-4288-A012-3377274F0E6C}"/>
              </a:ext>
            </a:extLst>
          </p:cNvPr>
          <p:cNvSpPr>
            <a:spLocks noGrp="1"/>
          </p:cNvSpPr>
          <p:nvPr/>
        </p:nvSpPr>
        <p:spPr>
          <a:xfrm>
            <a:off x="8839200" y="4664812"/>
            <a:ext cx="127635" cy="5782"/>
          </a:xfrm>
          <a:prstGeom prst="line">
            <a:avLst/>
          </a:prstGeom>
          <a:ln w="38100">
            <a:solidFill>
              <a:srgbClr val="2A5B84"/>
            </a:solidFill>
          </a:ln>
        </p:spPr>
      </p:sp>
      <p:sp>
        <p:nvSpPr>
          <p:cNvPr id="120" name="Connector 120">
            <a:extLst>
              <a:ext uri="{FF2B5EF4-FFF2-40B4-BE49-F238E27FC236}">
                <a16:creationId xmlns:a16="http://schemas.microsoft.com/office/drawing/2014/main" id="{5DA1C5D2-D39F-4F4D-A6D6-24509164DF91}"/>
              </a:ext>
            </a:extLst>
          </p:cNvPr>
          <p:cNvSpPr>
            <a:spLocks noGrp="1"/>
          </p:cNvSpPr>
          <p:nvPr/>
        </p:nvSpPr>
        <p:spPr>
          <a:xfrm>
            <a:off x="8966835" y="4670594"/>
            <a:ext cx="127635" cy="5204"/>
          </a:xfrm>
          <a:prstGeom prst="line">
            <a:avLst/>
          </a:prstGeom>
          <a:ln w="38100">
            <a:solidFill>
              <a:srgbClr val="2A5B84"/>
            </a:solidFill>
          </a:ln>
        </p:spPr>
      </p:sp>
      <p:sp>
        <p:nvSpPr>
          <p:cNvPr id="121" name="Connector 121">
            <a:extLst>
              <a:ext uri="{FF2B5EF4-FFF2-40B4-BE49-F238E27FC236}">
                <a16:creationId xmlns:a16="http://schemas.microsoft.com/office/drawing/2014/main" id="{68F8877F-BDDF-4A7F-BA6A-17BF0A618902}"/>
              </a:ext>
            </a:extLst>
          </p:cNvPr>
          <p:cNvSpPr>
            <a:spLocks noGrp="1"/>
          </p:cNvSpPr>
          <p:nvPr/>
        </p:nvSpPr>
        <p:spPr>
          <a:xfrm>
            <a:off x="9094470" y="4675798"/>
            <a:ext cx="127635" cy="4657"/>
          </a:xfrm>
          <a:prstGeom prst="line">
            <a:avLst/>
          </a:prstGeom>
          <a:ln w="38100">
            <a:solidFill>
              <a:srgbClr val="2A5B84"/>
            </a:solidFill>
          </a:ln>
        </p:spPr>
      </p:sp>
      <p:sp>
        <p:nvSpPr>
          <p:cNvPr id="122" name="Connector 122">
            <a:extLst>
              <a:ext uri="{FF2B5EF4-FFF2-40B4-BE49-F238E27FC236}">
                <a16:creationId xmlns:a16="http://schemas.microsoft.com/office/drawing/2014/main" id="{F81695B1-AC94-452B-844C-7F3C980BBF43}"/>
              </a:ext>
            </a:extLst>
          </p:cNvPr>
          <p:cNvSpPr>
            <a:spLocks noGrp="1"/>
          </p:cNvSpPr>
          <p:nvPr/>
        </p:nvSpPr>
        <p:spPr>
          <a:xfrm>
            <a:off x="9222105" y="4680455"/>
            <a:ext cx="127635" cy="4140"/>
          </a:xfrm>
          <a:prstGeom prst="line">
            <a:avLst/>
          </a:prstGeom>
          <a:ln w="38100">
            <a:solidFill>
              <a:srgbClr val="2A5B84"/>
            </a:solidFill>
          </a:ln>
        </p:spPr>
      </p:sp>
      <p:sp>
        <p:nvSpPr>
          <p:cNvPr id="123" name="Connector 123">
            <a:extLst>
              <a:ext uri="{FF2B5EF4-FFF2-40B4-BE49-F238E27FC236}">
                <a16:creationId xmlns:a16="http://schemas.microsoft.com/office/drawing/2014/main" id="{31BDAD73-665A-46B1-B2D8-9F05877B3255}"/>
              </a:ext>
            </a:extLst>
          </p:cNvPr>
          <p:cNvSpPr>
            <a:spLocks noGrp="1"/>
          </p:cNvSpPr>
          <p:nvPr/>
        </p:nvSpPr>
        <p:spPr>
          <a:xfrm>
            <a:off x="9349740" y="4684595"/>
            <a:ext cx="127635" cy="3653"/>
          </a:xfrm>
          <a:prstGeom prst="line">
            <a:avLst/>
          </a:prstGeom>
          <a:ln w="38100">
            <a:solidFill>
              <a:srgbClr val="2A5B84"/>
            </a:solidFill>
          </a:ln>
        </p:spPr>
      </p:sp>
      <p:sp>
        <p:nvSpPr>
          <p:cNvPr id="124" name="Connector 124">
            <a:extLst>
              <a:ext uri="{FF2B5EF4-FFF2-40B4-BE49-F238E27FC236}">
                <a16:creationId xmlns:a16="http://schemas.microsoft.com/office/drawing/2014/main" id="{AD34DD09-11A8-44A7-A6F1-95321417BD93}"/>
              </a:ext>
            </a:extLst>
          </p:cNvPr>
          <p:cNvSpPr>
            <a:spLocks noGrp="1"/>
          </p:cNvSpPr>
          <p:nvPr/>
        </p:nvSpPr>
        <p:spPr>
          <a:xfrm>
            <a:off x="9477375" y="4688248"/>
            <a:ext cx="127635" cy="3197"/>
          </a:xfrm>
          <a:prstGeom prst="line">
            <a:avLst/>
          </a:prstGeom>
          <a:ln w="38100">
            <a:solidFill>
              <a:srgbClr val="2A5B84"/>
            </a:solidFill>
          </a:ln>
        </p:spPr>
      </p:sp>
      <p:sp>
        <p:nvSpPr>
          <p:cNvPr id="125" name="Connector 125">
            <a:extLst>
              <a:ext uri="{FF2B5EF4-FFF2-40B4-BE49-F238E27FC236}">
                <a16:creationId xmlns:a16="http://schemas.microsoft.com/office/drawing/2014/main" id="{2352F0E6-B854-4834-9684-9C901F08C9A9}"/>
              </a:ext>
            </a:extLst>
          </p:cNvPr>
          <p:cNvSpPr>
            <a:spLocks noGrp="1"/>
          </p:cNvSpPr>
          <p:nvPr/>
        </p:nvSpPr>
        <p:spPr>
          <a:xfrm>
            <a:off x="9605010" y="4691445"/>
            <a:ext cx="127635" cy="2772"/>
          </a:xfrm>
          <a:prstGeom prst="line">
            <a:avLst/>
          </a:prstGeom>
          <a:ln w="38100">
            <a:solidFill>
              <a:srgbClr val="2A5B84"/>
            </a:solidFill>
          </a:ln>
        </p:spPr>
      </p:sp>
      <p:sp>
        <p:nvSpPr>
          <p:cNvPr id="126" name="Connector 126">
            <a:extLst>
              <a:ext uri="{FF2B5EF4-FFF2-40B4-BE49-F238E27FC236}">
                <a16:creationId xmlns:a16="http://schemas.microsoft.com/office/drawing/2014/main" id="{F16DF9ED-7E0E-4AC2-BCE6-9F68EF187197}"/>
              </a:ext>
            </a:extLst>
          </p:cNvPr>
          <p:cNvSpPr>
            <a:spLocks noGrp="1"/>
          </p:cNvSpPr>
          <p:nvPr/>
        </p:nvSpPr>
        <p:spPr>
          <a:xfrm>
            <a:off x="9732645" y="4694217"/>
            <a:ext cx="127635" cy="2377"/>
          </a:xfrm>
          <a:prstGeom prst="line">
            <a:avLst/>
          </a:prstGeom>
          <a:ln w="38100">
            <a:solidFill>
              <a:srgbClr val="2A5B84"/>
            </a:solidFill>
          </a:ln>
        </p:spPr>
      </p:sp>
      <p:sp>
        <p:nvSpPr>
          <p:cNvPr id="127" name="Connector 127">
            <a:extLst>
              <a:ext uri="{FF2B5EF4-FFF2-40B4-BE49-F238E27FC236}">
                <a16:creationId xmlns:a16="http://schemas.microsoft.com/office/drawing/2014/main" id="{43198146-6579-447F-93F8-BD24F23162A2}"/>
              </a:ext>
            </a:extLst>
          </p:cNvPr>
          <p:cNvSpPr>
            <a:spLocks noGrp="1"/>
          </p:cNvSpPr>
          <p:nvPr/>
        </p:nvSpPr>
        <p:spPr>
          <a:xfrm>
            <a:off x="9860280" y="4696594"/>
            <a:ext cx="127635" cy="2012"/>
          </a:xfrm>
          <a:prstGeom prst="line">
            <a:avLst/>
          </a:prstGeom>
          <a:ln w="38100">
            <a:solidFill>
              <a:srgbClr val="2A5B84"/>
            </a:solidFill>
          </a:ln>
        </p:spPr>
      </p:sp>
      <p:sp>
        <p:nvSpPr>
          <p:cNvPr id="128" name="Connector 128">
            <a:extLst>
              <a:ext uri="{FF2B5EF4-FFF2-40B4-BE49-F238E27FC236}">
                <a16:creationId xmlns:a16="http://schemas.microsoft.com/office/drawing/2014/main" id="{C7844806-1FFB-494D-98B6-9CA35096ED80}"/>
              </a:ext>
            </a:extLst>
          </p:cNvPr>
          <p:cNvSpPr>
            <a:spLocks noGrp="1"/>
          </p:cNvSpPr>
          <p:nvPr/>
        </p:nvSpPr>
        <p:spPr>
          <a:xfrm>
            <a:off x="9987915" y="4698605"/>
            <a:ext cx="127635" cy="1677"/>
          </a:xfrm>
          <a:prstGeom prst="line">
            <a:avLst/>
          </a:prstGeom>
          <a:ln w="38100">
            <a:solidFill>
              <a:srgbClr val="2A5B84"/>
            </a:solidFill>
          </a:ln>
        </p:spPr>
      </p:sp>
      <p:sp>
        <p:nvSpPr>
          <p:cNvPr id="129" name="Connector 129">
            <a:extLst>
              <a:ext uri="{FF2B5EF4-FFF2-40B4-BE49-F238E27FC236}">
                <a16:creationId xmlns:a16="http://schemas.microsoft.com/office/drawing/2014/main" id="{CC7205ED-DEDC-4AF3-AB0B-EC986FB6B62E}"/>
              </a:ext>
            </a:extLst>
          </p:cNvPr>
          <p:cNvSpPr>
            <a:spLocks noGrp="1"/>
          </p:cNvSpPr>
          <p:nvPr/>
        </p:nvSpPr>
        <p:spPr>
          <a:xfrm>
            <a:off x="10115550" y="4700283"/>
            <a:ext cx="127635" cy="1373"/>
          </a:xfrm>
          <a:prstGeom prst="line">
            <a:avLst/>
          </a:prstGeom>
          <a:ln w="38100">
            <a:solidFill>
              <a:srgbClr val="2A5B84"/>
            </a:solidFill>
          </a:ln>
        </p:spPr>
      </p:sp>
      <p:sp>
        <p:nvSpPr>
          <p:cNvPr id="130" name="Connector 130">
            <a:extLst>
              <a:ext uri="{FF2B5EF4-FFF2-40B4-BE49-F238E27FC236}">
                <a16:creationId xmlns:a16="http://schemas.microsoft.com/office/drawing/2014/main" id="{C3059012-3770-47DD-B661-F5CEF3F7FAF8}"/>
              </a:ext>
            </a:extLst>
          </p:cNvPr>
          <p:cNvSpPr>
            <a:spLocks noGrp="1"/>
          </p:cNvSpPr>
          <p:nvPr/>
        </p:nvSpPr>
        <p:spPr>
          <a:xfrm>
            <a:off x="10243185" y="4701656"/>
            <a:ext cx="127635" cy="1100"/>
          </a:xfrm>
          <a:prstGeom prst="line">
            <a:avLst/>
          </a:prstGeom>
          <a:ln w="38100">
            <a:solidFill>
              <a:srgbClr val="2A5B84"/>
            </a:solidFill>
          </a:ln>
        </p:spPr>
      </p:sp>
      <p:sp>
        <p:nvSpPr>
          <p:cNvPr id="131" name="Connector 131">
            <a:extLst>
              <a:ext uri="{FF2B5EF4-FFF2-40B4-BE49-F238E27FC236}">
                <a16:creationId xmlns:a16="http://schemas.microsoft.com/office/drawing/2014/main" id="{6726C9EB-E1EB-4D9B-9D77-2C805B44F7D0}"/>
              </a:ext>
            </a:extLst>
          </p:cNvPr>
          <p:cNvSpPr>
            <a:spLocks noGrp="1"/>
          </p:cNvSpPr>
          <p:nvPr/>
        </p:nvSpPr>
        <p:spPr>
          <a:xfrm>
            <a:off x="10370820" y="4702756"/>
            <a:ext cx="127635" cy="856"/>
          </a:xfrm>
          <a:prstGeom prst="line">
            <a:avLst/>
          </a:prstGeom>
          <a:ln w="38100">
            <a:solidFill>
              <a:srgbClr val="2A5B84"/>
            </a:solidFill>
          </a:ln>
        </p:spPr>
      </p:sp>
      <p:sp>
        <p:nvSpPr>
          <p:cNvPr id="132" name="Connector 132">
            <a:extLst>
              <a:ext uri="{FF2B5EF4-FFF2-40B4-BE49-F238E27FC236}">
                <a16:creationId xmlns:a16="http://schemas.microsoft.com/office/drawing/2014/main" id="{0B01943D-CCB7-4C90-93E4-6A8702014F76}"/>
              </a:ext>
            </a:extLst>
          </p:cNvPr>
          <p:cNvSpPr>
            <a:spLocks noGrp="1"/>
          </p:cNvSpPr>
          <p:nvPr/>
        </p:nvSpPr>
        <p:spPr>
          <a:xfrm>
            <a:off x="10498455" y="4703612"/>
            <a:ext cx="127635" cy="644"/>
          </a:xfrm>
          <a:prstGeom prst="line">
            <a:avLst/>
          </a:prstGeom>
          <a:ln w="38100">
            <a:solidFill>
              <a:srgbClr val="2A5B84"/>
            </a:solidFill>
          </a:ln>
        </p:spPr>
      </p:sp>
      <p:sp>
        <p:nvSpPr>
          <p:cNvPr id="133" name="Connector 133">
            <a:extLst>
              <a:ext uri="{FF2B5EF4-FFF2-40B4-BE49-F238E27FC236}">
                <a16:creationId xmlns:a16="http://schemas.microsoft.com/office/drawing/2014/main" id="{742B982F-753A-4A46-BE13-C3AA7825C3C0}"/>
              </a:ext>
            </a:extLst>
          </p:cNvPr>
          <p:cNvSpPr>
            <a:spLocks noGrp="1"/>
          </p:cNvSpPr>
          <p:nvPr/>
        </p:nvSpPr>
        <p:spPr>
          <a:xfrm>
            <a:off x="10626090" y="4704255"/>
            <a:ext cx="127635" cy="461"/>
          </a:xfrm>
          <a:prstGeom prst="line">
            <a:avLst/>
          </a:prstGeom>
          <a:ln w="38100">
            <a:solidFill>
              <a:srgbClr val="2A5B84"/>
            </a:solidFill>
          </a:ln>
        </p:spPr>
      </p:sp>
      <p:sp>
        <p:nvSpPr>
          <p:cNvPr id="134" name="Connector 134">
            <a:extLst>
              <a:ext uri="{FF2B5EF4-FFF2-40B4-BE49-F238E27FC236}">
                <a16:creationId xmlns:a16="http://schemas.microsoft.com/office/drawing/2014/main" id="{16420FA9-A464-490E-B063-5576A6B9DC2A}"/>
              </a:ext>
            </a:extLst>
          </p:cNvPr>
          <p:cNvSpPr>
            <a:spLocks noGrp="1"/>
          </p:cNvSpPr>
          <p:nvPr/>
        </p:nvSpPr>
        <p:spPr>
          <a:xfrm>
            <a:off x="10753725" y="4704717"/>
            <a:ext cx="127635" cy="309"/>
          </a:xfrm>
          <a:prstGeom prst="line">
            <a:avLst/>
          </a:prstGeom>
          <a:ln w="38100">
            <a:solidFill>
              <a:srgbClr val="2A5B84"/>
            </a:solidFill>
          </a:ln>
        </p:spPr>
      </p:sp>
      <p:sp>
        <p:nvSpPr>
          <p:cNvPr id="135" name="Connector 135">
            <a:extLst>
              <a:ext uri="{FF2B5EF4-FFF2-40B4-BE49-F238E27FC236}">
                <a16:creationId xmlns:a16="http://schemas.microsoft.com/office/drawing/2014/main" id="{1CBC5443-AAB1-41B1-BD56-511F2BE962B3}"/>
              </a:ext>
            </a:extLst>
          </p:cNvPr>
          <p:cNvSpPr>
            <a:spLocks noGrp="1"/>
          </p:cNvSpPr>
          <p:nvPr/>
        </p:nvSpPr>
        <p:spPr>
          <a:xfrm>
            <a:off x="10881360" y="4705026"/>
            <a:ext cx="127635" cy="187"/>
          </a:xfrm>
          <a:prstGeom prst="line">
            <a:avLst/>
          </a:prstGeom>
          <a:ln w="38100">
            <a:solidFill>
              <a:srgbClr val="2A5B84"/>
            </a:solidFill>
          </a:ln>
        </p:spPr>
      </p:sp>
      <p:sp>
        <p:nvSpPr>
          <p:cNvPr id="136" name="Connector 136">
            <a:extLst>
              <a:ext uri="{FF2B5EF4-FFF2-40B4-BE49-F238E27FC236}">
                <a16:creationId xmlns:a16="http://schemas.microsoft.com/office/drawing/2014/main" id="{82911230-25E3-4A6E-AA17-E44A575F0ACB}"/>
              </a:ext>
            </a:extLst>
          </p:cNvPr>
          <p:cNvSpPr>
            <a:spLocks noGrp="1"/>
          </p:cNvSpPr>
          <p:nvPr/>
        </p:nvSpPr>
        <p:spPr>
          <a:xfrm>
            <a:off x="11008995" y="4705213"/>
            <a:ext cx="127635" cy="96"/>
          </a:xfrm>
          <a:prstGeom prst="line">
            <a:avLst/>
          </a:prstGeom>
          <a:ln w="38100">
            <a:solidFill>
              <a:srgbClr val="2A5B84"/>
            </a:solidFill>
          </a:ln>
        </p:spPr>
      </p:sp>
      <p:sp>
        <p:nvSpPr>
          <p:cNvPr id="137" name="Connector 137">
            <a:extLst>
              <a:ext uri="{FF2B5EF4-FFF2-40B4-BE49-F238E27FC236}">
                <a16:creationId xmlns:a16="http://schemas.microsoft.com/office/drawing/2014/main" id="{C4934FC7-393A-472F-A140-4FA6E384A5F1}"/>
              </a:ext>
            </a:extLst>
          </p:cNvPr>
          <p:cNvSpPr>
            <a:spLocks noGrp="1"/>
          </p:cNvSpPr>
          <p:nvPr/>
        </p:nvSpPr>
        <p:spPr>
          <a:xfrm>
            <a:off x="11136630" y="4705309"/>
            <a:ext cx="127635" cy="35"/>
          </a:xfrm>
          <a:prstGeom prst="line">
            <a:avLst/>
          </a:prstGeom>
          <a:ln w="38100">
            <a:solidFill>
              <a:srgbClr val="2A5B84"/>
            </a:solidFill>
          </a:ln>
        </p:spPr>
      </p:sp>
      <p:sp>
        <p:nvSpPr>
          <p:cNvPr id="138" name="Connector 138">
            <a:extLst>
              <a:ext uri="{FF2B5EF4-FFF2-40B4-BE49-F238E27FC236}">
                <a16:creationId xmlns:a16="http://schemas.microsoft.com/office/drawing/2014/main" id="{F700490A-5E9B-47E9-BAE8-9613B884EC15}"/>
              </a:ext>
            </a:extLst>
          </p:cNvPr>
          <p:cNvSpPr>
            <a:spLocks noGrp="1"/>
          </p:cNvSpPr>
          <p:nvPr/>
        </p:nvSpPr>
        <p:spPr>
          <a:xfrm>
            <a:off x="11264265" y="4705345"/>
            <a:ext cx="127635" cy="5"/>
          </a:xfrm>
          <a:prstGeom prst="line">
            <a:avLst/>
          </a:prstGeom>
          <a:ln w="38100">
            <a:solidFill>
              <a:srgbClr val="2A5B84"/>
            </a:solidFill>
          </a:ln>
        </p:spPr>
      </p:sp>
      <p:sp>
        <p:nvSpPr>
          <p:cNvPr id="139" name="Connector 139">
            <a:extLst>
              <a:ext uri="{FF2B5EF4-FFF2-40B4-BE49-F238E27FC236}">
                <a16:creationId xmlns:a16="http://schemas.microsoft.com/office/drawing/2014/main" id="{70B2FC69-FDA1-422B-8677-263FDA22A2DD}"/>
              </a:ext>
            </a:extLst>
          </p:cNvPr>
          <p:cNvSpPr>
            <a:spLocks noGrp="1"/>
          </p:cNvSpPr>
          <p:nvPr/>
        </p:nvSpPr>
        <p:spPr>
          <a:xfrm flipV="1">
            <a:off x="1181100" y="4705013"/>
            <a:ext cx="127635" cy="337"/>
          </a:xfrm>
          <a:prstGeom prst="line">
            <a:avLst/>
          </a:prstGeom>
          <a:ln w="50800">
            <a:solidFill>
              <a:srgbClr val="D71920"/>
            </a:solidFill>
          </a:ln>
        </p:spPr>
      </p:sp>
      <p:sp>
        <p:nvSpPr>
          <p:cNvPr id="140" name="Connector 140">
            <a:extLst>
              <a:ext uri="{FF2B5EF4-FFF2-40B4-BE49-F238E27FC236}">
                <a16:creationId xmlns:a16="http://schemas.microsoft.com/office/drawing/2014/main" id="{32631FA4-889C-4352-9E4E-FF64ABF92C2A}"/>
              </a:ext>
            </a:extLst>
          </p:cNvPr>
          <p:cNvSpPr>
            <a:spLocks noGrp="1"/>
          </p:cNvSpPr>
          <p:nvPr/>
        </p:nvSpPr>
        <p:spPr>
          <a:xfrm flipV="1">
            <a:off x="1308735" y="4702786"/>
            <a:ext cx="127635" cy="2227"/>
          </a:xfrm>
          <a:prstGeom prst="line">
            <a:avLst/>
          </a:prstGeom>
          <a:ln w="50800">
            <a:solidFill>
              <a:srgbClr val="D71920"/>
            </a:solidFill>
          </a:ln>
        </p:spPr>
      </p:sp>
      <p:sp>
        <p:nvSpPr>
          <p:cNvPr id="141" name="Connector 141">
            <a:extLst>
              <a:ext uri="{FF2B5EF4-FFF2-40B4-BE49-F238E27FC236}">
                <a16:creationId xmlns:a16="http://schemas.microsoft.com/office/drawing/2014/main" id="{C2D2348F-C6F2-43DB-9160-A926F43FE716}"/>
              </a:ext>
            </a:extLst>
          </p:cNvPr>
          <p:cNvSpPr>
            <a:spLocks noGrp="1"/>
          </p:cNvSpPr>
          <p:nvPr/>
        </p:nvSpPr>
        <p:spPr>
          <a:xfrm flipV="1">
            <a:off x="1436370" y="4697131"/>
            <a:ext cx="127635" cy="5655"/>
          </a:xfrm>
          <a:prstGeom prst="line">
            <a:avLst/>
          </a:prstGeom>
          <a:ln w="50800">
            <a:solidFill>
              <a:srgbClr val="D71920"/>
            </a:solidFill>
          </a:ln>
        </p:spPr>
      </p:sp>
      <p:sp>
        <p:nvSpPr>
          <p:cNvPr id="142" name="Connector 142">
            <a:extLst>
              <a:ext uri="{FF2B5EF4-FFF2-40B4-BE49-F238E27FC236}">
                <a16:creationId xmlns:a16="http://schemas.microsoft.com/office/drawing/2014/main" id="{4BCB67E0-F2AE-45F4-892F-4424BE62F225}"/>
              </a:ext>
            </a:extLst>
          </p:cNvPr>
          <p:cNvSpPr>
            <a:spLocks noGrp="1"/>
          </p:cNvSpPr>
          <p:nvPr/>
        </p:nvSpPr>
        <p:spPr>
          <a:xfrm flipV="1">
            <a:off x="1564005" y="4686860"/>
            <a:ext cx="127635" cy="10271"/>
          </a:xfrm>
          <a:prstGeom prst="line">
            <a:avLst/>
          </a:prstGeom>
          <a:ln w="50800">
            <a:solidFill>
              <a:srgbClr val="D71920"/>
            </a:solidFill>
          </a:ln>
        </p:spPr>
      </p:sp>
      <p:sp>
        <p:nvSpPr>
          <p:cNvPr id="143" name="Connector 143">
            <a:extLst>
              <a:ext uri="{FF2B5EF4-FFF2-40B4-BE49-F238E27FC236}">
                <a16:creationId xmlns:a16="http://schemas.microsoft.com/office/drawing/2014/main" id="{A66CCA0E-3865-4127-B25D-266816F528E8}"/>
              </a:ext>
            </a:extLst>
          </p:cNvPr>
          <p:cNvSpPr>
            <a:spLocks noGrp="1"/>
          </p:cNvSpPr>
          <p:nvPr/>
        </p:nvSpPr>
        <p:spPr>
          <a:xfrm flipV="1">
            <a:off x="1691640" y="4671100"/>
            <a:ext cx="127635" cy="15760"/>
          </a:xfrm>
          <a:prstGeom prst="line">
            <a:avLst/>
          </a:prstGeom>
          <a:ln w="50800">
            <a:solidFill>
              <a:srgbClr val="D71920"/>
            </a:solidFill>
          </a:ln>
        </p:spPr>
      </p:sp>
      <p:sp>
        <p:nvSpPr>
          <p:cNvPr id="144" name="Connector 144">
            <a:extLst>
              <a:ext uri="{FF2B5EF4-FFF2-40B4-BE49-F238E27FC236}">
                <a16:creationId xmlns:a16="http://schemas.microsoft.com/office/drawing/2014/main" id="{57051C3B-433B-4FD1-9C1C-83CB8FF89826}"/>
              </a:ext>
            </a:extLst>
          </p:cNvPr>
          <p:cNvSpPr>
            <a:spLocks noGrp="1"/>
          </p:cNvSpPr>
          <p:nvPr/>
        </p:nvSpPr>
        <p:spPr>
          <a:xfrm flipV="1">
            <a:off x="1819275" y="4649259"/>
            <a:ext cx="127635" cy="21840"/>
          </a:xfrm>
          <a:prstGeom prst="line">
            <a:avLst/>
          </a:prstGeom>
          <a:ln w="50800">
            <a:solidFill>
              <a:srgbClr val="D71920"/>
            </a:solidFill>
          </a:ln>
        </p:spPr>
      </p:sp>
      <p:sp>
        <p:nvSpPr>
          <p:cNvPr id="145" name="Connector 145">
            <a:extLst>
              <a:ext uri="{FF2B5EF4-FFF2-40B4-BE49-F238E27FC236}">
                <a16:creationId xmlns:a16="http://schemas.microsoft.com/office/drawing/2014/main" id="{9CEEA49D-7F97-44EA-92B7-1A181A4DDB47}"/>
              </a:ext>
            </a:extLst>
          </p:cNvPr>
          <p:cNvSpPr>
            <a:spLocks noGrp="1"/>
          </p:cNvSpPr>
          <p:nvPr/>
        </p:nvSpPr>
        <p:spPr>
          <a:xfrm flipV="1">
            <a:off x="1946910" y="4620998"/>
            <a:ext cx="127635" cy="28261"/>
          </a:xfrm>
          <a:prstGeom prst="line">
            <a:avLst/>
          </a:prstGeom>
          <a:ln w="50800">
            <a:solidFill>
              <a:srgbClr val="D71920"/>
            </a:solidFill>
          </a:ln>
        </p:spPr>
      </p:sp>
      <p:sp>
        <p:nvSpPr>
          <p:cNvPr id="146" name="Connector 146">
            <a:extLst>
              <a:ext uri="{FF2B5EF4-FFF2-40B4-BE49-F238E27FC236}">
                <a16:creationId xmlns:a16="http://schemas.microsoft.com/office/drawing/2014/main" id="{8638D95D-0091-45F5-BDBB-FBC8950ED1D1}"/>
              </a:ext>
            </a:extLst>
          </p:cNvPr>
          <p:cNvSpPr>
            <a:spLocks noGrp="1"/>
          </p:cNvSpPr>
          <p:nvPr/>
        </p:nvSpPr>
        <p:spPr>
          <a:xfrm flipV="1">
            <a:off x="2074545" y="4586196"/>
            <a:ext cx="127635" cy="34802"/>
          </a:xfrm>
          <a:prstGeom prst="line">
            <a:avLst/>
          </a:prstGeom>
          <a:ln w="50800">
            <a:solidFill>
              <a:srgbClr val="D71920"/>
            </a:solidFill>
          </a:ln>
        </p:spPr>
      </p:sp>
      <p:sp>
        <p:nvSpPr>
          <p:cNvPr id="147" name="Connector 147">
            <a:extLst>
              <a:ext uri="{FF2B5EF4-FFF2-40B4-BE49-F238E27FC236}">
                <a16:creationId xmlns:a16="http://schemas.microsoft.com/office/drawing/2014/main" id="{F7122CD5-A957-47C2-B527-B38BFDCD3FA9}"/>
              </a:ext>
            </a:extLst>
          </p:cNvPr>
          <p:cNvSpPr>
            <a:spLocks noGrp="1"/>
          </p:cNvSpPr>
          <p:nvPr/>
        </p:nvSpPr>
        <p:spPr>
          <a:xfrm flipV="1">
            <a:off x="2202180" y="4544925"/>
            <a:ext cx="127635" cy="41270"/>
          </a:xfrm>
          <a:prstGeom prst="line">
            <a:avLst/>
          </a:prstGeom>
          <a:ln w="50800">
            <a:solidFill>
              <a:srgbClr val="D71920"/>
            </a:solidFill>
          </a:ln>
        </p:spPr>
      </p:sp>
      <p:sp>
        <p:nvSpPr>
          <p:cNvPr id="148" name="Connector 148">
            <a:extLst>
              <a:ext uri="{FF2B5EF4-FFF2-40B4-BE49-F238E27FC236}">
                <a16:creationId xmlns:a16="http://schemas.microsoft.com/office/drawing/2014/main" id="{56C5DD3E-6787-4445-9003-239743977F76}"/>
              </a:ext>
            </a:extLst>
          </p:cNvPr>
          <p:cNvSpPr>
            <a:spLocks noGrp="1"/>
          </p:cNvSpPr>
          <p:nvPr/>
        </p:nvSpPr>
        <p:spPr>
          <a:xfrm flipV="1">
            <a:off x="2329815" y="4497427"/>
            <a:ext cx="127635" cy="47498"/>
          </a:xfrm>
          <a:prstGeom prst="line">
            <a:avLst/>
          </a:prstGeom>
          <a:ln w="50800">
            <a:solidFill>
              <a:srgbClr val="D71920"/>
            </a:solidFill>
          </a:ln>
        </p:spPr>
      </p:sp>
      <p:sp>
        <p:nvSpPr>
          <p:cNvPr id="149" name="Connector 149">
            <a:extLst>
              <a:ext uri="{FF2B5EF4-FFF2-40B4-BE49-F238E27FC236}">
                <a16:creationId xmlns:a16="http://schemas.microsoft.com/office/drawing/2014/main" id="{DA30AE60-A428-4C4A-9783-C40FD8D0B593}"/>
              </a:ext>
            </a:extLst>
          </p:cNvPr>
          <p:cNvSpPr>
            <a:spLocks noGrp="1"/>
          </p:cNvSpPr>
          <p:nvPr/>
        </p:nvSpPr>
        <p:spPr>
          <a:xfrm flipV="1">
            <a:off x="2457450" y="4444083"/>
            <a:ext cx="127635" cy="53344"/>
          </a:xfrm>
          <a:prstGeom prst="line">
            <a:avLst/>
          </a:prstGeom>
          <a:ln w="50800">
            <a:solidFill>
              <a:srgbClr val="D71920"/>
            </a:solidFill>
          </a:ln>
        </p:spPr>
      </p:sp>
      <p:sp>
        <p:nvSpPr>
          <p:cNvPr id="150" name="Connector 150">
            <a:extLst>
              <a:ext uri="{FF2B5EF4-FFF2-40B4-BE49-F238E27FC236}">
                <a16:creationId xmlns:a16="http://schemas.microsoft.com/office/drawing/2014/main" id="{500D45B6-FFC0-400A-9223-6C08D2BEF2CE}"/>
              </a:ext>
            </a:extLst>
          </p:cNvPr>
          <p:cNvSpPr>
            <a:spLocks noGrp="1"/>
          </p:cNvSpPr>
          <p:nvPr/>
        </p:nvSpPr>
        <p:spPr>
          <a:xfrm flipV="1">
            <a:off x="2585085" y="4385395"/>
            <a:ext cx="127635" cy="58688"/>
          </a:xfrm>
          <a:prstGeom prst="line">
            <a:avLst/>
          </a:prstGeom>
          <a:ln w="50800">
            <a:solidFill>
              <a:srgbClr val="D71920"/>
            </a:solidFill>
          </a:ln>
        </p:spPr>
      </p:sp>
      <p:sp>
        <p:nvSpPr>
          <p:cNvPr id="151" name="Connector 151">
            <a:extLst>
              <a:ext uri="{FF2B5EF4-FFF2-40B4-BE49-F238E27FC236}">
                <a16:creationId xmlns:a16="http://schemas.microsoft.com/office/drawing/2014/main" id="{B7819DD4-81E9-48CE-A1B5-0CFB9402CB34}"/>
              </a:ext>
            </a:extLst>
          </p:cNvPr>
          <p:cNvSpPr>
            <a:spLocks noGrp="1"/>
          </p:cNvSpPr>
          <p:nvPr/>
        </p:nvSpPr>
        <p:spPr>
          <a:xfrm flipV="1">
            <a:off x="2712720" y="4321961"/>
            <a:ext cx="127635" cy="63433"/>
          </a:xfrm>
          <a:prstGeom prst="line">
            <a:avLst/>
          </a:prstGeom>
          <a:ln w="50800">
            <a:solidFill>
              <a:srgbClr val="D71920"/>
            </a:solidFill>
          </a:ln>
        </p:spPr>
      </p:sp>
      <p:sp>
        <p:nvSpPr>
          <p:cNvPr id="152" name="Connector 152">
            <a:extLst>
              <a:ext uri="{FF2B5EF4-FFF2-40B4-BE49-F238E27FC236}">
                <a16:creationId xmlns:a16="http://schemas.microsoft.com/office/drawing/2014/main" id="{8024441B-0DC8-465C-936B-26A1596019AC}"/>
              </a:ext>
            </a:extLst>
          </p:cNvPr>
          <p:cNvSpPr>
            <a:spLocks noGrp="1"/>
          </p:cNvSpPr>
          <p:nvPr/>
        </p:nvSpPr>
        <p:spPr>
          <a:xfrm flipV="1">
            <a:off x="2840355" y="4254461"/>
            <a:ext cx="127635" cy="67501"/>
          </a:xfrm>
          <a:prstGeom prst="line">
            <a:avLst/>
          </a:prstGeom>
          <a:ln w="50800">
            <a:solidFill>
              <a:srgbClr val="D71920"/>
            </a:solidFill>
          </a:ln>
        </p:spPr>
      </p:sp>
      <p:sp>
        <p:nvSpPr>
          <p:cNvPr id="153" name="Connector 153">
            <a:extLst>
              <a:ext uri="{FF2B5EF4-FFF2-40B4-BE49-F238E27FC236}">
                <a16:creationId xmlns:a16="http://schemas.microsoft.com/office/drawing/2014/main" id="{B06E8EF5-069C-49A2-B48D-DBFB9E478E11}"/>
              </a:ext>
            </a:extLst>
          </p:cNvPr>
          <p:cNvSpPr>
            <a:spLocks noGrp="1"/>
          </p:cNvSpPr>
          <p:nvPr/>
        </p:nvSpPr>
        <p:spPr>
          <a:xfrm flipV="1">
            <a:off x="2967990" y="4183631"/>
            <a:ext cx="127635" cy="70830"/>
          </a:xfrm>
          <a:prstGeom prst="line">
            <a:avLst/>
          </a:prstGeom>
          <a:ln w="50800">
            <a:solidFill>
              <a:srgbClr val="D71920"/>
            </a:solidFill>
          </a:ln>
        </p:spPr>
      </p:sp>
      <p:sp>
        <p:nvSpPr>
          <p:cNvPr id="154" name="Connector 154">
            <a:extLst>
              <a:ext uri="{FF2B5EF4-FFF2-40B4-BE49-F238E27FC236}">
                <a16:creationId xmlns:a16="http://schemas.microsoft.com/office/drawing/2014/main" id="{1A4B83F6-D0D6-4EA9-9BD2-CCFC3AADC22E}"/>
              </a:ext>
            </a:extLst>
          </p:cNvPr>
          <p:cNvSpPr>
            <a:spLocks noGrp="1"/>
          </p:cNvSpPr>
          <p:nvPr/>
        </p:nvSpPr>
        <p:spPr>
          <a:xfrm flipV="1">
            <a:off x="3095625" y="4110250"/>
            <a:ext cx="127635" cy="73380"/>
          </a:xfrm>
          <a:prstGeom prst="line">
            <a:avLst/>
          </a:prstGeom>
          <a:ln w="50800">
            <a:solidFill>
              <a:srgbClr val="D71920"/>
            </a:solidFill>
          </a:ln>
        </p:spPr>
      </p:sp>
      <p:sp>
        <p:nvSpPr>
          <p:cNvPr id="155" name="Connector 155">
            <a:extLst>
              <a:ext uri="{FF2B5EF4-FFF2-40B4-BE49-F238E27FC236}">
                <a16:creationId xmlns:a16="http://schemas.microsoft.com/office/drawing/2014/main" id="{E45F713A-EA78-4460-82D8-7B24F454C27A}"/>
              </a:ext>
            </a:extLst>
          </p:cNvPr>
          <p:cNvSpPr>
            <a:spLocks noGrp="1"/>
          </p:cNvSpPr>
          <p:nvPr/>
        </p:nvSpPr>
        <p:spPr>
          <a:xfrm flipV="1">
            <a:off x="3223260" y="4035128"/>
            <a:ext cx="127635" cy="75123"/>
          </a:xfrm>
          <a:prstGeom prst="line">
            <a:avLst/>
          </a:prstGeom>
          <a:ln w="50800">
            <a:solidFill>
              <a:srgbClr val="D71920"/>
            </a:solidFill>
          </a:ln>
        </p:spPr>
      </p:sp>
      <p:sp>
        <p:nvSpPr>
          <p:cNvPr id="156" name="Connector 156">
            <a:extLst>
              <a:ext uri="{FF2B5EF4-FFF2-40B4-BE49-F238E27FC236}">
                <a16:creationId xmlns:a16="http://schemas.microsoft.com/office/drawing/2014/main" id="{3E7B0F88-580E-4020-B779-CCA2375EB44B}"/>
              </a:ext>
            </a:extLst>
          </p:cNvPr>
          <p:cNvSpPr>
            <a:spLocks noGrp="1"/>
          </p:cNvSpPr>
          <p:nvPr/>
        </p:nvSpPr>
        <p:spPr>
          <a:xfrm flipV="1">
            <a:off x="3350895" y="3959083"/>
            <a:ext cx="127635" cy="76045"/>
          </a:xfrm>
          <a:prstGeom prst="line">
            <a:avLst/>
          </a:prstGeom>
          <a:ln w="50800">
            <a:solidFill>
              <a:srgbClr val="D71920"/>
            </a:solidFill>
          </a:ln>
        </p:spPr>
      </p:sp>
      <p:sp>
        <p:nvSpPr>
          <p:cNvPr id="157" name="Connector 157">
            <a:extLst>
              <a:ext uri="{FF2B5EF4-FFF2-40B4-BE49-F238E27FC236}">
                <a16:creationId xmlns:a16="http://schemas.microsoft.com/office/drawing/2014/main" id="{89ED26D9-A701-4AA4-9C7F-3F08154D19EA}"/>
              </a:ext>
            </a:extLst>
          </p:cNvPr>
          <p:cNvSpPr>
            <a:spLocks noGrp="1"/>
          </p:cNvSpPr>
          <p:nvPr/>
        </p:nvSpPr>
        <p:spPr>
          <a:xfrm flipV="1">
            <a:off x="3478530" y="3882937"/>
            <a:ext cx="127635" cy="76146"/>
          </a:xfrm>
          <a:prstGeom prst="line">
            <a:avLst/>
          </a:prstGeom>
          <a:ln w="50800">
            <a:solidFill>
              <a:srgbClr val="D71920"/>
            </a:solidFill>
          </a:ln>
        </p:spPr>
      </p:sp>
      <p:sp>
        <p:nvSpPr>
          <p:cNvPr id="158" name="Connector 158">
            <a:extLst>
              <a:ext uri="{FF2B5EF4-FFF2-40B4-BE49-F238E27FC236}">
                <a16:creationId xmlns:a16="http://schemas.microsoft.com/office/drawing/2014/main" id="{95A05711-FA14-4BC7-B881-E0A91D4D511B}"/>
              </a:ext>
            </a:extLst>
          </p:cNvPr>
          <p:cNvSpPr>
            <a:spLocks noGrp="1"/>
          </p:cNvSpPr>
          <p:nvPr/>
        </p:nvSpPr>
        <p:spPr>
          <a:xfrm flipV="1">
            <a:off x="3606165" y="3807498"/>
            <a:ext cx="127635" cy="75439"/>
          </a:xfrm>
          <a:prstGeom prst="line">
            <a:avLst/>
          </a:prstGeom>
          <a:ln w="50800">
            <a:solidFill>
              <a:srgbClr val="D71920"/>
            </a:solidFill>
          </a:ln>
        </p:spPr>
      </p:sp>
      <p:sp>
        <p:nvSpPr>
          <p:cNvPr id="159" name="Connector 159">
            <a:extLst>
              <a:ext uri="{FF2B5EF4-FFF2-40B4-BE49-F238E27FC236}">
                <a16:creationId xmlns:a16="http://schemas.microsoft.com/office/drawing/2014/main" id="{D449F792-265E-4637-A6FD-3F03578BB101}"/>
              </a:ext>
            </a:extLst>
          </p:cNvPr>
          <p:cNvSpPr>
            <a:spLocks noGrp="1"/>
          </p:cNvSpPr>
          <p:nvPr/>
        </p:nvSpPr>
        <p:spPr>
          <a:xfrm flipV="1">
            <a:off x="3733800" y="3733552"/>
            <a:ext cx="127635" cy="73945"/>
          </a:xfrm>
          <a:prstGeom prst="line">
            <a:avLst/>
          </a:prstGeom>
          <a:ln w="50800">
            <a:solidFill>
              <a:srgbClr val="D71920"/>
            </a:solidFill>
          </a:ln>
        </p:spPr>
      </p:sp>
      <p:sp>
        <p:nvSpPr>
          <p:cNvPr id="160" name="Connector 160">
            <a:extLst>
              <a:ext uri="{FF2B5EF4-FFF2-40B4-BE49-F238E27FC236}">
                <a16:creationId xmlns:a16="http://schemas.microsoft.com/office/drawing/2014/main" id="{EB18205B-D9B6-4079-981C-75A13BF811AB}"/>
              </a:ext>
            </a:extLst>
          </p:cNvPr>
          <p:cNvSpPr>
            <a:spLocks noGrp="1"/>
          </p:cNvSpPr>
          <p:nvPr/>
        </p:nvSpPr>
        <p:spPr>
          <a:xfrm flipV="1">
            <a:off x="3861435" y="3661856"/>
            <a:ext cx="127635" cy="71696"/>
          </a:xfrm>
          <a:prstGeom prst="line">
            <a:avLst/>
          </a:prstGeom>
          <a:ln w="50800">
            <a:solidFill>
              <a:srgbClr val="D71920"/>
            </a:solidFill>
          </a:ln>
        </p:spPr>
      </p:sp>
      <p:sp>
        <p:nvSpPr>
          <p:cNvPr id="161" name="Connector 161">
            <a:extLst>
              <a:ext uri="{FF2B5EF4-FFF2-40B4-BE49-F238E27FC236}">
                <a16:creationId xmlns:a16="http://schemas.microsoft.com/office/drawing/2014/main" id="{D1D04D56-CD7F-4316-AC3E-31AA2B25A836}"/>
              </a:ext>
            </a:extLst>
          </p:cNvPr>
          <p:cNvSpPr>
            <a:spLocks noGrp="1"/>
          </p:cNvSpPr>
          <p:nvPr/>
        </p:nvSpPr>
        <p:spPr>
          <a:xfrm flipV="1">
            <a:off x="3989070" y="3593125"/>
            <a:ext cx="127635" cy="68732"/>
          </a:xfrm>
          <a:prstGeom prst="line">
            <a:avLst/>
          </a:prstGeom>
          <a:ln w="50800">
            <a:solidFill>
              <a:srgbClr val="D71920"/>
            </a:solidFill>
          </a:ln>
        </p:spPr>
      </p:sp>
      <p:sp>
        <p:nvSpPr>
          <p:cNvPr id="162" name="Connector 162">
            <a:extLst>
              <a:ext uri="{FF2B5EF4-FFF2-40B4-BE49-F238E27FC236}">
                <a16:creationId xmlns:a16="http://schemas.microsoft.com/office/drawing/2014/main" id="{B5BF6DA4-1CE2-4A31-AD75-C4D931223853}"/>
              </a:ext>
            </a:extLst>
          </p:cNvPr>
          <p:cNvSpPr>
            <a:spLocks noGrp="1"/>
          </p:cNvSpPr>
          <p:nvPr/>
        </p:nvSpPr>
        <p:spPr>
          <a:xfrm flipV="1">
            <a:off x="4116705" y="3528027"/>
            <a:ext cx="127635" cy="65098"/>
          </a:xfrm>
          <a:prstGeom prst="line">
            <a:avLst/>
          </a:prstGeom>
          <a:ln w="50800">
            <a:solidFill>
              <a:srgbClr val="D71920"/>
            </a:solidFill>
          </a:ln>
        </p:spPr>
      </p:sp>
      <p:sp>
        <p:nvSpPr>
          <p:cNvPr id="163" name="Connector 163">
            <a:extLst>
              <a:ext uri="{FF2B5EF4-FFF2-40B4-BE49-F238E27FC236}">
                <a16:creationId xmlns:a16="http://schemas.microsoft.com/office/drawing/2014/main" id="{84029E6A-FD9E-4652-9F28-83E4C3DAC98C}"/>
              </a:ext>
            </a:extLst>
          </p:cNvPr>
          <p:cNvSpPr>
            <a:spLocks noGrp="1"/>
          </p:cNvSpPr>
          <p:nvPr/>
        </p:nvSpPr>
        <p:spPr>
          <a:xfrm flipV="1">
            <a:off x="4244340" y="3467179"/>
            <a:ext cx="127635" cy="60848"/>
          </a:xfrm>
          <a:prstGeom prst="line">
            <a:avLst/>
          </a:prstGeom>
          <a:ln w="50800">
            <a:solidFill>
              <a:srgbClr val="D71920"/>
            </a:solidFill>
          </a:ln>
        </p:spPr>
      </p:sp>
      <p:sp>
        <p:nvSpPr>
          <p:cNvPr id="164" name="Connector 164">
            <a:extLst>
              <a:ext uri="{FF2B5EF4-FFF2-40B4-BE49-F238E27FC236}">
                <a16:creationId xmlns:a16="http://schemas.microsoft.com/office/drawing/2014/main" id="{B53A28ED-EA74-44A1-A4EA-CEAFD8D1B5C1}"/>
              </a:ext>
            </a:extLst>
          </p:cNvPr>
          <p:cNvSpPr>
            <a:spLocks noGrp="1"/>
          </p:cNvSpPr>
          <p:nvPr/>
        </p:nvSpPr>
        <p:spPr>
          <a:xfrm flipV="1">
            <a:off x="4371975" y="3411139"/>
            <a:ext cx="127635" cy="56040"/>
          </a:xfrm>
          <a:prstGeom prst="line">
            <a:avLst/>
          </a:prstGeom>
          <a:ln w="50800">
            <a:solidFill>
              <a:srgbClr val="D71920"/>
            </a:solidFill>
          </a:ln>
        </p:spPr>
      </p:sp>
      <p:sp>
        <p:nvSpPr>
          <p:cNvPr id="165" name="Connector 165">
            <a:extLst>
              <a:ext uri="{FF2B5EF4-FFF2-40B4-BE49-F238E27FC236}">
                <a16:creationId xmlns:a16="http://schemas.microsoft.com/office/drawing/2014/main" id="{F10DEC2F-2F21-44C1-BB1F-5763542CC062}"/>
              </a:ext>
            </a:extLst>
          </p:cNvPr>
          <p:cNvSpPr>
            <a:spLocks noGrp="1"/>
          </p:cNvSpPr>
          <p:nvPr/>
        </p:nvSpPr>
        <p:spPr>
          <a:xfrm flipV="1">
            <a:off x="4499610" y="3360405"/>
            <a:ext cx="127635" cy="50735"/>
          </a:xfrm>
          <a:prstGeom prst="line">
            <a:avLst/>
          </a:prstGeom>
          <a:ln w="50800">
            <a:solidFill>
              <a:srgbClr val="D71920"/>
            </a:solidFill>
          </a:ln>
        </p:spPr>
      </p:sp>
      <p:sp>
        <p:nvSpPr>
          <p:cNvPr id="166" name="Connector 166">
            <a:extLst>
              <a:ext uri="{FF2B5EF4-FFF2-40B4-BE49-F238E27FC236}">
                <a16:creationId xmlns:a16="http://schemas.microsoft.com/office/drawing/2014/main" id="{3377EB98-8EB2-4BA1-8018-7A15090E4051}"/>
              </a:ext>
            </a:extLst>
          </p:cNvPr>
          <p:cNvSpPr>
            <a:spLocks noGrp="1"/>
          </p:cNvSpPr>
          <p:nvPr/>
        </p:nvSpPr>
        <p:spPr>
          <a:xfrm flipV="1">
            <a:off x="4627245" y="3315406"/>
            <a:ext cx="127635" cy="44999"/>
          </a:xfrm>
          <a:prstGeom prst="line">
            <a:avLst/>
          </a:prstGeom>
          <a:ln w="50800">
            <a:solidFill>
              <a:srgbClr val="D71920"/>
            </a:solidFill>
          </a:ln>
        </p:spPr>
      </p:sp>
      <p:sp>
        <p:nvSpPr>
          <p:cNvPr id="167" name="Connector 167">
            <a:extLst>
              <a:ext uri="{FF2B5EF4-FFF2-40B4-BE49-F238E27FC236}">
                <a16:creationId xmlns:a16="http://schemas.microsoft.com/office/drawing/2014/main" id="{8BCF150D-23AF-4860-9F7E-9C63B400FE0A}"/>
              </a:ext>
            </a:extLst>
          </p:cNvPr>
          <p:cNvSpPr>
            <a:spLocks noGrp="1"/>
          </p:cNvSpPr>
          <p:nvPr/>
        </p:nvSpPr>
        <p:spPr>
          <a:xfrm flipV="1">
            <a:off x="4754880" y="3276507"/>
            <a:ext cx="127635" cy="38899"/>
          </a:xfrm>
          <a:prstGeom prst="line">
            <a:avLst/>
          </a:prstGeom>
          <a:ln w="50800">
            <a:solidFill>
              <a:srgbClr val="D71920"/>
            </a:solidFill>
          </a:ln>
        </p:spPr>
      </p:sp>
      <p:sp>
        <p:nvSpPr>
          <p:cNvPr id="168" name="Connector 168">
            <a:extLst>
              <a:ext uri="{FF2B5EF4-FFF2-40B4-BE49-F238E27FC236}">
                <a16:creationId xmlns:a16="http://schemas.microsoft.com/office/drawing/2014/main" id="{3A2E03E5-E282-4F85-AF0D-5E561F3B934E}"/>
              </a:ext>
            </a:extLst>
          </p:cNvPr>
          <p:cNvSpPr>
            <a:spLocks noGrp="1"/>
          </p:cNvSpPr>
          <p:nvPr/>
        </p:nvSpPr>
        <p:spPr>
          <a:xfrm flipV="1">
            <a:off x="4882515" y="3244002"/>
            <a:ext cx="127635" cy="32505"/>
          </a:xfrm>
          <a:prstGeom prst="line">
            <a:avLst/>
          </a:prstGeom>
          <a:ln w="50800">
            <a:solidFill>
              <a:srgbClr val="D71920"/>
            </a:solidFill>
          </a:ln>
        </p:spPr>
      </p:sp>
      <p:sp>
        <p:nvSpPr>
          <p:cNvPr id="169" name="Connector 169">
            <a:extLst>
              <a:ext uri="{FF2B5EF4-FFF2-40B4-BE49-F238E27FC236}">
                <a16:creationId xmlns:a16="http://schemas.microsoft.com/office/drawing/2014/main" id="{BC4C2597-B59C-41D9-8B2D-CC77DE5FE5B1}"/>
              </a:ext>
            </a:extLst>
          </p:cNvPr>
          <p:cNvSpPr>
            <a:spLocks noGrp="1"/>
          </p:cNvSpPr>
          <p:nvPr/>
        </p:nvSpPr>
        <p:spPr>
          <a:xfrm flipV="1">
            <a:off x="5010150" y="3218116"/>
            <a:ext cx="127635" cy="25886"/>
          </a:xfrm>
          <a:prstGeom prst="line">
            <a:avLst/>
          </a:prstGeom>
          <a:ln w="50800">
            <a:solidFill>
              <a:srgbClr val="D71920"/>
            </a:solidFill>
          </a:ln>
        </p:spPr>
      </p:sp>
      <p:sp>
        <p:nvSpPr>
          <p:cNvPr id="170" name="Connector 170">
            <a:extLst>
              <a:ext uri="{FF2B5EF4-FFF2-40B4-BE49-F238E27FC236}">
                <a16:creationId xmlns:a16="http://schemas.microsoft.com/office/drawing/2014/main" id="{77FFC137-AD56-4A00-95C3-A3D268CABD86}"/>
              </a:ext>
            </a:extLst>
          </p:cNvPr>
          <p:cNvSpPr>
            <a:spLocks noGrp="1"/>
          </p:cNvSpPr>
          <p:nvPr/>
        </p:nvSpPr>
        <p:spPr>
          <a:xfrm flipV="1">
            <a:off x="5137785" y="3199004"/>
            <a:ext cx="127635" cy="19112"/>
          </a:xfrm>
          <a:prstGeom prst="line">
            <a:avLst/>
          </a:prstGeom>
          <a:ln w="50800">
            <a:solidFill>
              <a:srgbClr val="D71920"/>
            </a:solidFill>
          </a:ln>
        </p:spPr>
      </p:sp>
      <p:sp>
        <p:nvSpPr>
          <p:cNvPr id="171" name="Connector 171">
            <a:extLst>
              <a:ext uri="{FF2B5EF4-FFF2-40B4-BE49-F238E27FC236}">
                <a16:creationId xmlns:a16="http://schemas.microsoft.com/office/drawing/2014/main" id="{AEF34231-4A11-4BFE-86CA-85C69D2EA056}"/>
              </a:ext>
            </a:extLst>
          </p:cNvPr>
          <p:cNvSpPr>
            <a:spLocks noGrp="1"/>
          </p:cNvSpPr>
          <p:nvPr/>
        </p:nvSpPr>
        <p:spPr>
          <a:xfrm flipV="1">
            <a:off x="5265420" y="3186751"/>
            <a:ext cx="127635" cy="12253"/>
          </a:xfrm>
          <a:prstGeom prst="line">
            <a:avLst/>
          </a:prstGeom>
          <a:ln w="50800">
            <a:solidFill>
              <a:srgbClr val="D71920"/>
            </a:solidFill>
          </a:ln>
        </p:spPr>
      </p:sp>
      <p:sp>
        <p:nvSpPr>
          <p:cNvPr id="172" name="Connector 172">
            <a:extLst>
              <a:ext uri="{FF2B5EF4-FFF2-40B4-BE49-F238E27FC236}">
                <a16:creationId xmlns:a16="http://schemas.microsoft.com/office/drawing/2014/main" id="{25B16562-1C37-4E7B-8E06-42FC1170E5D1}"/>
              </a:ext>
            </a:extLst>
          </p:cNvPr>
          <p:cNvSpPr>
            <a:spLocks noGrp="1"/>
          </p:cNvSpPr>
          <p:nvPr/>
        </p:nvSpPr>
        <p:spPr>
          <a:xfrm flipV="1">
            <a:off x="5393055" y="3181375"/>
            <a:ext cx="127635" cy="5376"/>
          </a:xfrm>
          <a:prstGeom prst="line">
            <a:avLst/>
          </a:prstGeom>
          <a:ln w="50800">
            <a:solidFill>
              <a:srgbClr val="D71920"/>
            </a:solidFill>
          </a:ln>
        </p:spPr>
      </p:sp>
      <p:sp>
        <p:nvSpPr>
          <p:cNvPr id="173" name="Connector 173">
            <a:extLst>
              <a:ext uri="{FF2B5EF4-FFF2-40B4-BE49-F238E27FC236}">
                <a16:creationId xmlns:a16="http://schemas.microsoft.com/office/drawing/2014/main" id="{1AECE110-2D53-48FE-BEB8-AEFCE880A736}"/>
              </a:ext>
            </a:extLst>
          </p:cNvPr>
          <p:cNvSpPr>
            <a:spLocks noGrp="1"/>
          </p:cNvSpPr>
          <p:nvPr/>
        </p:nvSpPr>
        <p:spPr>
          <a:xfrm>
            <a:off x="5520690" y="3181375"/>
            <a:ext cx="127635" cy="1452"/>
          </a:xfrm>
          <a:prstGeom prst="line">
            <a:avLst/>
          </a:prstGeom>
          <a:ln w="50800">
            <a:solidFill>
              <a:srgbClr val="D71920"/>
            </a:solidFill>
          </a:ln>
        </p:spPr>
      </p:sp>
      <p:sp>
        <p:nvSpPr>
          <p:cNvPr id="174" name="Connector 174">
            <a:extLst>
              <a:ext uri="{FF2B5EF4-FFF2-40B4-BE49-F238E27FC236}">
                <a16:creationId xmlns:a16="http://schemas.microsoft.com/office/drawing/2014/main" id="{F59CEFDB-EA10-40CE-9205-C1700A91FD33}"/>
              </a:ext>
            </a:extLst>
          </p:cNvPr>
          <p:cNvSpPr>
            <a:spLocks noGrp="1"/>
          </p:cNvSpPr>
          <p:nvPr/>
        </p:nvSpPr>
        <p:spPr>
          <a:xfrm>
            <a:off x="5648325" y="3182826"/>
            <a:ext cx="127635" cy="8167"/>
          </a:xfrm>
          <a:prstGeom prst="line">
            <a:avLst/>
          </a:prstGeom>
          <a:ln w="50800">
            <a:solidFill>
              <a:srgbClr val="D71920"/>
            </a:solidFill>
          </a:ln>
        </p:spPr>
      </p:sp>
      <p:sp>
        <p:nvSpPr>
          <p:cNvPr id="175" name="Connector 175">
            <a:extLst>
              <a:ext uri="{FF2B5EF4-FFF2-40B4-BE49-F238E27FC236}">
                <a16:creationId xmlns:a16="http://schemas.microsoft.com/office/drawing/2014/main" id="{6CC3E400-E4D9-422B-B111-8ED6A2F8C0F0}"/>
              </a:ext>
            </a:extLst>
          </p:cNvPr>
          <p:cNvSpPr>
            <a:spLocks noGrp="1"/>
          </p:cNvSpPr>
          <p:nvPr/>
        </p:nvSpPr>
        <p:spPr>
          <a:xfrm>
            <a:off x="5775960" y="3190994"/>
            <a:ext cx="127635" cy="14710"/>
          </a:xfrm>
          <a:prstGeom prst="line">
            <a:avLst/>
          </a:prstGeom>
          <a:ln w="50800">
            <a:solidFill>
              <a:srgbClr val="D71920"/>
            </a:solidFill>
          </a:ln>
        </p:spPr>
      </p:sp>
      <p:sp>
        <p:nvSpPr>
          <p:cNvPr id="176" name="Connector 176">
            <a:extLst>
              <a:ext uri="{FF2B5EF4-FFF2-40B4-BE49-F238E27FC236}">
                <a16:creationId xmlns:a16="http://schemas.microsoft.com/office/drawing/2014/main" id="{75F77E3A-86B4-4B89-81EB-D37B0866D1E8}"/>
              </a:ext>
            </a:extLst>
          </p:cNvPr>
          <p:cNvSpPr>
            <a:spLocks noGrp="1"/>
          </p:cNvSpPr>
          <p:nvPr/>
        </p:nvSpPr>
        <p:spPr>
          <a:xfrm>
            <a:off x="5903595" y="3205704"/>
            <a:ext cx="127635" cy="21022"/>
          </a:xfrm>
          <a:prstGeom prst="line">
            <a:avLst/>
          </a:prstGeom>
          <a:ln w="50800">
            <a:solidFill>
              <a:srgbClr val="D71920"/>
            </a:solidFill>
          </a:ln>
        </p:spPr>
      </p:sp>
      <p:sp>
        <p:nvSpPr>
          <p:cNvPr id="177" name="Connector 177">
            <a:extLst>
              <a:ext uri="{FF2B5EF4-FFF2-40B4-BE49-F238E27FC236}">
                <a16:creationId xmlns:a16="http://schemas.microsoft.com/office/drawing/2014/main" id="{F540C7A0-934A-46D6-9188-051564A08BCA}"/>
              </a:ext>
            </a:extLst>
          </p:cNvPr>
          <p:cNvSpPr>
            <a:spLocks noGrp="1"/>
          </p:cNvSpPr>
          <p:nvPr/>
        </p:nvSpPr>
        <p:spPr>
          <a:xfrm>
            <a:off x="6031230" y="3226726"/>
            <a:ext cx="127635" cy="27050"/>
          </a:xfrm>
          <a:prstGeom prst="line">
            <a:avLst/>
          </a:prstGeom>
          <a:ln w="50800">
            <a:solidFill>
              <a:srgbClr val="D71920"/>
            </a:solidFill>
          </a:ln>
        </p:spPr>
      </p:sp>
      <p:sp>
        <p:nvSpPr>
          <p:cNvPr id="178" name="Connector 178">
            <a:extLst>
              <a:ext uri="{FF2B5EF4-FFF2-40B4-BE49-F238E27FC236}">
                <a16:creationId xmlns:a16="http://schemas.microsoft.com/office/drawing/2014/main" id="{7493F8C2-5D36-4505-8E5E-573F0BFAB9CA}"/>
              </a:ext>
            </a:extLst>
          </p:cNvPr>
          <p:cNvSpPr>
            <a:spLocks noGrp="1"/>
          </p:cNvSpPr>
          <p:nvPr/>
        </p:nvSpPr>
        <p:spPr>
          <a:xfrm>
            <a:off x="6158865" y="3253776"/>
            <a:ext cx="127635" cy="32746"/>
          </a:xfrm>
          <a:prstGeom prst="line">
            <a:avLst/>
          </a:prstGeom>
          <a:ln w="50800">
            <a:solidFill>
              <a:srgbClr val="D71920"/>
            </a:solidFill>
          </a:ln>
        </p:spPr>
      </p:sp>
      <p:sp>
        <p:nvSpPr>
          <p:cNvPr id="179" name="Connector 179">
            <a:extLst>
              <a:ext uri="{FF2B5EF4-FFF2-40B4-BE49-F238E27FC236}">
                <a16:creationId xmlns:a16="http://schemas.microsoft.com/office/drawing/2014/main" id="{E838BF8B-3511-423D-9990-6EA40BA07299}"/>
              </a:ext>
            </a:extLst>
          </p:cNvPr>
          <p:cNvSpPr>
            <a:spLocks noGrp="1"/>
          </p:cNvSpPr>
          <p:nvPr/>
        </p:nvSpPr>
        <p:spPr>
          <a:xfrm>
            <a:off x="6286500" y="3286522"/>
            <a:ext cx="127635" cy="38063"/>
          </a:xfrm>
          <a:prstGeom prst="line">
            <a:avLst/>
          </a:prstGeom>
          <a:ln w="50800">
            <a:solidFill>
              <a:srgbClr val="D71920"/>
            </a:solidFill>
          </a:ln>
        </p:spPr>
      </p:sp>
      <p:sp>
        <p:nvSpPr>
          <p:cNvPr id="180" name="Connector 180">
            <a:extLst>
              <a:ext uri="{FF2B5EF4-FFF2-40B4-BE49-F238E27FC236}">
                <a16:creationId xmlns:a16="http://schemas.microsoft.com/office/drawing/2014/main" id="{9A5FBCEB-6435-4BEE-BCCA-9A2138857851}"/>
              </a:ext>
            </a:extLst>
          </p:cNvPr>
          <p:cNvSpPr>
            <a:spLocks noGrp="1"/>
          </p:cNvSpPr>
          <p:nvPr/>
        </p:nvSpPr>
        <p:spPr>
          <a:xfrm>
            <a:off x="6414135" y="3324585"/>
            <a:ext cx="127635" cy="42962"/>
          </a:xfrm>
          <a:prstGeom prst="line">
            <a:avLst/>
          </a:prstGeom>
          <a:ln w="50800">
            <a:solidFill>
              <a:srgbClr val="D71920"/>
            </a:solidFill>
          </a:ln>
        </p:spPr>
      </p:sp>
      <p:sp>
        <p:nvSpPr>
          <p:cNvPr id="181" name="Connector 181">
            <a:extLst>
              <a:ext uri="{FF2B5EF4-FFF2-40B4-BE49-F238E27FC236}">
                <a16:creationId xmlns:a16="http://schemas.microsoft.com/office/drawing/2014/main" id="{C9F7D286-57B8-47C0-8709-D5CB200F5FBA}"/>
              </a:ext>
            </a:extLst>
          </p:cNvPr>
          <p:cNvSpPr>
            <a:spLocks noGrp="1"/>
          </p:cNvSpPr>
          <p:nvPr/>
        </p:nvSpPr>
        <p:spPr>
          <a:xfrm>
            <a:off x="6541770" y="3367547"/>
            <a:ext cx="127635" cy="47409"/>
          </a:xfrm>
          <a:prstGeom prst="line">
            <a:avLst/>
          </a:prstGeom>
          <a:ln w="50800">
            <a:solidFill>
              <a:srgbClr val="D71920"/>
            </a:solidFill>
          </a:ln>
        </p:spPr>
      </p:sp>
      <p:sp>
        <p:nvSpPr>
          <p:cNvPr id="182" name="Connector 182">
            <a:extLst>
              <a:ext uri="{FF2B5EF4-FFF2-40B4-BE49-F238E27FC236}">
                <a16:creationId xmlns:a16="http://schemas.microsoft.com/office/drawing/2014/main" id="{82C57869-6AB4-4954-A12D-5DB6BD372A84}"/>
              </a:ext>
            </a:extLst>
          </p:cNvPr>
          <p:cNvSpPr>
            <a:spLocks noGrp="1"/>
          </p:cNvSpPr>
          <p:nvPr/>
        </p:nvSpPr>
        <p:spPr>
          <a:xfrm>
            <a:off x="6669405" y="3414957"/>
            <a:ext cx="127635" cy="51375"/>
          </a:xfrm>
          <a:prstGeom prst="line">
            <a:avLst/>
          </a:prstGeom>
          <a:ln w="50800">
            <a:solidFill>
              <a:srgbClr val="D71920"/>
            </a:solidFill>
          </a:ln>
        </p:spPr>
      </p:sp>
      <p:sp>
        <p:nvSpPr>
          <p:cNvPr id="183" name="Connector 183">
            <a:extLst>
              <a:ext uri="{FF2B5EF4-FFF2-40B4-BE49-F238E27FC236}">
                <a16:creationId xmlns:a16="http://schemas.microsoft.com/office/drawing/2014/main" id="{836F61E2-DE35-48C7-8E2F-646407C46D8D}"/>
              </a:ext>
            </a:extLst>
          </p:cNvPr>
          <p:cNvSpPr>
            <a:spLocks noGrp="1"/>
          </p:cNvSpPr>
          <p:nvPr/>
        </p:nvSpPr>
        <p:spPr>
          <a:xfrm>
            <a:off x="6797040" y="3466331"/>
            <a:ext cx="127635" cy="54834"/>
          </a:xfrm>
          <a:prstGeom prst="line">
            <a:avLst/>
          </a:prstGeom>
          <a:ln w="50800">
            <a:solidFill>
              <a:srgbClr val="D71920"/>
            </a:solidFill>
          </a:ln>
        </p:spPr>
      </p:sp>
      <p:sp>
        <p:nvSpPr>
          <p:cNvPr id="184" name="Connector 184">
            <a:extLst>
              <a:ext uri="{FF2B5EF4-FFF2-40B4-BE49-F238E27FC236}">
                <a16:creationId xmlns:a16="http://schemas.microsoft.com/office/drawing/2014/main" id="{F654E328-DAC4-4DDC-A492-CCC6C37EB3C7}"/>
              </a:ext>
            </a:extLst>
          </p:cNvPr>
          <p:cNvSpPr>
            <a:spLocks noGrp="1"/>
          </p:cNvSpPr>
          <p:nvPr/>
        </p:nvSpPr>
        <p:spPr>
          <a:xfrm>
            <a:off x="6924675" y="3521165"/>
            <a:ext cx="127635" cy="57769"/>
          </a:xfrm>
          <a:prstGeom prst="line">
            <a:avLst/>
          </a:prstGeom>
          <a:ln w="50800">
            <a:solidFill>
              <a:srgbClr val="D71920"/>
            </a:solidFill>
          </a:ln>
        </p:spPr>
      </p:sp>
      <p:sp>
        <p:nvSpPr>
          <p:cNvPr id="185" name="Connector 185">
            <a:extLst>
              <a:ext uri="{FF2B5EF4-FFF2-40B4-BE49-F238E27FC236}">
                <a16:creationId xmlns:a16="http://schemas.microsoft.com/office/drawing/2014/main" id="{81FC79CB-6A75-42D7-A33B-41C833B2DF37}"/>
              </a:ext>
            </a:extLst>
          </p:cNvPr>
          <p:cNvSpPr>
            <a:spLocks noGrp="1"/>
          </p:cNvSpPr>
          <p:nvPr/>
        </p:nvSpPr>
        <p:spPr>
          <a:xfrm>
            <a:off x="7052310" y="3578933"/>
            <a:ext cx="127635" cy="60166"/>
          </a:xfrm>
          <a:prstGeom prst="line">
            <a:avLst/>
          </a:prstGeom>
          <a:ln w="50800">
            <a:solidFill>
              <a:srgbClr val="D71920"/>
            </a:solidFill>
          </a:ln>
        </p:spPr>
      </p:sp>
      <p:sp>
        <p:nvSpPr>
          <p:cNvPr id="186" name="Connector 186">
            <a:extLst>
              <a:ext uri="{FF2B5EF4-FFF2-40B4-BE49-F238E27FC236}">
                <a16:creationId xmlns:a16="http://schemas.microsoft.com/office/drawing/2014/main" id="{A8897E2B-ADF1-4CB9-89E5-F5A884A4E983}"/>
              </a:ext>
            </a:extLst>
          </p:cNvPr>
          <p:cNvSpPr>
            <a:spLocks noGrp="1"/>
          </p:cNvSpPr>
          <p:nvPr/>
        </p:nvSpPr>
        <p:spPr>
          <a:xfrm>
            <a:off x="7179945" y="3639100"/>
            <a:ext cx="127635" cy="62020"/>
          </a:xfrm>
          <a:prstGeom prst="line">
            <a:avLst/>
          </a:prstGeom>
          <a:ln w="50800">
            <a:solidFill>
              <a:srgbClr val="D71920"/>
            </a:solidFill>
          </a:ln>
        </p:spPr>
      </p:sp>
      <p:sp>
        <p:nvSpPr>
          <p:cNvPr id="187" name="Connector 187">
            <a:extLst>
              <a:ext uri="{FF2B5EF4-FFF2-40B4-BE49-F238E27FC236}">
                <a16:creationId xmlns:a16="http://schemas.microsoft.com/office/drawing/2014/main" id="{F6049296-95EE-4E00-B48A-0720D61888C1}"/>
              </a:ext>
            </a:extLst>
          </p:cNvPr>
          <p:cNvSpPr>
            <a:spLocks noGrp="1"/>
          </p:cNvSpPr>
          <p:nvPr/>
        </p:nvSpPr>
        <p:spPr>
          <a:xfrm>
            <a:off x="7307580" y="3701119"/>
            <a:ext cx="127635" cy="63328"/>
          </a:xfrm>
          <a:prstGeom prst="line">
            <a:avLst/>
          </a:prstGeom>
          <a:ln w="50800">
            <a:solidFill>
              <a:srgbClr val="D71920"/>
            </a:solidFill>
          </a:ln>
        </p:spPr>
      </p:sp>
      <p:sp>
        <p:nvSpPr>
          <p:cNvPr id="188" name="Connector 188">
            <a:extLst>
              <a:ext uri="{FF2B5EF4-FFF2-40B4-BE49-F238E27FC236}">
                <a16:creationId xmlns:a16="http://schemas.microsoft.com/office/drawing/2014/main" id="{1F857E75-8DD4-4DFE-ADDB-59211A12F9A3}"/>
              </a:ext>
            </a:extLst>
          </p:cNvPr>
          <p:cNvSpPr>
            <a:spLocks noGrp="1"/>
          </p:cNvSpPr>
          <p:nvPr/>
        </p:nvSpPr>
        <p:spPr>
          <a:xfrm>
            <a:off x="7435215" y="3764447"/>
            <a:ext cx="127635" cy="64094"/>
          </a:xfrm>
          <a:prstGeom prst="line">
            <a:avLst/>
          </a:prstGeom>
          <a:ln w="50800">
            <a:solidFill>
              <a:srgbClr val="D71920"/>
            </a:solidFill>
          </a:ln>
        </p:spPr>
      </p:sp>
      <p:sp>
        <p:nvSpPr>
          <p:cNvPr id="189" name="Connector 189">
            <a:extLst>
              <a:ext uri="{FF2B5EF4-FFF2-40B4-BE49-F238E27FC236}">
                <a16:creationId xmlns:a16="http://schemas.microsoft.com/office/drawing/2014/main" id="{BBE47A4F-E754-4516-8A5C-34BD7328EA0C}"/>
              </a:ext>
            </a:extLst>
          </p:cNvPr>
          <p:cNvSpPr>
            <a:spLocks noGrp="1"/>
          </p:cNvSpPr>
          <p:nvPr/>
        </p:nvSpPr>
        <p:spPr>
          <a:xfrm>
            <a:off x="7562850" y="3828541"/>
            <a:ext cx="127635" cy="64329"/>
          </a:xfrm>
          <a:prstGeom prst="line">
            <a:avLst/>
          </a:prstGeom>
          <a:ln w="50800">
            <a:solidFill>
              <a:srgbClr val="D71920"/>
            </a:solidFill>
          </a:ln>
        </p:spPr>
      </p:sp>
      <p:sp>
        <p:nvSpPr>
          <p:cNvPr id="190" name="Connector 190">
            <a:extLst>
              <a:ext uri="{FF2B5EF4-FFF2-40B4-BE49-F238E27FC236}">
                <a16:creationId xmlns:a16="http://schemas.microsoft.com/office/drawing/2014/main" id="{C906E02F-6721-44CD-A58C-FB2021B7D90E}"/>
              </a:ext>
            </a:extLst>
          </p:cNvPr>
          <p:cNvSpPr>
            <a:spLocks noGrp="1"/>
          </p:cNvSpPr>
          <p:nvPr/>
        </p:nvSpPr>
        <p:spPr>
          <a:xfrm>
            <a:off x="7690485" y="3892871"/>
            <a:ext cx="127635" cy="64048"/>
          </a:xfrm>
          <a:prstGeom prst="line">
            <a:avLst/>
          </a:prstGeom>
          <a:ln w="50800">
            <a:solidFill>
              <a:srgbClr val="D71920"/>
            </a:solidFill>
          </a:ln>
        </p:spPr>
      </p:sp>
      <p:sp>
        <p:nvSpPr>
          <p:cNvPr id="191" name="Connector 191">
            <a:extLst>
              <a:ext uri="{FF2B5EF4-FFF2-40B4-BE49-F238E27FC236}">
                <a16:creationId xmlns:a16="http://schemas.microsoft.com/office/drawing/2014/main" id="{1923013D-218E-45DB-BC37-4E8D0B374D64}"/>
              </a:ext>
            </a:extLst>
          </p:cNvPr>
          <p:cNvSpPr>
            <a:spLocks noGrp="1"/>
          </p:cNvSpPr>
          <p:nvPr/>
        </p:nvSpPr>
        <p:spPr>
          <a:xfrm>
            <a:off x="7818120" y="3956919"/>
            <a:ext cx="127635" cy="63271"/>
          </a:xfrm>
          <a:prstGeom prst="line">
            <a:avLst/>
          </a:prstGeom>
          <a:ln w="50800">
            <a:solidFill>
              <a:srgbClr val="D71920"/>
            </a:solidFill>
          </a:ln>
        </p:spPr>
      </p:sp>
      <p:sp>
        <p:nvSpPr>
          <p:cNvPr id="192" name="Connector 192">
            <a:extLst>
              <a:ext uri="{FF2B5EF4-FFF2-40B4-BE49-F238E27FC236}">
                <a16:creationId xmlns:a16="http://schemas.microsoft.com/office/drawing/2014/main" id="{95255F57-7814-431B-B781-89CB1E56CBA3}"/>
              </a:ext>
            </a:extLst>
          </p:cNvPr>
          <p:cNvSpPr>
            <a:spLocks noGrp="1"/>
          </p:cNvSpPr>
          <p:nvPr/>
        </p:nvSpPr>
        <p:spPr>
          <a:xfrm>
            <a:off x="7945755" y="4020189"/>
            <a:ext cx="127635" cy="62022"/>
          </a:xfrm>
          <a:prstGeom prst="line">
            <a:avLst/>
          </a:prstGeom>
          <a:ln w="50800">
            <a:solidFill>
              <a:srgbClr val="D71920"/>
            </a:solidFill>
          </a:ln>
        </p:spPr>
      </p:sp>
      <p:sp>
        <p:nvSpPr>
          <p:cNvPr id="193" name="Connector 193">
            <a:extLst>
              <a:ext uri="{FF2B5EF4-FFF2-40B4-BE49-F238E27FC236}">
                <a16:creationId xmlns:a16="http://schemas.microsoft.com/office/drawing/2014/main" id="{A3844913-16F3-4E72-B733-93ED1269F364}"/>
              </a:ext>
            </a:extLst>
          </p:cNvPr>
          <p:cNvSpPr>
            <a:spLocks noGrp="1"/>
          </p:cNvSpPr>
          <p:nvPr/>
        </p:nvSpPr>
        <p:spPr>
          <a:xfrm>
            <a:off x="8073390" y="4082212"/>
            <a:ext cx="127635" cy="60333"/>
          </a:xfrm>
          <a:prstGeom prst="line">
            <a:avLst/>
          </a:prstGeom>
          <a:ln w="50800">
            <a:solidFill>
              <a:srgbClr val="D71920"/>
            </a:solidFill>
          </a:ln>
        </p:spPr>
      </p:sp>
      <p:sp>
        <p:nvSpPr>
          <p:cNvPr id="194" name="Connector 194">
            <a:extLst>
              <a:ext uri="{FF2B5EF4-FFF2-40B4-BE49-F238E27FC236}">
                <a16:creationId xmlns:a16="http://schemas.microsoft.com/office/drawing/2014/main" id="{2FB48CBB-311E-4E18-9154-462A36A049BF}"/>
              </a:ext>
            </a:extLst>
          </p:cNvPr>
          <p:cNvSpPr>
            <a:spLocks noGrp="1"/>
          </p:cNvSpPr>
          <p:nvPr/>
        </p:nvSpPr>
        <p:spPr>
          <a:xfrm>
            <a:off x="8201025" y="4142545"/>
            <a:ext cx="127635" cy="58238"/>
          </a:xfrm>
          <a:prstGeom prst="line">
            <a:avLst/>
          </a:prstGeom>
          <a:ln w="50800">
            <a:solidFill>
              <a:srgbClr val="D71920"/>
            </a:solidFill>
          </a:ln>
        </p:spPr>
      </p:sp>
      <p:sp>
        <p:nvSpPr>
          <p:cNvPr id="195" name="Connector 195">
            <a:extLst>
              <a:ext uri="{FF2B5EF4-FFF2-40B4-BE49-F238E27FC236}">
                <a16:creationId xmlns:a16="http://schemas.microsoft.com/office/drawing/2014/main" id="{0F80A79B-79B8-4048-963B-78AA19166F16}"/>
              </a:ext>
            </a:extLst>
          </p:cNvPr>
          <p:cNvSpPr>
            <a:spLocks noGrp="1"/>
          </p:cNvSpPr>
          <p:nvPr/>
        </p:nvSpPr>
        <p:spPr>
          <a:xfrm>
            <a:off x="8328660" y="4200783"/>
            <a:ext cx="127635" cy="55774"/>
          </a:xfrm>
          <a:prstGeom prst="line">
            <a:avLst/>
          </a:prstGeom>
          <a:ln w="50800">
            <a:solidFill>
              <a:srgbClr val="D71920"/>
            </a:solidFill>
          </a:ln>
        </p:spPr>
      </p:sp>
      <p:sp>
        <p:nvSpPr>
          <p:cNvPr id="196" name="Connector 196">
            <a:extLst>
              <a:ext uri="{FF2B5EF4-FFF2-40B4-BE49-F238E27FC236}">
                <a16:creationId xmlns:a16="http://schemas.microsoft.com/office/drawing/2014/main" id="{92BC775B-ED4B-4CE4-BDF2-6897EDD4F0D0}"/>
              </a:ext>
            </a:extLst>
          </p:cNvPr>
          <p:cNvSpPr>
            <a:spLocks noGrp="1"/>
          </p:cNvSpPr>
          <p:nvPr/>
        </p:nvSpPr>
        <p:spPr>
          <a:xfrm>
            <a:off x="8456295" y="4256557"/>
            <a:ext cx="127635" cy="52985"/>
          </a:xfrm>
          <a:prstGeom prst="line">
            <a:avLst/>
          </a:prstGeom>
          <a:ln w="50800">
            <a:solidFill>
              <a:srgbClr val="D71920"/>
            </a:solidFill>
          </a:ln>
        </p:spPr>
      </p:sp>
      <p:sp>
        <p:nvSpPr>
          <p:cNvPr id="197" name="Connector 197">
            <a:extLst>
              <a:ext uri="{FF2B5EF4-FFF2-40B4-BE49-F238E27FC236}">
                <a16:creationId xmlns:a16="http://schemas.microsoft.com/office/drawing/2014/main" id="{F68D4E40-E891-4310-998E-9498DBA52CF5}"/>
              </a:ext>
            </a:extLst>
          </p:cNvPr>
          <p:cNvSpPr>
            <a:spLocks noGrp="1"/>
          </p:cNvSpPr>
          <p:nvPr/>
        </p:nvSpPr>
        <p:spPr>
          <a:xfrm>
            <a:off x="8583930" y="4309542"/>
            <a:ext cx="127635" cy="49914"/>
          </a:xfrm>
          <a:prstGeom prst="line">
            <a:avLst/>
          </a:prstGeom>
          <a:ln w="50800">
            <a:solidFill>
              <a:srgbClr val="D71920"/>
            </a:solidFill>
          </a:ln>
        </p:spPr>
      </p:sp>
      <p:sp>
        <p:nvSpPr>
          <p:cNvPr id="198" name="Connector 198">
            <a:extLst>
              <a:ext uri="{FF2B5EF4-FFF2-40B4-BE49-F238E27FC236}">
                <a16:creationId xmlns:a16="http://schemas.microsoft.com/office/drawing/2014/main" id="{6C279A58-B4AF-4D96-A779-4DD7350738F3}"/>
              </a:ext>
            </a:extLst>
          </p:cNvPr>
          <p:cNvSpPr>
            <a:spLocks noGrp="1"/>
          </p:cNvSpPr>
          <p:nvPr/>
        </p:nvSpPr>
        <p:spPr>
          <a:xfrm>
            <a:off x="8711565" y="4359456"/>
            <a:ext cx="127635" cy="46610"/>
          </a:xfrm>
          <a:prstGeom prst="line">
            <a:avLst/>
          </a:prstGeom>
          <a:ln w="50800">
            <a:solidFill>
              <a:srgbClr val="D71920"/>
            </a:solidFill>
          </a:ln>
        </p:spPr>
      </p:sp>
      <p:sp>
        <p:nvSpPr>
          <p:cNvPr id="199" name="Connector 199">
            <a:extLst>
              <a:ext uri="{FF2B5EF4-FFF2-40B4-BE49-F238E27FC236}">
                <a16:creationId xmlns:a16="http://schemas.microsoft.com/office/drawing/2014/main" id="{E3980F3E-6CDE-4FB9-952E-769EFAC0C67B}"/>
              </a:ext>
            </a:extLst>
          </p:cNvPr>
          <p:cNvSpPr>
            <a:spLocks noGrp="1"/>
          </p:cNvSpPr>
          <p:nvPr/>
        </p:nvSpPr>
        <p:spPr>
          <a:xfrm>
            <a:off x="8839200" y="4406066"/>
            <a:ext cx="127635" cy="43123"/>
          </a:xfrm>
          <a:prstGeom prst="line">
            <a:avLst/>
          </a:prstGeom>
          <a:ln w="50800">
            <a:solidFill>
              <a:srgbClr val="D71920"/>
            </a:solidFill>
          </a:ln>
        </p:spPr>
      </p:sp>
      <p:sp>
        <p:nvSpPr>
          <p:cNvPr id="200" name="Connector 200">
            <a:extLst>
              <a:ext uri="{FF2B5EF4-FFF2-40B4-BE49-F238E27FC236}">
                <a16:creationId xmlns:a16="http://schemas.microsoft.com/office/drawing/2014/main" id="{B23043BA-DE99-4856-9C68-65F37213CC59}"/>
              </a:ext>
            </a:extLst>
          </p:cNvPr>
          <p:cNvSpPr>
            <a:spLocks noGrp="1"/>
          </p:cNvSpPr>
          <p:nvPr/>
        </p:nvSpPr>
        <p:spPr>
          <a:xfrm>
            <a:off x="8966835" y="4449189"/>
            <a:ext cx="127635" cy="39503"/>
          </a:xfrm>
          <a:prstGeom prst="line">
            <a:avLst/>
          </a:prstGeom>
          <a:ln w="50800">
            <a:solidFill>
              <a:srgbClr val="D71920"/>
            </a:solidFill>
          </a:ln>
        </p:spPr>
      </p:sp>
      <p:sp>
        <p:nvSpPr>
          <p:cNvPr id="201" name="Connector 201">
            <a:extLst>
              <a:ext uri="{FF2B5EF4-FFF2-40B4-BE49-F238E27FC236}">
                <a16:creationId xmlns:a16="http://schemas.microsoft.com/office/drawing/2014/main" id="{7926E3D7-1F89-4EBE-AB02-2AA09530DBBF}"/>
              </a:ext>
            </a:extLst>
          </p:cNvPr>
          <p:cNvSpPr>
            <a:spLocks noGrp="1"/>
          </p:cNvSpPr>
          <p:nvPr/>
        </p:nvSpPr>
        <p:spPr>
          <a:xfrm>
            <a:off x="9094470" y="4488692"/>
            <a:ext cx="127635" cy="35804"/>
          </a:xfrm>
          <a:prstGeom prst="line">
            <a:avLst/>
          </a:prstGeom>
          <a:ln w="50800">
            <a:solidFill>
              <a:srgbClr val="D71920"/>
            </a:solidFill>
          </a:ln>
        </p:spPr>
      </p:sp>
      <p:sp>
        <p:nvSpPr>
          <p:cNvPr id="202" name="Connector 202">
            <a:extLst>
              <a:ext uri="{FF2B5EF4-FFF2-40B4-BE49-F238E27FC236}">
                <a16:creationId xmlns:a16="http://schemas.microsoft.com/office/drawing/2014/main" id="{BD4B7590-E9B5-4F89-BC4F-0F947F0556BA}"/>
              </a:ext>
            </a:extLst>
          </p:cNvPr>
          <p:cNvSpPr>
            <a:spLocks noGrp="1"/>
          </p:cNvSpPr>
          <p:nvPr/>
        </p:nvSpPr>
        <p:spPr>
          <a:xfrm>
            <a:off x="9222105" y="4524496"/>
            <a:ext cx="127635" cy="32079"/>
          </a:xfrm>
          <a:prstGeom prst="line">
            <a:avLst/>
          </a:prstGeom>
          <a:ln w="50800">
            <a:solidFill>
              <a:srgbClr val="D71920"/>
            </a:solidFill>
          </a:ln>
        </p:spPr>
      </p:sp>
      <p:sp>
        <p:nvSpPr>
          <p:cNvPr id="203" name="Connector 203">
            <a:extLst>
              <a:ext uri="{FF2B5EF4-FFF2-40B4-BE49-F238E27FC236}">
                <a16:creationId xmlns:a16="http://schemas.microsoft.com/office/drawing/2014/main" id="{1F1F9F32-FC04-47FD-89F3-3939D03E51C4}"/>
              </a:ext>
            </a:extLst>
          </p:cNvPr>
          <p:cNvSpPr>
            <a:spLocks noGrp="1"/>
          </p:cNvSpPr>
          <p:nvPr/>
        </p:nvSpPr>
        <p:spPr>
          <a:xfrm>
            <a:off x="9349740" y="4556575"/>
            <a:ext cx="127635" cy="28378"/>
          </a:xfrm>
          <a:prstGeom prst="line">
            <a:avLst/>
          </a:prstGeom>
          <a:ln w="50800">
            <a:solidFill>
              <a:srgbClr val="D71920"/>
            </a:solidFill>
          </a:ln>
        </p:spPr>
      </p:sp>
      <p:sp>
        <p:nvSpPr>
          <p:cNvPr id="204" name="Connector 204">
            <a:extLst>
              <a:ext uri="{FF2B5EF4-FFF2-40B4-BE49-F238E27FC236}">
                <a16:creationId xmlns:a16="http://schemas.microsoft.com/office/drawing/2014/main" id="{D2FB5186-3424-4587-AC9F-0A71A0252642}"/>
              </a:ext>
            </a:extLst>
          </p:cNvPr>
          <p:cNvSpPr>
            <a:spLocks noGrp="1"/>
          </p:cNvSpPr>
          <p:nvPr/>
        </p:nvSpPr>
        <p:spPr>
          <a:xfrm>
            <a:off x="9477375" y="4584953"/>
            <a:ext cx="127635" cy="24754"/>
          </a:xfrm>
          <a:prstGeom prst="line">
            <a:avLst/>
          </a:prstGeom>
          <a:ln w="50800">
            <a:solidFill>
              <a:srgbClr val="D71920"/>
            </a:solidFill>
          </a:ln>
        </p:spPr>
      </p:sp>
      <p:sp>
        <p:nvSpPr>
          <p:cNvPr id="205" name="Connector 205">
            <a:extLst>
              <a:ext uri="{FF2B5EF4-FFF2-40B4-BE49-F238E27FC236}">
                <a16:creationId xmlns:a16="http://schemas.microsoft.com/office/drawing/2014/main" id="{79DB2BCD-EB6A-443C-9613-2E2343CBDA19}"/>
              </a:ext>
            </a:extLst>
          </p:cNvPr>
          <p:cNvSpPr>
            <a:spLocks noGrp="1"/>
          </p:cNvSpPr>
          <p:nvPr/>
        </p:nvSpPr>
        <p:spPr>
          <a:xfrm>
            <a:off x="9605010" y="4609707"/>
            <a:ext cx="127635" cy="21254"/>
          </a:xfrm>
          <a:prstGeom prst="line">
            <a:avLst/>
          </a:prstGeom>
          <a:ln w="50800">
            <a:solidFill>
              <a:srgbClr val="D71920"/>
            </a:solidFill>
          </a:ln>
        </p:spPr>
      </p:sp>
      <p:sp>
        <p:nvSpPr>
          <p:cNvPr id="206" name="Connector 206">
            <a:extLst>
              <a:ext uri="{FF2B5EF4-FFF2-40B4-BE49-F238E27FC236}">
                <a16:creationId xmlns:a16="http://schemas.microsoft.com/office/drawing/2014/main" id="{B8D01383-7119-425E-AB45-84B009F9A6B7}"/>
              </a:ext>
            </a:extLst>
          </p:cNvPr>
          <p:cNvSpPr>
            <a:spLocks noGrp="1"/>
          </p:cNvSpPr>
          <p:nvPr/>
        </p:nvSpPr>
        <p:spPr>
          <a:xfrm>
            <a:off x="9732645" y="4630961"/>
            <a:ext cx="127635" cy="17926"/>
          </a:xfrm>
          <a:prstGeom prst="line">
            <a:avLst/>
          </a:prstGeom>
          <a:ln w="50800">
            <a:solidFill>
              <a:srgbClr val="D71920"/>
            </a:solidFill>
          </a:ln>
        </p:spPr>
      </p:sp>
      <p:sp>
        <p:nvSpPr>
          <p:cNvPr id="207" name="Connector 207">
            <a:extLst>
              <a:ext uri="{FF2B5EF4-FFF2-40B4-BE49-F238E27FC236}">
                <a16:creationId xmlns:a16="http://schemas.microsoft.com/office/drawing/2014/main" id="{E0BA8292-52BC-419F-926E-6C8B199C4658}"/>
              </a:ext>
            </a:extLst>
          </p:cNvPr>
          <p:cNvSpPr>
            <a:spLocks noGrp="1"/>
          </p:cNvSpPr>
          <p:nvPr/>
        </p:nvSpPr>
        <p:spPr>
          <a:xfrm>
            <a:off x="9860280" y="4648887"/>
            <a:ext cx="127635" cy="14811"/>
          </a:xfrm>
          <a:prstGeom prst="line">
            <a:avLst/>
          </a:prstGeom>
          <a:ln w="50800">
            <a:solidFill>
              <a:srgbClr val="D71920"/>
            </a:solidFill>
          </a:ln>
        </p:spPr>
      </p:sp>
      <p:sp>
        <p:nvSpPr>
          <p:cNvPr id="208" name="Connector 208">
            <a:extLst>
              <a:ext uri="{FF2B5EF4-FFF2-40B4-BE49-F238E27FC236}">
                <a16:creationId xmlns:a16="http://schemas.microsoft.com/office/drawing/2014/main" id="{055EE2E3-7833-4CBE-9DCB-DDAFFA9BA082}"/>
              </a:ext>
            </a:extLst>
          </p:cNvPr>
          <p:cNvSpPr>
            <a:spLocks noGrp="1"/>
          </p:cNvSpPr>
          <p:nvPr/>
        </p:nvSpPr>
        <p:spPr>
          <a:xfrm>
            <a:off x="9987915" y="4663699"/>
            <a:ext cx="127635" cy="11948"/>
          </a:xfrm>
          <a:prstGeom prst="line">
            <a:avLst/>
          </a:prstGeom>
          <a:ln w="50800">
            <a:solidFill>
              <a:srgbClr val="D71920"/>
            </a:solidFill>
          </a:ln>
        </p:spPr>
      </p:sp>
      <p:sp>
        <p:nvSpPr>
          <p:cNvPr id="209" name="Connector 209">
            <a:extLst>
              <a:ext uri="{FF2B5EF4-FFF2-40B4-BE49-F238E27FC236}">
                <a16:creationId xmlns:a16="http://schemas.microsoft.com/office/drawing/2014/main" id="{825AD5C1-C2FD-40EC-A340-EAC12859CF25}"/>
              </a:ext>
            </a:extLst>
          </p:cNvPr>
          <p:cNvSpPr>
            <a:spLocks noGrp="1"/>
          </p:cNvSpPr>
          <p:nvPr/>
        </p:nvSpPr>
        <p:spPr>
          <a:xfrm>
            <a:off x="10115550" y="4675647"/>
            <a:ext cx="127635" cy="9368"/>
          </a:xfrm>
          <a:prstGeom prst="line">
            <a:avLst/>
          </a:prstGeom>
          <a:ln w="50800">
            <a:solidFill>
              <a:srgbClr val="D71920"/>
            </a:solidFill>
          </a:ln>
        </p:spPr>
      </p:sp>
      <p:sp>
        <p:nvSpPr>
          <p:cNvPr id="210" name="Connector 210">
            <a:extLst>
              <a:ext uri="{FF2B5EF4-FFF2-40B4-BE49-F238E27FC236}">
                <a16:creationId xmlns:a16="http://schemas.microsoft.com/office/drawing/2014/main" id="{90501D4F-D020-4242-A5C8-83F79755F14D}"/>
              </a:ext>
            </a:extLst>
          </p:cNvPr>
          <p:cNvSpPr>
            <a:spLocks noGrp="1"/>
          </p:cNvSpPr>
          <p:nvPr/>
        </p:nvSpPr>
        <p:spPr>
          <a:xfrm>
            <a:off x="10243185" y="4685014"/>
            <a:ext cx="127635" cy="7096"/>
          </a:xfrm>
          <a:prstGeom prst="line">
            <a:avLst/>
          </a:prstGeom>
          <a:ln w="50800">
            <a:solidFill>
              <a:srgbClr val="D71920"/>
            </a:solidFill>
          </a:ln>
        </p:spPr>
      </p:sp>
      <p:sp>
        <p:nvSpPr>
          <p:cNvPr id="211" name="Connector 211">
            <a:extLst>
              <a:ext uri="{FF2B5EF4-FFF2-40B4-BE49-F238E27FC236}">
                <a16:creationId xmlns:a16="http://schemas.microsoft.com/office/drawing/2014/main" id="{DACEE13F-8359-4348-9B64-CD79C8DBEB20}"/>
              </a:ext>
            </a:extLst>
          </p:cNvPr>
          <p:cNvSpPr>
            <a:spLocks noGrp="1"/>
          </p:cNvSpPr>
          <p:nvPr/>
        </p:nvSpPr>
        <p:spPr>
          <a:xfrm>
            <a:off x="10370820" y="4692111"/>
            <a:ext cx="127635" cy="5151"/>
          </a:xfrm>
          <a:prstGeom prst="line">
            <a:avLst/>
          </a:prstGeom>
          <a:ln w="50800">
            <a:solidFill>
              <a:srgbClr val="D71920"/>
            </a:solidFill>
          </a:ln>
        </p:spPr>
      </p:sp>
      <p:sp>
        <p:nvSpPr>
          <p:cNvPr id="212" name="Connector 212">
            <a:extLst>
              <a:ext uri="{FF2B5EF4-FFF2-40B4-BE49-F238E27FC236}">
                <a16:creationId xmlns:a16="http://schemas.microsoft.com/office/drawing/2014/main" id="{FC7102AF-9D94-4AB8-B8DF-3B5CF3FB279B}"/>
              </a:ext>
            </a:extLst>
          </p:cNvPr>
          <p:cNvSpPr>
            <a:spLocks noGrp="1"/>
          </p:cNvSpPr>
          <p:nvPr/>
        </p:nvSpPr>
        <p:spPr>
          <a:xfrm>
            <a:off x="10498455" y="4697261"/>
            <a:ext cx="127635" cy="3541"/>
          </a:xfrm>
          <a:prstGeom prst="line">
            <a:avLst/>
          </a:prstGeom>
          <a:ln w="50800">
            <a:solidFill>
              <a:srgbClr val="D71920"/>
            </a:solidFill>
          </a:ln>
        </p:spPr>
      </p:sp>
      <p:sp>
        <p:nvSpPr>
          <p:cNvPr id="213" name="Connector 213">
            <a:extLst>
              <a:ext uri="{FF2B5EF4-FFF2-40B4-BE49-F238E27FC236}">
                <a16:creationId xmlns:a16="http://schemas.microsoft.com/office/drawing/2014/main" id="{76DBF1A5-9CA8-4083-81EA-0C7BFCA9ED34}"/>
              </a:ext>
            </a:extLst>
          </p:cNvPr>
          <p:cNvSpPr>
            <a:spLocks noGrp="1"/>
          </p:cNvSpPr>
          <p:nvPr/>
        </p:nvSpPr>
        <p:spPr>
          <a:xfrm>
            <a:off x="10626090" y="4700802"/>
            <a:ext cx="127635" cy="2265"/>
          </a:xfrm>
          <a:prstGeom prst="line">
            <a:avLst/>
          </a:prstGeom>
          <a:ln w="50800">
            <a:solidFill>
              <a:srgbClr val="D71920"/>
            </a:solidFill>
          </a:ln>
        </p:spPr>
      </p:sp>
      <p:sp>
        <p:nvSpPr>
          <p:cNvPr id="214" name="Connector 214">
            <a:extLst>
              <a:ext uri="{FF2B5EF4-FFF2-40B4-BE49-F238E27FC236}">
                <a16:creationId xmlns:a16="http://schemas.microsoft.com/office/drawing/2014/main" id="{68AC7809-02EE-497A-9166-D2C369C9305C}"/>
              </a:ext>
            </a:extLst>
          </p:cNvPr>
          <p:cNvSpPr>
            <a:spLocks noGrp="1"/>
          </p:cNvSpPr>
          <p:nvPr/>
        </p:nvSpPr>
        <p:spPr>
          <a:xfrm>
            <a:off x="10753725" y="4703067"/>
            <a:ext cx="127635" cy="1310"/>
          </a:xfrm>
          <a:prstGeom prst="line">
            <a:avLst/>
          </a:prstGeom>
          <a:ln w="50800">
            <a:solidFill>
              <a:srgbClr val="D71920"/>
            </a:solidFill>
          </a:ln>
        </p:spPr>
      </p:sp>
      <p:sp>
        <p:nvSpPr>
          <p:cNvPr id="215" name="Connector 215">
            <a:extLst>
              <a:ext uri="{FF2B5EF4-FFF2-40B4-BE49-F238E27FC236}">
                <a16:creationId xmlns:a16="http://schemas.microsoft.com/office/drawing/2014/main" id="{43C1BDD4-6971-4E39-9B20-D2F9D34E3A6D}"/>
              </a:ext>
            </a:extLst>
          </p:cNvPr>
          <p:cNvSpPr>
            <a:spLocks noGrp="1"/>
          </p:cNvSpPr>
          <p:nvPr/>
        </p:nvSpPr>
        <p:spPr>
          <a:xfrm>
            <a:off x="10881360" y="4704377"/>
            <a:ext cx="127635" cy="653"/>
          </a:xfrm>
          <a:prstGeom prst="line">
            <a:avLst/>
          </a:prstGeom>
          <a:ln w="50800">
            <a:solidFill>
              <a:srgbClr val="D71920"/>
            </a:solidFill>
          </a:ln>
        </p:spPr>
      </p:sp>
      <p:sp>
        <p:nvSpPr>
          <p:cNvPr id="216" name="Connector 216">
            <a:extLst>
              <a:ext uri="{FF2B5EF4-FFF2-40B4-BE49-F238E27FC236}">
                <a16:creationId xmlns:a16="http://schemas.microsoft.com/office/drawing/2014/main" id="{5C9EF7F0-6076-4304-A0F5-7424BF1A0DDB}"/>
              </a:ext>
            </a:extLst>
          </p:cNvPr>
          <p:cNvSpPr>
            <a:spLocks noGrp="1"/>
          </p:cNvSpPr>
          <p:nvPr/>
        </p:nvSpPr>
        <p:spPr>
          <a:xfrm>
            <a:off x="11008995" y="4705030"/>
            <a:ext cx="127635" cy="254"/>
          </a:xfrm>
          <a:prstGeom prst="line">
            <a:avLst/>
          </a:prstGeom>
          <a:ln w="50800">
            <a:solidFill>
              <a:srgbClr val="D71920"/>
            </a:solidFill>
          </a:ln>
        </p:spPr>
      </p:sp>
      <p:sp>
        <p:nvSpPr>
          <p:cNvPr id="217" name="Connector 217">
            <a:extLst>
              <a:ext uri="{FF2B5EF4-FFF2-40B4-BE49-F238E27FC236}">
                <a16:creationId xmlns:a16="http://schemas.microsoft.com/office/drawing/2014/main" id="{57614DCF-78CF-4787-8BE1-6C4D65067561}"/>
              </a:ext>
            </a:extLst>
          </p:cNvPr>
          <p:cNvSpPr>
            <a:spLocks noGrp="1"/>
          </p:cNvSpPr>
          <p:nvPr/>
        </p:nvSpPr>
        <p:spPr>
          <a:xfrm>
            <a:off x="11136630" y="4705284"/>
            <a:ext cx="127635" cy="61"/>
          </a:xfrm>
          <a:prstGeom prst="line">
            <a:avLst/>
          </a:prstGeom>
          <a:ln w="50800">
            <a:solidFill>
              <a:srgbClr val="D71920"/>
            </a:solidFill>
          </a:ln>
        </p:spPr>
      </p:sp>
      <p:sp>
        <p:nvSpPr>
          <p:cNvPr id="218" name="Connector 218">
            <a:extLst>
              <a:ext uri="{FF2B5EF4-FFF2-40B4-BE49-F238E27FC236}">
                <a16:creationId xmlns:a16="http://schemas.microsoft.com/office/drawing/2014/main" id="{7D5FA57C-DF89-47AA-B297-7A1A85B733F1}"/>
              </a:ext>
            </a:extLst>
          </p:cNvPr>
          <p:cNvSpPr>
            <a:spLocks noGrp="1"/>
          </p:cNvSpPr>
          <p:nvPr/>
        </p:nvSpPr>
        <p:spPr>
          <a:xfrm>
            <a:off x="11264265" y="4705346"/>
            <a:ext cx="127635" cy="4"/>
          </a:xfrm>
          <a:prstGeom prst="line">
            <a:avLst/>
          </a:prstGeom>
          <a:ln w="50800">
            <a:solidFill>
              <a:srgbClr val="D71920"/>
            </a:solidFill>
          </a:ln>
        </p:spPr>
      </p:sp>
      <p:sp>
        <p:nvSpPr>
          <p:cNvPr id="219" name="Connector 219">
            <a:extLst>
              <a:ext uri="{FF2B5EF4-FFF2-40B4-BE49-F238E27FC236}">
                <a16:creationId xmlns:a16="http://schemas.microsoft.com/office/drawing/2014/main" id="{79351F18-91F4-4435-A05A-5F5ACD78754C}"/>
              </a:ext>
            </a:extLst>
          </p:cNvPr>
          <p:cNvSpPr>
            <a:spLocks noGrp="1"/>
          </p:cNvSpPr>
          <p:nvPr/>
        </p:nvSpPr>
        <p:spPr>
          <a:xfrm>
            <a:off x="5265420" y="1981200"/>
            <a:ext cx="0" cy="2724150"/>
          </a:xfrm>
          <a:prstGeom prst="line">
            <a:avLst/>
          </a:prstGeom>
          <a:ln w="25400">
            <a:solidFill>
              <a:srgbClr val="B46B13"/>
            </a:solidFill>
          </a:ln>
        </p:spPr>
      </p:sp>
      <p:sp>
        <p:nvSpPr>
          <p:cNvPr id="220" name="Text 220">
            <a:extLst>
              <a:ext uri="{FF2B5EF4-FFF2-40B4-BE49-F238E27FC236}">
                <a16:creationId xmlns:a16="http://schemas.microsoft.com/office/drawing/2014/main" id="{AD7D8661-7622-4C01-B55C-37F38C8C1F30}"/>
              </a:ext>
            </a:extLst>
          </p:cNvPr>
          <p:cNvSpPr>
            <a:spLocks noGrp="1"/>
          </p:cNvSpPr>
          <p:nvPr/>
        </p:nvSpPr>
        <p:spPr>
          <a:xfrm>
            <a:off x="4541520" y="1714500"/>
            <a:ext cx="1447800" cy="190500"/>
          </a:xfrm>
          <a:prstGeom prst="rect">
            <a:avLst/>
          </a:prstGeom>
          <a:noFill/>
          <a:ln>
            <a:noFill/>
          </a:ln>
        </p:spPr>
        <p:txBody>
          <a:bodyPr wrap="square" lIns="0" tIns="0" rIns="0" bIns="0" anchor="t"/>
          <a:lstStyle/>
          <a:p>
            <a:pPr algn="ctr">
              <a:buNone/>
            </a:pPr>
            <a:r>
              <a:rPr sz="1100" b="1">
                <a:solidFill>
                  <a:srgbClr val="B46B13"/>
                </a:solidFill>
                <a:latin typeface="Arial"/>
                <a:ea typeface="Arial"/>
                <a:cs typeface="Arial"/>
              </a:rPr>
              <a:t>reference p = 0.40</a:t>
            </a:r>
            <a:endParaRPr sz="1100"/>
          </a:p>
        </p:txBody>
      </p:sp>
      <p:sp>
        <p:nvSpPr>
          <p:cNvPr id="221" name="Text 221">
            <a:extLst>
              <a:ext uri="{FF2B5EF4-FFF2-40B4-BE49-F238E27FC236}">
                <a16:creationId xmlns:a16="http://schemas.microsoft.com/office/drawing/2014/main" id="{6DA34225-1EF0-4238-8130-A153D4EA44FE}"/>
              </a:ext>
            </a:extLst>
          </p:cNvPr>
          <p:cNvSpPr>
            <a:spLocks noGrp="1"/>
          </p:cNvSpPr>
          <p:nvPr/>
        </p:nvSpPr>
        <p:spPr>
          <a:xfrm>
            <a:off x="1181100" y="1695450"/>
            <a:ext cx="1809750" cy="190500"/>
          </a:xfrm>
          <a:prstGeom prst="rect">
            <a:avLst/>
          </a:prstGeom>
          <a:noFill/>
          <a:ln>
            <a:noFill/>
          </a:ln>
        </p:spPr>
        <p:txBody>
          <a:bodyPr wrap="square" lIns="0" tIns="0" rIns="0" bIns="0" anchor="t"/>
          <a:lstStyle/>
          <a:p>
            <a:pPr algn="l">
              <a:buNone/>
            </a:pPr>
            <a:r>
              <a:rPr sz="1100" b="1">
                <a:solidFill>
                  <a:srgbClr val="5D6873"/>
                </a:solidFill>
                <a:latin typeface="Arial"/>
                <a:ea typeface="Arial"/>
                <a:cs typeface="Arial"/>
              </a:rPr>
              <a:t>probability density f(p)</a:t>
            </a:r>
            <a:endParaRPr sz="1100"/>
          </a:p>
        </p:txBody>
      </p:sp>
      <p:sp>
        <p:nvSpPr>
          <p:cNvPr id="222" name="Text 222">
            <a:extLst>
              <a:ext uri="{FF2B5EF4-FFF2-40B4-BE49-F238E27FC236}">
                <a16:creationId xmlns:a16="http://schemas.microsoft.com/office/drawing/2014/main" id="{0BFD58AD-4B41-4B59-9451-439BD9A103E0}"/>
              </a:ext>
            </a:extLst>
          </p:cNvPr>
          <p:cNvSpPr>
            <a:spLocks noGrp="1"/>
          </p:cNvSpPr>
          <p:nvPr/>
        </p:nvSpPr>
        <p:spPr>
          <a:xfrm>
            <a:off x="2705100" y="5086350"/>
            <a:ext cx="7162800" cy="209550"/>
          </a:xfrm>
          <a:prstGeom prst="rect">
            <a:avLst/>
          </a:prstGeom>
          <a:noFill/>
          <a:ln>
            <a:noFill/>
          </a:ln>
        </p:spPr>
        <p:txBody>
          <a:bodyPr wrap="square" lIns="0" tIns="0" rIns="0" bIns="0" anchor="t"/>
          <a:lstStyle/>
          <a:p>
            <a:pPr algn="ctr">
              <a:buNone/>
            </a:pPr>
            <a:r>
              <a:rPr sz="1200" b="1">
                <a:solidFill>
                  <a:srgbClr val="17212B"/>
                </a:solidFill>
                <a:latin typeface="Arial"/>
                <a:ea typeface="Arial"/>
                <a:cs typeface="Arial"/>
              </a:rPr>
              <a:t>latent review-elevated rate p</a:t>
            </a:r>
            <a:endParaRPr sz="1200"/>
          </a:p>
        </p:txBody>
      </p:sp>
      <p:sp>
        <p:nvSpPr>
          <p:cNvPr id="223" name="Connector 223">
            <a:extLst>
              <a:ext uri="{FF2B5EF4-FFF2-40B4-BE49-F238E27FC236}">
                <a16:creationId xmlns:a16="http://schemas.microsoft.com/office/drawing/2014/main" id="{CBA8DA2A-BAD1-4F07-8F17-EF0526966F41}"/>
              </a:ext>
            </a:extLst>
          </p:cNvPr>
          <p:cNvSpPr>
            <a:spLocks noGrp="1"/>
          </p:cNvSpPr>
          <p:nvPr/>
        </p:nvSpPr>
        <p:spPr>
          <a:xfrm>
            <a:off x="1371600" y="2381250"/>
            <a:ext cx="323850" cy="0"/>
          </a:xfrm>
          <a:prstGeom prst="line">
            <a:avLst/>
          </a:prstGeom>
          <a:ln w="38100">
            <a:solidFill>
              <a:srgbClr val="2A5B84"/>
            </a:solidFill>
          </a:ln>
        </p:spPr>
      </p:sp>
      <p:sp>
        <p:nvSpPr>
          <p:cNvPr id="224" name="Text 224">
            <a:extLst>
              <a:ext uri="{FF2B5EF4-FFF2-40B4-BE49-F238E27FC236}">
                <a16:creationId xmlns:a16="http://schemas.microsoft.com/office/drawing/2014/main" id="{6FA4CA4A-EC97-4FB8-94C7-B8C4455C05C6}"/>
              </a:ext>
            </a:extLst>
          </p:cNvPr>
          <p:cNvSpPr>
            <a:spLocks noGrp="1"/>
          </p:cNvSpPr>
          <p:nvPr/>
        </p:nvSpPr>
        <p:spPr>
          <a:xfrm>
            <a:off x="1771650" y="2266950"/>
            <a:ext cx="2381250" cy="228600"/>
          </a:xfrm>
          <a:prstGeom prst="rect">
            <a:avLst/>
          </a:prstGeom>
          <a:noFill/>
          <a:ln>
            <a:noFill/>
          </a:ln>
        </p:spPr>
        <p:txBody>
          <a:bodyPr wrap="square" lIns="0" tIns="0" rIns="0" bIns="0" anchor="t"/>
          <a:lstStyle/>
          <a:p>
            <a:pPr algn="l">
              <a:buNone/>
            </a:pPr>
            <a:r>
              <a:rPr sz="1200" b="1">
                <a:solidFill>
                  <a:srgbClr val="2A5B84"/>
                </a:solidFill>
                <a:latin typeface="Arial"/>
                <a:ea typeface="Arial"/>
                <a:cs typeface="Arial"/>
              </a:rPr>
              <a:t>prior Beta(1, 4), mean 0.20</a:t>
            </a:r>
            <a:endParaRPr sz="1200"/>
          </a:p>
        </p:txBody>
      </p:sp>
      <p:sp>
        <p:nvSpPr>
          <p:cNvPr id="225" name="Connector 225">
            <a:extLst>
              <a:ext uri="{FF2B5EF4-FFF2-40B4-BE49-F238E27FC236}">
                <a16:creationId xmlns:a16="http://schemas.microsoft.com/office/drawing/2014/main" id="{D96DC6C2-4697-4AD7-A9A8-1CF4A53F8322}"/>
              </a:ext>
            </a:extLst>
          </p:cNvPr>
          <p:cNvSpPr>
            <a:spLocks noGrp="1"/>
          </p:cNvSpPr>
          <p:nvPr/>
        </p:nvSpPr>
        <p:spPr>
          <a:xfrm>
            <a:off x="1371600" y="2705100"/>
            <a:ext cx="323850" cy="0"/>
          </a:xfrm>
          <a:prstGeom prst="line">
            <a:avLst/>
          </a:prstGeom>
          <a:ln w="50800">
            <a:solidFill>
              <a:srgbClr val="D71920"/>
            </a:solidFill>
          </a:ln>
        </p:spPr>
      </p:sp>
      <p:sp>
        <p:nvSpPr>
          <p:cNvPr id="226" name="Text 226">
            <a:extLst>
              <a:ext uri="{FF2B5EF4-FFF2-40B4-BE49-F238E27FC236}">
                <a16:creationId xmlns:a16="http://schemas.microsoft.com/office/drawing/2014/main" id="{55BF06C1-924B-44E9-8C26-C93692888406}"/>
              </a:ext>
            </a:extLst>
          </p:cNvPr>
          <p:cNvSpPr>
            <a:spLocks noGrp="1"/>
          </p:cNvSpPr>
          <p:nvPr/>
        </p:nvSpPr>
        <p:spPr>
          <a:xfrm>
            <a:off x="1771650" y="2590800"/>
            <a:ext cx="2857500" cy="228600"/>
          </a:xfrm>
          <a:prstGeom prst="rect">
            <a:avLst/>
          </a:prstGeom>
          <a:noFill/>
          <a:ln>
            <a:noFill/>
          </a:ln>
        </p:spPr>
        <p:txBody>
          <a:bodyPr wrap="square" lIns="0" tIns="0" rIns="0" bIns="0" anchor="t"/>
          <a:lstStyle/>
          <a:p>
            <a:pPr algn="l">
              <a:buNone/>
            </a:pPr>
            <a:r>
              <a:rPr sz="1200" b="1">
                <a:solidFill>
                  <a:srgbClr val="981B1E"/>
                </a:solidFill>
                <a:latin typeface="Arial"/>
                <a:ea typeface="Arial"/>
                <a:cs typeface="Arial"/>
              </a:rPr>
              <a:t>posterior Beta(4, 5), mean 0.44</a:t>
            </a:r>
            <a:endParaRPr sz="1200"/>
          </a:p>
        </p:txBody>
      </p:sp>
      <p:sp>
        <p:nvSpPr>
          <p:cNvPr id="227" name="Text 227">
            <a:extLst>
              <a:ext uri="{FF2B5EF4-FFF2-40B4-BE49-F238E27FC236}">
                <a16:creationId xmlns:a16="http://schemas.microsoft.com/office/drawing/2014/main" id="{29C8BB70-580D-4B12-967F-C72A90155AF3}"/>
              </a:ext>
            </a:extLst>
          </p:cNvPr>
          <p:cNvSpPr>
            <a:spLocks noGrp="1"/>
          </p:cNvSpPr>
          <p:nvPr/>
        </p:nvSpPr>
        <p:spPr>
          <a:xfrm>
            <a:off x="8124444" y="2647950"/>
            <a:ext cx="2381250" cy="495300"/>
          </a:xfrm>
          <a:prstGeom prst="rect">
            <a:avLst/>
          </a:prstGeom>
          <a:noFill/>
          <a:ln>
            <a:noFill/>
          </a:ln>
        </p:spPr>
        <p:txBody>
          <a:bodyPr wrap="square" lIns="0" tIns="0" rIns="0" bIns="0" anchor="t"/>
          <a:lstStyle/>
          <a:p>
            <a:pPr algn="ctr">
              <a:buNone/>
            </a:pPr>
            <a:r>
              <a:rPr sz="1300" b="1">
                <a:solidFill>
                  <a:srgbClr val="981B1E"/>
                </a:solidFill>
                <a:latin typeface="Arial"/>
                <a:ea typeface="Arial"/>
                <a:cs typeface="Arial"/>
              </a:rPr>
              <a:t>shaded posterior mass</a:t>
            </a:r>
            <a:endParaRPr sz="1300"/>
          </a:p>
          <a:p>
            <a:pPr algn="ctr">
              <a:buNone/>
            </a:pPr>
            <a:r>
              <a:rPr sz="1300" b="1">
                <a:solidFill>
                  <a:srgbClr val="981B1E"/>
                </a:solidFill>
                <a:latin typeface="Arial"/>
                <a:ea typeface="Arial"/>
                <a:cs typeface="Arial"/>
              </a:rPr>
              <a:t>P(p &gt; 0.40) = 0.594</a:t>
            </a:r>
            <a:endParaRPr sz="1300"/>
          </a:p>
        </p:txBody>
      </p:sp>
      <p:sp>
        <p:nvSpPr>
          <p:cNvPr id="228" name="Shape 228">
            <a:extLst>
              <a:ext uri="{FF2B5EF4-FFF2-40B4-BE49-F238E27FC236}">
                <a16:creationId xmlns:a16="http://schemas.microsoft.com/office/drawing/2014/main" id="{8B4A4A9E-AD3E-4D68-8128-6BAE90F77A5D}"/>
              </a:ext>
            </a:extLst>
          </p:cNvPr>
          <p:cNvSpPr>
            <a:spLocks noGrp="1"/>
          </p:cNvSpPr>
          <p:nvPr/>
        </p:nvSpPr>
        <p:spPr>
          <a:xfrm>
            <a:off x="876300" y="5543550"/>
            <a:ext cx="10439400" cy="571500"/>
          </a:xfrm>
          <a:prstGeom prst="rect">
            <a:avLst/>
          </a:prstGeom>
          <a:solidFill>
            <a:srgbClr val="F4F6F8"/>
          </a:solidFill>
          <a:ln w="12700">
            <a:solidFill>
              <a:srgbClr val="D9DEE3"/>
            </a:solidFill>
          </a:ln>
        </p:spPr>
      </p:sp>
      <p:sp>
        <p:nvSpPr>
          <p:cNvPr id="229" name="Text 229">
            <a:extLst>
              <a:ext uri="{FF2B5EF4-FFF2-40B4-BE49-F238E27FC236}">
                <a16:creationId xmlns:a16="http://schemas.microsoft.com/office/drawing/2014/main" id="{5F826E43-1EE9-433C-B289-6388BDD3C59C}"/>
              </a:ext>
            </a:extLst>
          </p:cNvPr>
          <p:cNvSpPr>
            <a:spLocks noGrp="1"/>
          </p:cNvSpPr>
          <p:nvPr/>
        </p:nvSpPr>
        <p:spPr>
          <a:xfrm>
            <a:off x="1123950" y="5657850"/>
            <a:ext cx="9944100" cy="323850"/>
          </a:xfrm>
          <a:prstGeom prst="rect">
            <a:avLst/>
          </a:prstGeom>
          <a:noFill/>
          <a:ln>
            <a:noFill/>
          </a:ln>
        </p:spPr>
        <p:txBody>
          <a:bodyPr wrap="square" lIns="0" tIns="0" rIns="0" bIns="0" anchor="ctr"/>
          <a:lstStyle/>
          <a:p>
            <a:pPr algn="ctr">
              <a:buNone/>
            </a:pPr>
            <a:r>
              <a:rPr sz="1400" b="1">
                <a:solidFill>
                  <a:srgbClr val="981B1E"/>
                </a:solidFill>
                <a:latin typeface="Arial"/>
                <a:ea typeface="Arial"/>
                <a:cs typeface="Arial"/>
              </a:rPr>
              <a:t>The shaded tail is P(p &gt; 0.40), not a probability of fraud or money laundering</a:t>
            </a:r>
            <a:endParaRPr sz="1400"/>
          </a:p>
        </p:txBody>
      </p:sp>
      <p:sp>
        <p:nvSpPr>
          <p:cNvPr id="230" name="Connector 230">
            <a:extLst>
              <a:ext uri="{FF2B5EF4-FFF2-40B4-BE49-F238E27FC236}">
                <a16:creationId xmlns:a16="http://schemas.microsoft.com/office/drawing/2014/main" id="{703EC76B-7089-4148-A5B5-AFC2DFE13D1A}"/>
              </a:ext>
            </a:extLst>
          </p:cNvPr>
          <p:cNvSpPr>
            <a:spLocks noGrp="1"/>
          </p:cNvSpPr>
          <p:nvPr/>
        </p:nvSpPr>
        <p:spPr>
          <a:xfrm>
            <a:off x="552450" y="6419850"/>
            <a:ext cx="11087100" cy="0"/>
          </a:xfrm>
          <a:prstGeom prst="line">
            <a:avLst/>
          </a:prstGeom>
          <a:ln w="12700">
            <a:solidFill>
              <a:srgbClr val="BFC5CB"/>
            </a:solidFill>
          </a:ln>
        </p:spPr>
      </p:sp>
      <p:sp>
        <p:nvSpPr>
          <p:cNvPr id="231" name="Text 231">
            <a:extLst>
              <a:ext uri="{FF2B5EF4-FFF2-40B4-BE49-F238E27FC236}">
                <a16:creationId xmlns:a16="http://schemas.microsoft.com/office/drawing/2014/main" id="{0AA77F66-A0E0-444E-920A-5CF7E53467EA}"/>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232" name="Text 232">
            <a:extLst>
              <a:ext uri="{FF2B5EF4-FFF2-40B4-BE49-F238E27FC236}">
                <a16:creationId xmlns:a16="http://schemas.microsoft.com/office/drawing/2014/main" id="{9E478305-811C-42FC-AF05-BD86339885BD}"/>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C</a:t>
            </a:r>
            <a:endParaRPr sz="1000"/>
          </a:p>
        </p:txBody>
      </p:sp>
    </p:spTree>
    <p:extLst>
      <p:ext uri="{BB962C8B-B14F-4D97-AF65-F5344CB8AC3E}">
        <p14:creationId xmlns:p14="http://schemas.microsoft.com/office/powerpoint/2010/main" val="19380944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23F6C8F2-DE29-4B8A-BE50-57CD727E0B97}"/>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APPENDIX D · FUZZY INFERENCE</a:t>
            </a:r>
            <a:endParaRPr sz="1100"/>
          </a:p>
        </p:txBody>
      </p:sp>
      <p:sp>
        <p:nvSpPr>
          <p:cNvPr id="3" name="Text 3">
            <a:extLst>
              <a:ext uri="{FF2B5EF4-FFF2-40B4-BE49-F238E27FC236}">
                <a16:creationId xmlns:a16="http://schemas.microsoft.com/office/drawing/2014/main" id="{62D679EA-C82C-4C38-AC11-825B26AFC6EA}"/>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Four right-shoulder functions map ratios to graded rule activation</a:t>
            </a:r>
            <a:endParaRPr sz="3000"/>
          </a:p>
        </p:txBody>
      </p:sp>
      <p:sp>
        <p:nvSpPr>
          <p:cNvPr id="4" name="Text 4">
            <a:extLst>
              <a:ext uri="{FF2B5EF4-FFF2-40B4-BE49-F238E27FC236}">
                <a16:creationId xmlns:a16="http://schemas.microsoft.com/office/drawing/2014/main" id="{486D3D94-5DE5-4CDA-BA57-F45489702295}"/>
              </a:ext>
            </a:extLst>
          </p:cNvPr>
          <p:cNvSpPr>
            <a:spLocks noGrp="1"/>
          </p:cNvSpPr>
          <p:nvPr/>
        </p:nvSpPr>
        <p:spPr>
          <a:xfrm>
            <a:off x="571500" y="1466850"/>
            <a:ext cx="5143500" cy="22860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Crypto activity</a:t>
            </a:r>
            <a:endParaRPr sz="1500"/>
          </a:p>
        </p:txBody>
      </p:sp>
      <p:sp>
        <p:nvSpPr>
          <p:cNvPr id="5" name="Text 5">
            <a:extLst>
              <a:ext uri="{FF2B5EF4-FFF2-40B4-BE49-F238E27FC236}">
                <a16:creationId xmlns:a16="http://schemas.microsoft.com/office/drawing/2014/main" id="{90629C8D-A8D4-40C0-8897-EEB66550F54C}"/>
              </a:ext>
            </a:extLst>
          </p:cNvPr>
          <p:cNvSpPr>
            <a:spLocks noGrp="1"/>
          </p:cNvSpPr>
          <p:nvPr/>
        </p:nvSpPr>
        <p:spPr>
          <a:xfrm>
            <a:off x="1085850" y="1714500"/>
            <a:ext cx="1238250" cy="171450"/>
          </a:xfrm>
          <a:prstGeom prst="rect">
            <a:avLst/>
          </a:prstGeom>
          <a:noFill/>
          <a:ln>
            <a:noFill/>
          </a:ln>
        </p:spPr>
        <p:txBody>
          <a:bodyPr wrap="square" lIns="0" tIns="0" rIns="0" bIns="0" anchor="t"/>
          <a:lstStyle/>
          <a:p>
            <a:pPr algn="l">
              <a:buNone/>
            </a:pPr>
            <a:r>
              <a:rPr sz="1000" b="1">
                <a:solidFill>
                  <a:srgbClr val="5D6873"/>
                </a:solidFill>
                <a:latin typeface="Arial"/>
                <a:ea typeface="Arial"/>
                <a:cs typeface="Arial"/>
              </a:rPr>
              <a:t>membership μ(x)</a:t>
            </a:r>
            <a:endParaRPr sz="1000"/>
          </a:p>
        </p:txBody>
      </p:sp>
      <p:sp>
        <p:nvSpPr>
          <p:cNvPr id="6" name="Connector 6">
            <a:extLst>
              <a:ext uri="{FF2B5EF4-FFF2-40B4-BE49-F238E27FC236}">
                <a16:creationId xmlns:a16="http://schemas.microsoft.com/office/drawing/2014/main" id="{A56EA71A-5561-4667-AFC4-AC662059FA09}"/>
              </a:ext>
            </a:extLst>
          </p:cNvPr>
          <p:cNvSpPr>
            <a:spLocks noGrp="1"/>
          </p:cNvSpPr>
          <p:nvPr/>
        </p:nvSpPr>
        <p:spPr>
          <a:xfrm>
            <a:off x="1085850" y="1905000"/>
            <a:ext cx="0" cy="762000"/>
          </a:xfrm>
          <a:prstGeom prst="line">
            <a:avLst/>
          </a:prstGeom>
          <a:ln w="12700">
            <a:solidFill>
              <a:srgbClr val="384754"/>
            </a:solidFill>
          </a:ln>
        </p:spPr>
      </p:sp>
      <p:sp>
        <p:nvSpPr>
          <p:cNvPr id="7" name="Connector 7">
            <a:extLst>
              <a:ext uri="{FF2B5EF4-FFF2-40B4-BE49-F238E27FC236}">
                <a16:creationId xmlns:a16="http://schemas.microsoft.com/office/drawing/2014/main" id="{9E4031E0-1557-4B84-8FE8-4D6B1B637B10}"/>
              </a:ext>
            </a:extLst>
          </p:cNvPr>
          <p:cNvSpPr>
            <a:spLocks noGrp="1"/>
          </p:cNvSpPr>
          <p:nvPr/>
        </p:nvSpPr>
        <p:spPr>
          <a:xfrm>
            <a:off x="1085850" y="2667000"/>
            <a:ext cx="4457700" cy="0"/>
          </a:xfrm>
          <a:prstGeom prst="line">
            <a:avLst/>
          </a:prstGeom>
          <a:ln w="12700">
            <a:solidFill>
              <a:srgbClr val="384754"/>
            </a:solidFill>
          </a:ln>
        </p:spPr>
      </p:sp>
      <p:sp>
        <p:nvSpPr>
          <p:cNvPr id="8" name="Connector 8">
            <a:extLst>
              <a:ext uri="{FF2B5EF4-FFF2-40B4-BE49-F238E27FC236}">
                <a16:creationId xmlns:a16="http://schemas.microsoft.com/office/drawing/2014/main" id="{85C12172-B430-4315-A0E0-E3422202E20D}"/>
              </a:ext>
            </a:extLst>
          </p:cNvPr>
          <p:cNvSpPr>
            <a:spLocks noGrp="1"/>
          </p:cNvSpPr>
          <p:nvPr/>
        </p:nvSpPr>
        <p:spPr>
          <a:xfrm>
            <a:off x="1085850" y="2667000"/>
            <a:ext cx="0" cy="0"/>
          </a:xfrm>
          <a:prstGeom prst="line">
            <a:avLst/>
          </a:prstGeom>
          <a:ln w="38100">
            <a:solidFill>
              <a:srgbClr val="D71920"/>
            </a:solidFill>
          </a:ln>
        </p:spPr>
      </p:sp>
      <p:sp>
        <p:nvSpPr>
          <p:cNvPr id="9" name="Connector 9">
            <a:extLst>
              <a:ext uri="{FF2B5EF4-FFF2-40B4-BE49-F238E27FC236}">
                <a16:creationId xmlns:a16="http://schemas.microsoft.com/office/drawing/2014/main" id="{9E590BFA-9F2D-42B4-A3C7-BAD5F53FA380}"/>
              </a:ext>
            </a:extLst>
          </p:cNvPr>
          <p:cNvSpPr>
            <a:spLocks noGrp="1"/>
          </p:cNvSpPr>
          <p:nvPr/>
        </p:nvSpPr>
        <p:spPr>
          <a:xfrm flipV="1">
            <a:off x="1085850" y="1905000"/>
            <a:ext cx="1560195" cy="762000"/>
          </a:xfrm>
          <a:prstGeom prst="line">
            <a:avLst/>
          </a:prstGeom>
          <a:ln w="50800">
            <a:solidFill>
              <a:srgbClr val="D71920"/>
            </a:solidFill>
          </a:ln>
        </p:spPr>
      </p:sp>
      <p:sp>
        <p:nvSpPr>
          <p:cNvPr id="10" name="Connector 10">
            <a:extLst>
              <a:ext uri="{FF2B5EF4-FFF2-40B4-BE49-F238E27FC236}">
                <a16:creationId xmlns:a16="http://schemas.microsoft.com/office/drawing/2014/main" id="{DDBF1957-44A9-439F-9DA9-5274EC9FAC8F}"/>
              </a:ext>
            </a:extLst>
          </p:cNvPr>
          <p:cNvSpPr>
            <a:spLocks noGrp="1"/>
          </p:cNvSpPr>
          <p:nvPr/>
        </p:nvSpPr>
        <p:spPr>
          <a:xfrm>
            <a:off x="2646045" y="1905000"/>
            <a:ext cx="2897505" cy="0"/>
          </a:xfrm>
          <a:prstGeom prst="line">
            <a:avLst/>
          </a:prstGeom>
          <a:ln w="50800">
            <a:solidFill>
              <a:srgbClr val="D71920"/>
            </a:solidFill>
          </a:ln>
        </p:spPr>
      </p:sp>
      <p:sp>
        <p:nvSpPr>
          <p:cNvPr id="11" name="Text 11">
            <a:extLst>
              <a:ext uri="{FF2B5EF4-FFF2-40B4-BE49-F238E27FC236}">
                <a16:creationId xmlns:a16="http://schemas.microsoft.com/office/drawing/2014/main" id="{ECD20619-BA30-4D46-9454-2604D95FCA37}"/>
              </a:ext>
            </a:extLst>
          </p:cNvPr>
          <p:cNvSpPr>
            <a:spLocks noGrp="1"/>
          </p:cNvSpPr>
          <p:nvPr/>
        </p:nvSpPr>
        <p:spPr>
          <a:xfrm>
            <a:off x="838200" y="1828800"/>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a:t>
            </a:r>
            <a:endParaRPr sz="1000"/>
          </a:p>
        </p:txBody>
      </p:sp>
      <p:sp>
        <p:nvSpPr>
          <p:cNvPr id="12" name="Text 12">
            <a:extLst>
              <a:ext uri="{FF2B5EF4-FFF2-40B4-BE49-F238E27FC236}">
                <a16:creationId xmlns:a16="http://schemas.microsoft.com/office/drawing/2014/main" id="{4A613DA2-C292-41E6-A8B5-9EF0E1A29C17}"/>
              </a:ext>
            </a:extLst>
          </p:cNvPr>
          <p:cNvSpPr>
            <a:spLocks noGrp="1"/>
          </p:cNvSpPr>
          <p:nvPr/>
        </p:nvSpPr>
        <p:spPr>
          <a:xfrm>
            <a:off x="838200" y="2600325"/>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0</a:t>
            </a:r>
            <a:endParaRPr sz="1000"/>
          </a:p>
        </p:txBody>
      </p:sp>
      <p:sp>
        <p:nvSpPr>
          <p:cNvPr id="13" name="Text 13">
            <a:extLst>
              <a:ext uri="{FF2B5EF4-FFF2-40B4-BE49-F238E27FC236}">
                <a16:creationId xmlns:a16="http://schemas.microsoft.com/office/drawing/2014/main" id="{22CBA6B2-ADA4-4F40-9AD1-1FF61D991BF0}"/>
              </a:ext>
            </a:extLst>
          </p:cNvPr>
          <p:cNvSpPr>
            <a:spLocks noGrp="1"/>
          </p:cNvSpPr>
          <p:nvPr/>
        </p:nvSpPr>
        <p:spPr>
          <a:xfrm>
            <a:off x="723900" y="274320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a = 0.00</a:t>
            </a:r>
            <a:endParaRPr sz="900"/>
          </a:p>
        </p:txBody>
      </p:sp>
      <p:sp>
        <p:nvSpPr>
          <p:cNvPr id="14" name="Text 14">
            <a:extLst>
              <a:ext uri="{FF2B5EF4-FFF2-40B4-BE49-F238E27FC236}">
                <a16:creationId xmlns:a16="http://schemas.microsoft.com/office/drawing/2014/main" id="{D672991E-23BC-4258-8737-298DF361A622}"/>
              </a:ext>
            </a:extLst>
          </p:cNvPr>
          <p:cNvSpPr>
            <a:spLocks noGrp="1"/>
          </p:cNvSpPr>
          <p:nvPr/>
        </p:nvSpPr>
        <p:spPr>
          <a:xfrm>
            <a:off x="2284095" y="274320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b = 0.35</a:t>
            </a:r>
            <a:endParaRPr sz="900"/>
          </a:p>
        </p:txBody>
      </p:sp>
      <p:sp>
        <p:nvSpPr>
          <p:cNvPr id="15" name="Text 15">
            <a:extLst>
              <a:ext uri="{FF2B5EF4-FFF2-40B4-BE49-F238E27FC236}">
                <a16:creationId xmlns:a16="http://schemas.microsoft.com/office/drawing/2014/main" id="{E6E4649A-31B6-4808-82BF-9C2F23581F2C}"/>
              </a:ext>
            </a:extLst>
          </p:cNvPr>
          <p:cNvSpPr>
            <a:spLocks noGrp="1"/>
          </p:cNvSpPr>
          <p:nvPr/>
        </p:nvSpPr>
        <p:spPr>
          <a:xfrm>
            <a:off x="5353050" y="2743200"/>
            <a:ext cx="381000" cy="171450"/>
          </a:xfrm>
          <a:prstGeom prst="rect">
            <a:avLst/>
          </a:prstGeom>
          <a:noFill/>
          <a:ln>
            <a:noFill/>
          </a:ln>
        </p:spPr>
        <p:txBody>
          <a:bodyPr wrap="square" lIns="0" tIns="0" rIns="0" bIns="0" anchor="t"/>
          <a:lstStyle/>
          <a:p>
            <a:pPr algn="r">
              <a:buNone/>
            </a:pPr>
            <a:r>
              <a:rPr sz="900" b="0">
                <a:solidFill>
                  <a:srgbClr val="5D6873"/>
                </a:solidFill>
                <a:latin typeface="Arial"/>
                <a:ea typeface="Arial"/>
                <a:cs typeface="Arial"/>
              </a:rPr>
              <a:t>1.00</a:t>
            </a:r>
            <a:endParaRPr sz="900"/>
          </a:p>
        </p:txBody>
      </p:sp>
      <p:sp>
        <p:nvSpPr>
          <p:cNvPr id="16" name="Text 16">
            <a:extLst>
              <a:ext uri="{FF2B5EF4-FFF2-40B4-BE49-F238E27FC236}">
                <a16:creationId xmlns:a16="http://schemas.microsoft.com/office/drawing/2014/main" id="{E53241AE-F8CD-4CB6-B01C-2E79D83875A8}"/>
              </a:ext>
            </a:extLst>
          </p:cNvPr>
          <p:cNvSpPr>
            <a:spLocks noGrp="1"/>
          </p:cNvSpPr>
          <p:nvPr/>
        </p:nvSpPr>
        <p:spPr>
          <a:xfrm>
            <a:off x="1523047" y="2190750"/>
            <a:ext cx="6858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graded</a:t>
            </a:r>
            <a:endParaRPr sz="900"/>
          </a:p>
        </p:txBody>
      </p:sp>
      <p:sp>
        <p:nvSpPr>
          <p:cNvPr id="17" name="Text 17">
            <a:extLst>
              <a:ext uri="{FF2B5EF4-FFF2-40B4-BE49-F238E27FC236}">
                <a16:creationId xmlns:a16="http://schemas.microsoft.com/office/drawing/2014/main" id="{E6F02996-0606-4F12-B03A-A85FBBE4D4BF}"/>
              </a:ext>
            </a:extLst>
          </p:cNvPr>
          <p:cNvSpPr>
            <a:spLocks noGrp="1"/>
          </p:cNvSpPr>
          <p:nvPr/>
        </p:nvSpPr>
        <p:spPr>
          <a:xfrm>
            <a:off x="2722245" y="1943100"/>
            <a:ext cx="2821305" cy="171450"/>
          </a:xfrm>
          <a:prstGeom prst="rect">
            <a:avLst/>
          </a:prstGeom>
          <a:noFill/>
          <a:ln>
            <a:noFill/>
          </a:ln>
        </p:spPr>
        <p:txBody>
          <a:bodyPr wrap="square" lIns="0" tIns="0" rIns="0" bIns="0" anchor="t"/>
          <a:lstStyle/>
          <a:p>
            <a:pPr algn="ctr">
              <a:buNone/>
            </a:pPr>
            <a:r>
              <a:rPr sz="900" b="1">
                <a:solidFill>
                  <a:srgbClr val="D71920"/>
                </a:solidFill>
                <a:latin typeface="Arial"/>
                <a:ea typeface="Arial"/>
                <a:cs typeface="Arial"/>
              </a:rPr>
              <a:t>fully active</a:t>
            </a:r>
            <a:endParaRPr sz="900"/>
          </a:p>
        </p:txBody>
      </p:sp>
      <p:sp>
        <p:nvSpPr>
          <p:cNvPr id="18" name="Text 18">
            <a:extLst>
              <a:ext uri="{FF2B5EF4-FFF2-40B4-BE49-F238E27FC236}">
                <a16:creationId xmlns:a16="http://schemas.microsoft.com/office/drawing/2014/main" id="{B8E05CD2-C6B7-4493-B310-46DE48059B14}"/>
              </a:ext>
            </a:extLst>
          </p:cNvPr>
          <p:cNvSpPr>
            <a:spLocks noGrp="1"/>
          </p:cNvSpPr>
          <p:nvPr/>
        </p:nvSpPr>
        <p:spPr>
          <a:xfrm>
            <a:off x="1466850" y="2990850"/>
            <a:ext cx="3695700" cy="190500"/>
          </a:xfrm>
          <a:prstGeom prst="rect">
            <a:avLst/>
          </a:prstGeom>
          <a:noFill/>
          <a:ln>
            <a:noFill/>
          </a:ln>
        </p:spPr>
        <p:txBody>
          <a:bodyPr wrap="square" lIns="0" tIns="0" rIns="0" bIns="0" anchor="t"/>
          <a:lstStyle/>
          <a:p>
            <a:pPr algn="ctr">
              <a:buNone/>
            </a:pPr>
            <a:r>
              <a:rPr sz="1000" b="0">
                <a:solidFill>
                  <a:srgbClr val="17212B"/>
                </a:solidFill>
                <a:latin typeface="Arial"/>
                <a:ea typeface="Arial"/>
                <a:cs typeface="Arial"/>
              </a:rPr>
              <a:t>x = crypto activities / all activities</a:t>
            </a:r>
            <a:endParaRPr sz="1000"/>
          </a:p>
        </p:txBody>
      </p:sp>
      <p:sp>
        <p:nvSpPr>
          <p:cNvPr id="19" name="Text 19">
            <a:extLst>
              <a:ext uri="{FF2B5EF4-FFF2-40B4-BE49-F238E27FC236}">
                <a16:creationId xmlns:a16="http://schemas.microsoft.com/office/drawing/2014/main" id="{BB39EF5D-4118-4C11-81AC-FE1A50C26D4E}"/>
              </a:ext>
            </a:extLst>
          </p:cNvPr>
          <p:cNvSpPr>
            <a:spLocks noGrp="1"/>
          </p:cNvSpPr>
          <p:nvPr/>
        </p:nvSpPr>
        <p:spPr>
          <a:xfrm>
            <a:off x="6477000" y="1466850"/>
            <a:ext cx="5143500" cy="22860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Cross-border payments</a:t>
            </a:r>
            <a:endParaRPr sz="1500"/>
          </a:p>
        </p:txBody>
      </p:sp>
      <p:sp>
        <p:nvSpPr>
          <p:cNvPr id="20" name="Text 20">
            <a:extLst>
              <a:ext uri="{FF2B5EF4-FFF2-40B4-BE49-F238E27FC236}">
                <a16:creationId xmlns:a16="http://schemas.microsoft.com/office/drawing/2014/main" id="{A002D09F-E00B-4450-BE65-856936018794}"/>
              </a:ext>
            </a:extLst>
          </p:cNvPr>
          <p:cNvSpPr>
            <a:spLocks noGrp="1"/>
          </p:cNvSpPr>
          <p:nvPr/>
        </p:nvSpPr>
        <p:spPr>
          <a:xfrm>
            <a:off x="6991350" y="1714500"/>
            <a:ext cx="1238250" cy="171450"/>
          </a:xfrm>
          <a:prstGeom prst="rect">
            <a:avLst/>
          </a:prstGeom>
          <a:noFill/>
          <a:ln>
            <a:noFill/>
          </a:ln>
        </p:spPr>
        <p:txBody>
          <a:bodyPr wrap="square" lIns="0" tIns="0" rIns="0" bIns="0" anchor="t"/>
          <a:lstStyle/>
          <a:p>
            <a:pPr algn="l">
              <a:buNone/>
            </a:pPr>
            <a:r>
              <a:rPr sz="1000" b="1">
                <a:solidFill>
                  <a:srgbClr val="5D6873"/>
                </a:solidFill>
                <a:latin typeface="Arial"/>
                <a:ea typeface="Arial"/>
                <a:cs typeface="Arial"/>
              </a:rPr>
              <a:t>membership μ(x)</a:t>
            </a:r>
            <a:endParaRPr sz="1000"/>
          </a:p>
        </p:txBody>
      </p:sp>
      <p:sp>
        <p:nvSpPr>
          <p:cNvPr id="21" name="Connector 21">
            <a:extLst>
              <a:ext uri="{FF2B5EF4-FFF2-40B4-BE49-F238E27FC236}">
                <a16:creationId xmlns:a16="http://schemas.microsoft.com/office/drawing/2014/main" id="{6ED8C2F2-A28C-4D53-ABAF-AA28331E985F}"/>
              </a:ext>
            </a:extLst>
          </p:cNvPr>
          <p:cNvSpPr>
            <a:spLocks noGrp="1"/>
          </p:cNvSpPr>
          <p:nvPr/>
        </p:nvSpPr>
        <p:spPr>
          <a:xfrm>
            <a:off x="6991350" y="1905000"/>
            <a:ext cx="0" cy="762000"/>
          </a:xfrm>
          <a:prstGeom prst="line">
            <a:avLst/>
          </a:prstGeom>
          <a:ln w="12700">
            <a:solidFill>
              <a:srgbClr val="384754"/>
            </a:solidFill>
          </a:ln>
        </p:spPr>
      </p:sp>
      <p:sp>
        <p:nvSpPr>
          <p:cNvPr id="22" name="Connector 22">
            <a:extLst>
              <a:ext uri="{FF2B5EF4-FFF2-40B4-BE49-F238E27FC236}">
                <a16:creationId xmlns:a16="http://schemas.microsoft.com/office/drawing/2014/main" id="{BAC1906B-E271-4D2A-BBAD-E4A11F7BF4A4}"/>
              </a:ext>
            </a:extLst>
          </p:cNvPr>
          <p:cNvSpPr>
            <a:spLocks noGrp="1"/>
          </p:cNvSpPr>
          <p:nvPr/>
        </p:nvSpPr>
        <p:spPr>
          <a:xfrm>
            <a:off x="6991350" y="2667000"/>
            <a:ext cx="4457700" cy="0"/>
          </a:xfrm>
          <a:prstGeom prst="line">
            <a:avLst/>
          </a:prstGeom>
          <a:ln w="12700">
            <a:solidFill>
              <a:srgbClr val="384754"/>
            </a:solidFill>
          </a:ln>
        </p:spPr>
      </p:sp>
      <p:sp>
        <p:nvSpPr>
          <p:cNvPr id="23" name="Connector 23">
            <a:extLst>
              <a:ext uri="{FF2B5EF4-FFF2-40B4-BE49-F238E27FC236}">
                <a16:creationId xmlns:a16="http://schemas.microsoft.com/office/drawing/2014/main" id="{DA47B965-3528-454A-8859-9881C11040A1}"/>
              </a:ext>
            </a:extLst>
          </p:cNvPr>
          <p:cNvSpPr>
            <a:spLocks noGrp="1"/>
          </p:cNvSpPr>
          <p:nvPr/>
        </p:nvSpPr>
        <p:spPr>
          <a:xfrm>
            <a:off x="6991350" y="2667000"/>
            <a:ext cx="445770" cy="0"/>
          </a:xfrm>
          <a:prstGeom prst="line">
            <a:avLst/>
          </a:prstGeom>
          <a:ln w="38100">
            <a:solidFill>
              <a:srgbClr val="2A5B84"/>
            </a:solidFill>
          </a:ln>
        </p:spPr>
      </p:sp>
      <p:sp>
        <p:nvSpPr>
          <p:cNvPr id="24" name="Connector 24">
            <a:extLst>
              <a:ext uri="{FF2B5EF4-FFF2-40B4-BE49-F238E27FC236}">
                <a16:creationId xmlns:a16="http://schemas.microsoft.com/office/drawing/2014/main" id="{B6CC846E-C0FF-4314-B281-991056A9C758}"/>
              </a:ext>
            </a:extLst>
          </p:cNvPr>
          <p:cNvSpPr>
            <a:spLocks noGrp="1"/>
          </p:cNvSpPr>
          <p:nvPr/>
        </p:nvSpPr>
        <p:spPr>
          <a:xfrm flipV="1">
            <a:off x="7437120" y="1905000"/>
            <a:ext cx="2228850" cy="762000"/>
          </a:xfrm>
          <a:prstGeom prst="line">
            <a:avLst/>
          </a:prstGeom>
          <a:ln w="50800">
            <a:solidFill>
              <a:srgbClr val="2A5B84"/>
            </a:solidFill>
          </a:ln>
        </p:spPr>
      </p:sp>
      <p:sp>
        <p:nvSpPr>
          <p:cNvPr id="25" name="Connector 25">
            <a:extLst>
              <a:ext uri="{FF2B5EF4-FFF2-40B4-BE49-F238E27FC236}">
                <a16:creationId xmlns:a16="http://schemas.microsoft.com/office/drawing/2014/main" id="{08599AF9-A9CC-49D6-BCD7-84FF13AB5110}"/>
              </a:ext>
            </a:extLst>
          </p:cNvPr>
          <p:cNvSpPr>
            <a:spLocks noGrp="1"/>
          </p:cNvSpPr>
          <p:nvPr/>
        </p:nvSpPr>
        <p:spPr>
          <a:xfrm>
            <a:off x="9665970" y="1905000"/>
            <a:ext cx="1783080" cy="0"/>
          </a:xfrm>
          <a:prstGeom prst="line">
            <a:avLst/>
          </a:prstGeom>
          <a:ln w="50800">
            <a:solidFill>
              <a:srgbClr val="2A5B84"/>
            </a:solidFill>
          </a:ln>
        </p:spPr>
      </p:sp>
      <p:sp>
        <p:nvSpPr>
          <p:cNvPr id="26" name="Text 26">
            <a:extLst>
              <a:ext uri="{FF2B5EF4-FFF2-40B4-BE49-F238E27FC236}">
                <a16:creationId xmlns:a16="http://schemas.microsoft.com/office/drawing/2014/main" id="{7044E69A-6FC0-4C34-91DC-66AC31ABF027}"/>
              </a:ext>
            </a:extLst>
          </p:cNvPr>
          <p:cNvSpPr>
            <a:spLocks noGrp="1"/>
          </p:cNvSpPr>
          <p:nvPr/>
        </p:nvSpPr>
        <p:spPr>
          <a:xfrm>
            <a:off x="6743700" y="1828800"/>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a:t>
            </a:r>
            <a:endParaRPr sz="1000"/>
          </a:p>
        </p:txBody>
      </p:sp>
      <p:sp>
        <p:nvSpPr>
          <p:cNvPr id="27" name="Text 27">
            <a:extLst>
              <a:ext uri="{FF2B5EF4-FFF2-40B4-BE49-F238E27FC236}">
                <a16:creationId xmlns:a16="http://schemas.microsoft.com/office/drawing/2014/main" id="{8F8E3D9E-0534-4F21-B016-7572E2C8651C}"/>
              </a:ext>
            </a:extLst>
          </p:cNvPr>
          <p:cNvSpPr>
            <a:spLocks noGrp="1"/>
          </p:cNvSpPr>
          <p:nvPr/>
        </p:nvSpPr>
        <p:spPr>
          <a:xfrm>
            <a:off x="6743700" y="2600325"/>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0</a:t>
            </a:r>
            <a:endParaRPr sz="1000"/>
          </a:p>
        </p:txBody>
      </p:sp>
      <p:sp>
        <p:nvSpPr>
          <p:cNvPr id="28" name="Text 28">
            <a:extLst>
              <a:ext uri="{FF2B5EF4-FFF2-40B4-BE49-F238E27FC236}">
                <a16:creationId xmlns:a16="http://schemas.microsoft.com/office/drawing/2014/main" id="{5488063D-4196-4EE4-A7F7-ADC62DB4C010}"/>
              </a:ext>
            </a:extLst>
          </p:cNvPr>
          <p:cNvSpPr>
            <a:spLocks noGrp="1"/>
          </p:cNvSpPr>
          <p:nvPr/>
        </p:nvSpPr>
        <p:spPr>
          <a:xfrm>
            <a:off x="6800850" y="2743200"/>
            <a:ext cx="3810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0.00</a:t>
            </a:r>
            <a:endParaRPr sz="900"/>
          </a:p>
        </p:txBody>
      </p:sp>
      <p:sp>
        <p:nvSpPr>
          <p:cNvPr id="29" name="Text 29">
            <a:extLst>
              <a:ext uri="{FF2B5EF4-FFF2-40B4-BE49-F238E27FC236}">
                <a16:creationId xmlns:a16="http://schemas.microsoft.com/office/drawing/2014/main" id="{11D63F38-1BE7-4D4C-AA70-6C6ABFA45852}"/>
              </a:ext>
            </a:extLst>
          </p:cNvPr>
          <p:cNvSpPr>
            <a:spLocks noGrp="1"/>
          </p:cNvSpPr>
          <p:nvPr/>
        </p:nvSpPr>
        <p:spPr>
          <a:xfrm>
            <a:off x="7075170" y="274320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a = 0.10</a:t>
            </a:r>
            <a:endParaRPr sz="900"/>
          </a:p>
        </p:txBody>
      </p:sp>
      <p:sp>
        <p:nvSpPr>
          <p:cNvPr id="30" name="Text 30">
            <a:extLst>
              <a:ext uri="{FF2B5EF4-FFF2-40B4-BE49-F238E27FC236}">
                <a16:creationId xmlns:a16="http://schemas.microsoft.com/office/drawing/2014/main" id="{6613253B-0CC5-473C-B18A-CDDA0C0B8E91}"/>
              </a:ext>
            </a:extLst>
          </p:cNvPr>
          <p:cNvSpPr>
            <a:spLocks noGrp="1"/>
          </p:cNvSpPr>
          <p:nvPr/>
        </p:nvSpPr>
        <p:spPr>
          <a:xfrm>
            <a:off x="9304020" y="274320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b = 0.60</a:t>
            </a:r>
            <a:endParaRPr sz="900"/>
          </a:p>
        </p:txBody>
      </p:sp>
      <p:sp>
        <p:nvSpPr>
          <p:cNvPr id="31" name="Text 31">
            <a:extLst>
              <a:ext uri="{FF2B5EF4-FFF2-40B4-BE49-F238E27FC236}">
                <a16:creationId xmlns:a16="http://schemas.microsoft.com/office/drawing/2014/main" id="{E03A5FB6-37E3-4853-88A1-6AC57B580250}"/>
              </a:ext>
            </a:extLst>
          </p:cNvPr>
          <p:cNvSpPr>
            <a:spLocks noGrp="1"/>
          </p:cNvSpPr>
          <p:nvPr/>
        </p:nvSpPr>
        <p:spPr>
          <a:xfrm>
            <a:off x="11258550" y="2743200"/>
            <a:ext cx="381000" cy="171450"/>
          </a:xfrm>
          <a:prstGeom prst="rect">
            <a:avLst/>
          </a:prstGeom>
          <a:noFill/>
          <a:ln>
            <a:noFill/>
          </a:ln>
        </p:spPr>
        <p:txBody>
          <a:bodyPr wrap="square" lIns="0" tIns="0" rIns="0" bIns="0" anchor="t"/>
          <a:lstStyle/>
          <a:p>
            <a:pPr algn="r">
              <a:buNone/>
            </a:pPr>
            <a:r>
              <a:rPr sz="900" b="0">
                <a:solidFill>
                  <a:srgbClr val="5D6873"/>
                </a:solidFill>
                <a:latin typeface="Arial"/>
                <a:ea typeface="Arial"/>
                <a:cs typeface="Arial"/>
              </a:rPr>
              <a:t>1.00</a:t>
            </a:r>
            <a:endParaRPr sz="900"/>
          </a:p>
        </p:txBody>
      </p:sp>
      <p:sp>
        <p:nvSpPr>
          <p:cNvPr id="32" name="Text 32">
            <a:extLst>
              <a:ext uri="{FF2B5EF4-FFF2-40B4-BE49-F238E27FC236}">
                <a16:creationId xmlns:a16="http://schemas.microsoft.com/office/drawing/2014/main" id="{EFE063D3-67AC-45A6-AC81-86D74135643C}"/>
              </a:ext>
            </a:extLst>
          </p:cNvPr>
          <p:cNvSpPr>
            <a:spLocks noGrp="1"/>
          </p:cNvSpPr>
          <p:nvPr/>
        </p:nvSpPr>
        <p:spPr>
          <a:xfrm>
            <a:off x="8208645" y="2190750"/>
            <a:ext cx="6858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graded</a:t>
            </a:r>
            <a:endParaRPr sz="900"/>
          </a:p>
        </p:txBody>
      </p:sp>
      <p:sp>
        <p:nvSpPr>
          <p:cNvPr id="33" name="Text 33">
            <a:extLst>
              <a:ext uri="{FF2B5EF4-FFF2-40B4-BE49-F238E27FC236}">
                <a16:creationId xmlns:a16="http://schemas.microsoft.com/office/drawing/2014/main" id="{F45987B3-6F3A-4CCD-9E86-B449ECB0079A}"/>
              </a:ext>
            </a:extLst>
          </p:cNvPr>
          <p:cNvSpPr>
            <a:spLocks noGrp="1"/>
          </p:cNvSpPr>
          <p:nvPr/>
        </p:nvSpPr>
        <p:spPr>
          <a:xfrm>
            <a:off x="9742170" y="1943100"/>
            <a:ext cx="1706880" cy="171450"/>
          </a:xfrm>
          <a:prstGeom prst="rect">
            <a:avLst/>
          </a:prstGeom>
          <a:noFill/>
          <a:ln>
            <a:noFill/>
          </a:ln>
        </p:spPr>
        <p:txBody>
          <a:bodyPr wrap="square" lIns="0" tIns="0" rIns="0" bIns="0" anchor="t"/>
          <a:lstStyle/>
          <a:p>
            <a:pPr algn="ctr">
              <a:buNone/>
            </a:pPr>
            <a:r>
              <a:rPr sz="900" b="1">
                <a:solidFill>
                  <a:srgbClr val="2A5B84"/>
                </a:solidFill>
                <a:latin typeface="Arial"/>
                <a:ea typeface="Arial"/>
                <a:cs typeface="Arial"/>
              </a:rPr>
              <a:t>fully active</a:t>
            </a:r>
            <a:endParaRPr sz="900"/>
          </a:p>
        </p:txBody>
      </p:sp>
      <p:sp>
        <p:nvSpPr>
          <p:cNvPr id="34" name="Text 34">
            <a:extLst>
              <a:ext uri="{FF2B5EF4-FFF2-40B4-BE49-F238E27FC236}">
                <a16:creationId xmlns:a16="http://schemas.microsoft.com/office/drawing/2014/main" id="{E0699694-0DA0-4A1F-BD35-19F6E73960E4}"/>
              </a:ext>
            </a:extLst>
          </p:cNvPr>
          <p:cNvSpPr>
            <a:spLocks noGrp="1"/>
          </p:cNvSpPr>
          <p:nvPr/>
        </p:nvSpPr>
        <p:spPr>
          <a:xfrm>
            <a:off x="7372350" y="2990850"/>
            <a:ext cx="3695700" cy="190500"/>
          </a:xfrm>
          <a:prstGeom prst="rect">
            <a:avLst/>
          </a:prstGeom>
          <a:noFill/>
          <a:ln>
            <a:noFill/>
          </a:ln>
        </p:spPr>
        <p:txBody>
          <a:bodyPr wrap="square" lIns="0" tIns="0" rIns="0" bIns="0" anchor="t"/>
          <a:lstStyle/>
          <a:p>
            <a:pPr algn="ctr">
              <a:buNone/>
            </a:pPr>
            <a:r>
              <a:rPr sz="1000" b="0">
                <a:solidFill>
                  <a:srgbClr val="17212B"/>
                </a:solidFill>
                <a:latin typeface="Arial"/>
                <a:ea typeface="Arial"/>
                <a:cs typeface="Arial"/>
              </a:rPr>
              <a:t>x = foreign payments / all activities</a:t>
            </a:r>
            <a:endParaRPr sz="1000"/>
          </a:p>
        </p:txBody>
      </p:sp>
      <p:sp>
        <p:nvSpPr>
          <p:cNvPr id="35" name="Text 35">
            <a:extLst>
              <a:ext uri="{FF2B5EF4-FFF2-40B4-BE49-F238E27FC236}">
                <a16:creationId xmlns:a16="http://schemas.microsoft.com/office/drawing/2014/main" id="{6C37EF58-A2E4-4454-908B-32D402EB4BEA}"/>
              </a:ext>
            </a:extLst>
          </p:cNvPr>
          <p:cNvSpPr>
            <a:spLocks noGrp="1"/>
          </p:cNvSpPr>
          <p:nvPr/>
        </p:nvSpPr>
        <p:spPr>
          <a:xfrm>
            <a:off x="571500" y="3276600"/>
            <a:ext cx="5143500" cy="22860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Incomplete activity</a:t>
            </a:r>
            <a:endParaRPr sz="1500"/>
          </a:p>
        </p:txBody>
      </p:sp>
      <p:sp>
        <p:nvSpPr>
          <p:cNvPr id="36" name="Text 36">
            <a:extLst>
              <a:ext uri="{FF2B5EF4-FFF2-40B4-BE49-F238E27FC236}">
                <a16:creationId xmlns:a16="http://schemas.microsoft.com/office/drawing/2014/main" id="{D74C14CC-6108-4AA5-8BA1-3D6C29EEF37C}"/>
              </a:ext>
            </a:extLst>
          </p:cNvPr>
          <p:cNvSpPr>
            <a:spLocks noGrp="1"/>
          </p:cNvSpPr>
          <p:nvPr/>
        </p:nvSpPr>
        <p:spPr>
          <a:xfrm>
            <a:off x="1085850" y="3524250"/>
            <a:ext cx="1238250" cy="171450"/>
          </a:xfrm>
          <a:prstGeom prst="rect">
            <a:avLst/>
          </a:prstGeom>
          <a:noFill/>
          <a:ln>
            <a:noFill/>
          </a:ln>
        </p:spPr>
        <p:txBody>
          <a:bodyPr wrap="square" lIns="0" tIns="0" rIns="0" bIns="0" anchor="t"/>
          <a:lstStyle/>
          <a:p>
            <a:pPr algn="l">
              <a:buNone/>
            </a:pPr>
            <a:r>
              <a:rPr sz="1000" b="1">
                <a:solidFill>
                  <a:srgbClr val="5D6873"/>
                </a:solidFill>
                <a:latin typeface="Arial"/>
                <a:ea typeface="Arial"/>
                <a:cs typeface="Arial"/>
              </a:rPr>
              <a:t>membership μ(x)</a:t>
            </a:r>
            <a:endParaRPr sz="1000"/>
          </a:p>
        </p:txBody>
      </p:sp>
      <p:sp>
        <p:nvSpPr>
          <p:cNvPr id="37" name="Connector 37">
            <a:extLst>
              <a:ext uri="{FF2B5EF4-FFF2-40B4-BE49-F238E27FC236}">
                <a16:creationId xmlns:a16="http://schemas.microsoft.com/office/drawing/2014/main" id="{DC84060C-CC8D-43F9-BCE3-D068EA9537AB}"/>
              </a:ext>
            </a:extLst>
          </p:cNvPr>
          <p:cNvSpPr>
            <a:spLocks noGrp="1"/>
          </p:cNvSpPr>
          <p:nvPr/>
        </p:nvSpPr>
        <p:spPr>
          <a:xfrm>
            <a:off x="1085850" y="3714750"/>
            <a:ext cx="0" cy="762000"/>
          </a:xfrm>
          <a:prstGeom prst="line">
            <a:avLst/>
          </a:prstGeom>
          <a:ln w="12700">
            <a:solidFill>
              <a:srgbClr val="384754"/>
            </a:solidFill>
          </a:ln>
        </p:spPr>
      </p:sp>
      <p:sp>
        <p:nvSpPr>
          <p:cNvPr id="38" name="Connector 38">
            <a:extLst>
              <a:ext uri="{FF2B5EF4-FFF2-40B4-BE49-F238E27FC236}">
                <a16:creationId xmlns:a16="http://schemas.microsoft.com/office/drawing/2014/main" id="{4D945205-289B-4E6E-969B-3D1E4981FFCB}"/>
              </a:ext>
            </a:extLst>
          </p:cNvPr>
          <p:cNvSpPr>
            <a:spLocks noGrp="1"/>
          </p:cNvSpPr>
          <p:nvPr/>
        </p:nvSpPr>
        <p:spPr>
          <a:xfrm>
            <a:off x="1085850" y="4476750"/>
            <a:ext cx="4457700" cy="0"/>
          </a:xfrm>
          <a:prstGeom prst="line">
            <a:avLst/>
          </a:prstGeom>
          <a:ln w="12700">
            <a:solidFill>
              <a:srgbClr val="384754"/>
            </a:solidFill>
          </a:ln>
        </p:spPr>
      </p:sp>
      <p:sp>
        <p:nvSpPr>
          <p:cNvPr id="39" name="Connector 39">
            <a:extLst>
              <a:ext uri="{FF2B5EF4-FFF2-40B4-BE49-F238E27FC236}">
                <a16:creationId xmlns:a16="http://schemas.microsoft.com/office/drawing/2014/main" id="{69209EC7-EBEC-4C7E-BEF4-5901E20F0927}"/>
              </a:ext>
            </a:extLst>
          </p:cNvPr>
          <p:cNvSpPr>
            <a:spLocks noGrp="1"/>
          </p:cNvSpPr>
          <p:nvPr/>
        </p:nvSpPr>
        <p:spPr>
          <a:xfrm>
            <a:off x="1085850" y="4476750"/>
            <a:ext cx="445770" cy="0"/>
          </a:xfrm>
          <a:prstGeom prst="line">
            <a:avLst/>
          </a:prstGeom>
          <a:ln w="38100">
            <a:solidFill>
              <a:srgbClr val="B46B13"/>
            </a:solidFill>
          </a:ln>
        </p:spPr>
      </p:sp>
      <p:sp>
        <p:nvSpPr>
          <p:cNvPr id="40" name="Connector 40">
            <a:extLst>
              <a:ext uri="{FF2B5EF4-FFF2-40B4-BE49-F238E27FC236}">
                <a16:creationId xmlns:a16="http://schemas.microsoft.com/office/drawing/2014/main" id="{72D092A0-2BC7-4ABA-8A9E-CAF8D6580253}"/>
              </a:ext>
            </a:extLst>
          </p:cNvPr>
          <p:cNvSpPr>
            <a:spLocks noGrp="1"/>
          </p:cNvSpPr>
          <p:nvPr/>
        </p:nvSpPr>
        <p:spPr>
          <a:xfrm flipV="1">
            <a:off x="1531620" y="3714750"/>
            <a:ext cx="1783080" cy="762000"/>
          </a:xfrm>
          <a:prstGeom prst="line">
            <a:avLst/>
          </a:prstGeom>
          <a:ln w="50800">
            <a:solidFill>
              <a:srgbClr val="B46B13"/>
            </a:solidFill>
          </a:ln>
        </p:spPr>
      </p:sp>
      <p:sp>
        <p:nvSpPr>
          <p:cNvPr id="41" name="Connector 41">
            <a:extLst>
              <a:ext uri="{FF2B5EF4-FFF2-40B4-BE49-F238E27FC236}">
                <a16:creationId xmlns:a16="http://schemas.microsoft.com/office/drawing/2014/main" id="{33103C8A-ECD0-4BED-AEF3-A599A813DA2F}"/>
              </a:ext>
            </a:extLst>
          </p:cNvPr>
          <p:cNvSpPr>
            <a:spLocks noGrp="1"/>
          </p:cNvSpPr>
          <p:nvPr/>
        </p:nvSpPr>
        <p:spPr>
          <a:xfrm>
            <a:off x="3314700" y="3714750"/>
            <a:ext cx="2228850" cy="0"/>
          </a:xfrm>
          <a:prstGeom prst="line">
            <a:avLst/>
          </a:prstGeom>
          <a:ln w="50800">
            <a:solidFill>
              <a:srgbClr val="B46B13"/>
            </a:solidFill>
          </a:ln>
        </p:spPr>
      </p:sp>
      <p:sp>
        <p:nvSpPr>
          <p:cNvPr id="42" name="Text 42">
            <a:extLst>
              <a:ext uri="{FF2B5EF4-FFF2-40B4-BE49-F238E27FC236}">
                <a16:creationId xmlns:a16="http://schemas.microsoft.com/office/drawing/2014/main" id="{3E6AB05B-7D4D-4D63-95CE-719635B1C55B}"/>
              </a:ext>
            </a:extLst>
          </p:cNvPr>
          <p:cNvSpPr>
            <a:spLocks noGrp="1"/>
          </p:cNvSpPr>
          <p:nvPr/>
        </p:nvSpPr>
        <p:spPr>
          <a:xfrm>
            <a:off x="838200" y="3638550"/>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a:t>
            </a:r>
            <a:endParaRPr sz="1000"/>
          </a:p>
        </p:txBody>
      </p:sp>
      <p:sp>
        <p:nvSpPr>
          <p:cNvPr id="43" name="Text 43">
            <a:extLst>
              <a:ext uri="{FF2B5EF4-FFF2-40B4-BE49-F238E27FC236}">
                <a16:creationId xmlns:a16="http://schemas.microsoft.com/office/drawing/2014/main" id="{C673D3B2-3D98-4B3E-A115-A8E2D19CB285}"/>
              </a:ext>
            </a:extLst>
          </p:cNvPr>
          <p:cNvSpPr>
            <a:spLocks noGrp="1"/>
          </p:cNvSpPr>
          <p:nvPr/>
        </p:nvSpPr>
        <p:spPr>
          <a:xfrm>
            <a:off x="838200" y="4410075"/>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0</a:t>
            </a:r>
            <a:endParaRPr sz="1000"/>
          </a:p>
        </p:txBody>
      </p:sp>
      <p:sp>
        <p:nvSpPr>
          <p:cNvPr id="44" name="Text 44">
            <a:extLst>
              <a:ext uri="{FF2B5EF4-FFF2-40B4-BE49-F238E27FC236}">
                <a16:creationId xmlns:a16="http://schemas.microsoft.com/office/drawing/2014/main" id="{2A243D2E-2CCE-4544-B114-4F3B24D0EBEC}"/>
              </a:ext>
            </a:extLst>
          </p:cNvPr>
          <p:cNvSpPr>
            <a:spLocks noGrp="1"/>
          </p:cNvSpPr>
          <p:nvPr/>
        </p:nvSpPr>
        <p:spPr>
          <a:xfrm>
            <a:off x="895350" y="4552950"/>
            <a:ext cx="3810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0.00</a:t>
            </a:r>
            <a:endParaRPr sz="900"/>
          </a:p>
        </p:txBody>
      </p:sp>
      <p:sp>
        <p:nvSpPr>
          <p:cNvPr id="45" name="Text 45">
            <a:extLst>
              <a:ext uri="{FF2B5EF4-FFF2-40B4-BE49-F238E27FC236}">
                <a16:creationId xmlns:a16="http://schemas.microsoft.com/office/drawing/2014/main" id="{0E886EA9-F335-4B10-AB2A-55839CF004CC}"/>
              </a:ext>
            </a:extLst>
          </p:cNvPr>
          <p:cNvSpPr>
            <a:spLocks noGrp="1"/>
          </p:cNvSpPr>
          <p:nvPr/>
        </p:nvSpPr>
        <p:spPr>
          <a:xfrm>
            <a:off x="1169670" y="455295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a = 0.10</a:t>
            </a:r>
            <a:endParaRPr sz="900"/>
          </a:p>
        </p:txBody>
      </p:sp>
      <p:sp>
        <p:nvSpPr>
          <p:cNvPr id="46" name="Text 46">
            <a:extLst>
              <a:ext uri="{FF2B5EF4-FFF2-40B4-BE49-F238E27FC236}">
                <a16:creationId xmlns:a16="http://schemas.microsoft.com/office/drawing/2014/main" id="{24E525DF-B9D8-467E-ACFC-5957F103A4FB}"/>
              </a:ext>
            </a:extLst>
          </p:cNvPr>
          <p:cNvSpPr>
            <a:spLocks noGrp="1"/>
          </p:cNvSpPr>
          <p:nvPr/>
        </p:nvSpPr>
        <p:spPr>
          <a:xfrm>
            <a:off x="2952750" y="455295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b = 0.50</a:t>
            </a:r>
            <a:endParaRPr sz="900"/>
          </a:p>
        </p:txBody>
      </p:sp>
      <p:sp>
        <p:nvSpPr>
          <p:cNvPr id="47" name="Text 47">
            <a:extLst>
              <a:ext uri="{FF2B5EF4-FFF2-40B4-BE49-F238E27FC236}">
                <a16:creationId xmlns:a16="http://schemas.microsoft.com/office/drawing/2014/main" id="{5EC259DA-F7C7-4121-9555-9F47AC18A3AB}"/>
              </a:ext>
            </a:extLst>
          </p:cNvPr>
          <p:cNvSpPr>
            <a:spLocks noGrp="1"/>
          </p:cNvSpPr>
          <p:nvPr/>
        </p:nvSpPr>
        <p:spPr>
          <a:xfrm>
            <a:off x="5353050" y="4552950"/>
            <a:ext cx="381000" cy="171450"/>
          </a:xfrm>
          <a:prstGeom prst="rect">
            <a:avLst/>
          </a:prstGeom>
          <a:noFill/>
          <a:ln>
            <a:noFill/>
          </a:ln>
        </p:spPr>
        <p:txBody>
          <a:bodyPr wrap="square" lIns="0" tIns="0" rIns="0" bIns="0" anchor="t"/>
          <a:lstStyle/>
          <a:p>
            <a:pPr algn="r">
              <a:buNone/>
            </a:pPr>
            <a:r>
              <a:rPr sz="900" b="0">
                <a:solidFill>
                  <a:srgbClr val="5D6873"/>
                </a:solidFill>
                <a:latin typeface="Arial"/>
                <a:ea typeface="Arial"/>
                <a:cs typeface="Arial"/>
              </a:rPr>
              <a:t>1.00</a:t>
            </a:r>
            <a:endParaRPr sz="900"/>
          </a:p>
        </p:txBody>
      </p:sp>
      <p:sp>
        <p:nvSpPr>
          <p:cNvPr id="48" name="Text 48">
            <a:extLst>
              <a:ext uri="{FF2B5EF4-FFF2-40B4-BE49-F238E27FC236}">
                <a16:creationId xmlns:a16="http://schemas.microsoft.com/office/drawing/2014/main" id="{E686B6FA-AC86-4692-9A8E-90B8577D473D}"/>
              </a:ext>
            </a:extLst>
          </p:cNvPr>
          <p:cNvSpPr>
            <a:spLocks noGrp="1"/>
          </p:cNvSpPr>
          <p:nvPr/>
        </p:nvSpPr>
        <p:spPr>
          <a:xfrm>
            <a:off x="2080260" y="4000500"/>
            <a:ext cx="6858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graded</a:t>
            </a:r>
            <a:endParaRPr sz="900"/>
          </a:p>
        </p:txBody>
      </p:sp>
      <p:sp>
        <p:nvSpPr>
          <p:cNvPr id="49" name="Text 49">
            <a:extLst>
              <a:ext uri="{FF2B5EF4-FFF2-40B4-BE49-F238E27FC236}">
                <a16:creationId xmlns:a16="http://schemas.microsoft.com/office/drawing/2014/main" id="{F36354DE-2743-4FB1-BAAF-E5E156E01A32}"/>
              </a:ext>
            </a:extLst>
          </p:cNvPr>
          <p:cNvSpPr>
            <a:spLocks noGrp="1"/>
          </p:cNvSpPr>
          <p:nvPr/>
        </p:nvSpPr>
        <p:spPr>
          <a:xfrm>
            <a:off x="3390900" y="3752850"/>
            <a:ext cx="2152650" cy="171450"/>
          </a:xfrm>
          <a:prstGeom prst="rect">
            <a:avLst/>
          </a:prstGeom>
          <a:noFill/>
          <a:ln>
            <a:noFill/>
          </a:ln>
        </p:spPr>
        <p:txBody>
          <a:bodyPr wrap="square" lIns="0" tIns="0" rIns="0" bIns="0" anchor="t"/>
          <a:lstStyle/>
          <a:p>
            <a:pPr algn="ctr">
              <a:buNone/>
            </a:pPr>
            <a:r>
              <a:rPr sz="900" b="1">
                <a:solidFill>
                  <a:srgbClr val="B46B13"/>
                </a:solidFill>
                <a:latin typeface="Arial"/>
                <a:ea typeface="Arial"/>
                <a:cs typeface="Arial"/>
              </a:rPr>
              <a:t>fully active</a:t>
            </a:r>
            <a:endParaRPr sz="900"/>
          </a:p>
        </p:txBody>
      </p:sp>
      <p:sp>
        <p:nvSpPr>
          <p:cNvPr id="50" name="Text 50">
            <a:extLst>
              <a:ext uri="{FF2B5EF4-FFF2-40B4-BE49-F238E27FC236}">
                <a16:creationId xmlns:a16="http://schemas.microsoft.com/office/drawing/2014/main" id="{D8381C5F-48B4-4CEF-8474-0E8E2BC5CF5E}"/>
              </a:ext>
            </a:extLst>
          </p:cNvPr>
          <p:cNvSpPr>
            <a:spLocks noGrp="1"/>
          </p:cNvSpPr>
          <p:nvPr/>
        </p:nvSpPr>
        <p:spPr>
          <a:xfrm>
            <a:off x="1466850" y="4800600"/>
            <a:ext cx="3695700" cy="190500"/>
          </a:xfrm>
          <a:prstGeom prst="rect">
            <a:avLst/>
          </a:prstGeom>
          <a:noFill/>
          <a:ln>
            <a:noFill/>
          </a:ln>
        </p:spPr>
        <p:txBody>
          <a:bodyPr wrap="square" lIns="0" tIns="0" rIns="0" bIns="0" anchor="t"/>
          <a:lstStyle/>
          <a:p>
            <a:pPr algn="ctr">
              <a:buNone/>
            </a:pPr>
            <a:r>
              <a:rPr sz="1000" b="0">
                <a:solidFill>
                  <a:srgbClr val="17212B"/>
                </a:solidFill>
                <a:latin typeface="Arial"/>
                <a:ea typeface="Arial"/>
                <a:cs typeface="Arial"/>
              </a:rPr>
              <a:t>x = incomplete activities / all activities</a:t>
            </a:r>
            <a:endParaRPr sz="1000"/>
          </a:p>
        </p:txBody>
      </p:sp>
      <p:sp>
        <p:nvSpPr>
          <p:cNvPr id="51" name="Text 51">
            <a:extLst>
              <a:ext uri="{FF2B5EF4-FFF2-40B4-BE49-F238E27FC236}">
                <a16:creationId xmlns:a16="http://schemas.microsoft.com/office/drawing/2014/main" id="{D62092C7-1C55-4070-A699-58246307054B}"/>
              </a:ext>
            </a:extLst>
          </p:cNvPr>
          <p:cNvSpPr>
            <a:spLocks noGrp="1"/>
          </p:cNvSpPr>
          <p:nvPr/>
        </p:nvSpPr>
        <p:spPr>
          <a:xfrm>
            <a:off x="6477000" y="3276600"/>
            <a:ext cx="5143500" cy="228600"/>
          </a:xfrm>
          <a:prstGeom prst="rect">
            <a:avLst/>
          </a:prstGeom>
          <a:noFill/>
          <a:ln>
            <a:noFill/>
          </a:ln>
        </p:spPr>
        <p:txBody>
          <a:bodyPr wrap="square" lIns="0" tIns="0" rIns="0" bIns="0" anchor="t"/>
          <a:lstStyle/>
          <a:p>
            <a:pPr algn="l">
              <a:buNone/>
            </a:pPr>
            <a:r>
              <a:rPr sz="1500" b="1">
                <a:solidFill>
                  <a:srgbClr val="17212B"/>
                </a:solidFill>
                <a:latin typeface="Arial"/>
                <a:ea typeface="Arial"/>
                <a:cs typeface="Arial"/>
              </a:rPr>
              <a:t>Source-risk density</a:t>
            </a:r>
            <a:endParaRPr sz="1500"/>
          </a:p>
        </p:txBody>
      </p:sp>
      <p:sp>
        <p:nvSpPr>
          <p:cNvPr id="52" name="Text 52">
            <a:extLst>
              <a:ext uri="{FF2B5EF4-FFF2-40B4-BE49-F238E27FC236}">
                <a16:creationId xmlns:a16="http://schemas.microsoft.com/office/drawing/2014/main" id="{F0BFC4DD-D221-46E7-868D-DF7AC8684DD1}"/>
              </a:ext>
            </a:extLst>
          </p:cNvPr>
          <p:cNvSpPr>
            <a:spLocks noGrp="1"/>
          </p:cNvSpPr>
          <p:nvPr/>
        </p:nvSpPr>
        <p:spPr>
          <a:xfrm>
            <a:off x="6991350" y="3524250"/>
            <a:ext cx="1238250" cy="171450"/>
          </a:xfrm>
          <a:prstGeom prst="rect">
            <a:avLst/>
          </a:prstGeom>
          <a:noFill/>
          <a:ln>
            <a:noFill/>
          </a:ln>
        </p:spPr>
        <p:txBody>
          <a:bodyPr wrap="square" lIns="0" tIns="0" rIns="0" bIns="0" anchor="t"/>
          <a:lstStyle/>
          <a:p>
            <a:pPr algn="l">
              <a:buNone/>
            </a:pPr>
            <a:r>
              <a:rPr sz="1000" b="1">
                <a:solidFill>
                  <a:srgbClr val="5D6873"/>
                </a:solidFill>
                <a:latin typeface="Arial"/>
                <a:ea typeface="Arial"/>
                <a:cs typeface="Arial"/>
              </a:rPr>
              <a:t>membership μ(x)</a:t>
            </a:r>
            <a:endParaRPr sz="1000"/>
          </a:p>
        </p:txBody>
      </p:sp>
      <p:sp>
        <p:nvSpPr>
          <p:cNvPr id="53" name="Connector 53">
            <a:extLst>
              <a:ext uri="{FF2B5EF4-FFF2-40B4-BE49-F238E27FC236}">
                <a16:creationId xmlns:a16="http://schemas.microsoft.com/office/drawing/2014/main" id="{C319C24C-A2C4-463F-B5F8-054B22F938F8}"/>
              </a:ext>
            </a:extLst>
          </p:cNvPr>
          <p:cNvSpPr>
            <a:spLocks noGrp="1"/>
          </p:cNvSpPr>
          <p:nvPr/>
        </p:nvSpPr>
        <p:spPr>
          <a:xfrm>
            <a:off x="6991350" y="3714750"/>
            <a:ext cx="0" cy="762000"/>
          </a:xfrm>
          <a:prstGeom prst="line">
            <a:avLst/>
          </a:prstGeom>
          <a:ln w="12700">
            <a:solidFill>
              <a:srgbClr val="384754"/>
            </a:solidFill>
          </a:ln>
        </p:spPr>
      </p:sp>
      <p:sp>
        <p:nvSpPr>
          <p:cNvPr id="54" name="Connector 54">
            <a:extLst>
              <a:ext uri="{FF2B5EF4-FFF2-40B4-BE49-F238E27FC236}">
                <a16:creationId xmlns:a16="http://schemas.microsoft.com/office/drawing/2014/main" id="{7D734DA0-5E7F-49AC-84A1-5E493ADC1394}"/>
              </a:ext>
            </a:extLst>
          </p:cNvPr>
          <p:cNvSpPr>
            <a:spLocks noGrp="1"/>
          </p:cNvSpPr>
          <p:nvPr/>
        </p:nvSpPr>
        <p:spPr>
          <a:xfrm>
            <a:off x="6991350" y="4476750"/>
            <a:ext cx="4457700" cy="0"/>
          </a:xfrm>
          <a:prstGeom prst="line">
            <a:avLst/>
          </a:prstGeom>
          <a:ln w="12700">
            <a:solidFill>
              <a:srgbClr val="384754"/>
            </a:solidFill>
          </a:ln>
        </p:spPr>
      </p:sp>
      <p:sp>
        <p:nvSpPr>
          <p:cNvPr id="55" name="Connector 55">
            <a:extLst>
              <a:ext uri="{FF2B5EF4-FFF2-40B4-BE49-F238E27FC236}">
                <a16:creationId xmlns:a16="http://schemas.microsoft.com/office/drawing/2014/main" id="{6ED5F778-5B68-4EF9-ABD5-7C37488D1DAE}"/>
              </a:ext>
            </a:extLst>
          </p:cNvPr>
          <p:cNvSpPr>
            <a:spLocks noGrp="1"/>
          </p:cNvSpPr>
          <p:nvPr/>
        </p:nvSpPr>
        <p:spPr>
          <a:xfrm>
            <a:off x="6991350" y="4476750"/>
            <a:ext cx="445770" cy="0"/>
          </a:xfrm>
          <a:prstGeom prst="line">
            <a:avLst/>
          </a:prstGeom>
          <a:ln w="38100">
            <a:solidFill>
              <a:srgbClr val="1F7A5A"/>
            </a:solidFill>
          </a:ln>
        </p:spPr>
      </p:sp>
      <p:sp>
        <p:nvSpPr>
          <p:cNvPr id="56" name="Connector 56">
            <a:extLst>
              <a:ext uri="{FF2B5EF4-FFF2-40B4-BE49-F238E27FC236}">
                <a16:creationId xmlns:a16="http://schemas.microsoft.com/office/drawing/2014/main" id="{092D6C05-ACE9-44CC-89E3-0F0B6D0DFE30}"/>
              </a:ext>
            </a:extLst>
          </p:cNvPr>
          <p:cNvSpPr>
            <a:spLocks noGrp="1"/>
          </p:cNvSpPr>
          <p:nvPr/>
        </p:nvSpPr>
        <p:spPr>
          <a:xfrm flipV="1">
            <a:off x="7437120" y="3714750"/>
            <a:ext cx="2228850" cy="762000"/>
          </a:xfrm>
          <a:prstGeom prst="line">
            <a:avLst/>
          </a:prstGeom>
          <a:ln w="50800">
            <a:solidFill>
              <a:srgbClr val="1F7A5A"/>
            </a:solidFill>
          </a:ln>
        </p:spPr>
      </p:sp>
      <p:sp>
        <p:nvSpPr>
          <p:cNvPr id="57" name="Connector 57">
            <a:extLst>
              <a:ext uri="{FF2B5EF4-FFF2-40B4-BE49-F238E27FC236}">
                <a16:creationId xmlns:a16="http://schemas.microsoft.com/office/drawing/2014/main" id="{1DF3275D-434C-4989-B409-369AE10D81C2}"/>
              </a:ext>
            </a:extLst>
          </p:cNvPr>
          <p:cNvSpPr>
            <a:spLocks noGrp="1"/>
          </p:cNvSpPr>
          <p:nvPr/>
        </p:nvSpPr>
        <p:spPr>
          <a:xfrm>
            <a:off x="9665970" y="3714750"/>
            <a:ext cx="1783080" cy="0"/>
          </a:xfrm>
          <a:prstGeom prst="line">
            <a:avLst/>
          </a:prstGeom>
          <a:ln w="50800">
            <a:solidFill>
              <a:srgbClr val="1F7A5A"/>
            </a:solidFill>
          </a:ln>
        </p:spPr>
      </p:sp>
      <p:sp>
        <p:nvSpPr>
          <p:cNvPr id="58" name="Text 58">
            <a:extLst>
              <a:ext uri="{FF2B5EF4-FFF2-40B4-BE49-F238E27FC236}">
                <a16:creationId xmlns:a16="http://schemas.microsoft.com/office/drawing/2014/main" id="{4EF4BE1E-C097-4F43-8546-4FD12C6FE104}"/>
              </a:ext>
            </a:extLst>
          </p:cNvPr>
          <p:cNvSpPr>
            <a:spLocks noGrp="1"/>
          </p:cNvSpPr>
          <p:nvPr/>
        </p:nvSpPr>
        <p:spPr>
          <a:xfrm>
            <a:off x="6743700" y="3638550"/>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1</a:t>
            </a:r>
            <a:endParaRPr sz="1000"/>
          </a:p>
        </p:txBody>
      </p:sp>
      <p:sp>
        <p:nvSpPr>
          <p:cNvPr id="59" name="Text 59">
            <a:extLst>
              <a:ext uri="{FF2B5EF4-FFF2-40B4-BE49-F238E27FC236}">
                <a16:creationId xmlns:a16="http://schemas.microsoft.com/office/drawing/2014/main" id="{78391279-D433-4A13-BB60-B1AA8C97B27A}"/>
              </a:ext>
            </a:extLst>
          </p:cNvPr>
          <p:cNvSpPr>
            <a:spLocks noGrp="1"/>
          </p:cNvSpPr>
          <p:nvPr/>
        </p:nvSpPr>
        <p:spPr>
          <a:xfrm>
            <a:off x="6743700" y="4410075"/>
            <a:ext cx="190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0</a:t>
            </a:r>
            <a:endParaRPr sz="1000"/>
          </a:p>
        </p:txBody>
      </p:sp>
      <p:sp>
        <p:nvSpPr>
          <p:cNvPr id="60" name="Text 60">
            <a:extLst>
              <a:ext uri="{FF2B5EF4-FFF2-40B4-BE49-F238E27FC236}">
                <a16:creationId xmlns:a16="http://schemas.microsoft.com/office/drawing/2014/main" id="{987098A5-FAC8-4922-88C3-95CBC31D4322}"/>
              </a:ext>
            </a:extLst>
          </p:cNvPr>
          <p:cNvSpPr>
            <a:spLocks noGrp="1"/>
          </p:cNvSpPr>
          <p:nvPr/>
        </p:nvSpPr>
        <p:spPr>
          <a:xfrm>
            <a:off x="6800850" y="4552950"/>
            <a:ext cx="3810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0.00</a:t>
            </a:r>
            <a:endParaRPr sz="900"/>
          </a:p>
        </p:txBody>
      </p:sp>
      <p:sp>
        <p:nvSpPr>
          <p:cNvPr id="61" name="Text 61">
            <a:extLst>
              <a:ext uri="{FF2B5EF4-FFF2-40B4-BE49-F238E27FC236}">
                <a16:creationId xmlns:a16="http://schemas.microsoft.com/office/drawing/2014/main" id="{29B26E05-8722-45D5-AAA1-DE25B4D73DC9}"/>
              </a:ext>
            </a:extLst>
          </p:cNvPr>
          <p:cNvSpPr>
            <a:spLocks noGrp="1"/>
          </p:cNvSpPr>
          <p:nvPr/>
        </p:nvSpPr>
        <p:spPr>
          <a:xfrm>
            <a:off x="7075170" y="455295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a = 0.10</a:t>
            </a:r>
            <a:endParaRPr sz="900"/>
          </a:p>
        </p:txBody>
      </p:sp>
      <p:sp>
        <p:nvSpPr>
          <p:cNvPr id="62" name="Text 62">
            <a:extLst>
              <a:ext uri="{FF2B5EF4-FFF2-40B4-BE49-F238E27FC236}">
                <a16:creationId xmlns:a16="http://schemas.microsoft.com/office/drawing/2014/main" id="{351C6134-A457-46DE-9D08-96962D833AAC}"/>
              </a:ext>
            </a:extLst>
          </p:cNvPr>
          <p:cNvSpPr>
            <a:spLocks noGrp="1"/>
          </p:cNvSpPr>
          <p:nvPr/>
        </p:nvSpPr>
        <p:spPr>
          <a:xfrm>
            <a:off x="9304020" y="4552950"/>
            <a:ext cx="7239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b = 0.60</a:t>
            </a:r>
            <a:endParaRPr sz="900"/>
          </a:p>
        </p:txBody>
      </p:sp>
      <p:sp>
        <p:nvSpPr>
          <p:cNvPr id="63" name="Text 63">
            <a:extLst>
              <a:ext uri="{FF2B5EF4-FFF2-40B4-BE49-F238E27FC236}">
                <a16:creationId xmlns:a16="http://schemas.microsoft.com/office/drawing/2014/main" id="{3D3043FB-9A23-47C1-B9D2-992F011475EC}"/>
              </a:ext>
            </a:extLst>
          </p:cNvPr>
          <p:cNvSpPr>
            <a:spLocks noGrp="1"/>
          </p:cNvSpPr>
          <p:nvPr/>
        </p:nvSpPr>
        <p:spPr>
          <a:xfrm>
            <a:off x="11258550" y="4552950"/>
            <a:ext cx="381000" cy="171450"/>
          </a:xfrm>
          <a:prstGeom prst="rect">
            <a:avLst/>
          </a:prstGeom>
          <a:noFill/>
          <a:ln>
            <a:noFill/>
          </a:ln>
        </p:spPr>
        <p:txBody>
          <a:bodyPr wrap="square" lIns="0" tIns="0" rIns="0" bIns="0" anchor="t"/>
          <a:lstStyle/>
          <a:p>
            <a:pPr algn="r">
              <a:buNone/>
            </a:pPr>
            <a:r>
              <a:rPr sz="900" b="0">
                <a:solidFill>
                  <a:srgbClr val="5D6873"/>
                </a:solidFill>
                <a:latin typeface="Arial"/>
                <a:ea typeface="Arial"/>
                <a:cs typeface="Arial"/>
              </a:rPr>
              <a:t>1.00</a:t>
            </a:r>
            <a:endParaRPr sz="900"/>
          </a:p>
        </p:txBody>
      </p:sp>
      <p:sp>
        <p:nvSpPr>
          <p:cNvPr id="64" name="Text 64">
            <a:extLst>
              <a:ext uri="{FF2B5EF4-FFF2-40B4-BE49-F238E27FC236}">
                <a16:creationId xmlns:a16="http://schemas.microsoft.com/office/drawing/2014/main" id="{F0732D69-F4CA-4621-B64C-69BD987BC3D1}"/>
              </a:ext>
            </a:extLst>
          </p:cNvPr>
          <p:cNvSpPr>
            <a:spLocks noGrp="1"/>
          </p:cNvSpPr>
          <p:nvPr/>
        </p:nvSpPr>
        <p:spPr>
          <a:xfrm>
            <a:off x="8208645" y="4000500"/>
            <a:ext cx="685800" cy="171450"/>
          </a:xfrm>
          <a:prstGeom prst="rect">
            <a:avLst/>
          </a:prstGeom>
          <a:noFill/>
          <a:ln>
            <a:noFill/>
          </a:ln>
        </p:spPr>
        <p:txBody>
          <a:bodyPr wrap="square" lIns="0" tIns="0" rIns="0" bIns="0" anchor="t"/>
          <a:lstStyle/>
          <a:p>
            <a:pPr algn="ctr">
              <a:buNone/>
            </a:pPr>
            <a:r>
              <a:rPr sz="900" b="0">
                <a:solidFill>
                  <a:srgbClr val="5D6873"/>
                </a:solidFill>
                <a:latin typeface="Arial"/>
                <a:ea typeface="Arial"/>
                <a:cs typeface="Arial"/>
              </a:rPr>
              <a:t>graded</a:t>
            </a:r>
            <a:endParaRPr sz="900"/>
          </a:p>
        </p:txBody>
      </p:sp>
      <p:sp>
        <p:nvSpPr>
          <p:cNvPr id="65" name="Text 65">
            <a:extLst>
              <a:ext uri="{FF2B5EF4-FFF2-40B4-BE49-F238E27FC236}">
                <a16:creationId xmlns:a16="http://schemas.microsoft.com/office/drawing/2014/main" id="{32E3FB4F-823D-4723-9050-00632F6C88B9}"/>
              </a:ext>
            </a:extLst>
          </p:cNvPr>
          <p:cNvSpPr>
            <a:spLocks noGrp="1"/>
          </p:cNvSpPr>
          <p:nvPr/>
        </p:nvSpPr>
        <p:spPr>
          <a:xfrm>
            <a:off x="9742170" y="3752850"/>
            <a:ext cx="1706880" cy="171450"/>
          </a:xfrm>
          <a:prstGeom prst="rect">
            <a:avLst/>
          </a:prstGeom>
          <a:noFill/>
          <a:ln>
            <a:noFill/>
          </a:ln>
        </p:spPr>
        <p:txBody>
          <a:bodyPr wrap="square" lIns="0" tIns="0" rIns="0" bIns="0" anchor="t"/>
          <a:lstStyle/>
          <a:p>
            <a:pPr algn="ctr">
              <a:buNone/>
            </a:pPr>
            <a:r>
              <a:rPr sz="900" b="1">
                <a:solidFill>
                  <a:srgbClr val="1F7A5A"/>
                </a:solidFill>
                <a:latin typeface="Arial"/>
                <a:ea typeface="Arial"/>
                <a:cs typeface="Arial"/>
              </a:rPr>
              <a:t>fully active</a:t>
            </a:r>
            <a:endParaRPr sz="900"/>
          </a:p>
        </p:txBody>
      </p:sp>
      <p:sp>
        <p:nvSpPr>
          <p:cNvPr id="66" name="Text 66">
            <a:extLst>
              <a:ext uri="{FF2B5EF4-FFF2-40B4-BE49-F238E27FC236}">
                <a16:creationId xmlns:a16="http://schemas.microsoft.com/office/drawing/2014/main" id="{3A453B03-2FF7-4A9C-A199-5BE3F7C3A992}"/>
              </a:ext>
            </a:extLst>
          </p:cNvPr>
          <p:cNvSpPr>
            <a:spLocks noGrp="1"/>
          </p:cNvSpPr>
          <p:nvPr/>
        </p:nvSpPr>
        <p:spPr>
          <a:xfrm>
            <a:off x="7372350" y="4800600"/>
            <a:ext cx="3695700" cy="190500"/>
          </a:xfrm>
          <a:prstGeom prst="rect">
            <a:avLst/>
          </a:prstGeom>
          <a:noFill/>
          <a:ln>
            <a:noFill/>
          </a:ln>
        </p:spPr>
        <p:txBody>
          <a:bodyPr wrap="square" lIns="0" tIns="0" rIns="0" bIns="0" anchor="t"/>
          <a:lstStyle/>
          <a:p>
            <a:pPr algn="ctr">
              <a:buNone/>
            </a:pPr>
            <a:r>
              <a:rPr sz="1000" b="0">
                <a:solidFill>
                  <a:srgbClr val="17212B"/>
                </a:solidFill>
                <a:latin typeface="Arial"/>
                <a:ea typeface="Arial"/>
                <a:cs typeface="Arial"/>
              </a:rPr>
              <a:t>x = source-risk records / all activities</a:t>
            </a:r>
            <a:endParaRPr sz="1000"/>
          </a:p>
        </p:txBody>
      </p:sp>
      <p:sp>
        <p:nvSpPr>
          <p:cNvPr id="67" name="Shape 67">
            <a:extLst>
              <a:ext uri="{FF2B5EF4-FFF2-40B4-BE49-F238E27FC236}">
                <a16:creationId xmlns:a16="http://schemas.microsoft.com/office/drawing/2014/main" id="{572C8348-2A3D-4457-9990-ACB6B46E6E65}"/>
              </a:ext>
            </a:extLst>
          </p:cNvPr>
          <p:cNvSpPr>
            <a:spLocks noGrp="1"/>
          </p:cNvSpPr>
          <p:nvPr/>
        </p:nvSpPr>
        <p:spPr>
          <a:xfrm>
            <a:off x="704850" y="5124450"/>
            <a:ext cx="4876800" cy="990600"/>
          </a:xfrm>
          <a:prstGeom prst="rect">
            <a:avLst/>
          </a:prstGeom>
          <a:solidFill>
            <a:srgbClr val="F4F6F8"/>
          </a:solidFill>
          <a:ln w="12700">
            <a:solidFill>
              <a:srgbClr val="D9DEE3"/>
            </a:solidFill>
          </a:ln>
        </p:spPr>
      </p:sp>
      <p:sp>
        <p:nvSpPr>
          <p:cNvPr id="68" name="Text 68">
            <a:extLst>
              <a:ext uri="{FF2B5EF4-FFF2-40B4-BE49-F238E27FC236}">
                <a16:creationId xmlns:a16="http://schemas.microsoft.com/office/drawing/2014/main" id="{3CB35742-5DD0-40A1-9B91-50135CDF21A2}"/>
              </a:ext>
            </a:extLst>
          </p:cNvPr>
          <p:cNvSpPr>
            <a:spLocks noGrp="1"/>
          </p:cNvSpPr>
          <p:nvPr/>
        </p:nvSpPr>
        <p:spPr>
          <a:xfrm>
            <a:off x="895350" y="5238750"/>
            <a:ext cx="1676400" cy="190500"/>
          </a:xfrm>
          <a:prstGeom prst="rect">
            <a:avLst/>
          </a:prstGeom>
          <a:noFill/>
          <a:ln>
            <a:noFill/>
          </a:ln>
        </p:spPr>
        <p:txBody>
          <a:bodyPr wrap="square" lIns="0" tIns="0" rIns="0" bIns="0" anchor="t"/>
          <a:lstStyle/>
          <a:p>
            <a:pPr algn="l">
              <a:buNone/>
            </a:pPr>
            <a:r>
              <a:rPr sz="1100" b="1" spc="80">
                <a:solidFill>
                  <a:srgbClr val="981B1E"/>
                </a:solidFill>
                <a:latin typeface="Arial"/>
                <a:ea typeface="Arial"/>
                <a:cs typeface="Arial"/>
              </a:rPr>
              <a:t>LINEAR MEMBERSHIP</a:t>
            </a:r>
            <a:endParaRPr sz="1100"/>
          </a:p>
        </p:txBody>
      </p:sp>
      <p:sp>
        <p:nvSpPr>
          <p:cNvPr id="69" name="Text 69">
            <a:extLst>
              <a:ext uri="{FF2B5EF4-FFF2-40B4-BE49-F238E27FC236}">
                <a16:creationId xmlns:a16="http://schemas.microsoft.com/office/drawing/2014/main" id="{8F1522D6-0247-41A1-9A2F-B917BFC1B3D5}"/>
              </a:ext>
            </a:extLst>
          </p:cNvPr>
          <p:cNvSpPr>
            <a:spLocks noGrp="1"/>
          </p:cNvSpPr>
          <p:nvPr/>
        </p:nvSpPr>
        <p:spPr>
          <a:xfrm>
            <a:off x="895350" y="5505450"/>
            <a:ext cx="4457700" cy="514350"/>
          </a:xfrm>
          <a:prstGeom prst="rect">
            <a:avLst/>
          </a:prstGeom>
          <a:noFill/>
          <a:ln>
            <a:noFill/>
          </a:ln>
        </p:spPr>
        <p:txBody>
          <a:bodyPr wrap="square" lIns="0" tIns="0" rIns="0" bIns="0" anchor="t"/>
          <a:lstStyle/>
          <a:p>
            <a:pPr algn="l">
              <a:buNone/>
            </a:pPr>
            <a:r>
              <a:rPr sz="1200" b="1">
                <a:solidFill>
                  <a:srgbClr val="17212B"/>
                </a:solidFill>
                <a:latin typeface="Arial"/>
                <a:ea typeface="Arial"/>
                <a:cs typeface="Arial"/>
              </a:rPr>
              <a:t>μ(x) = 0       when x ≤ a</a:t>
            </a:r>
            <a:endParaRPr sz="1200"/>
          </a:p>
          <a:p>
            <a:pPr algn="l">
              <a:buNone/>
            </a:pPr>
            <a:r>
              <a:rPr sz="1200" b="1">
                <a:solidFill>
                  <a:srgbClr val="17212B"/>
                </a:solidFill>
                <a:latin typeface="Arial"/>
                <a:ea typeface="Arial"/>
                <a:cs typeface="Arial"/>
              </a:rPr>
              <a:t>μ(x) = (x−a)/(b−a)       when a &lt; x &lt; b</a:t>
            </a:r>
            <a:endParaRPr sz="1200"/>
          </a:p>
          <a:p>
            <a:pPr algn="l">
              <a:buNone/>
            </a:pPr>
            <a:r>
              <a:rPr sz="1200" b="1">
                <a:solidFill>
                  <a:srgbClr val="17212B"/>
                </a:solidFill>
                <a:latin typeface="Arial"/>
                <a:ea typeface="Arial"/>
                <a:cs typeface="Arial"/>
              </a:rPr>
              <a:t>μ(x) = 1       when x ≥ b</a:t>
            </a:r>
            <a:endParaRPr sz="1200"/>
          </a:p>
        </p:txBody>
      </p:sp>
      <p:sp>
        <p:nvSpPr>
          <p:cNvPr id="70" name="Shape 70">
            <a:extLst>
              <a:ext uri="{FF2B5EF4-FFF2-40B4-BE49-F238E27FC236}">
                <a16:creationId xmlns:a16="http://schemas.microsoft.com/office/drawing/2014/main" id="{B3E0D89F-7CDD-433D-9C73-C2E5EFA0DB19}"/>
              </a:ext>
            </a:extLst>
          </p:cNvPr>
          <p:cNvSpPr>
            <a:spLocks noGrp="1"/>
          </p:cNvSpPr>
          <p:nvPr/>
        </p:nvSpPr>
        <p:spPr>
          <a:xfrm>
            <a:off x="5753100" y="5124450"/>
            <a:ext cx="5734050" cy="990600"/>
          </a:xfrm>
          <a:prstGeom prst="rect">
            <a:avLst/>
          </a:prstGeom>
          <a:solidFill>
            <a:srgbClr val="FFFFFF"/>
          </a:solidFill>
          <a:ln w="12700">
            <a:solidFill>
              <a:srgbClr val="D9DEE3"/>
            </a:solidFill>
          </a:ln>
        </p:spPr>
      </p:sp>
      <p:sp>
        <p:nvSpPr>
          <p:cNvPr id="71" name="Text 71">
            <a:extLst>
              <a:ext uri="{FF2B5EF4-FFF2-40B4-BE49-F238E27FC236}">
                <a16:creationId xmlns:a16="http://schemas.microsoft.com/office/drawing/2014/main" id="{90482DBE-4D1D-4389-BD71-6F5527A7AFEF}"/>
              </a:ext>
            </a:extLst>
          </p:cNvPr>
          <p:cNvSpPr>
            <a:spLocks noGrp="1"/>
          </p:cNvSpPr>
          <p:nvPr/>
        </p:nvSpPr>
        <p:spPr>
          <a:xfrm>
            <a:off x="5962650" y="5238750"/>
            <a:ext cx="5314950" cy="228600"/>
          </a:xfrm>
          <a:prstGeom prst="rect">
            <a:avLst/>
          </a:prstGeom>
          <a:noFill/>
          <a:ln>
            <a:noFill/>
          </a:ln>
        </p:spPr>
        <p:txBody>
          <a:bodyPr wrap="square" lIns="0" tIns="0" rIns="0" bIns="0" anchor="t"/>
          <a:lstStyle/>
          <a:p>
            <a:pPr algn="l">
              <a:buNone/>
            </a:pPr>
            <a:r>
              <a:rPr sz="1300" b="1">
                <a:solidFill>
                  <a:srgbClr val="17212B"/>
                </a:solidFill>
                <a:latin typeface="Arial"/>
                <a:ea typeface="Arial"/>
                <a:cs typeface="Arial"/>
              </a:rPr>
              <a:t>Rule R5 = min(μ cross-border, μ source-risk)</a:t>
            </a:r>
            <a:endParaRPr sz="1300"/>
          </a:p>
        </p:txBody>
      </p:sp>
      <p:sp>
        <p:nvSpPr>
          <p:cNvPr id="72" name="Text 72">
            <a:extLst>
              <a:ext uri="{FF2B5EF4-FFF2-40B4-BE49-F238E27FC236}">
                <a16:creationId xmlns:a16="http://schemas.microsoft.com/office/drawing/2014/main" id="{2AC3F291-A12E-45C2-9DCC-42C621CE9608}"/>
              </a:ext>
            </a:extLst>
          </p:cNvPr>
          <p:cNvSpPr>
            <a:spLocks noGrp="1"/>
          </p:cNvSpPr>
          <p:nvPr/>
        </p:nvSpPr>
        <p:spPr>
          <a:xfrm>
            <a:off x="5962650" y="5524500"/>
            <a:ext cx="5314950" cy="209550"/>
          </a:xfrm>
          <a:prstGeom prst="rect">
            <a:avLst/>
          </a:prstGeom>
          <a:noFill/>
          <a:ln>
            <a:noFill/>
          </a:ln>
        </p:spPr>
        <p:txBody>
          <a:bodyPr wrap="square" lIns="0" tIns="0" rIns="0" bIns="0" anchor="t"/>
          <a:lstStyle/>
          <a:p>
            <a:pPr algn="l">
              <a:buNone/>
            </a:pPr>
            <a:r>
              <a:rPr sz="1300" b="1">
                <a:solidFill>
                  <a:srgbClr val="17212B"/>
                </a:solidFill>
                <a:latin typeface="Arial"/>
                <a:ea typeface="Arial"/>
                <a:cs typeface="Arial"/>
              </a:rPr>
              <a:t>Output = weighted mean of singleton consequents</a:t>
            </a:r>
            <a:endParaRPr sz="1300"/>
          </a:p>
        </p:txBody>
      </p:sp>
      <p:sp>
        <p:nvSpPr>
          <p:cNvPr id="73" name="Text 73">
            <a:extLst>
              <a:ext uri="{FF2B5EF4-FFF2-40B4-BE49-F238E27FC236}">
                <a16:creationId xmlns:a16="http://schemas.microsoft.com/office/drawing/2014/main" id="{1B8551F2-32E2-47F8-B8B0-582CD4F43AC7}"/>
              </a:ext>
            </a:extLst>
          </p:cNvPr>
          <p:cNvSpPr>
            <a:spLocks noGrp="1"/>
          </p:cNvSpPr>
          <p:nvPr/>
        </p:nvSpPr>
        <p:spPr>
          <a:xfrm>
            <a:off x="5962650" y="5791200"/>
            <a:ext cx="5314950" cy="190500"/>
          </a:xfrm>
          <a:prstGeom prst="rect">
            <a:avLst/>
          </a:prstGeom>
          <a:noFill/>
          <a:ln>
            <a:noFill/>
          </a:ln>
        </p:spPr>
        <p:txBody>
          <a:bodyPr wrap="square" lIns="0" tIns="0" rIns="0" bIns="0" anchor="t"/>
          <a:lstStyle/>
          <a:p>
            <a:pPr algn="l">
              <a:buNone/>
            </a:pPr>
            <a:r>
              <a:rPr sz="1100" b="1">
                <a:solidFill>
                  <a:srgbClr val="981B1E"/>
                </a:solidFill>
                <a:latin typeface="Arial"/>
                <a:ea typeface="Arial"/>
                <a:cs typeface="Arial"/>
              </a:rPr>
              <a:t>Synthetic thresholds for the demonstrator, not validated Swissquote policy</a:t>
            </a:r>
            <a:endParaRPr sz="1100"/>
          </a:p>
        </p:txBody>
      </p:sp>
      <p:sp>
        <p:nvSpPr>
          <p:cNvPr id="74" name="Connector 74">
            <a:extLst>
              <a:ext uri="{FF2B5EF4-FFF2-40B4-BE49-F238E27FC236}">
                <a16:creationId xmlns:a16="http://schemas.microsoft.com/office/drawing/2014/main" id="{810BC00D-DE6B-450C-B3C5-94042C009DAB}"/>
              </a:ext>
            </a:extLst>
          </p:cNvPr>
          <p:cNvSpPr>
            <a:spLocks noGrp="1"/>
          </p:cNvSpPr>
          <p:nvPr/>
        </p:nvSpPr>
        <p:spPr>
          <a:xfrm>
            <a:off x="552450" y="6419850"/>
            <a:ext cx="11087100" cy="0"/>
          </a:xfrm>
          <a:prstGeom prst="line">
            <a:avLst/>
          </a:prstGeom>
          <a:ln w="12700">
            <a:solidFill>
              <a:srgbClr val="BFC5CB"/>
            </a:solidFill>
          </a:ln>
        </p:spPr>
      </p:sp>
      <p:sp>
        <p:nvSpPr>
          <p:cNvPr id="75" name="Text 75">
            <a:extLst>
              <a:ext uri="{FF2B5EF4-FFF2-40B4-BE49-F238E27FC236}">
                <a16:creationId xmlns:a16="http://schemas.microsoft.com/office/drawing/2014/main" id="{CAD22384-903D-49CF-B236-A5A220A40DEB}"/>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76" name="Text 76">
            <a:extLst>
              <a:ext uri="{FF2B5EF4-FFF2-40B4-BE49-F238E27FC236}">
                <a16:creationId xmlns:a16="http://schemas.microsoft.com/office/drawing/2014/main" id="{8F8B4679-0878-4F18-93AF-64A56C4B898C}"/>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D</a:t>
            </a:r>
            <a:endParaRPr sz="1000"/>
          </a:p>
        </p:txBody>
      </p:sp>
    </p:spTree>
    <p:extLst>
      <p:ext uri="{BB962C8B-B14F-4D97-AF65-F5344CB8AC3E}">
        <p14:creationId xmlns:p14="http://schemas.microsoft.com/office/powerpoint/2010/main" val="889035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A3B074F-99BB-4F61-8320-81CDBF65D63F}"/>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FUSION SCOPE</a:t>
            </a:r>
            <a:endParaRPr sz="1100"/>
          </a:p>
        </p:txBody>
      </p:sp>
      <p:sp>
        <p:nvSpPr>
          <p:cNvPr id="3" name="Text 3">
            <a:extLst>
              <a:ext uri="{FF2B5EF4-FFF2-40B4-BE49-F238E27FC236}">
                <a16:creationId xmlns:a16="http://schemas.microsoft.com/office/drawing/2014/main" id="{05FA007B-7524-4A74-9652-15C69F0558D5}"/>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Calibrated late fusion remains outside the final scope</a:t>
            </a:r>
            <a:endParaRPr sz="3000"/>
          </a:p>
        </p:txBody>
      </p:sp>
      <p:sp>
        <p:nvSpPr>
          <p:cNvPr id="4" name="Text 4">
            <a:extLst>
              <a:ext uri="{FF2B5EF4-FFF2-40B4-BE49-F238E27FC236}">
                <a16:creationId xmlns:a16="http://schemas.microsoft.com/office/drawing/2014/main" id="{B3A361AF-0CF4-4166-997C-9C6FF55086B4}"/>
              </a:ext>
            </a:extLst>
          </p:cNvPr>
          <p:cNvSpPr>
            <a:spLocks noGrp="1"/>
          </p:cNvSpPr>
          <p:nvPr/>
        </p:nvSpPr>
        <p:spPr>
          <a:xfrm>
            <a:off x="8420100" y="1066800"/>
            <a:ext cx="3219450" cy="266700"/>
          </a:xfrm>
          <a:prstGeom prst="rect">
            <a:avLst/>
          </a:prstGeom>
          <a:noFill/>
          <a:ln>
            <a:noFill/>
          </a:ln>
        </p:spPr>
        <p:txBody>
          <a:bodyPr wrap="square" lIns="0" tIns="0" rIns="0" bIns="0" anchor="t"/>
          <a:lstStyle/>
          <a:p>
            <a:pPr algn="r">
              <a:buNone/>
            </a:pPr>
            <a:r>
              <a:rPr sz="1100" b="1" spc="80">
                <a:solidFill>
                  <a:srgbClr val="D71920"/>
                </a:solidFill>
                <a:latin typeface="Arial"/>
                <a:ea typeface="Arial"/>
                <a:cs typeface="Arial"/>
              </a:rPr>
              <a:t>EXCLUDED · DATASET CEILING NO-GO</a:t>
            </a:r>
            <a:endParaRPr sz="1100"/>
          </a:p>
        </p:txBody>
      </p:sp>
      <p:sp>
        <p:nvSpPr>
          <p:cNvPr id="5" name="Shape 5">
            <a:extLst>
              <a:ext uri="{FF2B5EF4-FFF2-40B4-BE49-F238E27FC236}">
                <a16:creationId xmlns:a16="http://schemas.microsoft.com/office/drawing/2014/main" id="{26083FAD-2314-4485-AA23-83D5365CA1F4}"/>
              </a:ext>
            </a:extLst>
          </p:cNvPr>
          <p:cNvSpPr>
            <a:spLocks noGrp="1"/>
          </p:cNvSpPr>
          <p:nvPr/>
        </p:nvSpPr>
        <p:spPr>
          <a:xfrm>
            <a:off x="628650" y="1790700"/>
            <a:ext cx="2571750" cy="609600"/>
          </a:xfrm>
          <a:prstGeom prst="rect">
            <a:avLst/>
          </a:prstGeom>
          <a:solidFill>
            <a:srgbClr val="FFFFFF"/>
          </a:solidFill>
          <a:ln w="25400">
            <a:solidFill>
              <a:srgbClr val="17212B"/>
            </a:solidFill>
          </a:ln>
        </p:spPr>
      </p:sp>
      <p:sp>
        <p:nvSpPr>
          <p:cNvPr id="6" name="Shape 6">
            <a:extLst>
              <a:ext uri="{FF2B5EF4-FFF2-40B4-BE49-F238E27FC236}">
                <a16:creationId xmlns:a16="http://schemas.microsoft.com/office/drawing/2014/main" id="{F623914F-5490-4F8D-A5EF-CF47112A4E1D}"/>
              </a:ext>
            </a:extLst>
          </p:cNvPr>
          <p:cNvSpPr>
            <a:spLocks noGrp="1"/>
          </p:cNvSpPr>
          <p:nvPr/>
        </p:nvSpPr>
        <p:spPr>
          <a:xfrm>
            <a:off x="628650" y="1790700"/>
            <a:ext cx="76200" cy="609600"/>
          </a:xfrm>
          <a:prstGeom prst="rect">
            <a:avLst/>
          </a:prstGeom>
          <a:solidFill>
            <a:srgbClr val="17212B"/>
          </a:solidFill>
          <a:ln w="12700">
            <a:solidFill>
              <a:srgbClr val="17212B"/>
            </a:solidFill>
          </a:ln>
        </p:spPr>
      </p:sp>
      <p:sp>
        <p:nvSpPr>
          <p:cNvPr id="7" name="Shape 7">
            <a:extLst>
              <a:ext uri="{FF2B5EF4-FFF2-40B4-BE49-F238E27FC236}">
                <a16:creationId xmlns:a16="http://schemas.microsoft.com/office/drawing/2014/main" id="{F326DF8A-CC8C-45CA-A904-C15DFD49F9C3}"/>
              </a:ext>
            </a:extLst>
          </p:cNvPr>
          <p:cNvSpPr>
            <a:spLocks noGrp="1"/>
          </p:cNvSpPr>
          <p:nvPr/>
        </p:nvSpPr>
        <p:spPr>
          <a:xfrm>
            <a:off x="800100" y="1895475"/>
            <a:ext cx="400050" cy="400050"/>
          </a:xfrm>
          <a:prstGeom prst="roundRect">
            <a:avLst/>
          </a:prstGeom>
          <a:solidFill>
            <a:srgbClr val="F4F6F8"/>
          </a:solidFill>
          <a:ln w="19050">
            <a:solidFill>
              <a:srgbClr val="17212B"/>
            </a:solidFill>
          </a:ln>
        </p:spPr>
      </p:sp>
      <p:pic>
        <p:nvPicPr>
          <p:cNvPr id="69" name="Picture 8"/>
          <p:cNvPicPr>
            <a:picLocks noChangeAspect="1"/>
          </p:cNvPicPr>
          <p:nvPr/>
        </p:nvPicPr>
        <p:blipFill>
          <a:blip r:embed="rId3"/>
          <a:stretch>
            <a:fillRect/>
          </a:stretch>
        </p:blipFill>
        <p:spPr>
          <a:xfrm>
            <a:off x="904875" y="2000250"/>
            <a:ext cx="190500" cy="190500"/>
          </a:xfrm>
          <a:prstGeom prst="rect">
            <a:avLst/>
          </a:prstGeom>
          <a:ln>
            <a:noFill/>
          </a:ln>
        </p:spPr>
      </p:pic>
      <p:sp>
        <p:nvSpPr>
          <p:cNvPr id="9" name="Text 9">
            <a:extLst>
              <a:ext uri="{FF2B5EF4-FFF2-40B4-BE49-F238E27FC236}">
                <a16:creationId xmlns:a16="http://schemas.microsoft.com/office/drawing/2014/main" id="{5284BDAA-501C-4E86-B946-D92E1CD8D142}"/>
              </a:ext>
            </a:extLst>
          </p:cNvPr>
          <p:cNvSpPr>
            <a:spLocks noGrp="1"/>
          </p:cNvSpPr>
          <p:nvPr/>
        </p:nvSpPr>
        <p:spPr>
          <a:xfrm>
            <a:off x="1333500" y="1866900"/>
            <a:ext cx="1657350" cy="190500"/>
          </a:xfrm>
          <a:prstGeom prst="rect">
            <a:avLst/>
          </a:prstGeom>
          <a:noFill/>
          <a:ln>
            <a:noFill/>
          </a:ln>
        </p:spPr>
        <p:txBody>
          <a:bodyPr wrap="square" lIns="0" tIns="0" rIns="0" bIns="0" anchor="t"/>
          <a:lstStyle/>
          <a:p>
            <a:pPr algn="l">
              <a:buNone/>
            </a:pPr>
            <a:r>
              <a:rPr sz="1300" b="1">
                <a:solidFill>
                  <a:srgbClr val="17212B"/>
                </a:solidFill>
                <a:latin typeface="Arial"/>
                <a:ea typeface="Arial"/>
                <a:cs typeface="Arial"/>
              </a:rPr>
              <a:t>DETERMINISTIC</a:t>
            </a:r>
            <a:endParaRPr sz="1300"/>
          </a:p>
        </p:txBody>
      </p:sp>
      <p:sp>
        <p:nvSpPr>
          <p:cNvPr id="10" name="Text 10">
            <a:extLst>
              <a:ext uri="{FF2B5EF4-FFF2-40B4-BE49-F238E27FC236}">
                <a16:creationId xmlns:a16="http://schemas.microsoft.com/office/drawing/2014/main" id="{072F654F-04F5-4EF9-9840-798336F65269}"/>
              </a:ext>
            </a:extLst>
          </p:cNvPr>
          <p:cNvSpPr>
            <a:spLocks noGrp="1"/>
          </p:cNvSpPr>
          <p:nvPr/>
        </p:nvSpPr>
        <p:spPr>
          <a:xfrm>
            <a:off x="1333500" y="2114550"/>
            <a:ext cx="1657350" cy="209550"/>
          </a:xfrm>
          <a:prstGeom prst="rect">
            <a:avLst/>
          </a:prstGeom>
          <a:noFill/>
          <a:ln>
            <a:noFill/>
          </a:ln>
        </p:spPr>
        <p:txBody>
          <a:bodyPr wrap="square" lIns="0" tIns="0" rIns="0" bIns="0" anchor="t"/>
          <a:lstStyle/>
          <a:p>
            <a:pPr algn="l">
              <a:buNone/>
            </a:pPr>
            <a:r>
              <a:rPr sz="1200" b="0">
                <a:solidFill>
                  <a:srgbClr val="5D6873"/>
                </a:solidFill>
                <a:latin typeface="Arial"/>
                <a:ea typeface="Arial"/>
                <a:cs typeface="Arial"/>
              </a:rPr>
              <a:t>source-shaped baseline</a:t>
            </a:r>
            <a:endParaRPr sz="1200"/>
          </a:p>
        </p:txBody>
      </p:sp>
      <p:sp>
        <p:nvSpPr>
          <p:cNvPr id="11" name="Connector 11">
            <a:extLst>
              <a:ext uri="{FF2B5EF4-FFF2-40B4-BE49-F238E27FC236}">
                <a16:creationId xmlns:a16="http://schemas.microsoft.com/office/drawing/2014/main" id="{FB4FB8D0-5667-4E45-9635-F2E22EECACC1}"/>
              </a:ext>
            </a:extLst>
          </p:cNvPr>
          <p:cNvSpPr>
            <a:spLocks noGrp="1"/>
          </p:cNvSpPr>
          <p:nvPr/>
        </p:nvSpPr>
        <p:spPr>
          <a:xfrm>
            <a:off x="3200400" y="2095500"/>
            <a:ext cx="1085850" cy="0"/>
          </a:xfrm>
          <a:prstGeom prst="line">
            <a:avLst/>
          </a:prstGeom>
          <a:ln w="25400">
            <a:solidFill>
              <a:srgbClr val="17212B"/>
            </a:solidFill>
          </a:ln>
        </p:spPr>
      </p:sp>
      <p:sp>
        <p:nvSpPr>
          <p:cNvPr id="12" name="Shape 12">
            <a:extLst>
              <a:ext uri="{FF2B5EF4-FFF2-40B4-BE49-F238E27FC236}">
                <a16:creationId xmlns:a16="http://schemas.microsoft.com/office/drawing/2014/main" id="{6C5B27BF-E31B-4815-A4C1-44593DFF43BA}"/>
              </a:ext>
            </a:extLst>
          </p:cNvPr>
          <p:cNvSpPr>
            <a:spLocks noGrp="1"/>
          </p:cNvSpPr>
          <p:nvPr/>
        </p:nvSpPr>
        <p:spPr>
          <a:xfrm>
            <a:off x="628650" y="2628900"/>
            <a:ext cx="2571750" cy="609600"/>
          </a:xfrm>
          <a:prstGeom prst="rect">
            <a:avLst/>
          </a:prstGeom>
          <a:solidFill>
            <a:srgbClr val="FFFFFF"/>
          </a:solidFill>
          <a:ln w="25400">
            <a:solidFill>
              <a:srgbClr val="2A5B84"/>
            </a:solidFill>
          </a:ln>
        </p:spPr>
      </p:sp>
      <p:sp>
        <p:nvSpPr>
          <p:cNvPr id="13" name="Shape 13">
            <a:extLst>
              <a:ext uri="{FF2B5EF4-FFF2-40B4-BE49-F238E27FC236}">
                <a16:creationId xmlns:a16="http://schemas.microsoft.com/office/drawing/2014/main" id="{578480CC-E4E4-48DB-A4B9-6FB9C1D76FC1}"/>
              </a:ext>
            </a:extLst>
          </p:cNvPr>
          <p:cNvSpPr>
            <a:spLocks noGrp="1"/>
          </p:cNvSpPr>
          <p:nvPr/>
        </p:nvSpPr>
        <p:spPr>
          <a:xfrm>
            <a:off x="628650" y="2628900"/>
            <a:ext cx="76200" cy="609600"/>
          </a:xfrm>
          <a:prstGeom prst="rect">
            <a:avLst/>
          </a:prstGeom>
          <a:solidFill>
            <a:srgbClr val="2A5B84"/>
          </a:solidFill>
          <a:ln w="12700">
            <a:solidFill>
              <a:srgbClr val="2A5B84"/>
            </a:solidFill>
          </a:ln>
        </p:spPr>
      </p:sp>
      <p:sp>
        <p:nvSpPr>
          <p:cNvPr id="14" name="Shape 14">
            <a:extLst>
              <a:ext uri="{FF2B5EF4-FFF2-40B4-BE49-F238E27FC236}">
                <a16:creationId xmlns:a16="http://schemas.microsoft.com/office/drawing/2014/main" id="{E08BBBAA-4BD1-4D54-949A-A82C6693F0F6}"/>
              </a:ext>
            </a:extLst>
          </p:cNvPr>
          <p:cNvSpPr>
            <a:spLocks noGrp="1"/>
          </p:cNvSpPr>
          <p:nvPr/>
        </p:nvSpPr>
        <p:spPr>
          <a:xfrm>
            <a:off x="800100" y="2733675"/>
            <a:ext cx="400050" cy="400050"/>
          </a:xfrm>
          <a:prstGeom prst="roundRect">
            <a:avLst/>
          </a:prstGeom>
          <a:solidFill>
            <a:srgbClr val="F4F6F8"/>
          </a:solidFill>
          <a:ln w="19050">
            <a:solidFill>
              <a:srgbClr val="2A5B84"/>
            </a:solidFill>
          </a:ln>
        </p:spPr>
      </p:sp>
      <p:pic>
        <p:nvPicPr>
          <p:cNvPr id="76" name="Picture 15"/>
          <p:cNvPicPr>
            <a:picLocks noChangeAspect="1"/>
          </p:cNvPicPr>
          <p:nvPr/>
        </p:nvPicPr>
        <p:blipFill>
          <a:blip r:embed="rId4"/>
          <a:stretch>
            <a:fillRect/>
          </a:stretch>
        </p:blipFill>
        <p:spPr>
          <a:xfrm>
            <a:off x="904875" y="2838450"/>
            <a:ext cx="190500" cy="190500"/>
          </a:xfrm>
          <a:prstGeom prst="rect">
            <a:avLst/>
          </a:prstGeom>
          <a:ln>
            <a:noFill/>
          </a:ln>
        </p:spPr>
      </p:pic>
      <p:sp>
        <p:nvSpPr>
          <p:cNvPr id="16" name="Text 16">
            <a:extLst>
              <a:ext uri="{FF2B5EF4-FFF2-40B4-BE49-F238E27FC236}">
                <a16:creationId xmlns:a16="http://schemas.microsoft.com/office/drawing/2014/main" id="{24685BDB-B495-4322-AFCD-AE598E05E367}"/>
              </a:ext>
            </a:extLst>
          </p:cNvPr>
          <p:cNvSpPr>
            <a:spLocks noGrp="1"/>
          </p:cNvSpPr>
          <p:nvPr/>
        </p:nvSpPr>
        <p:spPr>
          <a:xfrm>
            <a:off x="1333500" y="2705100"/>
            <a:ext cx="1657350" cy="190500"/>
          </a:xfrm>
          <a:prstGeom prst="rect">
            <a:avLst/>
          </a:prstGeom>
          <a:noFill/>
          <a:ln>
            <a:noFill/>
          </a:ln>
        </p:spPr>
        <p:txBody>
          <a:bodyPr wrap="square" lIns="0" tIns="0" rIns="0" bIns="0" anchor="t"/>
          <a:lstStyle/>
          <a:p>
            <a:pPr algn="l">
              <a:buNone/>
            </a:pPr>
            <a:r>
              <a:rPr sz="1300" b="1">
                <a:solidFill>
                  <a:srgbClr val="2A5B84"/>
                </a:solidFill>
                <a:latin typeface="Arial"/>
                <a:ea typeface="Arial"/>
                <a:cs typeface="Arial"/>
              </a:rPr>
              <a:t>BAYESIAN</a:t>
            </a:r>
            <a:endParaRPr sz="1300"/>
          </a:p>
        </p:txBody>
      </p:sp>
      <p:sp>
        <p:nvSpPr>
          <p:cNvPr id="17" name="Text 17">
            <a:extLst>
              <a:ext uri="{FF2B5EF4-FFF2-40B4-BE49-F238E27FC236}">
                <a16:creationId xmlns:a16="http://schemas.microsoft.com/office/drawing/2014/main" id="{BCA858B1-6F50-47E7-A5B2-02C13673DC6A}"/>
              </a:ext>
            </a:extLst>
          </p:cNvPr>
          <p:cNvSpPr>
            <a:spLocks noGrp="1"/>
          </p:cNvSpPr>
          <p:nvPr/>
        </p:nvSpPr>
        <p:spPr>
          <a:xfrm>
            <a:off x="1333500" y="2952750"/>
            <a:ext cx="1657350" cy="209550"/>
          </a:xfrm>
          <a:prstGeom prst="rect">
            <a:avLst/>
          </a:prstGeom>
          <a:noFill/>
          <a:ln>
            <a:noFill/>
          </a:ln>
        </p:spPr>
        <p:txBody>
          <a:bodyPr wrap="square" lIns="0" tIns="0" rIns="0" bIns="0" anchor="t"/>
          <a:lstStyle/>
          <a:p>
            <a:pPr algn="l">
              <a:buNone/>
            </a:pPr>
            <a:r>
              <a:rPr sz="1200" b="0">
                <a:solidFill>
                  <a:srgbClr val="5D6873"/>
                </a:solidFill>
                <a:latin typeface="Arial"/>
                <a:ea typeface="Arial"/>
                <a:cs typeface="Arial"/>
              </a:rPr>
              <a:t>small-sample posterior</a:t>
            </a:r>
            <a:endParaRPr sz="1200"/>
          </a:p>
        </p:txBody>
      </p:sp>
      <p:sp>
        <p:nvSpPr>
          <p:cNvPr id="18" name="Connector 18">
            <a:extLst>
              <a:ext uri="{FF2B5EF4-FFF2-40B4-BE49-F238E27FC236}">
                <a16:creationId xmlns:a16="http://schemas.microsoft.com/office/drawing/2014/main" id="{4B1B7326-7930-4552-A5DB-2C34F40A5219}"/>
              </a:ext>
            </a:extLst>
          </p:cNvPr>
          <p:cNvSpPr>
            <a:spLocks noGrp="1"/>
          </p:cNvSpPr>
          <p:nvPr/>
        </p:nvSpPr>
        <p:spPr>
          <a:xfrm>
            <a:off x="3200400" y="2933700"/>
            <a:ext cx="1085850" cy="0"/>
          </a:xfrm>
          <a:prstGeom prst="line">
            <a:avLst/>
          </a:prstGeom>
          <a:ln w="25400">
            <a:solidFill>
              <a:srgbClr val="2A5B84"/>
            </a:solidFill>
          </a:ln>
        </p:spPr>
      </p:sp>
      <p:sp>
        <p:nvSpPr>
          <p:cNvPr id="19" name="Shape 19">
            <a:extLst>
              <a:ext uri="{FF2B5EF4-FFF2-40B4-BE49-F238E27FC236}">
                <a16:creationId xmlns:a16="http://schemas.microsoft.com/office/drawing/2014/main" id="{F5EE2C4E-6ECD-41B6-B0B6-595AD47F9ED8}"/>
              </a:ext>
            </a:extLst>
          </p:cNvPr>
          <p:cNvSpPr>
            <a:spLocks noGrp="1"/>
          </p:cNvSpPr>
          <p:nvPr/>
        </p:nvSpPr>
        <p:spPr>
          <a:xfrm>
            <a:off x="628650" y="3467100"/>
            <a:ext cx="2571750" cy="609600"/>
          </a:xfrm>
          <a:prstGeom prst="rect">
            <a:avLst/>
          </a:prstGeom>
          <a:solidFill>
            <a:srgbClr val="FFFFFF"/>
          </a:solidFill>
          <a:ln w="25400">
            <a:solidFill>
              <a:srgbClr val="B46B13"/>
            </a:solidFill>
          </a:ln>
        </p:spPr>
      </p:sp>
      <p:sp>
        <p:nvSpPr>
          <p:cNvPr id="20" name="Shape 20">
            <a:extLst>
              <a:ext uri="{FF2B5EF4-FFF2-40B4-BE49-F238E27FC236}">
                <a16:creationId xmlns:a16="http://schemas.microsoft.com/office/drawing/2014/main" id="{C1365D27-25FC-41AA-9309-8572D28F483F}"/>
              </a:ext>
            </a:extLst>
          </p:cNvPr>
          <p:cNvSpPr>
            <a:spLocks noGrp="1"/>
          </p:cNvSpPr>
          <p:nvPr/>
        </p:nvSpPr>
        <p:spPr>
          <a:xfrm>
            <a:off x="628650" y="3467100"/>
            <a:ext cx="76200" cy="609600"/>
          </a:xfrm>
          <a:prstGeom prst="rect">
            <a:avLst/>
          </a:prstGeom>
          <a:solidFill>
            <a:srgbClr val="B46B13"/>
          </a:solidFill>
          <a:ln w="12700">
            <a:solidFill>
              <a:srgbClr val="B46B13"/>
            </a:solidFill>
          </a:ln>
        </p:spPr>
      </p:sp>
      <p:sp>
        <p:nvSpPr>
          <p:cNvPr id="21" name="Shape 21">
            <a:extLst>
              <a:ext uri="{FF2B5EF4-FFF2-40B4-BE49-F238E27FC236}">
                <a16:creationId xmlns:a16="http://schemas.microsoft.com/office/drawing/2014/main" id="{9B14060F-144F-4719-A805-8004B2B78391}"/>
              </a:ext>
            </a:extLst>
          </p:cNvPr>
          <p:cNvSpPr>
            <a:spLocks noGrp="1"/>
          </p:cNvSpPr>
          <p:nvPr/>
        </p:nvSpPr>
        <p:spPr>
          <a:xfrm>
            <a:off x="800100" y="3571875"/>
            <a:ext cx="400050" cy="400050"/>
          </a:xfrm>
          <a:prstGeom prst="roundRect">
            <a:avLst/>
          </a:prstGeom>
          <a:solidFill>
            <a:srgbClr val="F4F6F8"/>
          </a:solidFill>
          <a:ln w="19050">
            <a:solidFill>
              <a:srgbClr val="B46B13"/>
            </a:solidFill>
          </a:ln>
        </p:spPr>
      </p:sp>
      <p:pic>
        <p:nvPicPr>
          <p:cNvPr id="83" name="Picture 22"/>
          <p:cNvPicPr>
            <a:picLocks noChangeAspect="1"/>
          </p:cNvPicPr>
          <p:nvPr/>
        </p:nvPicPr>
        <p:blipFill>
          <a:blip r:embed="rId5"/>
          <a:stretch>
            <a:fillRect/>
          </a:stretch>
        </p:blipFill>
        <p:spPr>
          <a:xfrm>
            <a:off x="904875" y="3676650"/>
            <a:ext cx="190500" cy="190500"/>
          </a:xfrm>
          <a:prstGeom prst="rect">
            <a:avLst/>
          </a:prstGeom>
          <a:ln>
            <a:noFill/>
          </a:ln>
        </p:spPr>
      </p:pic>
      <p:sp>
        <p:nvSpPr>
          <p:cNvPr id="23" name="Text 23">
            <a:extLst>
              <a:ext uri="{FF2B5EF4-FFF2-40B4-BE49-F238E27FC236}">
                <a16:creationId xmlns:a16="http://schemas.microsoft.com/office/drawing/2014/main" id="{15EEF142-7DD6-48EE-8FD7-29A3FACACF29}"/>
              </a:ext>
            </a:extLst>
          </p:cNvPr>
          <p:cNvSpPr>
            <a:spLocks noGrp="1"/>
          </p:cNvSpPr>
          <p:nvPr/>
        </p:nvSpPr>
        <p:spPr>
          <a:xfrm>
            <a:off x="1333500" y="3543300"/>
            <a:ext cx="1657350" cy="190500"/>
          </a:xfrm>
          <a:prstGeom prst="rect">
            <a:avLst/>
          </a:prstGeom>
          <a:noFill/>
          <a:ln>
            <a:noFill/>
          </a:ln>
        </p:spPr>
        <p:txBody>
          <a:bodyPr wrap="square" lIns="0" tIns="0" rIns="0" bIns="0" anchor="t"/>
          <a:lstStyle/>
          <a:p>
            <a:pPr algn="l">
              <a:buNone/>
            </a:pPr>
            <a:r>
              <a:rPr sz="1300" b="1">
                <a:solidFill>
                  <a:srgbClr val="B46B13"/>
                </a:solidFill>
                <a:latin typeface="Arial"/>
                <a:ea typeface="Arial"/>
                <a:cs typeface="Arial"/>
              </a:rPr>
              <a:t>FUZZY</a:t>
            </a:r>
            <a:endParaRPr sz="1300"/>
          </a:p>
        </p:txBody>
      </p:sp>
      <p:sp>
        <p:nvSpPr>
          <p:cNvPr id="24" name="Text 24">
            <a:extLst>
              <a:ext uri="{FF2B5EF4-FFF2-40B4-BE49-F238E27FC236}">
                <a16:creationId xmlns:a16="http://schemas.microsoft.com/office/drawing/2014/main" id="{35AC1974-FF26-47D5-8357-F5FA496C5000}"/>
              </a:ext>
            </a:extLst>
          </p:cNvPr>
          <p:cNvSpPr>
            <a:spLocks noGrp="1"/>
          </p:cNvSpPr>
          <p:nvPr/>
        </p:nvSpPr>
        <p:spPr>
          <a:xfrm>
            <a:off x="1333500" y="3790950"/>
            <a:ext cx="1657350" cy="209550"/>
          </a:xfrm>
          <a:prstGeom prst="rect">
            <a:avLst/>
          </a:prstGeom>
          <a:noFill/>
          <a:ln>
            <a:noFill/>
          </a:ln>
        </p:spPr>
        <p:txBody>
          <a:bodyPr wrap="square" lIns="0" tIns="0" rIns="0" bIns="0" anchor="t"/>
          <a:lstStyle/>
          <a:p>
            <a:pPr algn="l">
              <a:buNone/>
            </a:pPr>
            <a:r>
              <a:rPr sz="1200" b="0">
                <a:solidFill>
                  <a:srgbClr val="5D6873"/>
                </a:solidFill>
                <a:latin typeface="Arial"/>
                <a:ea typeface="Arial"/>
                <a:cs typeface="Arial"/>
              </a:rPr>
              <a:t>graded rule activation</a:t>
            </a:r>
            <a:endParaRPr sz="1200"/>
          </a:p>
        </p:txBody>
      </p:sp>
      <p:sp>
        <p:nvSpPr>
          <p:cNvPr id="25" name="Connector 25">
            <a:extLst>
              <a:ext uri="{FF2B5EF4-FFF2-40B4-BE49-F238E27FC236}">
                <a16:creationId xmlns:a16="http://schemas.microsoft.com/office/drawing/2014/main" id="{C179D89E-8F22-404E-9085-E12D770A0351}"/>
              </a:ext>
            </a:extLst>
          </p:cNvPr>
          <p:cNvSpPr>
            <a:spLocks noGrp="1"/>
          </p:cNvSpPr>
          <p:nvPr/>
        </p:nvSpPr>
        <p:spPr>
          <a:xfrm>
            <a:off x="3200400" y="3771900"/>
            <a:ext cx="1085850" cy="0"/>
          </a:xfrm>
          <a:prstGeom prst="line">
            <a:avLst/>
          </a:prstGeom>
          <a:ln w="25400">
            <a:solidFill>
              <a:srgbClr val="B46B13"/>
            </a:solidFill>
          </a:ln>
        </p:spPr>
      </p:sp>
      <p:sp>
        <p:nvSpPr>
          <p:cNvPr id="26" name="Shape 26">
            <a:extLst>
              <a:ext uri="{FF2B5EF4-FFF2-40B4-BE49-F238E27FC236}">
                <a16:creationId xmlns:a16="http://schemas.microsoft.com/office/drawing/2014/main" id="{E786B3B1-D787-4B75-832B-F2720B09A60D}"/>
              </a:ext>
            </a:extLst>
          </p:cNvPr>
          <p:cNvSpPr>
            <a:spLocks noGrp="1"/>
          </p:cNvSpPr>
          <p:nvPr/>
        </p:nvSpPr>
        <p:spPr>
          <a:xfrm>
            <a:off x="628650" y="4305300"/>
            <a:ext cx="2571750" cy="609600"/>
          </a:xfrm>
          <a:prstGeom prst="rect">
            <a:avLst/>
          </a:prstGeom>
          <a:solidFill>
            <a:srgbClr val="FFFFFF"/>
          </a:solidFill>
          <a:ln w="25400">
            <a:solidFill>
              <a:srgbClr val="1F7A5A"/>
            </a:solidFill>
          </a:ln>
        </p:spPr>
      </p:sp>
      <p:sp>
        <p:nvSpPr>
          <p:cNvPr id="27" name="Shape 27">
            <a:extLst>
              <a:ext uri="{FF2B5EF4-FFF2-40B4-BE49-F238E27FC236}">
                <a16:creationId xmlns:a16="http://schemas.microsoft.com/office/drawing/2014/main" id="{BC370F0E-C868-4E2C-BCAE-1B72ABE431CB}"/>
              </a:ext>
            </a:extLst>
          </p:cNvPr>
          <p:cNvSpPr>
            <a:spLocks noGrp="1"/>
          </p:cNvSpPr>
          <p:nvPr/>
        </p:nvSpPr>
        <p:spPr>
          <a:xfrm>
            <a:off x="628650" y="4305300"/>
            <a:ext cx="76200" cy="609600"/>
          </a:xfrm>
          <a:prstGeom prst="rect">
            <a:avLst/>
          </a:prstGeom>
          <a:solidFill>
            <a:srgbClr val="1F7A5A"/>
          </a:solidFill>
          <a:ln w="12700">
            <a:solidFill>
              <a:srgbClr val="1F7A5A"/>
            </a:solidFill>
          </a:ln>
        </p:spPr>
      </p:sp>
      <p:sp>
        <p:nvSpPr>
          <p:cNvPr id="28" name="Shape 28">
            <a:extLst>
              <a:ext uri="{FF2B5EF4-FFF2-40B4-BE49-F238E27FC236}">
                <a16:creationId xmlns:a16="http://schemas.microsoft.com/office/drawing/2014/main" id="{2F8A9E33-8686-4098-BFDB-4981946B54EB}"/>
              </a:ext>
            </a:extLst>
          </p:cNvPr>
          <p:cNvSpPr>
            <a:spLocks noGrp="1"/>
          </p:cNvSpPr>
          <p:nvPr/>
        </p:nvSpPr>
        <p:spPr>
          <a:xfrm>
            <a:off x="800100" y="4410075"/>
            <a:ext cx="400050" cy="400050"/>
          </a:xfrm>
          <a:prstGeom prst="roundRect">
            <a:avLst/>
          </a:prstGeom>
          <a:solidFill>
            <a:srgbClr val="F4F6F8"/>
          </a:solidFill>
          <a:ln w="19050">
            <a:solidFill>
              <a:srgbClr val="1F7A5A"/>
            </a:solidFill>
          </a:ln>
        </p:spPr>
      </p:sp>
      <p:pic>
        <p:nvPicPr>
          <p:cNvPr id="90" name="Picture 29"/>
          <p:cNvPicPr>
            <a:picLocks noChangeAspect="1"/>
          </p:cNvPicPr>
          <p:nvPr/>
        </p:nvPicPr>
        <p:blipFill>
          <a:blip r:embed="rId6"/>
          <a:stretch>
            <a:fillRect/>
          </a:stretch>
        </p:blipFill>
        <p:spPr>
          <a:xfrm>
            <a:off x="904875" y="4514850"/>
            <a:ext cx="190500" cy="190500"/>
          </a:xfrm>
          <a:prstGeom prst="rect">
            <a:avLst/>
          </a:prstGeom>
          <a:ln>
            <a:noFill/>
          </a:ln>
        </p:spPr>
      </p:pic>
      <p:sp>
        <p:nvSpPr>
          <p:cNvPr id="30" name="Text 30">
            <a:extLst>
              <a:ext uri="{FF2B5EF4-FFF2-40B4-BE49-F238E27FC236}">
                <a16:creationId xmlns:a16="http://schemas.microsoft.com/office/drawing/2014/main" id="{33290410-499B-4E19-A967-6FD7A50F5532}"/>
              </a:ext>
            </a:extLst>
          </p:cNvPr>
          <p:cNvSpPr>
            <a:spLocks noGrp="1"/>
          </p:cNvSpPr>
          <p:nvPr/>
        </p:nvSpPr>
        <p:spPr>
          <a:xfrm>
            <a:off x="1333500" y="4381500"/>
            <a:ext cx="1657350" cy="190500"/>
          </a:xfrm>
          <a:prstGeom prst="rect">
            <a:avLst/>
          </a:prstGeom>
          <a:noFill/>
          <a:ln>
            <a:noFill/>
          </a:ln>
        </p:spPr>
        <p:txBody>
          <a:bodyPr wrap="square" lIns="0" tIns="0" rIns="0" bIns="0" anchor="t"/>
          <a:lstStyle/>
          <a:p>
            <a:pPr algn="l">
              <a:buNone/>
            </a:pPr>
            <a:r>
              <a:rPr sz="1300" b="1">
                <a:solidFill>
                  <a:srgbClr val="1F7A5A"/>
                </a:solidFill>
                <a:latin typeface="Arial"/>
                <a:ea typeface="Arial"/>
                <a:cs typeface="Arial"/>
              </a:rPr>
              <a:t>RANDOM FOREST</a:t>
            </a:r>
            <a:endParaRPr sz="1300"/>
          </a:p>
        </p:txBody>
      </p:sp>
      <p:sp>
        <p:nvSpPr>
          <p:cNvPr id="31" name="Text 31">
            <a:extLst>
              <a:ext uri="{FF2B5EF4-FFF2-40B4-BE49-F238E27FC236}">
                <a16:creationId xmlns:a16="http://schemas.microsoft.com/office/drawing/2014/main" id="{A389149F-E161-4441-87F6-BAB23AB7581A}"/>
              </a:ext>
            </a:extLst>
          </p:cNvPr>
          <p:cNvSpPr>
            <a:spLocks noGrp="1"/>
          </p:cNvSpPr>
          <p:nvPr/>
        </p:nvSpPr>
        <p:spPr>
          <a:xfrm>
            <a:off x="1333500" y="4629150"/>
            <a:ext cx="1657350" cy="209550"/>
          </a:xfrm>
          <a:prstGeom prst="rect">
            <a:avLst/>
          </a:prstGeom>
          <a:noFill/>
          <a:ln>
            <a:noFill/>
          </a:ln>
        </p:spPr>
        <p:txBody>
          <a:bodyPr wrap="square" lIns="0" tIns="0" rIns="0" bIns="0" anchor="t"/>
          <a:lstStyle/>
          <a:p>
            <a:pPr algn="l">
              <a:buNone/>
            </a:pPr>
            <a:r>
              <a:rPr sz="1200" b="0">
                <a:solidFill>
                  <a:srgbClr val="5D6873"/>
                </a:solidFill>
                <a:latin typeface="Arial"/>
                <a:ea typeface="Arial"/>
                <a:cs typeface="Arial"/>
              </a:rPr>
              <a:t>learned tree votes</a:t>
            </a:r>
            <a:endParaRPr sz="1200"/>
          </a:p>
        </p:txBody>
      </p:sp>
      <p:sp>
        <p:nvSpPr>
          <p:cNvPr id="32" name="Connector 32">
            <a:extLst>
              <a:ext uri="{FF2B5EF4-FFF2-40B4-BE49-F238E27FC236}">
                <a16:creationId xmlns:a16="http://schemas.microsoft.com/office/drawing/2014/main" id="{EE0F595F-D427-4D3F-B206-29310B350484}"/>
              </a:ext>
            </a:extLst>
          </p:cNvPr>
          <p:cNvSpPr>
            <a:spLocks noGrp="1"/>
          </p:cNvSpPr>
          <p:nvPr/>
        </p:nvSpPr>
        <p:spPr>
          <a:xfrm>
            <a:off x="3200400" y="4610100"/>
            <a:ext cx="1085850" cy="0"/>
          </a:xfrm>
          <a:prstGeom prst="line">
            <a:avLst/>
          </a:prstGeom>
          <a:ln w="25400">
            <a:solidFill>
              <a:srgbClr val="1F7A5A"/>
            </a:solidFill>
          </a:ln>
        </p:spPr>
      </p:sp>
      <p:sp>
        <p:nvSpPr>
          <p:cNvPr id="33" name="Connector 33">
            <a:extLst>
              <a:ext uri="{FF2B5EF4-FFF2-40B4-BE49-F238E27FC236}">
                <a16:creationId xmlns:a16="http://schemas.microsoft.com/office/drawing/2014/main" id="{BE8044DC-B672-4520-BC60-52AF3496C691}"/>
              </a:ext>
            </a:extLst>
          </p:cNvPr>
          <p:cNvSpPr>
            <a:spLocks noGrp="1"/>
          </p:cNvSpPr>
          <p:nvPr/>
        </p:nvSpPr>
        <p:spPr>
          <a:xfrm>
            <a:off x="4286250" y="2095500"/>
            <a:ext cx="0" cy="2514600"/>
          </a:xfrm>
          <a:prstGeom prst="line">
            <a:avLst/>
          </a:prstGeom>
          <a:ln w="38100">
            <a:solidFill>
              <a:srgbClr val="384754"/>
            </a:solidFill>
          </a:ln>
        </p:spPr>
      </p:sp>
      <p:sp>
        <p:nvSpPr>
          <p:cNvPr id="34" name="Connector 34">
            <a:extLst>
              <a:ext uri="{FF2B5EF4-FFF2-40B4-BE49-F238E27FC236}">
                <a16:creationId xmlns:a16="http://schemas.microsoft.com/office/drawing/2014/main" id="{C4801111-2A80-47D2-9C99-B941B1266058}"/>
              </a:ext>
            </a:extLst>
          </p:cNvPr>
          <p:cNvSpPr>
            <a:spLocks noGrp="1"/>
          </p:cNvSpPr>
          <p:nvPr/>
        </p:nvSpPr>
        <p:spPr>
          <a:xfrm>
            <a:off x="4286250" y="3352800"/>
            <a:ext cx="552450" cy="0"/>
          </a:xfrm>
          <a:prstGeom prst="line">
            <a:avLst/>
          </a:prstGeom>
          <a:ln w="38100">
            <a:solidFill>
              <a:srgbClr val="384754"/>
            </a:solidFill>
            <a:tailEnd type="triangle"/>
          </a:ln>
        </p:spPr>
      </p:sp>
      <p:sp>
        <p:nvSpPr>
          <p:cNvPr id="35" name="Shape 35">
            <a:extLst>
              <a:ext uri="{FF2B5EF4-FFF2-40B4-BE49-F238E27FC236}">
                <a16:creationId xmlns:a16="http://schemas.microsoft.com/office/drawing/2014/main" id="{D7448165-3186-4230-B953-C09CB804E25D}"/>
              </a:ext>
            </a:extLst>
          </p:cNvPr>
          <p:cNvSpPr>
            <a:spLocks noGrp="1"/>
          </p:cNvSpPr>
          <p:nvPr/>
        </p:nvSpPr>
        <p:spPr>
          <a:xfrm>
            <a:off x="4838700" y="2590800"/>
            <a:ext cx="2076450" cy="1524000"/>
          </a:xfrm>
          <a:prstGeom prst="rect">
            <a:avLst/>
          </a:prstGeom>
          <a:solidFill>
            <a:srgbClr val="F4F6F8"/>
          </a:solidFill>
          <a:ln w="25400">
            <a:solidFill>
              <a:srgbClr val="384754"/>
            </a:solidFill>
          </a:ln>
        </p:spPr>
      </p:sp>
      <p:sp>
        <p:nvSpPr>
          <p:cNvPr id="36" name="Shape 36">
            <a:extLst>
              <a:ext uri="{FF2B5EF4-FFF2-40B4-BE49-F238E27FC236}">
                <a16:creationId xmlns:a16="http://schemas.microsoft.com/office/drawing/2014/main" id="{B732546E-0441-4F4B-81C8-26F17B222178}"/>
              </a:ext>
            </a:extLst>
          </p:cNvPr>
          <p:cNvSpPr>
            <a:spLocks noGrp="1"/>
          </p:cNvSpPr>
          <p:nvPr/>
        </p:nvSpPr>
        <p:spPr>
          <a:xfrm>
            <a:off x="5610225" y="2724150"/>
            <a:ext cx="533400" cy="533400"/>
          </a:xfrm>
          <a:prstGeom prst="roundRect">
            <a:avLst/>
          </a:prstGeom>
          <a:solidFill>
            <a:srgbClr val="FFFFFF"/>
          </a:solidFill>
          <a:ln w="19050">
            <a:solidFill>
              <a:srgbClr val="384754"/>
            </a:solidFill>
          </a:ln>
        </p:spPr>
      </p:sp>
      <p:pic>
        <p:nvPicPr>
          <p:cNvPr id="98" name="Picture 37"/>
          <p:cNvPicPr>
            <a:picLocks noChangeAspect="1"/>
          </p:cNvPicPr>
          <p:nvPr/>
        </p:nvPicPr>
        <p:blipFill>
          <a:blip r:embed="rId7"/>
          <a:stretch>
            <a:fillRect/>
          </a:stretch>
        </p:blipFill>
        <p:spPr>
          <a:xfrm>
            <a:off x="5743575" y="2857500"/>
            <a:ext cx="266700" cy="266700"/>
          </a:xfrm>
          <a:prstGeom prst="rect">
            <a:avLst/>
          </a:prstGeom>
          <a:ln>
            <a:noFill/>
          </a:ln>
        </p:spPr>
      </p:pic>
      <p:sp>
        <p:nvSpPr>
          <p:cNvPr id="38" name="Text 38">
            <a:extLst>
              <a:ext uri="{FF2B5EF4-FFF2-40B4-BE49-F238E27FC236}">
                <a16:creationId xmlns:a16="http://schemas.microsoft.com/office/drawing/2014/main" id="{79F98BF2-393E-4184-B487-802B1ECBA053}"/>
              </a:ext>
            </a:extLst>
          </p:cNvPr>
          <p:cNvSpPr>
            <a:spLocks noGrp="1"/>
          </p:cNvSpPr>
          <p:nvPr/>
        </p:nvSpPr>
        <p:spPr>
          <a:xfrm>
            <a:off x="5048250" y="3314700"/>
            <a:ext cx="1657350" cy="400050"/>
          </a:xfrm>
          <a:prstGeom prst="rect">
            <a:avLst/>
          </a:prstGeom>
          <a:noFill/>
          <a:ln>
            <a:noFill/>
          </a:ln>
        </p:spPr>
        <p:txBody>
          <a:bodyPr wrap="square" lIns="0" tIns="0" rIns="0" bIns="0" anchor="t"/>
          <a:lstStyle/>
          <a:p>
            <a:pPr algn="ctr">
              <a:buNone/>
            </a:pPr>
            <a:r>
              <a:rPr sz="1400" b="1">
                <a:solidFill>
                  <a:srgbClr val="17212B"/>
                </a:solidFill>
                <a:latin typeface="Arial"/>
                <a:ea typeface="Arial"/>
                <a:cs typeface="Arial"/>
              </a:rPr>
              <a:t>SEMANTIC</a:t>
            </a:r>
            <a:endParaRPr sz="1400"/>
          </a:p>
          <a:p>
            <a:pPr algn="ctr">
              <a:buNone/>
            </a:pPr>
            <a:r>
              <a:rPr sz="1400" b="1">
                <a:solidFill>
                  <a:srgbClr val="17212B"/>
                </a:solidFill>
                <a:latin typeface="Arial"/>
                <a:ea typeface="Arial"/>
                <a:cs typeface="Arial"/>
              </a:rPr>
              <a:t>ALIGNMENT</a:t>
            </a:r>
            <a:endParaRPr sz="1400"/>
          </a:p>
        </p:txBody>
      </p:sp>
      <p:sp>
        <p:nvSpPr>
          <p:cNvPr id="39" name="Text 39">
            <a:extLst>
              <a:ext uri="{FF2B5EF4-FFF2-40B4-BE49-F238E27FC236}">
                <a16:creationId xmlns:a16="http://schemas.microsoft.com/office/drawing/2014/main" id="{A292A83F-B0E7-46D7-B965-DB929DFD59D5}"/>
              </a:ext>
            </a:extLst>
          </p:cNvPr>
          <p:cNvSpPr>
            <a:spLocks noGrp="1"/>
          </p:cNvSpPr>
          <p:nvPr/>
        </p:nvSpPr>
        <p:spPr>
          <a:xfrm>
            <a:off x="5048250" y="3829050"/>
            <a:ext cx="1657350" cy="17145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aligned target and scale</a:t>
            </a:r>
            <a:endParaRPr sz="1000"/>
          </a:p>
        </p:txBody>
      </p:sp>
      <p:sp>
        <p:nvSpPr>
          <p:cNvPr id="40" name="Connector 40">
            <a:extLst>
              <a:ext uri="{FF2B5EF4-FFF2-40B4-BE49-F238E27FC236}">
                <a16:creationId xmlns:a16="http://schemas.microsoft.com/office/drawing/2014/main" id="{6ED185C4-9CD6-4EFD-928C-A848AAC95991}"/>
              </a:ext>
            </a:extLst>
          </p:cNvPr>
          <p:cNvSpPr>
            <a:spLocks noGrp="1"/>
          </p:cNvSpPr>
          <p:nvPr/>
        </p:nvSpPr>
        <p:spPr>
          <a:xfrm>
            <a:off x="6915150" y="3352800"/>
            <a:ext cx="666750" cy="0"/>
          </a:xfrm>
          <a:prstGeom prst="line">
            <a:avLst/>
          </a:prstGeom>
          <a:ln w="38100">
            <a:solidFill>
              <a:srgbClr val="D71920"/>
            </a:solidFill>
            <a:tailEnd type="triangle"/>
          </a:ln>
        </p:spPr>
      </p:sp>
      <p:sp>
        <p:nvSpPr>
          <p:cNvPr id="41" name="Shape 41">
            <a:extLst>
              <a:ext uri="{FF2B5EF4-FFF2-40B4-BE49-F238E27FC236}">
                <a16:creationId xmlns:a16="http://schemas.microsoft.com/office/drawing/2014/main" id="{87F912AF-874E-44C8-B39D-6BE3FA0FFCD4}"/>
              </a:ext>
            </a:extLst>
          </p:cNvPr>
          <p:cNvSpPr>
            <a:spLocks noGrp="1"/>
          </p:cNvSpPr>
          <p:nvPr/>
        </p:nvSpPr>
        <p:spPr>
          <a:xfrm>
            <a:off x="7581900" y="2590800"/>
            <a:ext cx="1809750" cy="1524000"/>
          </a:xfrm>
          <a:prstGeom prst="rect">
            <a:avLst/>
          </a:prstGeom>
          <a:solidFill>
            <a:srgbClr val="FCEBEC"/>
          </a:solidFill>
          <a:ln w="38100">
            <a:solidFill>
              <a:srgbClr val="D71920"/>
            </a:solidFill>
          </a:ln>
        </p:spPr>
      </p:sp>
      <p:sp>
        <p:nvSpPr>
          <p:cNvPr id="42" name="Shape 42">
            <a:extLst>
              <a:ext uri="{FF2B5EF4-FFF2-40B4-BE49-F238E27FC236}">
                <a16:creationId xmlns:a16="http://schemas.microsoft.com/office/drawing/2014/main" id="{31ED4FAC-7FE7-45B8-B6C5-E502D8DF31DC}"/>
              </a:ext>
            </a:extLst>
          </p:cNvPr>
          <p:cNvSpPr>
            <a:spLocks noGrp="1"/>
          </p:cNvSpPr>
          <p:nvPr/>
        </p:nvSpPr>
        <p:spPr>
          <a:xfrm>
            <a:off x="8220075" y="2743200"/>
            <a:ext cx="533400" cy="533400"/>
          </a:xfrm>
          <a:prstGeom prst="roundRect">
            <a:avLst/>
          </a:prstGeom>
          <a:solidFill>
            <a:srgbClr val="FFFFFF"/>
          </a:solidFill>
          <a:ln w="19050">
            <a:solidFill>
              <a:srgbClr val="981B1E"/>
            </a:solidFill>
          </a:ln>
        </p:spPr>
      </p:sp>
      <p:pic>
        <p:nvPicPr>
          <p:cNvPr id="104" name="Picture 43"/>
          <p:cNvPicPr>
            <a:picLocks noChangeAspect="1"/>
          </p:cNvPicPr>
          <p:nvPr/>
        </p:nvPicPr>
        <p:blipFill>
          <a:blip r:embed="rId8"/>
          <a:stretch>
            <a:fillRect/>
          </a:stretch>
        </p:blipFill>
        <p:spPr>
          <a:xfrm>
            <a:off x="8353425" y="2876550"/>
            <a:ext cx="266700" cy="266700"/>
          </a:xfrm>
          <a:prstGeom prst="rect">
            <a:avLst/>
          </a:prstGeom>
          <a:ln>
            <a:noFill/>
          </a:ln>
        </p:spPr>
      </p:pic>
      <p:sp>
        <p:nvSpPr>
          <p:cNvPr id="44" name="Text 44">
            <a:extLst>
              <a:ext uri="{FF2B5EF4-FFF2-40B4-BE49-F238E27FC236}">
                <a16:creationId xmlns:a16="http://schemas.microsoft.com/office/drawing/2014/main" id="{0BA7331A-2578-42B6-9447-C1287ED08208}"/>
              </a:ext>
            </a:extLst>
          </p:cNvPr>
          <p:cNvSpPr>
            <a:spLocks noGrp="1"/>
          </p:cNvSpPr>
          <p:nvPr/>
        </p:nvSpPr>
        <p:spPr>
          <a:xfrm>
            <a:off x="7791450" y="3314700"/>
            <a:ext cx="1390650" cy="419100"/>
          </a:xfrm>
          <a:prstGeom prst="rect">
            <a:avLst/>
          </a:prstGeom>
          <a:noFill/>
          <a:ln>
            <a:noFill/>
          </a:ln>
        </p:spPr>
        <p:txBody>
          <a:bodyPr wrap="square" lIns="0" tIns="0" rIns="0" bIns="0" anchor="t"/>
          <a:lstStyle/>
          <a:p>
            <a:pPr algn="ctr">
              <a:buNone/>
            </a:pPr>
            <a:r>
              <a:rPr sz="1500" b="1">
                <a:solidFill>
                  <a:srgbClr val="981B1E"/>
                </a:solidFill>
                <a:latin typeface="Arial"/>
                <a:ea typeface="Arial"/>
                <a:cs typeface="Arial"/>
              </a:rPr>
              <a:t>LATE</a:t>
            </a:r>
            <a:endParaRPr sz="1500"/>
          </a:p>
          <a:p>
            <a:pPr algn="ctr">
              <a:buNone/>
            </a:pPr>
            <a:r>
              <a:rPr sz="1500" b="1">
                <a:solidFill>
                  <a:srgbClr val="981B1E"/>
                </a:solidFill>
                <a:latin typeface="Arial"/>
                <a:ea typeface="Arial"/>
                <a:cs typeface="Arial"/>
              </a:rPr>
              <a:t>FUSION</a:t>
            </a:r>
            <a:endParaRPr sz="1500"/>
          </a:p>
        </p:txBody>
      </p:sp>
      <p:sp>
        <p:nvSpPr>
          <p:cNvPr id="45" name="Text 45">
            <a:extLst>
              <a:ext uri="{FF2B5EF4-FFF2-40B4-BE49-F238E27FC236}">
                <a16:creationId xmlns:a16="http://schemas.microsoft.com/office/drawing/2014/main" id="{541E3F28-0937-43C2-963E-1D202A979B93}"/>
              </a:ext>
            </a:extLst>
          </p:cNvPr>
          <p:cNvSpPr>
            <a:spLocks noGrp="1"/>
          </p:cNvSpPr>
          <p:nvPr/>
        </p:nvSpPr>
        <p:spPr>
          <a:xfrm>
            <a:off x="7791450" y="3829050"/>
            <a:ext cx="1390650" cy="171450"/>
          </a:xfrm>
          <a:prstGeom prst="rect">
            <a:avLst/>
          </a:prstGeom>
          <a:noFill/>
          <a:ln>
            <a:noFill/>
          </a:ln>
        </p:spPr>
        <p:txBody>
          <a:bodyPr wrap="square" lIns="0" tIns="0" rIns="0" bIns="0" anchor="t"/>
          <a:lstStyle/>
          <a:p>
            <a:pPr algn="ctr">
              <a:buNone/>
            </a:pPr>
            <a:r>
              <a:rPr sz="1000" b="0">
                <a:solidFill>
                  <a:srgbClr val="17212B"/>
                </a:solidFill>
                <a:latin typeface="Arial"/>
                <a:ea typeface="Arial"/>
                <a:cs typeface="Arial"/>
              </a:rPr>
              <a:t>weighting and arbitration</a:t>
            </a:r>
            <a:endParaRPr sz="1000"/>
          </a:p>
        </p:txBody>
      </p:sp>
      <p:sp>
        <p:nvSpPr>
          <p:cNvPr id="46" name="Connector 46">
            <a:extLst>
              <a:ext uri="{FF2B5EF4-FFF2-40B4-BE49-F238E27FC236}">
                <a16:creationId xmlns:a16="http://schemas.microsoft.com/office/drawing/2014/main" id="{6B24A9E7-C2FA-4F5D-B59C-03ACC8483535}"/>
              </a:ext>
            </a:extLst>
          </p:cNvPr>
          <p:cNvSpPr>
            <a:spLocks noGrp="1"/>
          </p:cNvSpPr>
          <p:nvPr/>
        </p:nvSpPr>
        <p:spPr>
          <a:xfrm>
            <a:off x="9391650" y="3352800"/>
            <a:ext cx="609600" cy="0"/>
          </a:xfrm>
          <a:prstGeom prst="line">
            <a:avLst/>
          </a:prstGeom>
          <a:ln w="38100">
            <a:solidFill>
              <a:srgbClr val="D71920"/>
            </a:solidFill>
            <a:tailEnd type="triangle"/>
          </a:ln>
        </p:spPr>
      </p:sp>
      <p:sp>
        <p:nvSpPr>
          <p:cNvPr id="47" name="Shape 47">
            <a:extLst>
              <a:ext uri="{FF2B5EF4-FFF2-40B4-BE49-F238E27FC236}">
                <a16:creationId xmlns:a16="http://schemas.microsoft.com/office/drawing/2014/main" id="{F0F9C28B-FBA4-4BF7-9260-2728A1FC19DC}"/>
              </a:ext>
            </a:extLst>
          </p:cNvPr>
          <p:cNvSpPr>
            <a:spLocks noGrp="1"/>
          </p:cNvSpPr>
          <p:nvPr/>
        </p:nvSpPr>
        <p:spPr>
          <a:xfrm>
            <a:off x="10001250" y="2781300"/>
            <a:ext cx="1638300" cy="1143000"/>
          </a:xfrm>
          <a:prstGeom prst="rect">
            <a:avLst/>
          </a:prstGeom>
          <a:solidFill>
            <a:srgbClr val="17212B"/>
          </a:solidFill>
          <a:ln w="25400">
            <a:solidFill>
              <a:srgbClr val="17212B"/>
            </a:solidFill>
          </a:ln>
        </p:spPr>
      </p:sp>
      <p:pic>
        <p:nvPicPr>
          <p:cNvPr id="109" name="Picture 48"/>
          <p:cNvPicPr>
            <a:picLocks noChangeAspect="1"/>
          </p:cNvPicPr>
          <p:nvPr/>
        </p:nvPicPr>
        <p:blipFill>
          <a:blip r:embed="rId9"/>
          <a:stretch>
            <a:fillRect/>
          </a:stretch>
        </p:blipFill>
        <p:spPr>
          <a:xfrm>
            <a:off x="10591800" y="2914650"/>
            <a:ext cx="457200" cy="457200"/>
          </a:xfrm>
          <a:prstGeom prst="rect">
            <a:avLst/>
          </a:prstGeom>
          <a:ln>
            <a:noFill/>
          </a:ln>
        </p:spPr>
      </p:pic>
      <p:sp>
        <p:nvSpPr>
          <p:cNvPr id="49" name="Text 49">
            <a:extLst>
              <a:ext uri="{FF2B5EF4-FFF2-40B4-BE49-F238E27FC236}">
                <a16:creationId xmlns:a16="http://schemas.microsoft.com/office/drawing/2014/main" id="{AD119DCB-2F8E-4550-A98C-0A0BFE5762E6}"/>
              </a:ext>
            </a:extLst>
          </p:cNvPr>
          <p:cNvSpPr>
            <a:spLocks noGrp="1"/>
          </p:cNvSpPr>
          <p:nvPr/>
        </p:nvSpPr>
        <p:spPr>
          <a:xfrm>
            <a:off x="10191750" y="3409950"/>
            <a:ext cx="1257300" cy="228600"/>
          </a:xfrm>
          <a:prstGeom prst="rect">
            <a:avLst/>
          </a:prstGeom>
          <a:noFill/>
          <a:ln>
            <a:noFill/>
          </a:ln>
        </p:spPr>
        <p:txBody>
          <a:bodyPr wrap="square" lIns="0" tIns="0" rIns="0" bIns="0" anchor="t"/>
          <a:lstStyle/>
          <a:p>
            <a:pPr algn="ctr">
              <a:buNone/>
            </a:pPr>
            <a:r>
              <a:rPr sz="1500" b="1">
                <a:solidFill>
                  <a:srgbClr val="FFFFFF"/>
                </a:solidFill>
                <a:latin typeface="Arial"/>
                <a:ea typeface="Arial"/>
                <a:cs typeface="Arial"/>
              </a:rPr>
              <a:t>ONE SIGNAL</a:t>
            </a:r>
            <a:endParaRPr sz="1500"/>
          </a:p>
        </p:txBody>
      </p:sp>
      <p:sp>
        <p:nvSpPr>
          <p:cNvPr id="50" name="Text 50">
            <a:extLst>
              <a:ext uri="{FF2B5EF4-FFF2-40B4-BE49-F238E27FC236}">
                <a16:creationId xmlns:a16="http://schemas.microsoft.com/office/drawing/2014/main" id="{A3F29A78-B70A-4FB8-A25E-7BA6F8021AF6}"/>
              </a:ext>
            </a:extLst>
          </p:cNvPr>
          <p:cNvSpPr>
            <a:spLocks noGrp="1"/>
          </p:cNvSpPr>
          <p:nvPr/>
        </p:nvSpPr>
        <p:spPr>
          <a:xfrm>
            <a:off x="10191750" y="3676650"/>
            <a:ext cx="1257300" cy="171450"/>
          </a:xfrm>
          <a:prstGeom prst="rect">
            <a:avLst/>
          </a:prstGeom>
          <a:noFill/>
          <a:ln>
            <a:noFill/>
          </a:ln>
        </p:spPr>
        <p:txBody>
          <a:bodyPr wrap="square" lIns="0" tIns="0" rIns="0" bIns="0" anchor="t"/>
          <a:lstStyle/>
          <a:p>
            <a:pPr algn="ctr">
              <a:buNone/>
            </a:pPr>
            <a:r>
              <a:rPr sz="1000" b="0">
                <a:solidFill>
                  <a:srgbClr val="DDE3E8"/>
                </a:solidFill>
                <a:latin typeface="Arial"/>
                <a:ea typeface="Arial"/>
                <a:cs typeface="Arial"/>
              </a:rPr>
              <a:t>evidence retained</a:t>
            </a:r>
            <a:endParaRPr sz="1000"/>
          </a:p>
        </p:txBody>
      </p:sp>
      <p:sp>
        <p:nvSpPr>
          <p:cNvPr id="51" name="Shape 51">
            <a:extLst>
              <a:ext uri="{FF2B5EF4-FFF2-40B4-BE49-F238E27FC236}">
                <a16:creationId xmlns:a16="http://schemas.microsoft.com/office/drawing/2014/main" id="{1ECF2176-74B3-48E5-A910-D7FAB8A0FAB9}"/>
              </a:ext>
            </a:extLst>
          </p:cNvPr>
          <p:cNvSpPr>
            <a:spLocks noGrp="1"/>
          </p:cNvSpPr>
          <p:nvPr/>
        </p:nvSpPr>
        <p:spPr>
          <a:xfrm>
            <a:off x="3162300" y="5219700"/>
            <a:ext cx="8324850" cy="742950"/>
          </a:xfrm>
          <a:prstGeom prst="rect">
            <a:avLst/>
          </a:prstGeom>
          <a:solidFill>
            <a:srgbClr val="EAF1F7"/>
          </a:solidFill>
          <a:ln w="12700">
            <a:solidFill>
              <a:srgbClr val="2A5B84"/>
            </a:solidFill>
          </a:ln>
        </p:spPr>
      </p:sp>
      <p:sp>
        <p:nvSpPr>
          <p:cNvPr id="52" name="Text 52">
            <a:extLst>
              <a:ext uri="{FF2B5EF4-FFF2-40B4-BE49-F238E27FC236}">
                <a16:creationId xmlns:a16="http://schemas.microsoft.com/office/drawing/2014/main" id="{B39ECD38-8F1F-4408-B13E-293F2287A40E}"/>
              </a:ext>
            </a:extLst>
          </p:cNvPr>
          <p:cNvSpPr>
            <a:spLocks noGrp="1"/>
          </p:cNvSpPr>
          <p:nvPr/>
        </p:nvSpPr>
        <p:spPr>
          <a:xfrm>
            <a:off x="3429000" y="5353050"/>
            <a:ext cx="7791450" cy="457200"/>
          </a:xfrm>
          <a:prstGeom prst="rect">
            <a:avLst/>
          </a:prstGeom>
          <a:noFill/>
          <a:ln>
            <a:noFill/>
          </a:ln>
        </p:spPr>
        <p:txBody>
          <a:bodyPr wrap="square" lIns="0" tIns="0" rIns="0" bIns="0" anchor="ctr"/>
          <a:lstStyle/>
          <a:p>
            <a:pPr algn="ctr">
              <a:buNone/>
            </a:pPr>
            <a:r>
              <a:rPr sz="1500" b="1">
                <a:solidFill>
                  <a:srgbClr val="17212B"/>
                </a:solidFill>
                <a:latin typeface="Arial"/>
                <a:ea typeface="Arial"/>
                <a:cs typeface="Arial"/>
              </a:rPr>
              <a:t>The four-scenario fixture cannot identify a fusion gain or production performance ceiling.</a:t>
            </a:r>
            <a:endParaRPr sz="1500"/>
          </a:p>
        </p:txBody>
      </p:sp>
      <p:sp>
        <p:nvSpPr>
          <p:cNvPr id="53" name="Connector 53">
            <a:extLst>
              <a:ext uri="{FF2B5EF4-FFF2-40B4-BE49-F238E27FC236}">
                <a16:creationId xmlns:a16="http://schemas.microsoft.com/office/drawing/2014/main" id="{EE9CE306-593F-4C23-973E-F932516ADB00}"/>
              </a:ext>
            </a:extLst>
          </p:cNvPr>
          <p:cNvSpPr>
            <a:spLocks noGrp="1"/>
          </p:cNvSpPr>
          <p:nvPr/>
        </p:nvSpPr>
        <p:spPr>
          <a:xfrm>
            <a:off x="552450" y="6419850"/>
            <a:ext cx="11087100" cy="0"/>
          </a:xfrm>
          <a:prstGeom prst="line">
            <a:avLst/>
          </a:prstGeom>
          <a:ln w="12700">
            <a:solidFill>
              <a:srgbClr val="BFC5CB"/>
            </a:solidFill>
          </a:ln>
        </p:spPr>
      </p:sp>
      <p:sp>
        <p:nvSpPr>
          <p:cNvPr id="54" name="Text 54">
            <a:extLst>
              <a:ext uri="{FF2B5EF4-FFF2-40B4-BE49-F238E27FC236}">
                <a16:creationId xmlns:a16="http://schemas.microsoft.com/office/drawing/2014/main" id="{202F8197-3E12-400D-B896-951D7FEB8BD4}"/>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55" name="Text 55">
            <a:extLst>
              <a:ext uri="{FF2B5EF4-FFF2-40B4-BE49-F238E27FC236}">
                <a16:creationId xmlns:a16="http://schemas.microsoft.com/office/drawing/2014/main" id="{537CFB10-9EDD-47FE-9A40-C289268AB11A}"/>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E</a:t>
            </a:r>
            <a:endParaRPr sz="1000"/>
          </a:p>
        </p:txBody>
      </p:sp>
    </p:spTree>
    <p:extLst>
      <p:ext uri="{BB962C8B-B14F-4D97-AF65-F5344CB8AC3E}">
        <p14:creationId xmlns:p14="http://schemas.microsoft.com/office/powerpoint/2010/main" val="1322334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EB5B4578-C8D6-4CD6-85DE-F35F9A66E5C6}"/>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APPENDIX F · DELIVERED R5 MECHANISM</a:t>
            </a:r>
            <a:endParaRPr sz="1100"/>
          </a:p>
        </p:txBody>
      </p:sp>
      <p:sp>
        <p:nvSpPr>
          <p:cNvPr id="3" name="Text 3">
            <a:extLst>
              <a:ext uri="{FF2B5EF4-FFF2-40B4-BE49-F238E27FC236}">
                <a16:creationId xmlns:a16="http://schemas.microsoft.com/office/drawing/2014/main" id="{A8BECAD5-F590-413A-815E-14485E6C11E7}"/>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The delivered Tribuo forest aggregates 31 bounded tree votes</a:t>
            </a:r>
            <a:endParaRPr sz="3000"/>
          </a:p>
        </p:txBody>
      </p:sp>
      <p:sp>
        <p:nvSpPr>
          <p:cNvPr id="4" name="Text 4">
            <a:extLst>
              <a:ext uri="{FF2B5EF4-FFF2-40B4-BE49-F238E27FC236}">
                <a16:creationId xmlns:a16="http://schemas.microsoft.com/office/drawing/2014/main" id="{D4540DB5-D51D-4B3A-B731-6D27AE301B0A}"/>
              </a:ext>
            </a:extLst>
          </p:cNvPr>
          <p:cNvSpPr>
            <a:spLocks noGrp="1"/>
          </p:cNvSpPr>
          <p:nvPr/>
        </p:nvSpPr>
        <p:spPr>
          <a:xfrm>
            <a:off x="8420100" y="1066800"/>
            <a:ext cx="3219450" cy="266700"/>
          </a:xfrm>
          <a:prstGeom prst="rect">
            <a:avLst/>
          </a:prstGeom>
          <a:noFill/>
          <a:ln>
            <a:noFill/>
          </a:ln>
        </p:spPr>
        <p:txBody>
          <a:bodyPr wrap="square" lIns="0" tIns="0" rIns="0" bIns="0" anchor="t"/>
          <a:lstStyle/>
          <a:p>
            <a:pPr algn="r">
              <a:buNone/>
            </a:pPr>
            <a:r>
              <a:rPr sz="1100" b="1" spc="70">
                <a:solidFill>
                  <a:srgbClr val="1F7A5A"/>
                </a:solidFill>
                <a:latin typeface="Arial"/>
                <a:ea typeface="Arial"/>
                <a:cs typeface="Arial"/>
              </a:rPr>
              <a:t>DELIVERED · 31 TREES · FIXED MODEL</a:t>
            </a:r>
            <a:endParaRPr sz="1100"/>
          </a:p>
        </p:txBody>
      </p:sp>
      <p:sp>
        <p:nvSpPr>
          <p:cNvPr id="5" name="Connector 5">
            <a:extLst>
              <a:ext uri="{FF2B5EF4-FFF2-40B4-BE49-F238E27FC236}">
                <a16:creationId xmlns:a16="http://schemas.microsoft.com/office/drawing/2014/main" id="{A6E3D86D-5E0B-4226-B468-3E9792029EEB}"/>
              </a:ext>
            </a:extLst>
          </p:cNvPr>
          <p:cNvSpPr>
            <a:spLocks noGrp="1"/>
          </p:cNvSpPr>
          <p:nvPr/>
        </p:nvSpPr>
        <p:spPr>
          <a:xfrm flipH="1">
            <a:off x="1314450" y="2533650"/>
            <a:ext cx="742950" cy="685800"/>
          </a:xfrm>
          <a:prstGeom prst="line">
            <a:avLst/>
          </a:prstGeom>
          <a:ln w="25400">
            <a:solidFill>
              <a:srgbClr val="2A5B84"/>
            </a:solidFill>
            <a:tailEnd type="triangle"/>
          </a:ln>
        </p:spPr>
      </p:sp>
      <p:sp>
        <p:nvSpPr>
          <p:cNvPr id="6" name="Connector 6">
            <a:extLst>
              <a:ext uri="{FF2B5EF4-FFF2-40B4-BE49-F238E27FC236}">
                <a16:creationId xmlns:a16="http://schemas.microsoft.com/office/drawing/2014/main" id="{5DE6C810-6DA4-496A-9C53-519F8EEBD945}"/>
              </a:ext>
            </a:extLst>
          </p:cNvPr>
          <p:cNvSpPr>
            <a:spLocks noGrp="1"/>
          </p:cNvSpPr>
          <p:nvPr/>
        </p:nvSpPr>
        <p:spPr>
          <a:xfrm>
            <a:off x="2057400" y="2533650"/>
            <a:ext cx="742950" cy="685800"/>
          </a:xfrm>
          <a:prstGeom prst="line">
            <a:avLst/>
          </a:prstGeom>
          <a:ln w="25400">
            <a:solidFill>
              <a:srgbClr val="2A5B84"/>
            </a:solidFill>
            <a:tailEnd type="triangle"/>
          </a:ln>
        </p:spPr>
      </p:sp>
      <p:sp>
        <p:nvSpPr>
          <p:cNvPr id="7" name="Connector 7">
            <a:extLst>
              <a:ext uri="{FF2B5EF4-FFF2-40B4-BE49-F238E27FC236}">
                <a16:creationId xmlns:a16="http://schemas.microsoft.com/office/drawing/2014/main" id="{F6D18EA4-5D4E-4EDD-B149-6022840365A4}"/>
              </a:ext>
            </a:extLst>
          </p:cNvPr>
          <p:cNvSpPr>
            <a:spLocks noGrp="1"/>
          </p:cNvSpPr>
          <p:nvPr/>
        </p:nvSpPr>
        <p:spPr>
          <a:xfrm flipH="1">
            <a:off x="990600" y="3505200"/>
            <a:ext cx="323850" cy="533400"/>
          </a:xfrm>
          <a:prstGeom prst="line">
            <a:avLst/>
          </a:prstGeom>
          <a:ln w="25400">
            <a:solidFill>
              <a:srgbClr val="2A5B84"/>
            </a:solidFill>
            <a:tailEnd type="triangle"/>
          </a:ln>
        </p:spPr>
      </p:sp>
      <p:sp>
        <p:nvSpPr>
          <p:cNvPr id="8" name="Connector 8">
            <a:extLst>
              <a:ext uri="{FF2B5EF4-FFF2-40B4-BE49-F238E27FC236}">
                <a16:creationId xmlns:a16="http://schemas.microsoft.com/office/drawing/2014/main" id="{CD23F7D3-C6E4-48B9-B654-12854B7AD8FE}"/>
              </a:ext>
            </a:extLst>
          </p:cNvPr>
          <p:cNvSpPr>
            <a:spLocks noGrp="1"/>
          </p:cNvSpPr>
          <p:nvPr/>
        </p:nvSpPr>
        <p:spPr>
          <a:xfrm>
            <a:off x="1314450" y="3505200"/>
            <a:ext cx="323850" cy="533400"/>
          </a:xfrm>
          <a:prstGeom prst="line">
            <a:avLst/>
          </a:prstGeom>
          <a:ln w="25400">
            <a:solidFill>
              <a:srgbClr val="2A5B84"/>
            </a:solidFill>
            <a:tailEnd type="triangle"/>
          </a:ln>
        </p:spPr>
      </p:sp>
      <p:sp>
        <p:nvSpPr>
          <p:cNvPr id="9" name="Shape 9">
            <a:extLst>
              <a:ext uri="{FF2B5EF4-FFF2-40B4-BE49-F238E27FC236}">
                <a16:creationId xmlns:a16="http://schemas.microsoft.com/office/drawing/2014/main" id="{716F2743-B6CE-449C-8460-9B28BEF2C8F8}"/>
              </a:ext>
            </a:extLst>
          </p:cNvPr>
          <p:cNvSpPr>
            <a:spLocks noGrp="1"/>
          </p:cNvSpPr>
          <p:nvPr/>
        </p:nvSpPr>
        <p:spPr>
          <a:xfrm>
            <a:off x="819150" y="2038350"/>
            <a:ext cx="2476500" cy="514350"/>
          </a:xfrm>
          <a:prstGeom prst="roundRect">
            <a:avLst/>
          </a:prstGeom>
          <a:solidFill>
            <a:srgbClr val="FFFFFF"/>
          </a:solidFill>
          <a:ln w="25400">
            <a:solidFill>
              <a:srgbClr val="2A5B84"/>
            </a:solidFill>
          </a:ln>
        </p:spPr>
      </p:sp>
      <p:sp>
        <p:nvSpPr>
          <p:cNvPr id="10" name="Text 10">
            <a:extLst>
              <a:ext uri="{FF2B5EF4-FFF2-40B4-BE49-F238E27FC236}">
                <a16:creationId xmlns:a16="http://schemas.microsoft.com/office/drawing/2014/main" id="{7C70FFB8-7D16-4728-AF5D-3FABA1DEE78C}"/>
              </a:ext>
            </a:extLst>
          </p:cNvPr>
          <p:cNvSpPr>
            <a:spLocks noGrp="1"/>
          </p:cNvSpPr>
          <p:nvPr/>
        </p:nvSpPr>
        <p:spPr>
          <a:xfrm>
            <a:off x="914400" y="2171700"/>
            <a:ext cx="2286000" cy="247650"/>
          </a:xfrm>
          <a:prstGeom prst="rect">
            <a:avLst/>
          </a:prstGeom>
          <a:noFill/>
          <a:ln>
            <a:noFill/>
          </a:ln>
        </p:spPr>
        <p:txBody>
          <a:bodyPr wrap="square" lIns="0" tIns="0" rIns="0" bIns="0" anchor="t"/>
          <a:lstStyle/>
          <a:p>
            <a:pPr algn="ctr">
              <a:buNone/>
            </a:pPr>
            <a:r>
              <a:rPr sz="1300" b="1">
                <a:solidFill>
                  <a:srgbClr val="17212B"/>
                </a:solidFill>
                <a:latin typeface="Arial"/>
                <a:ea typeface="Arial"/>
                <a:cs typeface="Arial"/>
              </a:rPr>
              <a:t>cross-border ratio &gt; t₁</a:t>
            </a:r>
            <a:endParaRPr sz="1300"/>
          </a:p>
        </p:txBody>
      </p:sp>
      <p:sp>
        <p:nvSpPr>
          <p:cNvPr id="11" name="Shape 11">
            <a:extLst>
              <a:ext uri="{FF2B5EF4-FFF2-40B4-BE49-F238E27FC236}">
                <a16:creationId xmlns:a16="http://schemas.microsoft.com/office/drawing/2014/main" id="{A743C6A8-F654-4EB5-9D55-1D6C71523B26}"/>
              </a:ext>
            </a:extLst>
          </p:cNvPr>
          <p:cNvSpPr>
            <a:spLocks noGrp="1"/>
          </p:cNvSpPr>
          <p:nvPr/>
        </p:nvSpPr>
        <p:spPr>
          <a:xfrm>
            <a:off x="628650" y="3219450"/>
            <a:ext cx="1371600" cy="476250"/>
          </a:xfrm>
          <a:prstGeom prst="roundRect">
            <a:avLst/>
          </a:prstGeom>
          <a:solidFill>
            <a:srgbClr val="F4F6F8"/>
          </a:solidFill>
          <a:ln w="12700">
            <a:solidFill>
              <a:srgbClr val="2A5B84"/>
            </a:solidFill>
          </a:ln>
        </p:spPr>
      </p:sp>
      <p:sp>
        <p:nvSpPr>
          <p:cNvPr id="12" name="Text 12">
            <a:extLst>
              <a:ext uri="{FF2B5EF4-FFF2-40B4-BE49-F238E27FC236}">
                <a16:creationId xmlns:a16="http://schemas.microsoft.com/office/drawing/2014/main" id="{0FE1190E-B144-4B86-9D6C-DCFAC258A2C6}"/>
              </a:ext>
            </a:extLst>
          </p:cNvPr>
          <p:cNvSpPr>
            <a:spLocks noGrp="1"/>
          </p:cNvSpPr>
          <p:nvPr/>
        </p:nvSpPr>
        <p:spPr>
          <a:xfrm>
            <a:off x="704850" y="3343275"/>
            <a:ext cx="1219200" cy="228600"/>
          </a:xfrm>
          <a:prstGeom prst="rect">
            <a:avLst/>
          </a:prstGeom>
          <a:noFill/>
          <a:ln>
            <a:noFill/>
          </a:ln>
        </p:spPr>
        <p:txBody>
          <a:bodyPr wrap="square" lIns="0" tIns="0" rIns="0" bIns="0" anchor="t"/>
          <a:lstStyle/>
          <a:p>
            <a:pPr algn="ctr">
              <a:buNone/>
            </a:pPr>
            <a:r>
              <a:rPr sz="1100" b="1">
                <a:solidFill>
                  <a:srgbClr val="17212B"/>
                </a:solidFill>
                <a:latin typeface="Arial"/>
                <a:ea typeface="Arial"/>
                <a:cs typeface="Arial"/>
              </a:rPr>
              <a:t>crypto ratio &gt; t₂</a:t>
            </a:r>
            <a:endParaRPr sz="1100"/>
          </a:p>
        </p:txBody>
      </p:sp>
      <p:sp>
        <p:nvSpPr>
          <p:cNvPr id="13" name="Shape 13">
            <a:extLst>
              <a:ext uri="{FF2B5EF4-FFF2-40B4-BE49-F238E27FC236}">
                <a16:creationId xmlns:a16="http://schemas.microsoft.com/office/drawing/2014/main" id="{73CC1305-69CB-438D-9F74-C0DEF2114A40}"/>
              </a:ext>
            </a:extLst>
          </p:cNvPr>
          <p:cNvSpPr>
            <a:spLocks noGrp="1"/>
          </p:cNvSpPr>
          <p:nvPr/>
        </p:nvSpPr>
        <p:spPr>
          <a:xfrm>
            <a:off x="647700" y="4019550"/>
            <a:ext cx="609600" cy="609600"/>
          </a:xfrm>
          <a:prstGeom prst="ellipse">
            <a:avLst/>
          </a:prstGeom>
          <a:solidFill>
            <a:srgbClr val="FFFFFF"/>
          </a:solidFill>
          <a:ln w="25400">
            <a:solidFill>
              <a:srgbClr val="2A5B84"/>
            </a:solidFill>
          </a:ln>
        </p:spPr>
      </p:sp>
      <p:sp>
        <p:nvSpPr>
          <p:cNvPr id="14" name="Text 14">
            <a:extLst>
              <a:ext uri="{FF2B5EF4-FFF2-40B4-BE49-F238E27FC236}">
                <a16:creationId xmlns:a16="http://schemas.microsoft.com/office/drawing/2014/main" id="{CA983BCE-B110-4DF6-8D0F-E8678E41C82B}"/>
              </a:ext>
            </a:extLst>
          </p:cNvPr>
          <p:cNvSpPr>
            <a:spLocks noGrp="1"/>
          </p:cNvSpPr>
          <p:nvPr/>
        </p:nvSpPr>
        <p:spPr>
          <a:xfrm>
            <a:off x="647700" y="4200525"/>
            <a:ext cx="609600" cy="228600"/>
          </a:xfrm>
          <a:prstGeom prst="rect">
            <a:avLst/>
          </a:prstGeom>
          <a:noFill/>
          <a:ln>
            <a:noFill/>
          </a:ln>
        </p:spPr>
        <p:txBody>
          <a:bodyPr wrap="square" lIns="0" tIns="0" rIns="0" bIns="0" anchor="t"/>
          <a:lstStyle/>
          <a:p>
            <a:pPr algn="ctr">
              <a:buNone/>
            </a:pPr>
            <a:r>
              <a:rPr sz="1600" b="1">
                <a:solidFill>
                  <a:srgbClr val="2A5B84"/>
                </a:solidFill>
                <a:latin typeface="Arial"/>
                <a:ea typeface="Arial"/>
                <a:cs typeface="Arial"/>
              </a:rPr>
              <a:t>0</a:t>
            </a:r>
            <a:endParaRPr sz="1600"/>
          </a:p>
        </p:txBody>
      </p:sp>
      <p:sp>
        <p:nvSpPr>
          <p:cNvPr id="15" name="Shape 15">
            <a:extLst>
              <a:ext uri="{FF2B5EF4-FFF2-40B4-BE49-F238E27FC236}">
                <a16:creationId xmlns:a16="http://schemas.microsoft.com/office/drawing/2014/main" id="{061F1F7F-5CFD-419D-8BA0-BB85187B079F}"/>
              </a:ext>
            </a:extLst>
          </p:cNvPr>
          <p:cNvSpPr>
            <a:spLocks noGrp="1"/>
          </p:cNvSpPr>
          <p:nvPr/>
        </p:nvSpPr>
        <p:spPr>
          <a:xfrm>
            <a:off x="1371600" y="4019550"/>
            <a:ext cx="609600" cy="609600"/>
          </a:xfrm>
          <a:prstGeom prst="ellipse">
            <a:avLst/>
          </a:prstGeom>
          <a:solidFill>
            <a:srgbClr val="2A5B84"/>
          </a:solidFill>
          <a:ln w="25400">
            <a:solidFill>
              <a:srgbClr val="2A5B84"/>
            </a:solidFill>
          </a:ln>
        </p:spPr>
      </p:sp>
      <p:sp>
        <p:nvSpPr>
          <p:cNvPr id="16" name="Text 16">
            <a:extLst>
              <a:ext uri="{FF2B5EF4-FFF2-40B4-BE49-F238E27FC236}">
                <a16:creationId xmlns:a16="http://schemas.microsoft.com/office/drawing/2014/main" id="{E678FF5D-3D38-4998-B6BA-2E107800F618}"/>
              </a:ext>
            </a:extLst>
          </p:cNvPr>
          <p:cNvSpPr>
            <a:spLocks noGrp="1"/>
          </p:cNvSpPr>
          <p:nvPr/>
        </p:nvSpPr>
        <p:spPr>
          <a:xfrm>
            <a:off x="1371600" y="4200525"/>
            <a:ext cx="609600" cy="2286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1</a:t>
            </a:r>
            <a:endParaRPr sz="1600"/>
          </a:p>
        </p:txBody>
      </p:sp>
      <p:sp>
        <p:nvSpPr>
          <p:cNvPr id="17" name="Shape 17">
            <a:extLst>
              <a:ext uri="{FF2B5EF4-FFF2-40B4-BE49-F238E27FC236}">
                <a16:creationId xmlns:a16="http://schemas.microsoft.com/office/drawing/2014/main" id="{049E89FD-6AA3-48FA-9017-A20E40E1830A}"/>
              </a:ext>
            </a:extLst>
          </p:cNvPr>
          <p:cNvSpPr>
            <a:spLocks noGrp="1"/>
          </p:cNvSpPr>
          <p:nvPr/>
        </p:nvSpPr>
        <p:spPr>
          <a:xfrm>
            <a:off x="2495550" y="3219450"/>
            <a:ext cx="609600" cy="609600"/>
          </a:xfrm>
          <a:prstGeom prst="ellipse">
            <a:avLst/>
          </a:prstGeom>
          <a:solidFill>
            <a:srgbClr val="2A5B84"/>
          </a:solidFill>
          <a:ln w="25400">
            <a:solidFill>
              <a:srgbClr val="2A5B84"/>
            </a:solidFill>
          </a:ln>
        </p:spPr>
      </p:sp>
      <p:sp>
        <p:nvSpPr>
          <p:cNvPr id="18" name="Text 18">
            <a:extLst>
              <a:ext uri="{FF2B5EF4-FFF2-40B4-BE49-F238E27FC236}">
                <a16:creationId xmlns:a16="http://schemas.microsoft.com/office/drawing/2014/main" id="{95652E7D-7C9C-402E-A2F3-AC13E5BD1442}"/>
              </a:ext>
            </a:extLst>
          </p:cNvPr>
          <p:cNvSpPr>
            <a:spLocks noGrp="1"/>
          </p:cNvSpPr>
          <p:nvPr/>
        </p:nvSpPr>
        <p:spPr>
          <a:xfrm>
            <a:off x="2495550" y="3400425"/>
            <a:ext cx="609600" cy="2286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1</a:t>
            </a:r>
            <a:endParaRPr sz="1600"/>
          </a:p>
        </p:txBody>
      </p:sp>
      <p:sp>
        <p:nvSpPr>
          <p:cNvPr id="19" name="Connector 19">
            <a:extLst>
              <a:ext uri="{FF2B5EF4-FFF2-40B4-BE49-F238E27FC236}">
                <a16:creationId xmlns:a16="http://schemas.microsoft.com/office/drawing/2014/main" id="{60818343-543E-4156-8D2C-F31102D46314}"/>
              </a:ext>
            </a:extLst>
          </p:cNvPr>
          <p:cNvSpPr>
            <a:spLocks noGrp="1"/>
          </p:cNvSpPr>
          <p:nvPr/>
        </p:nvSpPr>
        <p:spPr>
          <a:xfrm flipH="1">
            <a:off x="4552950" y="2533650"/>
            <a:ext cx="742950" cy="685800"/>
          </a:xfrm>
          <a:prstGeom prst="line">
            <a:avLst/>
          </a:prstGeom>
          <a:ln w="25400">
            <a:solidFill>
              <a:srgbClr val="B46B13"/>
            </a:solidFill>
            <a:tailEnd type="triangle"/>
          </a:ln>
        </p:spPr>
      </p:sp>
      <p:sp>
        <p:nvSpPr>
          <p:cNvPr id="20" name="Connector 20">
            <a:extLst>
              <a:ext uri="{FF2B5EF4-FFF2-40B4-BE49-F238E27FC236}">
                <a16:creationId xmlns:a16="http://schemas.microsoft.com/office/drawing/2014/main" id="{AF57AE7B-5BD1-410B-B709-848AF45D2A44}"/>
              </a:ext>
            </a:extLst>
          </p:cNvPr>
          <p:cNvSpPr>
            <a:spLocks noGrp="1"/>
          </p:cNvSpPr>
          <p:nvPr/>
        </p:nvSpPr>
        <p:spPr>
          <a:xfrm>
            <a:off x="5295900" y="2533650"/>
            <a:ext cx="742950" cy="685800"/>
          </a:xfrm>
          <a:prstGeom prst="line">
            <a:avLst/>
          </a:prstGeom>
          <a:ln w="25400">
            <a:solidFill>
              <a:srgbClr val="B46B13"/>
            </a:solidFill>
            <a:tailEnd type="triangle"/>
          </a:ln>
        </p:spPr>
      </p:sp>
      <p:sp>
        <p:nvSpPr>
          <p:cNvPr id="21" name="Connector 21">
            <a:extLst>
              <a:ext uri="{FF2B5EF4-FFF2-40B4-BE49-F238E27FC236}">
                <a16:creationId xmlns:a16="http://schemas.microsoft.com/office/drawing/2014/main" id="{99E8DC56-173A-4068-A5BD-090E07FD4FD6}"/>
              </a:ext>
            </a:extLst>
          </p:cNvPr>
          <p:cNvSpPr>
            <a:spLocks noGrp="1"/>
          </p:cNvSpPr>
          <p:nvPr/>
        </p:nvSpPr>
        <p:spPr>
          <a:xfrm flipH="1">
            <a:off x="4229100" y="3505200"/>
            <a:ext cx="323850" cy="533400"/>
          </a:xfrm>
          <a:prstGeom prst="line">
            <a:avLst/>
          </a:prstGeom>
          <a:ln w="25400">
            <a:solidFill>
              <a:srgbClr val="B46B13"/>
            </a:solidFill>
            <a:tailEnd type="triangle"/>
          </a:ln>
        </p:spPr>
      </p:sp>
      <p:sp>
        <p:nvSpPr>
          <p:cNvPr id="22" name="Connector 22">
            <a:extLst>
              <a:ext uri="{FF2B5EF4-FFF2-40B4-BE49-F238E27FC236}">
                <a16:creationId xmlns:a16="http://schemas.microsoft.com/office/drawing/2014/main" id="{DA81429F-8C50-464F-A450-B0F3D31FBA56}"/>
              </a:ext>
            </a:extLst>
          </p:cNvPr>
          <p:cNvSpPr>
            <a:spLocks noGrp="1"/>
          </p:cNvSpPr>
          <p:nvPr/>
        </p:nvSpPr>
        <p:spPr>
          <a:xfrm>
            <a:off x="4552950" y="3505200"/>
            <a:ext cx="323850" cy="533400"/>
          </a:xfrm>
          <a:prstGeom prst="line">
            <a:avLst/>
          </a:prstGeom>
          <a:ln w="25400">
            <a:solidFill>
              <a:srgbClr val="B46B13"/>
            </a:solidFill>
            <a:tailEnd type="triangle"/>
          </a:ln>
        </p:spPr>
      </p:sp>
      <p:sp>
        <p:nvSpPr>
          <p:cNvPr id="23" name="Shape 23">
            <a:extLst>
              <a:ext uri="{FF2B5EF4-FFF2-40B4-BE49-F238E27FC236}">
                <a16:creationId xmlns:a16="http://schemas.microsoft.com/office/drawing/2014/main" id="{0CFFD889-CB4C-4566-A46C-08638CC0069A}"/>
              </a:ext>
            </a:extLst>
          </p:cNvPr>
          <p:cNvSpPr>
            <a:spLocks noGrp="1"/>
          </p:cNvSpPr>
          <p:nvPr/>
        </p:nvSpPr>
        <p:spPr>
          <a:xfrm>
            <a:off x="4057650" y="2038350"/>
            <a:ext cx="2476500" cy="514350"/>
          </a:xfrm>
          <a:prstGeom prst="roundRect">
            <a:avLst/>
          </a:prstGeom>
          <a:solidFill>
            <a:srgbClr val="FFFFFF"/>
          </a:solidFill>
          <a:ln w="25400">
            <a:solidFill>
              <a:srgbClr val="B46B13"/>
            </a:solidFill>
          </a:ln>
        </p:spPr>
      </p:sp>
      <p:sp>
        <p:nvSpPr>
          <p:cNvPr id="24" name="Text 24">
            <a:extLst>
              <a:ext uri="{FF2B5EF4-FFF2-40B4-BE49-F238E27FC236}">
                <a16:creationId xmlns:a16="http://schemas.microsoft.com/office/drawing/2014/main" id="{0F2D91D1-4B6B-4B78-931A-D7E511A40E04}"/>
              </a:ext>
            </a:extLst>
          </p:cNvPr>
          <p:cNvSpPr>
            <a:spLocks noGrp="1"/>
          </p:cNvSpPr>
          <p:nvPr/>
        </p:nvSpPr>
        <p:spPr>
          <a:xfrm>
            <a:off x="4152900" y="2171700"/>
            <a:ext cx="2286000" cy="247650"/>
          </a:xfrm>
          <a:prstGeom prst="rect">
            <a:avLst/>
          </a:prstGeom>
          <a:noFill/>
          <a:ln>
            <a:noFill/>
          </a:ln>
        </p:spPr>
        <p:txBody>
          <a:bodyPr wrap="square" lIns="0" tIns="0" rIns="0" bIns="0" anchor="t"/>
          <a:lstStyle/>
          <a:p>
            <a:pPr algn="ctr">
              <a:buNone/>
            </a:pPr>
            <a:r>
              <a:rPr sz="1300" b="1">
                <a:solidFill>
                  <a:srgbClr val="17212B"/>
                </a:solidFill>
                <a:latin typeface="Arial"/>
                <a:ea typeface="Arial"/>
                <a:cs typeface="Arial"/>
              </a:rPr>
              <a:t>incomplete ratio &gt; t₃</a:t>
            </a:r>
            <a:endParaRPr sz="1300"/>
          </a:p>
        </p:txBody>
      </p:sp>
      <p:sp>
        <p:nvSpPr>
          <p:cNvPr id="25" name="Shape 25">
            <a:extLst>
              <a:ext uri="{FF2B5EF4-FFF2-40B4-BE49-F238E27FC236}">
                <a16:creationId xmlns:a16="http://schemas.microsoft.com/office/drawing/2014/main" id="{B5937CC5-2714-4887-B667-70896A54AE71}"/>
              </a:ext>
            </a:extLst>
          </p:cNvPr>
          <p:cNvSpPr>
            <a:spLocks noGrp="1"/>
          </p:cNvSpPr>
          <p:nvPr/>
        </p:nvSpPr>
        <p:spPr>
          <a:xfrm>
            <a:off x="3867150" y="3219450"/>
            <a:ext cx="1371600" cy="476250"/>
          </a:xfrm>
          <a:prstGeom prst="roundRect">
            <a:avLst/>
          </a:prstGeom>
          <a:solidFill>
            <a:srgbClr val="F4F6F8"/>
          </a:solidFill>
          <a:ln w="12700">
            <a:solidFill>
              <a:srgbClr val="B46B13"/>
            </a:solidFill>
          </a:ln>
        </p:spPr>
      </p:sp>
      <p:sp>
        <p:nvSpPr>
          <p:cNvPr id="26" name="Text 26">
            <a:extLst>
              <a:ext uri="{FF2B5EF4-FFF2-40B4-BE49-F238E27FC236}">
                <a16:creationId xmlns:a16="http://schemas.microsoft.com/office/drawing/2014/main" id="{FF5C1645-DB6F-4424-A452-733413400487}"/>
              </a:ext>
            </a:extLst>
          </p:cNvPr>
          <p:cNvSpPr>
            <a:spLocks noGrp="1"/>
          </p:cNvSpPr>
          <p:nvPr/>
        </p:nvSpPr>
        <p:spPr>
          <a:xfrm>
            <a:off x="3943350" y="3343275"/>
            <a:ext cx="1219200" cy="228600"/>
          </a:xfrm>
          <a:prstGeom prst="rect">
            <a:avLst/>
          </a:prstGeom>
          <a:noFill/>
          <a:ln>
            <a:noFill/>
          </a:ln>
        </p:spPr>
        <p:txBody>
          <a:bodyPr wrap="square" lIns="0" tIns="0" rIns="0" bIns="0" anchor="t"/>
          <a:lstStyle/>
          <a:p>
            <a:pPr algn="ctr">
              <a:buNone/>
            </a:pPr>
            <a:r>
              <a:rPr sz="1100" b="1">
                <a:solidFill>
                  <a:srgbClr val="17212B"/>
                </a:solidFill>
                <a:latin typeface="Arial"/>
                <a:ea typeface="Arial"/>
                <a:cs typeface="Arial"/>
              </a:rPr>
              <a:t>activity volume &gt; t₄</a:t>
            </a:r>
            <a:endParaRPr sz="1100"/>
          </a:p>
        </p:txBody>
      </p:sp>
      <p:sp>
        <p:nvSpPr>
          <p:cNvPr id="27" name="Shape 27">
            <a:extLst>
              <a:ext uri="{FF2B5EF4-FFF2-40B4-BE49-F238E27FC236}">
                <a16:creationId xmlns:a16="http://schemas.microsoft.com/office/drawing/2014/main" id="{E68E88A8-BD2F-45EF-867D-88F569C9F45B}"/>
              </a:ext>
            </a:extLst>
          </p:cNvPr>
          <p:cNvSpPr>
            <a:spLocks noGrp="1"/>
          </p:cNvSpPr>
          <p:nvPr/>
        </p:nvSpPr>
        <p:spPr>
          <a:xfrm>
            <a:off x="3886200" y="4019550"/>
            <a:ext cx="609600" cy="609600"/>
          </a:xfrm>
          <a:prstGeom prst="ellipse">
            <a:avLst/>
          </a:prstGeom>
          <a:solidFill>
            <a:srgbClr val="FFFFFF"/>
          </a:solidFill>
          <a:ln w="25400">
            <a:solidFill>
              <a:srgbClr val="B46B13"/>
            </a:solidFill>
          </a:ln>
        </p:spPr>
      </p:sp>
      <p:sp>
        <p:nvSpPr>
          <p:cNvPr id="28" name="Text 28">
            <a:extLst>
              <a:ext uri="{FF2B5EF4-FFF2-40B4-BE49-F238E27FC236}">
                <a16:creationId xmlns:a16="http://schemas.microsoft.com/office/drawing/2014/main" id="{F4380DCE-84EB-4D3E-89B4-41C58BBB35FD}"/>
              </a:ext>
            </a:extLst>
          </p:cNvPr>
          <p:cNvSpPr>
            <a:spLocks noGrp="1"/>
          </p:cNvSpPr>
          <p:nvPr/>
        </p:nvSpPr>
        <p:spPr>
          <a:xfrm>
            <a:off x="3886200" y="4200525"/>
            <a:ext cx="609600" cy="228600"/>
          </a:xfrm>
          <a:prstGeom prst="rect">
            <a:avLst/>
          </a:prstGeom>
          <a:noFill/>
          <a:ln>
            <a:noFill/>
          </a:ln>
        </p:spPr>
        <p:txBody>
          <a:bodyPr wrap="square" lIns="0" tIns="0" rIns="0" bIns="0" anchor="t"/>
          <a:lstStyle/>
          <a:p>
            <a:pPr algn="ctr">
              <a:buNone/>
            </a:pPr>
            <a:r>
              <a:rPr sz="1600" b="1">
                <a:solidFill>
                  <a:srgbClr val="B46B13"/>
                </a:solidFill>
                <a:latin typeface="Arial"/>
                <a:ea typeface="Arial"/>
                <a:cs typeface="Arial"/>
              </a:rPr>
              <a:t>0</a:t>
            </a:r>
            <a:endParaRPr sz="1600"/>
          </a:p>
        </p:txBody>
      </p:sp>
      <p:sp>
        <p:nvSpPr>
          <p:cNvPr id="29" name="Shape 29">
            <a:extLst>
              <a:ext uri="{FF2B5EF4-FFF2-40B4-BE49-F238E27FC236}">
                <a16:creationId xmlns:a16="http://schemas.microsoft.com/office/drawing/2014/main" id="{9FA37549-F469-4028-976B-A6B87676F170}"/>
              </a:ext>
            </a:extLst>
          </p:cNvPr>
          <p:cNvSpPr>
            <a:spLocks noGrp="1"/>
          </p:cNvSpPr>
          <p:nvPr/>
        </p:nvSpPr>
        <p:spPr>
          <a:xfrm>
            <a:off x="4610100" y="4019550"/>
            <a:ext cx="609600" cy="609600"/>
          </a:xfrm>
          <a:prstGeom prst="ellipse">
            <a:avLst/>
          </a:prstGeom>
          <a:solidFill>
            <a:srgbClr val="B46B13"/>
          </a:solidFill>
          <a:ln w="25400">
            <a:solidFill>
              <a:srgbClr val="B46B13"/>
            </a:solidFill>
          </a:ln>
        </p:spPr>
      </p:sp>
      <p:sp>
        <p:nvSpPr>
          <p:cNvPr id="30" name="Text 30">
            <a:extLst>
              <a:ext uri="{FF2B5EF4-FFF2-40B4-BE49-F238E27FC236}">
                <a16:creationId xmlns:a16="http://schemas.microsoft.com/office/drawing/2014/main" id="{D86B2749-0162-4EF4-AA61-B9FC4BDD23E9}"/>
              </a:ext>
            </a:extLst>
          </p:cNvPr>
          <p:cNvSpPr>
            <a:spLocks noGrp="1"/>
          </p:cNvSpPr>
          <p:nvPr/>
        </p:nvSpPr>
        <p:spPr>
          <a:xfrm>
            <a:off x="4610100" y="4200525"/>
            <a:ext cx="609600" cy="2286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1</a:t>
            </a:r>
            <a:endParaRPr sz="1600"/>
          </a:p>
        </p:txBody>
      </p:sp>
      <p:sp>
        <p:nvSpPr>
          <p:cNvPr id="31" name="Shape 31">
            <a:extLst>
              <a:ext uri="{FF2B5EF4-FFF2-40B4-BE49-F238E27FC236}">
                <a16:creationId xmlns:a16="http://schemas.microsoft.com/office/drawing/2014/main" id="{2942A59D-BEEE-4277-95DF-6F3E742B41CB}"/>
              </a:ext>
            </a:extLst>
          </p:cNvPr>
          <p:cNvSpPr>
            <a:spLocks noGrp="1"/>
          </p:cNvSpPr>
          <p:nvPr/>
        </p:nvSpPr>
        <p:spPr>
          <a:xfrm>
            <a:off x="5734050" y="3219450"/>
            <a:ext cx="609600" cy="609600"/>
          </a:xfrm>
          <a:prstGeom prst="ellipse">
            <a:avLst/>
          </a:prstGeom>
          <a:solidFill>
            <a:srgbClr val="B46B13"/>
          </a:solidFill>
          <a:ln w="25400">
            <a:solidFill>
              <a:srgbClr val="B46B13"/>
            </a:solidFill>
          </a:ln>
        </p:spPr>
      </p:sp>
      <p:sp>
        <p:nvSpPr>
          <p:cNvPr id="32" name="Text 32">
            <a:extLst>
              <a:ext uri="{FF2B5EF4-FFF2-40B4-BE49-F238E27FC236}">
                <a16:creationId xmlns:a16="http://schemas.microsoft.com/office/drawing/2014/main" id="{E8700C6F-BB58-451B-8B3A-443DEB65BABA}"/>
              </a:ext>
            </a:extLst>
          </p:cNvPr>
          <p:cNvSpPr>
            <a:spLocks noGrp="1"/>
          </p:cNvSpPr>
          <p:nvPr/>
        </p:nvSpPr>
        <p:spPr>
          <a:xfrm>
            <a:off x="5734050" y="3400425"/>
            <a:ext cx="609600" cy="2286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1</a:t>
            </a:r>
            <a:endParaRPr sz="1600"/>
          </a:p>
        </p:txBody>
      </p:sp>
      <p:sp>
        <p:nvSpPr>
          <p:cNvPr id="33" name="Connector 33">
            <a:extLst>
              <a:ext uri="{FF2B5EF4-FFF2-40B4-BE49-F238E27FC236}">
                <a16:creationId xmlns:a16="http://schemas.microsoft.com/office/drawing/2014/main" id="{D88166DE-241A-4BE5-AE64-2F2F8F4F054D}"/>
              </a:ext>
            </a:extLst>
          </p:cNvPr>
          <p:cNvSpPr>
            <a:spLocks noGrp="1"/>
          </p:cNvSpPr>
          <p:nvPr/>
        </p:nvSpPr>
        <p:spPr>
          <a:xfrm flipH="1">
            <a:off x="7791450" y="2533650"/>
            <a:ext cx="742950" cy="685800"/>
          </a:xfrm>
          <a:prstGeom prst="line">
            <a:avLst/>
          </a:prstGeom>
          <a:ln w="25400">
            <a:solidFill>
              <a:srgbClr val="1F7A5A"/>
            </a:solidFill>
            <a:tailEnd type="triangle"/>
          </a:ln>
        </p:spPr>
      </p:sp>
      <p:sp>
        <p:nvSpPr>
          <p:cNvPr id="34" name="Connector 34">
            <a:extLst>
              <a:ext uri="{FF2B5EF4-FFF2-40B4-BE49-F238E27FC236}">
                <a16:creationId xmlns:a16="http://schemas.microsoft.com/office/drawing/2014/main" id="{20D49580-7BD9-4096-8750-1DF1BCE2B9F2}"/>
              </a:ext>
            </a:extLst>
          </p:cNvPr>
          <p:cNvSpPr>
            <a:spLocks noGrp="1"/>
          </p:cNvSpPr>
          <p:nvPr/>
        </p:nvSpPr>
        <p:spPr>
          <a:xfrm>
            <a:off x="8534400" y="2533650"/>
            <a:ext cx="742950" cy="685800"/>
          </a:xfrm>
          <a:prstGeom prst="line">
            <a:avLst/>
          </a:prstGeom>
          <a:ln w="25400">
            <a:solidFill>
              <a:srgbClr val="1F7A5A"/>
            </a:solidFill>
            <a:tailEnd type="triangle"/>
          </a:ln>
        </p:spPr>
      </p:sp>
      <p:sp>
        <p:nvSpPr>
          <p:cNvPr id="35" name="Connector 35">
            <a:extLst>
              <a:ext uri="{FF2B5EF4-FFF2-40B4-BE49-F238E27FC236}">
                <a16:creationId xmlns:a16="http://schemas.microsoft.com/office/drawing/2014/main" id="{1E52B562-B91E-4D13-B04B-0CE31B5955DE}"/>
              </a:ext>
            </a:extLst>
          </p:cNvPr>
          <p:cNvSpPr>
            <a:spLocks noGrp="1"/>
          </p:cNvSpPr>
          <p:nvPr/>
        </p:nvSpPr>
        <p:spPr>
          <a:xfrm flipH="1">
            <a:off x="7467600" y="3505200"/>
            <a:ext cx="323850" cy="533400"/>
          </a:xfrm>
          <a:prstGeom prst="line">
            <a:avLst/>
          </a:prstGeom>
          <a:ln w="25400">
            <a:solidFill>
              <a:srgbClr val="1F7A5A"/>
            </a:solidFill>
            <a:tailEnd type="triangle"/>
          </a:ln>
        </p:spPr>
      </p:sp>
      <p:sp>
        <p:nvSpPr>
          <p:cNvPr id="36" name="Connector 36">
            <a:extLst>
              <a:ext uri="{FF2B5EF4-FFF2-40B4-BE49-F238E27FC236}">
                <a16:creationId xmlns:a16="http://schemas.microsoft.com/office/drawing/2014/main" id="{FB1AD232-5ED1-4AE0-9321-059AE76921A9}"/>
              </a:ext>
            </a:extLst>
          </p:cNvPr>
          <p:cNvSpPr>
            <a:spLocks noGrp="1"/>
          </p:cNvSpPr>
          <p:nvPr/>
        </p:nvSpPr>
        <p:spPr>
          <a:xfrm>
            <a:off x="7791450" y="3505200"/>
            <a:ext cx="323850" cy="533400"/>
          </a:xfrm>
          <a:prstGeom prst="line">
            <a:avLst/>
          </a:prstGeom>
          <a:ln w="25400">
            <a:solidFill>
              <a:srgbClr val="1F7A5A"/>
            </a:solidFill>
            <a:tailEnd type="triangle"/>
          </a:ln>
        </p:spPr>
      </p:sp>
      <p:sp>
        <p:nvSpPr>
          <p:cNvPr id="37" name="Shape 37">
            <a:extLst>
              <a:ext uri="{FF2B5EF4-FFF2-40B4-BE49-F238E27FC236}">
                <a16:creationId xmlns:a16="http://schemas.microsoft.com/office/drawing/2014/main" id="{D3636162-D788-4474-A3DE-D62E7E8BFEA4}"/>
              </a:ext>
            </a:extLst>
          </p:cNvPr>
          <p:cNvSpPr>
            <a:spLocks noGrp="1"/>
          </p:cNvSpPr>
          <p:nvPr/>
        </p:nvSpPr>
        <p:spPr>
          <a:xfrm>
            <a:off x="7296150" y="2038350"/>
            <a:ext cx="2476500" cy="514350"/>
          </a:xfrm>
          <a:prstGeom prst="roundRect">
            <a:avLst/>
          </a:prstGeom>
          <a:solidFill>
            <a:srgbClr val="FFFFFF"/>
          </a:solidFill>
          <a:ln w="25400">
            <a:solidFill>
              <a:srgbClr val="1F7A5A"/>
            </a:solidFill>
          </a:ln>
        </p:spPr>
      </p:sp>
      <p:sp>
        <p:nvSpPr>
          <p:cNvPr id="38" name="Text 38">
            <a:extLst>
              <a:ext uri="{FF2B5EF4-FFF2-40B4-BE49-F238E27FC236}">
                <a16:creationId xmlns:a16="http://schemas.microsoft.com/office/drawing/2014/main" id="{BADD3D21-2679-4BD5-8171-BB8C41FB95A0}"/>
              </a:ext>
            </a:extLst>
          </p:cNvPr>
          <p:cNvSpPr>
            <a:spLocks noGrp="1"/>
          </p:cNvSpPr>
          <p:nvPr/>
        </p:nvSpPr>
        <p:spPr>
          <a:xfrm>
            <a:off x="7391400" y="2171700"/>
            <a:ext cx="2286000" cy="247650"/>
          </a:xfrm>
          <a:prstGeom prst="rect">
            <a:avLst/>
          </a:prstGeom>
          <a:noFill/>
          <a:ln>
            <a:noFill/>
          </a:ln>
        </p:spPr>
        <p:txBody>
          <a:bodyPr wrap="square" lIns="0" tIns="0" rIns="0" bIns="0" anchor="t"/>
          <a:lstStyle/>
          <a:p>
            <a:pPr algn="ctr">
              <a:buNone/>
            </a:pPr>
            <a:r>
              <a:rPr sz="1300" b="1">
                <a:solidFill>
                  <a:srgbClr val="17212B"/>
                </a:solidFill>
                <a:latin typeface="Arial"/>
                <a:ea typeface="Arial"/>
                <a:cs typeface="Arial"/>
              </a:rPr>
              <a:t>crypto ratio &gt; t₅</a:t>
            </a:r>
            <a:endParaRPr sz="1300"/>
          </a:p>
        </p:txBody>
      </p:sp>
      <p:sp>
        <p:nvSpPr>
          <p:cNvPr id="39" name="Shape 39">
            <a:extLst>
              <a:ext uri="{FF2B5EF4-FFF2-40B4-BE49-F238E27FC236}">
                <a16:creationId xmlns:a16="http://schemas.microsoft.com/office/drawing/2014/main" id="{2ABB2D41-EC2D-473F-B7FC-983C2EF30FB1}"/>
              </a:ext>
            </a:extLst>
          </p:cNvPr>
          <p:cNvSpPr>
            <a:spLocks noGrp="1"/>
          </p:cNvSpPr>
          <p:nvPr/>
        </p:nvSpPr>
        <p:spPr>
          <a:xfrm>
            <a:off x="7105650" y="3219450"/>
            <a:ext cx="1371600" cy="476250"/>
          </a:xfrm>
          <a:prstGeom prst="roundRect">
            <a:avLst/>
          </a:prstGeom>
          <a:solidFill>
            <a:srgbClr val="F4F6F8"/>
          </a:solidFill>
          <a:ln w="12700">
            <a:solidFill>
              <a:srgbClr val="1F7A5A"/>
            </a:solidFill>
          </a:ln>
        </p:spPr>
      </p:sp>
      <p:sp>
        <p:nvSpPr>
          <p:cNvPr id="40" name="Text 40">
            <a:extLst>
              <a:ext uri="{FF2B5EF4-FFF2-40B4-BE49-F238E27FC236}">
                <a16:creationId xmlns:a16="http://schemas.microsoft.com/office/drawing/2014/main" id="{297C76A2-971D-40EB-8B04-8090FD6C2BC8}"/>
              </a:ext>
            </a:extLst>
          </p:cNvPr>
          <p:cNvSpPr>
            <a:spLocks noGrp="1"/>
          </p:cNvSpPr>
          <p:nvPr/>
        </p:nvSpPr>
        <p:spPr>
          <a:xfrm>
            <a:off x="7181850" y="3343275"/>
            <a:ext cx="1219200" cy="228600"/>
          </a:xfrm>
          <a:prstGeom prst="rect">
            <a:avLst/>
          </a:prstGeom>
          <a:noFill/>
          <a:ln>
            <a:noFill/>
          </a:ln>
        </p:spPr>
        <p:txBody>
          <a:bodyPr wrap="square" lIns="0" tIns="0" rIns="0" bIns="0" anchor="t"/>
          <a:lstStyle/>
          <a:p>
            <a:pPr algn="ctr">
              <a:buNone/>
            </a:pPr>
            <a:r>
              <a:rPr sz="1100" b="1">
                <a:solidFill>
                  <a:srgbClr val="17212B"/>
                </a:solidFill>
                <a:latin typeface="Arial"/>
                <a:ea typeface="Arial"/>
                <a:cs typeface="Arial"/>
              </a:rPr>
              <a:t>cross-border ratio &gt; t₆</a:t>
            </a:r>
            <a:endParaRPr sz="1100"/>
          </a:p>
        </p:txBody>
      </p:sp>
      <p:sp>
        <p:nvSpPr>
          <p:cNvPr id="41" name="Shape 41">
            <a:extLst>
              <a:ext uri="{FF2B5EF4-FFF2-40B4-BE49-F238E27FC236}">
                <a16:creationId xmlns:a16="http://schemas.microsoft.com/office/drawing/2014/main" id="{1774A15D-090F-47C7-81FB-40585D262BB5}"/>
              </a:ext>
            </a:extLst>
          </p:cNvPr>
          <p:cNvSpPr>
            <a:spLocks noGrp="1"/>
          </p:cNvSpPr>
          <p:nvPr/>
        </p:nvSpPr>
        <p:spPr>
          <a:xfrm>
            <a:off x="7124700" y="4019550"/>
            <a:ext cx="609600" cy="609600"/>
          </a:xfrm>
          <a:prstGeom prst="ellipse">
            <a:avLst/>
          </a:prstGeom>
          <a:solidFill>
            <a:srgbClr val="FFFFFF"/>
          </a:solidFill>
          <a:ln w="25400">
            <a:solidFill>
              <a:srgbClr val="1F7A5A"/>
            </a:solidFill>
          </a:ln>
        </p:spPr>
      </p:sp>
      <p:sp>
        <p:nvSpPr>
          <p:cNvPr id="42" name="Text 42">
            <a:extLst>
              <a:ext uri="{FF2B5EF4-FFF2-40B4-BE49-F238E27FC236}">
                <a16:creationId xmlns:a16="http://schemas.microsoft.com/office/drawing/2014/main" id="{928C478E-CE39-4EB5-AD1C-DDA0E6D2AA00}"/>
              </a:ext>
            </a:extLst>
          </p:cNvPr>
          <p:cNvSpPr>
            <a:spLocks noGrp="1"/>
          </p:cNvSpPr>
          <p:nvPr/>
        </p:nvSpPr>
        <p:spPr>
          <a:xfrm>
            <a:off x="7124700" y="4200525"/>
            <a:ext cx="609600" cy="228600"/>
          </a:xfrm>
          <a:prstGeom prst="rect">
            <a:avLst/>
          </a:prstGeom>
          <a:noFill/>
          <a:ln>
            <a:noFill/>
          </a:ln>
        </p:spPr>
        <p:txBody>
          <a:bodyPr wrap="square" lIns="0" tIns="0" rIns="0" bIns="0" anchor="t"/>
          <a:lstStyle/>
          <a:p>
            <a:pPr algn="ctr">
              <a:buNone/>
            </a:pPr>
            <a:r>
              <a:rPr sz="1600" b="1">
                <a:solidFill>
                  <a:srgbClr val="1F7A5A"/>
                </a:solidFill>
                <a:latin typeface="Arial"/>
                <a:ea typeface="Arial"/>
                <a:cs typeface="Arial"/>
              </a:rPr>
              <a:t>0</a:t>
            </a:r>
            <a:endParaRPr sz="1600"/>
          </a:p>
        </p:txBody>
      </p:sp>
      <p:sp>
        <p:nvSpPr>
          <p:cNvPr id="43" name="Shape 43">
            <a:extLst>
              <a:ext uri="{FF2B5EF4-FFF2-40B4-BE49-F238E27FC236}">
                <a16:creationId xmlns:a16="http://schemas.microsoft.com/office/drawing/2014/main" id="{58805167-8CB8-411D-AB36-1FE28ABEBFAE}"/>
              </a:ext>
            </a:extLst>
          </p:cNvPr>
          <p:cNvSpPr>
            <a:spLocks noGrp="1"/>
          </p:cNvSpPr>
          <p:nvPr/>
        </p:nvSpPr>
        <p:spPr>
          <a:xfrm>
            <a:off x="7848600" y="4019550"/>
            <a:ext cx="609600" cy="609600"/>
          </a:xfrm>
          <a:prstGeom prst="ellipse">
            <a:avLst/>
          </a:prstGeom>
          <a:solidFill>
            <a:srgbClr val="1F7A5A"/>
          </a:solidFill>
          <a:ln w="25400">
            <a:solidFill>
              <a:srgbClr val="1F7A5A"/>
            </a:solidFill>
          </a:ln>
        </p:spPr>
      </p:sp>
      <p:sp>
        <p:nvSpPr>
          <p:cNvPr id="44" name="Text 44">
            <a:extLst>
              <a:ext uri="{FF2B5EF4-FFF2-40B4-BE49-F238E27FC236}">
                <a16:creationId xmlns:a16="http://schemas.microsoft.com/office/drawing/2014/main" id="{A127475A-B572-488D-943A-228FE8474117}"/>
              </a:ext>
            </a:extLst>
          </p:cNvPr>
          <p:cNvSpPr>
            <a:spLocks noGrp="1"/>
          </p:cNvSpPr>
          <p:nvPr/>
        </p:nvSpPr>
        <p:spPr>
          <a:xfrm>
            <a:off x="7848600" y="4200525"/>
            <a:ext cx="609600" cy="2286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1</a:t>
            </a:r>
            <a:endParaRPr sz="1600"/>
          </a:p>
        </p:txBody>
      </p:sp>
      <p:sp>
        <p:nvSpPr>
          <p:cNvPr id="45" name="Shape 45">
            <a:extLst>
              <a:ext uri="{FF2B5EF4-FFF2-40B4-BE49-F238E27FC236}">
                <a16:creationId xmlns:a16="http://schemas.microsoft.com/office/drawing/2014/main" id="{DF9C4176-9D2F-48C8-A0E4-4AC95674874B}"/>
              </a:ext>
            </a:extLst>
          </p:cNvPr>
          <p:cNvSpPr>
            <a:spLocks noGrp="1"/>
          </p:cNvSpPr>
          <p:nvPr/>
        </p:nvSpPr>
        <p:spPr>
          <a:xfrm>
            <a:off x="8972550" y="3219450"/>
            <a:ext cx="609600" cy="609600"/>
          </a:xfrm>
          <a:prstGeom prst="ellipse">
            <a:avLst/>
          </a:prstGeom>
          <a:solidFill>
            <a:srgbClr val="1F7A5A"/>
          </a:solidFill>
          <a:ln w="25400">
            <a:solidFill>
              <a:srgbClr val="1F7A5A"/>
            </a:solidFill>
          </a:ln>
        </p:spPr>
      </p:sp>
      <p:sp>
        <p:nvSpPr>
          <p:cNvPr id="46" name="Text 46">
            <a:extLst>
              <a:ext uri="{FF2B5EF4-FFF2-40B4-BE49-F238E27FC236}">
                <a16:creationId xmlns:a16="http://schemas.microsoft.com/office/drawing/2014/main" id="{26E2FE5C-AD5F-430E-9246-BB8982E365AF}"/>
              </a:ext>
            </a:extLst>
          </p:cNvPr>
          <p:cNvSpPr>
            <a:spLocks noGrp="1"/>
          </p:cNvSpPr>
          <p:nvPr/>
        </p:nvSpPr>
        <p:spPr>
          <a:xfrm>
            <a:off x="8972550" y="3400425"/>
            <a:ext cx="609600" cy="2286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1</a:t>
            </a:r>
            <a:endParaRPr sz="1600"/>
          </a:p>
        </p:txBody>
      </p:sp>
      <p:sp>
        <p:nvSpPr>
          <p:cNvPr id="47" name="Connector 47">
            <a:extLst>
              <a:ext uri="{FF2B5EF4-FFF2-40B4-BE49-F238E27FC236}">
                <a16:creationId xmlns:a16="http://schemas.microsoft.com/office/drawing/2014/main" id="{E1B1AA47-27AC-4C3F-9041-1C72DB5497C8}"/>
              </a:ext>
            </a:extLst>
          </p:cNvPr>
          <p:cNvSpPr>
            <a:spLocks noGrp="1"/>
          </p:cNvSpPr>
          <p:nvPr/>
        </p:nvSpPr>
        <p:spPr>
          <a:xfrm>
            <a:off x="2057400" y="4629150"/>
            <a:ext cx="0" cy="514350"/>
          </a:xfrm>
          <a:prstGeom prst="line">
            <a:avLst/>
          </a:prstGeom>
          <a:ln w="25400">
            <a:solidFill>
              <a:srgbClr val="D71920"/>
            </a:solidFill>
            <a:tailEnd type="triangle"/>
          </a:ln>
        </p:spPr>
      </p:sp>
      <p:sp>
        <p:nvSpPr>
          <p:cNvPr id="48" name="Connector 48">
            <a:extLst>
              <a:ext uri="{FF2B5EF4-FFF2-40B4-BE49-F238E27FC236}">
                <a16:creationId xmlns:a16="http://schemas.microsoft.com/office/drawing/2014/main" id="{A1BCF09D-41E2-4A6C-9A39-CF1F1BB0C95F}"/>
              </a:ext>
            </a:extLst>
          </p:cNvPr>
          <p:cNvSpPr>
            <a:spLocks noGrp="1"/>
          </p:cNvSpPr>
          <p:nvPr/>
        </p:nvSpPr>
        <p:spPr>
          <a:xfrm>
            <a:off x="5295900" y="4629150"/>
            <a:ext cx="0" cy="514350"/>
          </a:xfrm>
          <a:prstGeom prst="line">
            <a:avLst/>
          </a:prstGeom>
          <a:ln w="25400">
            <a:solidFill>
              <a:srgbClr val="D71920"/>
            </a:solidFill>
            <a:tailEnd type="triangle"/>
          </a:ln>
        </p:spPr>
      </p:sp>
      <p:sp>
        <p:nvSpPr>
          <p:cNvPr id="49" name="Connector 49">
            <a:extLst>
              <a:ext uri="{FF2B5EF4-FFF2-40B4-BE49-F238E27FC236}">
                <a16:creationId xmlns:a16="http://schemas.microsoft.com/office/drawing/2014/main" id="{D35427D3-754E-4B67-9C65-A3D287958FBF}"/>
              </a:ext>
            </a:extLst>
          </p:cNvPr>
          <p:cNvSpPr>
            <a:spLocks noGrp="1"/>
          </p:cNvSpPr>
          <p:nvPr/>
        </p:nvSpPr>
        <p:spPr>
          <a:xfrm>
            <a:off x="8534400" y="4629150"/>
            <a:ext cx="0" cy="514350"/>
          </a:xfrm>
          <a:prstGeom prst="line">
            <a:avLst/>
          </a:prstGeom>
          <a:ln w="25400">
            <a:solidFill>
              <a:srgbClr val="D71920"/>
            </a:solidFill>
            <a:tailEnd type="triangle"/>
          </a:ln>
        </p:spPr>
      </p:sp>
      <p:sp>
        <p:nvSpPr>
          <p:cNvPr id="50" name="Shape 50">
            <a:extLst>
              <a:ext uri="{FF2B5EF4-FFF2-40B4-BE49-F238E27FC236}">
                <a16:creationId xmlns:a16="http://schemas.microsoft.com/office/drawing/2014/main" id="{6B3D9890-F689-485D-8025-D0BF35E0222F}"/>
              </a:ext>
            </a:extLst>
          </p:cNvPr>
          <p:cNvSpPr>
            <a:spLocks noGrp="1"/>
          </p:cNvSpPr>
          <p:nvPr/>
        </p:nvSpPr>
        <p:spPr>
          <a:xfrm>
            <a:off x="1676400" y="5143500"/>
            <a:ext cx="8001000" cy="685800"/>
          </a:xfrm>
          <a:prstGeom prst="roundRect">
            <a:avLst/>
          </a:prstGeom>
          <a:solidFill>
            <a:srgbClr val="17212B"/>
          </a:solidFill>
          <a:ln w="12700">
            <a:solidFill>
              <a:srgbClr val="17212B"/>
            </a:solidFill>
          </a:ln>
        </p:spPr>
      </p:sp>
      <p:sp>
        <p:nvSpPr>
          <p:cNvPr id="51" name="Text 51">
            <a:extLst>
              <a:ext uri="{FF2B5EF4-FFF2-40B4-BE49-F238E27FC236}">
                <a16:creationId xmlns:a16="http://schemas.microsoft.com/office/drawing/2014/main" id="{9515208A-7539-4D13-9C15-9466B19F1980}"/>
              </a:ext>
            </a:extLst>
          </p:cNvPr>
          <p:cNvSpPr>
            <a:spLocks noGrp="1"/>
          </p:cNvSpPr>
          <p:nvPr/>
        </p:nvSpPr>
        <p:spPr>
          <a:xfrm>
            <a:off x="1943100" y="5276850"/>
            <a:ext cx="7467600" cy="419100"/>
          </a:xfrm>
          <a:prstGeom prst="rect">
            <a:avLst/>
          </a:prstGeom>
          <a:noFill/>
          <a:ln>
            <a:noFill/>
          </a:ln>
        </p:spPr>
        <p:txBody>
          <a:bodyPr wrap="square" lIns="0" tIns="0" rIns="0" bIns="0" anchor="ctr"/>
          <a:lstStyle/>
          <a:p>
            <a:pPr algn="ctr">
              <a:buNone/>
            </a:pPr>
            <a:r>
              <a:rPr sz="1700" b="1">
                <a:solidFill>
                  <a:srgbClr val="FFFFFF"/>
                </a:solidFill>
                <a:latin typeface="Arial"/>
                <a:ea typeface="Arial"/>
                <a:cs typeface="Arial"/>
              </a:rPr>
              <a:t>Forest output = mean of 31 uniform tree votes for REVIEW_ELEVATED</a:t>
            </a:r>
            <a:endParaRPr sz="1700"/>
          </a:p>
        </p:txBody>
      </p:sp>
      <p:sp>
        <p:nvSpPr>
          <p:cNvPr id="52" name="Text 52">
            <a:extLst>
              <a:ext uri="{FF2B5EF4-FFF2-40B4-BE49-F238E27FC236}">
                <a16:creationId xmlns:a16="http://schemas.microsoft.com/office/drawing/2014/main" id="{2BE97C02-4B8E-4D7F-83C6-A96C72798BF9}"/>
              </a:ext>
            </a:extLst>
          </p:cNvPr>
          <p:cNvSpPr>
            <a:spLocks noGrp="1"/>
          </p:cNvSpPr>
          <p:nvPr/>
        </p:nvSpPr>
        <p:spPr>
          <a:xfrm>
            <a:off x="819150" y="4705350"/>
            <a:ext cx="2286000" cy="190500"/>
          </a:xfrm>
          <a:prstGeom prst="rect">
            <a:avLst/>
          </a:prstGeom>
          <a:noFill/>
          <a:ln>
            <a:noFill/>
          </a:ln>
        </p:spPr>
        <p:txBody>
          <a:bodyPr wrap="square" lIns="0" tIns="0" rIns="0" bIns="0" anchor="t"/>
          <a:lstStyle/>
          <a:p>
            <a:pPr algn="ctr">
              <a:buNone/>
            </a:pPr>
            <a:r>
              <a:rPr sz="1000" b="1">
                <a:solidFill>
                  <a:srgbClr val="5D6873"/>
                </a:solidFill>
                <a:latin typeface="Arial"/>
                <a:ea typeface="Arial"/>
                <a:cs typeface="Arial"/>
              </a:rPr>
              <a:t>Three representative trees shown</a:t>
            </a:r>
            <a:endParaRPr sz="1000"/>
          </a:p>
        </p:txBody>
      </p:sp>
      <p:sp>
        <p:nvSpPr>
          <p:cNvPr id="53" name="Text 53">
            <a:extLst>
              <a:ext uri="{FF2B5EF4-FFF2-40B4-BE49-F238E27FC236}">
                <a16:creationId xmlns:a16="http://schemas.microsoft.com/office/drawing/2014/main" id="{01EB1ABE-62E1-497C-8604-07EFA79C73BD}"/>
              </a:ext>
            </a:extLst>
          </p:cNvPr>
          <p:cNvSpPr>
            <a:spLocks noGrp="1"/>
          </p:cNvSpPr>
          <p:nvPr/>
        </p:nvSpPr>
        <p:spPr>
          <a:xfrm>
            <a:off x="1676400" y="5943600"/>
            <a:ext cx="8001000" cy="228600"/>
          </a:xfrm>
          <a:prstGeom prst="rect">
            <a:avLst/>
          </a:prstGeom>
          <a:noFill/>
          <a:ln>
            <a:noFill/>
          </a:ln>
        </p:spPr>
        <p:txBody>
          <a:bodyPr wrap="square" lIns="0" tIns="0" rIns="0" bIns="0" anchor="t"/>
          <a:lstStyle/>
          <a:p>
            <a:pPr algn="ctr">
              <a:buNone/>
            </a:pPr>
            <a:r>
              <a:rPr sz="1400" b="1">
                <a:solidFill>
                  <a:srgbClr val="981B1E"/>
                </a:solidFill>
                <a:latin typeface="Arial"/>
                <a:ea typeface="Arial"/>
                <a:cs typeface="Arial"/>
              </a:rPr>
              <a:t>Vote share, not a calibrated probability · synthetic training only</a:t>
            </a:r>
            <a:endParaRPr sz="1400"/>
          </a:p>
        </p:txBody>
      </p:sp>
      <p:sp>
        <p:nvSpPr>
          <p:cNvPr id="54" name="Connector 54">
            <a:extLst>
              <a:ext uri="{FF2B5EF4-FFF2-40B4-BE49-F238E27FC236}">
                <a16:creationId xmlns:a16="http://schemas.microsoft.com/office/drawing/2014/main" id="{42194C6F-CEFA-410F-A566-35BC4294C4BD}"/>
              </a:ext>
            </a:extLst>
          </p:cNvPr>
          <p:cNvSpPr>
            <a:spLocks noGrp="1"/>
          </p:cNvSpPr>
          <p:nvPr/>
        </p:nvSpPr>
        <p:spPr>
          <a:xfrm>
            <a:off x="552450" y="6419850"/>
            <a:ext cx="11087100" cy="0"/>
          </a:xfrm>
          <a:prstGeom prst="line">
            <a:avLst/>
          </a:prstGeom>
          <a:ln w="12700">
            <a:solidFill>
              <a:srgbClr val="BFC5CB"/>
            </a:solidFill>
          </a:ln>
        </p:spPr>
      </p:sp>
      <p:sp>
        <p:nvSpPr>
          <p:cNvPr id="55" name="Text 55">
            <a:extLst>
              <a:ext uri="{FF2B5EF4-FFF2-40B4-BE49-F238E27FC236}">
                <a16:creationId xmlns:a16="http://schemas.microsoft.com/office/drawing/2014/main" id="{5E4F6BF1-0DA5-4800-8EDB-1119D9596139}"/>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56" name="Text 56">
            <a:extLst>
              <a:ext uri="{FF2B5EF4-FFF2-40B4-BE49-F238E27FC236}">
                <a16:creationId xmlns:a16="http://schemas.microsoft.com/office/drawing/2014/main" id="{BC2739D8-2799-41C8-8B53-5E203F815583}"/>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F</a:t>
            </a:r>
            <a:endParaRPr sz="1000"/>
          </a:p>
        </p:txBody>
      </p:sp>
    </p:spTree>
    <p:extLst>
      <p:ext uri="{BB962C8B-B14F-4D97-AF65-F5344CB8AC3E}">
        <p14:creationId xmlns:p14="http://schemas.microsoft.com/office/powerpoint/2010/main" val="37342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10E7BD28-94DC-4B62-B226-A95730767ADC}"/>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APPENDIX G</a:t>
            </a:r>
            <a:endParaRPr sz="1100"/>
          </a:p>
        </p:txBody>
      </p:sp>
      <p:sp>
        <p:nvSpPr>
          <p:cNvPr id="3" name="Text 3">
            <a:extLst>
              <a:ext uri="{FF2B5EF4-FFF2-40B4-BE49-F238E27FC236}">
                <a16:creationId xmlns:a16="http://schemas.microsoft.com/office/drawing/2014/main" id="{0F77AEFA-184A-4C3C-8ADC-09D527ECFC9A}"/>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Stage 3 backend choice changes execution while preserving context and output contracts</a:t>
            </a:r>
            <a:endParaRPr sz="3000"/>
          </a:p>
        </p:txBody>
      </p:sp>
      <p:sp>
        <p:nvSpPr>
          <p:cNvPr id="4" name="Text 4">
            <a:extLst>
              <a:ext uri="{FF2B5EF4-FFF2-40B4-BE49-F238E27FC236}">
                <a16:creationId xmlns:a16="http://schemas.microsoft.com/office/drawing/2014/main" id="{58D7BCA3-302D-4F7A-B40E-32EA14FB4405}"/>
              </a:ext>
            </a:extLst>
          </p:cNvPr>
          <p:cNvSpPr>
            <a:spLocks noGrp="1"/>
          </p:cNvSpPr>
          <p:nvPr/>
        </p:nvSpPr>
        <p:spPr>
          <a:xfrm>
            <a:off x="8420100" y="1066800"/>
            <a:ext cx="3219450" cy="266700"/>
          </a:xfrm>
          <a:prstGeom prst="rect">
            <a:avLst/>
          </a:prstGeom>
          <a:noFill/>
          <a:ln>
            <a:noFill/>
          </a:ln>
        </p:spPr>
        <p:txBody>
          <a:bodyPr wrap="square" lIns="0" tIns="0" rIns="0" bIns="0" anchor="t"/>
          <a:lstStyle/>
          <a:p>
            <a:pPr algn="r">
              <a:buNone/>
            </a:pPr>
            <a:r>
              <a:rPr sz="1100" b="1" spc="90">
                <a:solidFill>
                  <a:srgbClr val="1F7A5A"/>
                </a:solidFill>
                <a:latin typeface="Arial"/>
                <a:ea typeface="Arial"/>
                <a:cs typeface="Arial"/>
              </a:rPr>
              <a:t>TYPED SELECTION · DELIVERED</a:t>
            </a:r>
            <a:endParaRPr sz="1100"/>
          </a:p>
        </p:txBody>
      </p:sp>
      <p:sp>
        <p:nvSpPr>
          <p:cNvPr id="5" name="Connector 5">
            <a:extLst>
              <a:ext uri="{FF2B5EF4-FFF2-40B4-BE49-F238E27FC236}">
                <a16:creationId xmlns:a16="http://schemas.microsoft.com/office/drawing/2014/main" id="{6AFB18F1-2CEC-496B-89F0-1E0A58064464}"/>
              </a:ext>
            </a:extLst>
          </p:cNvPr>
          <p:cNvSpPr>
            <a:spLocks noGrp="1"/>
          </p:cNvSpPr>
          <p:nvPr/>
        </p:nvSpPr>
        <p:spPr>
          <a:xfrm>
            <a:off x="2571750" y="3257550"/>
            <a:ext cx="876300" cy="0"/>
          </a:xfrm>
          <a:prstGeom prst="line">
            <a:avLst/>
          </a:prstGeom>
          <a:ln w="38100">
            <a:solidFill>
              <a:srgbClr val="D71920"/>
            </a:solidFill>
            <a:tailEnd type="triangle"/>
          </a:ln>
        </p:spPr>
      </p:sp>
      <p:sp>
        <p:nvSpPr>
          <p:cNvPr id="6" name="Connector 6">
            <a:extLst>
              <a:ext uri="{FF2B5EF4-FFF2-40B4-BE49-F238E27FC236}">
                <a16:creationId xmlns:a16="http://schemas.microsoft.com/office/drawing/2014/main" id="{B589C16E-ABB8-4632-A123-26CF5AC8DB42}"/>
              </a:ext>
            </a:extLst>
          </p:cNvPr>
          <p:cNvSpPr>
            <a:spLocks noGrp="1"/>
          </p:cNvSpPr>
          <p:nvPr/>
        </p:nvSpPr>
        <p:spPr>
          <a:xfrm flipV="1">
            <a:off x="5429250" y="2247900"/>
            <a:ext cx="781050" cy="1009650"/>
          </a:xfrm>
          <a:prstGeom prst="line">
            <a:avLst/>
          </a:prstGeom>
          <a:ln w="25400">
            <a:solidFill>
              <a:srgbClr val="1F7A5A"/>
            </a:solidFill>
            <a:tailEnd type="triangle"/>
          </a:ln>
        </p:spPr>
      </p:sp>
      <p:sp>
        <p:nvSpPr>
          <p:cNvPr id="7" name="Connector 7">
            <a:extLst>
              <a:ext uri="{FF2B5EF4-FFF2-40B4-BE49-F238E27FC236}">
                <a16:creationId xmlns:a16="http://schemas.microsoft.com/office/drawing/2014/main" id="{2BBD19C0-32A0-4939-BF9C-DFBF1211BD2A}"/>
              </a:ext>
            </a:extLst>
          </p:cNvPr>
          <p:cNvSpPr>
            <a:spLocks noGrp="1"/>
          </p:cNvSpPr>
          <p:nvPr/>
        </p:nvSpPr>
        <p:spPr>
          <a:xfrm>
            <a:off x="5429250" y="3257550"/>
            <a:ext cx="781050" cy="0"/>
          </a:xfrm>
          <a:prstGeom prst="line">
            <a:avLst/>
          </a:prstGeom>
          <a:ln w="25400">
            <a:solidFill>
              <a:srgbClr val="2A5B84"/>
            </a:solidFill>
            <a:tailEnd type="triangle"/>
          </a:ln>
        </p:spPr>
      </p:sp>
      <p:sp>
        <p:nvSpPr>
          <p:cNvPr id="8" name="Connector 8">
            <a:extLst>
              <a:ext uri="{FF2B5EF4-FFF2-40B4-BE49-F238E27FC236}">
                <a16:creationId xmlns:a16="http://schemas.microsoft.com/office/drawing/2014/main" id="{9C5C606B-8923-41A2-B997-0C8DA64924E8}"/>
              </a:ext>
            </a:extLst>
          </p:cNvPr>
          <p:cNvSpPr>
            <a:spLocks noGrp="1"/>
          </p:cNvSpPr>
          <p:nvPr/>
        </p:nvSpPr>
        <p:spPr>
          <a:xfrm>
            <a:off x="5429250" y="3257550"/>
            <a:ext cx="781050" cy="1009650"/>
          </a:xfrm>
          <a:prstGeom prst="line">
            <a:avLst/>
          </a:prstGeom>
          <a:ln w="25400">
            <a:solidFill>
              <a:srgbClr val="B46B13"/>
            </a:solidFill>
            <a:tailEnd type="triangle"/>
          </a:ln>
        </p:spPr>
      </p:sp>
      <p:sp>
        <p:nvSpPr>
          <p:cNvPr id="9" name="Connector 9">
            <a:extLst>
              <a:ext uri="{FF2B5EF4-FFF2-40B4-BE49-F238E27FC236}">
                <a16:creationId xmlns:a16="http://schemas.microsoft.com/office/drawing/2014/main" id="{BD8F2D71-08D9-4AE0-A538-3F33A05821C3}"/>
              </a:ext>
            </a:extLst>
          </p:cNvPr>
          <p:cNvSpPr>
            <a:spLocks noGrp="1"/>
          </p:cNvSpPr>
          <p:nvPr/>
        </p:nvSpPr>
        <p:spPr>
          <a:xfrm>
            <a:off x="8591550" y="2247900"/>
            <a:ext cx="666750" cy="1009650"/>
          </a:xfrm>
          <a:prstGeom prst="line">
            <a:avLst/>
          </a:prstGeom>
          <a:ln w="25400">
            <a:solidFill>
              <a:srgbClr val="1F7A5A"/>
            </a:solidFill>
            <a:tailEnd type="triangle"/>
          </a:ln>
        </p:spPr>
      </p:sp>
      <p:sp>
        <p:nvSpPr>
          <p:cNvPr id="10" name="Connector 10">
            <a:extLst>
              <a:ext uri="{FF2B5EF4-FFF2-40B4-BE49-F238E27FC236}">
                <a16:creationId xmlns:a16="http://schemas.microsoft.com/office/drawing/2014/main" id="{698494B6-BFBC-43F9-A251-15124ECECCEA}"/>
              </a:ext>
            </a:extLst>
          </p:cNvPr>
          <p:cNvSpPr>
            <a:spLocks noGrp="1"/>
          </p:cNvSpPr>
          <p:nvPr/>
        </p:nvSpPr>
        <p:spPr>
          <a:xfrm>
            <a:off x="8591550" y="3257550"/>
            <a:ext cx="666750" cy="0"/>
          </a:xfrm>
          <a:prstGeom prst="line">
            <a:avLst/>
          </a:prstGeom>
          <a:ln w="25400">
            <a:solidFill>
              <a:srgbClr val="2A5B84"/>
            </a:solidFill>
            <a:tailEnd type="triangle"/>
          </a:ln>
        </p:spPr>
      </p:sp>
      <p:sp>
        <p:nvSpPr>
          <p:cNvPr id="11" name="Connector 11">
            <a:extLst>
              <a:ext uri="{FF2B5EF4-FFF2-40B4-BE49-F238E27FC236}">
                <a16:creationId xmlns:a16="http://schemas.microsoft.com/office/drawing/2014/main" id="{99B51679-A98F-444F-B06D-B77C27BE1C54}"/>
              </a:ext>
            </a:extLst>
          </p:cNvPr>
          <p:cNvSpPr>
            <a:spLocks noGrp="1"/>
          </p:cNvSpPr>
          <p:nvPr/>
        </p:nvSpPr>
        <p:spPr>
          <a:xfrm flipV="1">
            <a:off x="8591550" y="3257550"/>
            <a:ext cx="666750" cy="1009650"/>
          </a:xfrm>
          <a:prstGeom prst="line">
            <a:avLst/>
          </a:prstGeom>
          <a:ln w="25400">
            <a:solidFill>
              <a:srgbClr val="B46B13"/>
            </a:solidFill>
            <a:tailEnd type="triangle"/>
          </a:ln>
        </p:spPr>
      </p:sp>
      <p:sp>
        <p:nvSpPr>
          <p:cNvPr id="12" name="Shape 12">
            <a:extLst>
              <a:ext uri="{FF2B5EF4-FFF2-40B4-BE49-F238E27FC236}">
                <a16:creationId xmlns:a16="http://schemas.microsoft.com/office/drawing/2014/main" id="{5641D9FD-CF23-4FF5-8782-6819DE07D11B}"/>
              </a:ext>
            </a:extLst>
          </p:cNvPr>
          <p:cNvSpPr>
            <a:spLocks noGrp="1"/>
          </p:cNvSpPr>
          <p:nvPr/>
        </p:nvSpPr>
        <p:spPr>
          <a:xfrm>
            <a:off x="571500" y="2495550"/>
            <a:ext cx="2000250" cy="1524000"/>
          </a:xfrm>
          <a:prstGeom prst="roundRect">
            <a:avLst/>
          </a:prstGeom>
          <a:solidFill>
            <a:srgbClr val="F4F6F8"/>
          </a:solidFill>
          <a:ln w="25400">
            <a:solidFill>
              <a:srgbClr val="17212B"/>
            </a:solidFill>
          </a:ln>
        </p:spPr>
      </p:sp>
      <p:sp>
        <p:nvSpPr>
          <p:cNvPr id="13" name="Shape 13">
            <a:extLst>
              <a:ext uri="{FF2B5EF4-FFF2-40B4-BE49-F238E27FC236}">
                <a16:creationId xmlns:a16="http://schemas.microsoft.com/office/drawing/2014/main" id="{3937BB04-8267-45C0-B626-DC4D848BCA1D}"/>
              </a:ext>
            </a:extLst>
          </p:cNvPr>
          <p:cNvSpPr>
            <a:spLocks noGrp="1"/>
          </p:cNvSpPr>
          <p:nvPr/>
        </p:nvSpPr>
        <p:spPr>
          <a:xfrm>
            <a:off x="1276350" y="2647950"/>
            <a:ext cx="590550" cy="590550"/>
          </a:xfrm>
          <a:prstGeom prst="roundRect">
            <a:avLst/>
          </a:prstGeom>
          <a:solidFill>
            <a:srgbClr val="FFFFFF"/>
          </a:solidFill>
          <a:ln w="19050">
            <a:solidFill>
              <a:srgbClr val="17212B"/>
            </a:solidFill>
          </a:ln>
        </p:spPr>
      </p:sp>
      <p:pic>
        <p:nvPicPr>
          <p:cNvPr id="69" name="Picture 14"/>
          <p:cNvPicPr>
            <a:picLocks noChangeAspect="1"/>
          </p:cNvPicPr>
          <p:nvPr/>
        </p:nvPicPr>
        <p:blipFill>
          <a:blip r:embed="rId3"/>
          <a:stretch>
            <a:fillRect/>
          </a:stretch>
        </p:blipFill>
        <p:spPr>
          <a:xfrm>
            <a:off x="1428750" y="2800350"/>
            <a:ext cx="285750" cy="285750"/>
          </a:xfrm>
          <a:prstGeom prst="rect">
            <a:avLst/>
          </a:prstGeom>
          <a:ln>
            <a:noFill/>
          </a:ln>
        </p:spPr>
      </p:pic>
      <p:sp>
        <p:nvSpPr>
          <p:cNvPr id="15" name="Text 15">
            <a:extLst>
              <a:ext uri="{FF2B5EF4-FFF2-40B4-BE49-F238E27FC236}">
                <a16:creationId xmlns:a16="http://schemas.microsoft.com/office/drawing/2014/main" id="{16EAC1D0-C6C6-4599-A0E8-DE389B98537D}"/>
              </a:ext>
            </a:extLst>
          </p:cNvPr>
          <p:cNvSpPr>
            <a:spLocks noGrp="1"/>
          </p:cNvSpPr>
          <p:nvPr/>
        </p:nvSpPr>
        <p:spPr>
          <a:xfrm>
            <a:off x="762000" y="3314700"/>
            <a:ext cx="1619250" cy="400050"/>
          </a:xfrm>
          <a:prstGeom prst="rect">
            <a:avLst/>
          </a:prstGeom>
          <a:noFill/>
          <a:ln>
            <a:noFill/>
          </a:ln>
        </p:spPr>
        <p:txBody>
          <a:bodyPr wrap="square" lIns="0" tIns="0" rIns="0" bIns="0" anchor="t"/>
          <a:lstStyle/>
          <a:p>
            <a:pPr algn="ctr">
              <a:buNone/>
            </a:pPr>
            <a:r>
              <a:rPr sz="1400" b="1">
                <a:solidFill>
                  <a:srgbClr val="17212B"/>
                </a:solidFill>
                <a:latin typeface="Arial"/>
                <a:ea typeface="Arial"/>
                <a:cs typeface="Arial"/>
              </a:rPr>
              <a:t>EVIDENCE</a:t>
            </a:r>
            <a:endParaRPr sz="1400"/>
          </a:p>
          <a:p>
            <a:pPr algn="ctr">
              <a:buNone/>
            </a:pPr>
            <a:r>
              <a:rPr sz="1400" b="1">
                <a:solidFill>
                  <a:srgbClr val="17212B"/>
                </a:solidFill>
                <a:latin typeface="Arial"/>
                <a:ea typeface="Arial"/>
                <a:cs typeface="Arial"/>
              </a:rPr>
              <a:t>ENVELOPE</a:t>
            </a:r>
            <a:endParaRPr sz="1400"/>
          </a:p>
        </p:txBody>
      </p:sp>
      <p:sp>
        <p:nvSpPr>
          <p:cNvPr id="16" name="Text 16">
            <a:extLst>
              <a:ext uri="{FF2B5EF4-FFF2-40B4-BE49-F238E27FC236}">
                <a16:creationId xmlns:a16="http://schemas.microsoft.com/office/drawing/2014/main" id="{30513754-C047-4522-A0BC-F57141EC1BE0}"/>
              </a:ext>
            </a:extLst>
          </p:cNvPr>
          <p:cNvSpPr>
            <a:spLocks noGrp="1"/>
          </p:cNvSpPr>
          <p:nvPr/>
        </p:nvSpPr>
        <p:spPr>
          <a:xfrm>
            <a:off x="762000" y="3790950"/>
            <a:ext cx="1619250" cy="152400"/>
          </a:xfrm>
          <a:prstGeom prst="rect">
            <a:avLst/>
          </a:prstGeom>
          <a:noFill/>
          <a:ln>
            <a:noFill/>
          </a:ln>
        </p:spPr>
        <p:txBody>
          <a:bodyPr wrap="square" lIns="0" tIns="0" rIns="0" bIns="0" anchor="t"/>
          <a:lstStyle/>
          <a:p>
            <a:pPr algn="ctr">
              <a:buNone/>
            </a:pPr>
            <a:r>
              <a:rPr sz="1000" b="0">
                <a:solidFill>
                  <a:srgbClr val="5D6873"/>
                </a:solidFill>
                <a:latin typeface="Arial"/>
                <a:ea typeface="Arial"/>
                <a:cs typeface="Arial"/>
              </a:rPr>
              <a:t>source, detector and policy</a:t>
            </a:r>
            <a:endParaRPr sz="1000"/>
          </a:p>
        </p:txBody>
      </p:sp>
      <p:sp>
        <p:nvSpPr>
          <p:cNvPr id="17" name="Shape 17">
            <a:extLst>
              <a:ext uri="{FF2B5EF4-FFF2-40B4-BE49-F238E27FC236}">
                <a16:creationId xmlns:a16="http://schemas.microsoft.com/office/drawing/2014/main" id="{A63C48A4-1283-4651-AB7B-B8D9AC0E05D6}"/>
              </a:ext>
            </a:extLst>
          </p:cNvPr>
          <p:cNvSpPr>
            <a:spLocks noGrp="1"/>
          </p:cNvSpPr>
          <p:nvPr/>
        </p:nvSpPr>
        <p:spPr>
          <a:xfrm>
            <a:off x="3448050" y="2495550"/>
            <a:ext cx="1981200" cy="1524000"/>
          </a:xfrm>
          <a:prstGeom prst="roundRect">
            <a:avLst/>
          </a:prstGeom>
          <a:solidFill>
            <a:srgbClr val="FCEBEC"/>
          </a:solidFill>
          <a:ln w="25400">
            <a:solidFill>
              <a:srgbClr val="D71920"/>
            </a:solidFill>
          </a:ln>
        </p:spPr>
      </p:sp>
      <p:sp>
        <p:nvSpPr>
          <p:cNvPr id="18" name="Shape 18">
            <a:extLst>
              <a:ext uri="{FF2B5EF4-FFF2-40B4-BE49-F238E27FC236}">
                <a16:creationId xmlns:a16="http://schemas.microsoft.com/office/drawing/2014/main" id="{FB0A7842-AE0F-40E6-8519-24E525662FAA}"/>
              </a:ext>
            </a:extLst>
          </p:cNvPr>
          <p:cNvSpPr>
            <a:spLocks noGrp="1"/>
          </p:cNvSpPr>
          <p:nvPr/>
        </p:nvSpPr>
        <p:spPr>
          <a:xfrm>
            <a:off x="4143375" y="2647950"/>
            <a:ext cx="590550" cy="590550"/>
          </a:xfrm>
          <a:prstGeom prst="roundRect">
            <a:avLst/>
          </a:prstGeom>
          <a:solidFill>
            <a:srgbClr val="FFFFFF"/>
          </a:solidFill>
          <a:ln w="19050">
            <a:solidFill>
              <a:srgbClr val="981B1E"/>
            </a:solidFill>
          </a:ln>
        </p:spPr>
      </p:sp>
      <p:pic>
        <p:nvPicPr>
          <p:cNvPr id="74" name="Picture 19"/>
          <p:cNvPicPr>
            <a:picLocks noChangeAspect="1"/>
          </p:cNvPicPr>
          <p:nvPr/>
        </p:nvPicPr>
        <p:blipFill>
          <a:blip r:embed="rId4"/>
          <a:stretch>
            <a:fillRect/>
          </a:stretch>
        </p:blipFill>
        <p:spPr>
          <a:xfrm>
            <a:off x="4295775" y="2800350"/>
            <a:ext cx="285750" cy="285750"/>
          </a:xfrm>
          <a:prstGeom prst="rect">
            <a:avLst/>
          </a:prstGeom>
          <a:ln>
            <a:noFill/>
          </a:ln>
        </p:spPr>
      </p:pic>
      <p:sp>
        <p:nvSpPr>
          <p:cNvPr id="20" name="Text 20">
            <a:extLst>
              <a:ext uri="{FF2B5EF4-FFF2-40B4-BE49-F238E27FC236}">
                <a16:creationId xmlns:a16="http://schemas.microsoft.com/office/drawing/2014/main" id="{CBC3448B-B7FC-4748-88C7-0F1DE2B881E6}"/>
              </a:ext>
            </a:extLst>
          </p:cNvPr>
          <p:cNvSpPr>
            <a:spLocks noGrp="1"/>
          </p:cNvSpPr>
          <p:nvPr/>
        </p:nvSpPr>
        <p:spPr>
          <a:xfrm>
            <a:off x="3638550" y="3333750"/>
            <a:ext cx="1600200" cy="266700"/>
          </a:xfrm>
          <a:prstGeom prst="rect">
            <a:avLst/>
          </a:prstGeom>
          <a:noFill/>
          <a:ln>
            <a:noFill/>
          </a:ln>
        </p:spPr>
        <p:txBody>
          <a:bodyPr wrap="square" lIns="0" tIns="0" rIns="0" bIns="0" anchor="t"/>
          <a:lstStyle/>
          <a:p>
            <a:pPr algn="ctr">
              <a:buNone/>
            </a:pPr>
            <a:r>
              <a:rPr sz="1400" b="1">
                <a:solidFill>
                  <a:srgbClr val="981B1E"/>
                </a:solidFill>
                <a:latin typeface="Arial"/>
                <a:ea typeface="Arial"/>
                <a:cs typeface="Arial"/>
              </a:rPr>
              <a:t>TYPED FACTORY</a:t>
            </a:r>
            <a:endParaRPr sz="1400"/>
          </a:p>
        </p:txBody>
      </p:sp>
      <p:sp>
        <p:nvSpPr>
          <p:cNvPr id="21" name="Text 21">
            <a:extLst>
              <a:ext uri="{FF2B5EF4-FFF2-40B4-BE49-F238E27FC236}">
                <a16:creationId xmlns:a16="http://schemas.microsoft.com/office/drawing/2014/main" id="{4DCA23DB-0D70-4773-BADA-396E419BC7A8}"/>
              </a:ext>
            </a:extLst>
          </p:cNvPr>
          <p:cNvSpPr>
            <a:spLocks noGrp="1"/>
          </p:cNvSpPr>
          <p:nvPr/>
        </p:nvSpPr>
        <p:spPr>
          <a:xfrm>
            <a:off x="3638550" y="3676650"/>
            <a:ext cx="1600200" cy="266700"/>
          </a:xfrm>
          <a:prstGeom prst="rect">
            <a:avLst/>
          </a:prstGeom>
          <a:noFill/>
          <a:ln>
            <a:noFill/>
          </a:ln>
        </p:spPr>
        <p:txBody>
          <a:bodyPr wrap="square" lIns="0" tIns="0" rIns="0" bIns="0" anchor="t"/>
          <a:lstStyle/>
          <a:p>
            <a:pPr algn="ctr">
              <a:buNone/>
            </a:pPr>
            <a:r>
              <a:rPr sz="1000" b="0">
                <a:solidFill>
                  <a:srgbClr val="17212B"/>
                </a:solidFill>
                <a:latin typeface="Arial"/>
                <a:ea typeface="Arial"/>
                <a:cs typeface="Arial"/>
              </a:rPr>
              <a:t>identity and capability checks</a:t>
            </a:r>
            <a:endParaRPr sz="1000"/>
          </a:p>
        </p:txBody>
      </p:sp>
      <p:sp>
        <p:nvSpPr>
          <p:cNvPr id="22" name="Shape 22">
            <a:extLst>
              <a:ext uri="{FF2B5EF4-FFF2-40B4-BE49-F238E27FC236}">
                <a16:creationId xmlns:a16="http://schemas.microsoft.com/office/drawing/2014/main" id="{F1F328D4-317D-4E15-8BB8-D5DBDCE7F409}"/>
              </a:ext>
            </a:extLst>
          </p:cNvPr>
          <p:cNvSpPr>
            <a:spLocks noGrp="1"/>
          </p:cNvSpPr>
          <p:nvPr/>
        </p:nvSpPr>
        <p:spPr>
          <a:xfrm>
            <a:off x="6210300" y="1866900"/>
            <a:ext cx="2381250" cy="762000"/>
          </a:xfrm>
          <a:prstGeom prst="roundRect">
            <a:avLst/>
          </a:prstGeom>
          <a:solidFill>
            <a:srgbClr val="FFFFFF"/>
          </a:solidFill>
          <a:ln w="25400">
            <a:solidFill>
              <a:srgbClr val="1F7A5A"/>
            </a:solidFill>
          </a:ln>
        </p:spPr>
      </p:sp>
      <p:sp>
        <p:nvSpPr>
          <p:cNvPr id="23" name="Shape 23">
            <a:extLst>
              <a:ext uri="{FF2B5EF4-FFF2-40B4-BE49-F238E27FC236}">
                <a16:creationId xmlns:a16="http://schemas.microsoft.com/office/drawing/2014/main" id="{94C744DB-FA35-4F8B-AFC5-61CA9FE4B05C}"/>
              </a:ext>
            </a:extLst>
          </p:cNvPr>
          <p:cNvSpPr>
            <a:spLocks noGrp="1"/>
          </p:cNvSpPr>
          <p:nvPr/>
        </p:nvSpPr>
        <p:spPr>
          <a:xfrm>
            <a:off x="6343650" y="2009775"/>
            <a:ext cx="476250" cy="476250"/>
          </a:xfrm>
          <a:prstGeom prst="roundRect">
            <a:avLst/>
          </a:prstGeom>
          <a:solidFill>
            <a:srgbClr val="F4F6F8"/>
          </a:solidFill>
          <a:ln w="19050">
            <a:solidFill>
              <a:srgbClr val="1F7A5A"/>
            </a:solidFill>
          </a:ln>
        </p:spPr>
      </p:sp>
      <p:pic>
        <p:nvPicPr>
          <p:cNvPr id="79" name="Picture 24"/>
          <p:cNvPicPr>
            <a:picLocks noChangeAspect="1"/>
          </p:cNvPicPr>
          <p:nvPr/>
        </p:nvPicPr>
        <p:blipFill>
          <a:blip r:embed="rId5"/>
          <a:stretch>
            <a:fillRect/>
          </a:stretch>
        </p:blipFill>
        <p:spPr>
          <a:xfrm>
            <a:off x="6467475" y="2133600"/>
            <a:ext cx="228600" cy="228600"/>
          </a:xfrm>
          <a:prstGeom prst="rect">
            <a:avLst/>
          </a:prstGeom>
          <a:ln>
            <a:noFill/>
          </a:ln>
        </p:spPr>
      </p:pic>
      <p:sp>
        <p:nvSpPr>
          <p:cNvPr id="25" name="Text 25">
            <a:extLst>
              <a:ext uri="{FF2B5EF4-FFF2-40B4-BE49-F238E27FC236}">
                <a16:creationId xmlns:a16="http://schemas.microsoft.com/office/drawing/2014/main" id="{1FEAB435-774B-47AC-A67B-BCA655CBE306}"/>
              </a:ext>
            </a:extLst>
          </p:cNvPr>
          <p:cNvSpPr>
            <a:spLocks noGrp="1"/>
          </p:cNvSpPr>
          <p:nvPr/>
        </p:nvSpPr>
        <p:spPr>
          <a:xfrm>
            <a:off x="6972300" y="1962150"/>
            <a:ext cx="1447800" cy="228600"/>
          </a:xfrm>
          <a:prstGeom prst="rect">
            <a:avLst/>
          </a:prstGeom>
          <a:noFill/>
          <a:ln>
            <a:noFill/>
          </a:ln>
        </p:spPr>
        <p:txBody>
          <a:bodyPr wrap="square" lIns="0" tIns="0" rIns="0" bIns="0" anchor="t"/>
          <a:lstStyle/>
          <a:p>
            <a:pPr algn="l">
              <a:buNone/>
            </a:pPr>
            <a:r>
              <a:rPr sz="1400" b="1">
                <a:solidFill>
                  <a:srgbClr val="1F7A5A"/>
                </a:solidFill>
                <a:latin typeface="Arial"/>
                <a:ea typeface="Arial"/>
                <a:cs typeface="Arial"/>
              </a:rPr>
              <a:t>DETERMINISTIC</a:t>
            </a:r>
            <a:endParaRPr sz="1400"/>
          </a:p>
        </p:txBody>
      </p:sp>
      <p:sp>
        <p:nvSpPr>
          <p:cNvPr id="26" name="Text 26">
            <a:extLst>
              <a:ext uri="{FF2B5EF4-FFF2-40B4-BE49-F238E27FC236}">
                <a16:creationId xmlns:a16="http://schemas.microsoft.com/office/drawing/2014/main" id="{A311032B-0F80-40D6-8433-E769C949C598}"/>
              </a:ext>
            </a:extLst>
          </p:cNvPr>
          <p:cNvSpPr>
            <a:spLocks noGrp="1"/>
          </p:cNvSpPr>
          <p:nvPr/>
        </p:nvSpPr>
        <p:spPr>
          <a:xfrm>
            <a:off x="6972300" y="2266950"/>
            <a:ext cx="1447800" cy="209550"/>
          </a:xfrm>
          <a:prstGeom prst="rect">
            <a:avLst/>
          </a:prstGeom>
          <a:noFill/>
          <a:ln>
            <a:noFill/>
          </a:ln>
        </p:spPr>
        <p:txBody>
          <a:bodyPr wrap="square" lIns="0" tIns="0" rIns="0" bIns="0" anchor="t"/>
          <a:lstStyle/>
          <a:p>
            <a:pPr algn="l">
              <a:buNone/>
            </a:pPr>
            <a:r>
              <a:rPr sz="1200" b="0">
                <a:solidFill>
                  <a:srgbClr val="5D6873"/>
                </a:solidFill>
                <a:latin typeface="Arial"/>
                <a:ea typeface="Arial"/>
                <a:cs typeface="Arial"/>
              </a:rPr>
              <a:t>landed baseline</a:t>
            </a:r>
            <a:endParaRPr sz="1200"/>
          </a:p>
        </p:txBody>
      </p:sp>
      <p:sp>
        <p:nvSpPr>
          <p:cNvPr id="27" name="Shape 27">
            <a:extLst>
              <a:ext uri="{FF2B5EF4-FFF2-40B4-BE49-F238E27FC236}">
                <a16:creationId xmlns:a16="http://schemas.microsoft.com/office/drawing/2014/main" id="{E4F4849B-63EF-4B4C-9B56-A3CBF31EF931}"/>
              </a:ext>
            </a:extLst>
          </p:cNvPr>
          <p:cNvSpPr>
            <a:spLocks noGrp="1"/>
          </p:cNvSpPr>
          <p:nvPr/>
        </p:nvSpPr>
        <p:spPr>
          <a:xfrm>
            <a:off x="6210300" y="2876550"/>
            <a:ext cx="2381250" cy="762000"/>
          </a:xfrm>
          <a:prstGeom prst="roundRect">
            <a:avLst/>
          </a:prstGeom>
          <a:solidFill>
            <a:srgbClr val="FFFFFF"/>
          </a:solidFill>
          <a:ln w="25400">
            <a:solidFill>
              <a:srgbClr val="2A5B84"/>
            </a:solidFill>
          </a:ln>
        </p:spPr>
      </p:sp>
      <p:sp>
        <p:nvSpPr>
          <p:cNvPr id="28" name="Shape 28">
            <a:extLst>
              <a:ext uri="{FF2B5EF4-FFF2-40B4-BE49-F238E27FC236}">
                <a16:creationId xmlns:a16="http://schemas.microsoft.com/office/drawing/2014/main" id="{FBABC9E6-88F3-44F3-9731-AFD8311FD768}"/>
              </a:ext>
            </a:extLst>
          </p:cNvPr>
          <p:cNvSpPr>
            <a:spLocks noGrp="1"/>
          </p:cNvSpPr>
          <p:nvPr/>
        </p:nvSpPr>
        <p:spPr>
          <a:xfrm>
            <a:off x="6343650" y="3019425"/>
            <a:ext cx="476250" cy="476250"/>
          </a:xfrm>
          <a:prstGeom prst="roundRect">
            <a:avLst/>
          </a:prstGeom>
          <a:solidFill>
            <a:srgbClr val="F4F6F8"/>
          </a:solidFill>
          <a:ln w="19050">
            <a:solidFill>
              <a:srgbClr val="2A5B84"/>
            </a:solidFill>
          </a:ln>
        </p:spPr>
      </p:sp>
      <p:pic>
        <p:nvPicPr>
          <p:cNvPr id="84" name="Picture 29"/>
          <p:cNvPicPr>
            <a:picLocks noChangeAspect="1"/>
          </p:cNvPicPr>
          <p:nvPr/>
        </p:nvPicPr>
        <p:blipFill>
          <a:blip r:embed="rId6"/>
          <a:stretch>
            <a:fillRect/>
          </a:stretch>
        </p:blipFill>
        <p:spPr>
          <a:xfrm>
            <a:off x="6467475" y="3143250"/>
            <a:ext cx="228600" cy="228600"/>
          </a:xfrm>
          <a:prstGeom prst="rect">
            <a:avLst/>
          </a:prstGeom>
          <a:ln>
            <a:noFill/>
          </a:ln>
        </p:spPr>
      </p:pic>
      <p:sp>
        <p:nvSpPr>
          <p:cNvPr id="30" name="Text 30">
            <a:extLst>
              <a:ext uri="{FF2B5EF4-FFF2-40B4-BE49-F238E27FC236}">
                <a16:creationId xmlns:a16="http://schemas.microsoft.com/office/drawing/2014/main" id="{CB270C44-D220-4C4B-9F54-B7EE1B1290F8}"/>
              </a:ext>
            </a:extLst>
          </p:cNvPr>
          <p:cNvSpPr>
            <a:spLocks noGrp="1"/>
          </p:cNvSpPr>
          <p:nvPr/>
        </p:nvSpPr>
        <p:spPr>
          <a:xfrm>
            <a:off x="6972300" y="2971800"/>
            <a:ext cx="1447800" cy="228600"/>
          </a:xfrm>
          <a:prstGeom prst="rect">
            <a:avLst/>
          </a:prstGeom>
          <a:noFill/>
          <a:ln>
            <a:noFill/>
          </a:ln>
        </p:spPr>
        <p:txBody>
          <a:bodyPr wrap="square" lIns="0" tIns="0" rIns="0" bIns="0" anchor="t"/>
          <a:lstStyle/>
          <a:p>
            <a:pPr algn="l">
              <a:buNone/>
            </a:pPr>
            <a:r>
              <a:rPr sz="1400" b="1">
                <a:solidFill>
                  <a:srgbClr val="2A5B84"/>
                </a:solidFill>
                <a:latin typeface="Arial"/>
                <a:ea typeface="Arial"/>
                <a:cs typeface="Arial"/>
              </a:rPr>
              <a:t>OPENAI</a:t>
            </a:r>
            <a:endParaRPr sz="1400"/>
          </a:p>
        </p:txBody>
      </p:sp>
      <p:sp>
        <p:nvSpPr>
          <p:cNvPr id="31" name="Text 31">
            <a:extLst>
              <a:ext uri="{FF2B5EF4-FFF2-40B4-BE49-F238E27FC236}">
                <a16:creationId xmlns:a16="http://schemas.microsoft.com/office/drawing/2014/main" id="{7A9F5E25-AAF9-479E-A97F-8E139198603D}"/>
              </a:ext>
            </a:extLst>
          </p:cNvPr>
          <p:cNvSpPr>
            <a:spLocks noGrp="1"/>
          </p:cNvSpPr>
          <p:nvPr/>
        </p:nvSpPr>
        <p:spPr>
          <a:xfrm>
            <a:off x="6972300" y="3276600"/>
            <a:ext cx="1447800" cy="209550"/>
          </a:xfrm>
          <a:prstGeom prst="rect">
            <a:avLst/>
          </a:prstGeom>
          <a:noFill/>
          <a:ln>
            <a:noFill/>
          </a:ln>
        </p:spPr>
        <p:txBody>
          <a:bodyPr wrap="square" lIns="0" tIns="0" rIns="0" bIns="0" anchor="t"/>
          <a:lstStyle/>
          <a:p>
            <a:pPr algn="l">
              <a:buNone/>
            </a:pPr>
            <a:r>
              <a:rPr sz="1200" b="0">
                <a:solidFill>
                  <a:srgbClr val="5D6873"/>
                </a:solidFill>
                <a:latin typeface="Arial"/>
                <a:ea typeface="Arial"/>
                <a:cs typeface="Arial"/>
              </a:rPr>
              <a:t>optional adapter</a:t>
            </a:r>
            <a:endParaRPr sz="1200"/>
          </a:p>
        </p:txBody>
      </p:sp>
      <p:sp>
        <p:nvSpPr>
          <p:cNvPr id="32" name="Shape 32">
            <a:extLst>
              <a:ext uri="{FF2B5EF4-FFF2-40B4-BE49-F238E27FC236}">
                <a16:creationId xmlns:a16="http://schemas.microsoft.com/office/drawing/2014/main" id="{4D6AD83A-048D-4237-87E5-9CE341A7F792}"/>
              </a:ext>
            </a:extLst>
          </p:cNvPr>
          <p:cNvSpPr>
            <a:spLocks noGrp="1"/>
          </p:cNvSpPr>
          <p:nvPr/>
        </p:nvSpPr>
        <p:spPr>
          <a:xfrm>
            <a:off x="6210300" y="3886200"/>
            <a:ext cx="2381250" cy="762000"/>
          </a:xfrm>
          <a:prstGeom prst="roundRect">
            <a:avLst/>
          </a:prstGeom>
          <a:solidFill>
            <a:srgbClr val="FFFFFF"/>
          </a:solidFill>
          <a:ln w="25400">
            <a:solidFill>
              <a:srgbClr val="B46B13"/>
            </a:solidFill>
          </a:ln>
        </p:spPr>
      </p:sp>
      <p:sp>
        <p:nvSpPr>
          <p:cNvPr id="33" name="Shape 33">
            <a:extLst>
              <a:ext uri="{FF2B5EF4-FFF2-40B4-BE49-F238E27FC236}">
                <a16:creationId xmlns:a16="http://schemas.microsoft.com/office/drawing/2014/main" id="{01CD82BD-272A-482B-AB18-F84BB6F58227}"/>
              </a:ext>
            </a:extLst>
          </p:cNvPr>
          <p:cNvSpPr>
            <a:spLocks noGrp="1"/>
          </p:cNvSpPr>
          <p:nvPr/>
        </p:nvSpPr>
        <p:spPr>
          <a:xfrm>
            <a:off x="6343650" y="4029075"/>
            <a:ext cx="476250" cy="476250"/>
          </a:xfrm>
          <a:prstGeom prst="roundRect">
            <a:avLst/>
          </a:prstGeom>
          <a:solidFill>
            <a:srgbClr val="F4F6F8"/>
          </a:solidFill>
          <a:ln w="19050">
            <a:solidFill>
              <a:srgbClr val="B46B13"/>
            </a:solidFill>
          </a:ln>
        </p:spPr>
      </p:sp>
      <p:pic>
        <p:nvPicPr>
          <p:cNvPr id="89" name="Picture 34"/>
          <p:cNvPicPr>
            <a:picLocks noChangeAspect="1"/>
          </p:cNvPicPr>
          <p:nvPr/>
        </p:nvPicPr>
        <p:blipFill>
          <a:blip r:embed="rId7"/>
          <a:stretch>
            <a:fillRect/>
          </a:stretch>
        </p:blipFill>
        <p:spPr>
          <a:xfrm>
            <a:off x="6467475" y="4152900"/>
            <a:ext cx="228600" cy="228600"/>
          </a:xfrm>
          <a:prstGeom prst="rect">
            <a:avLst/>
          </a:prstGeom>
          <a:ln>
            <a:noFill/>
          </a:ln>
        </p:spPr>
      </p:pic>
      <p:sp>
        <p:nvSpPr>
          <p:cNvPr id="35" name="Text 35">
            <a:extLst>
              <a:ext uri="{FF2B5EF4-FFF2-40B4-BE49-F238E27FC236}">
                <a16:creationId xmlns:a16="http://schemas.microsoft.com/office/drawing/2014/main" id="{CF841E85-C01D-4D56-AC72-5BD3DE32C225}"/>
              </a:ext>
            </a:extLst>
          </p:cNvPr>
          <p:cNvSpPr>
            <a:spLocks noGrp="1"/>
          </p:cNvSpPr>
          <p:nvPr/>
        </p:nvSpPr>
        <p:spPr>
          <a:xfrm>
            <a:off x="6972300" y="3981450"/>
            <a:ext cx="1447800" cy="228600"/>
          </a:xfrm>
          <a:prstGeom prst="rect">
            <a:avLst/>
          </a:prstGeom>
          <a:noFill/>
          <a:ln>
            <a:noFill/>
          </a:ln>
        </p:spPr>
        <p:txBody>
          <a:bodyPr wrap="square" lIns="0" tIns="0" rIns="0" bIns="0" anchor="t"/>
          <a:lstStyle/>
          <a:p>
            <a:pPr algn="l">
              <a:buNone/>
            </a:pPr>
            <a:r>
              <a:rPr sz="1400" b="1">
                <a:solidFill>
                  <a:srgbClr val="B46B13"/>
                </a:solidFill>
                <a:latin typeface="Arial"/>
                <a:ea typeface="Arial"/>
                <a:cs typeface="Arial"/>
              </a:rPr>
              <a:t>LM STUDIO</a:t>
            </a:r>
            <a:endParaRPr sz="1400"/>
          </a:p>
        </p:txBody>
      </p:sp>
      <p:sp>
        <p:nvSpPr>
          <p:cNvPr id="36" name="Text 36">
            <a:extLst>
              <a:ext uri="{FF2B5EF4-FFF2-40B4-BE49-F238E27FC236}">
                <a16:creationId xmlns:a16="http://schemas.microsoft.com/office/drawing/2014/main" id="{B8B7D9DA-099B-4DA2-AD59-854D84713110}"/>
              </a:ext>
            </a:extLst>
          </p:cNvPr>
          <p:cNvSpPr>
            <a:spLocks noGrp="1"/>
          </p:cNvSpPr>
          <p:nvPr/>
        </p:nvSpPr>
        <p:spPr>
          <a:xfrm>
            <a:off x="6972300" y="4286250"/>
            <a:ext cx="1447800" cy="209550"/>
          </a:xfrm>
          <a:prstGeom prst="rect">
            <a:avLst/>
          </a:prstGeom>
          <a:noFill/>
          <a:ln>
            <a:noFill/>
          </a:ln>
        </p:spPr>
        <p:txBody>
          <a:bodyPr wrap="square" lIns="0" tIns="0" rIns="0" bIns="0" anchor="t"/>
          <a:lstStyle/>
          <a:p>
            <a:pPr algn="l">
              <a:buNone/>
            </a:pPr>
            <a:r>
              <a:rPr sz="1200" b="0">
                <a:solidFill>
                  <a:srgbClr val="5D6873"/>
                </a:solidFill>
                <a:latin typeface="Arial"/>
                <a:ea typeface="Arial"/>
                <a:cs typeface="Arial"/>
              </a:rPr>
              <a:t>optional private adapter</a:t>
            </a:r>
            <a:endParaRPr sz="1200"/>
          </a:p>
        </p:txBody>
      </p:sp>
      <p:sp>
        <p:nvSpPr>
          <p:cNvPr id="37" name="Shape 37">
            <a:extLst>
              <a:ext uri="{FF2B5EF4-FFF2-40B4-BE49-F238E27FC236}">
                <a16:creationId xmlns:a16="http://schemas.microsoft.com/office/drawing/2014/main" id="{44549D32-AACC-4586-9B09-CFE31599F8F6}"/>
              </a:ext>
            </a:extLst>
          </p:cNvPr>
          <p:cNvSpPr>
            <a:spLocks noGrp="1"/>
          </p:cNvSpPr>
          <p:nvPr/>
        </p:nvSpPr>
        <p:spPr>
          <a:xfrm>
            <a:off x="9258300" y="2495550"/>
            <a:ext cx="2381250" cy="1524000"/>
          </a:xfrm>
          <a:prstGeom prst="roundRect">
            <a:avLst/>
          </a:prstGeom>
          <a:solidFill>
            <a:srgbClr val="17212B"/>
          </a:solidFill>
          <a:ln w="12700">
            <a:solidFill>
              <a:srgbClr val="17212B"/>
            </a:solidFill>
          </a:ln>
        </p:spPr>
      </p:sp>
      <p:pic>
        <p:nvPicPr>
          <p:cNvPr id="93" name="Picture 38"/>
          <p:cNvPicPr>
            <a:picLocks noChangeAspect="1"/>
          </p:cNvPicPr>
          <p:nvPr/>
        </p:nvPicPr>
        <p:blipFill>
          <a:blip r:embed="rId8"/>
          <a:stretch>
            <a:fillRect/>
          </a:stretch>
        </p:blipFill>
        <p:spPr>
          <a:xfrm>
            <a:off x="10201275" y="2647950"/>
            <a:ext cx="495300" cy="495300"/>
          </a:xfrm>
          <a:prstGeom prst="rect">
            <a:avLst/>
          </a:prstGeom>
          <a:ln>
            <a:noFill/>
          </a:ln>
        </p:spPr>
      </p:pic>
      <p:sp>
        <p:nvSpPr>
          <p:cNvPr id="39" name="Text 39">
            <a:extLst>
              <a:ext uri="{FF2B5EF4-FFF2-40B4-BE49-F238E27FC236}">
                <a16:creationId xmlns:a16="http://schemas.microsoft.com/office/drawing/2014/main" id="{93A578AF-960B-4CEB-8B3C-64BCB9B68428}"/>
              </a:ext>
            </a:extLst>
          </p:cNvPr>
          <p:cNvSpPr>
            <a:spLocks noGrp="1"/>
          </p:cNvSpPr>
          <p:nvPr/>
        </p:nvSpPr>
        <p:spPr>
          <a:xfrm>
            <a:off x="9467850" y="3238500"/>
            <a:ext cx="1962150" cy="266700"/>
          </a:xfrm>
          <a:prstGeom prst="rect">
            <a:avLst/>
          </a:prstGeom>
          <a:noFill/>
          <a:ln>
            <a:noFill/>
          </a:ln>
        </p:spPr>
        <p:txBody>
          <a:bodyPr wrap="square" lIns="0" tIns="0" rIns="0" bIns="0" anchor="t"/>
          <a:lstStyle/>
          <a:p>
            <a:pPr algn="ctr">
              <a:buNone/>
            </a:pPr>
            <a:r>
              <a:rPr sz="1600" b="1">
                <a:solidFill>
                  <a:srgbClr val="FFFFFF"/>
                </a:solidFill>
                <a:latin typeface="Arial"/>
                <a:ea typeface="Arial"/>
                <a:cs typeface="Arial"/>
              </a:rPr>
              <a:t>ONE OUTPUT</a:t>
            </a:r>
            <a:endParaRPr sz="1600"/>
          </a:p>
        </p:txBody>
      </p:sp>
      <p:sp>
        <p:nvSpPr>
          <p:cNvPr id="40" name="Text 40">
            <a:extLst>
              <a:ext uri="{FF2B5EF4-FFF2-40B4-BE49-F238E27FC236}">
                <a16:creationId xmlns:a16="http://schemas.microsoft.com/office/drawing/2014/main" id="{0AE2442A-3D6E-436C-9C5D-B018A4CF92F9}"/>
              </a:ext>
            </a:extLst>
          </p:cNvPr>
          <p:cNvSpPr>
            <a:spLocks noGrp="1"/>
          </p:cNvSpPr>
          <p:nvPr/>
        </p:nvSpPr>
        <p:spPr>
          <a:xfrm>
            <a:off x="9467850" y="3600450"/>
            <a:ext cx="1962150" cy="266700"/>
          </a:xfrm>
          <a:prstGeom prst="rect">
            <a:avLst/>
          </a:prstGeom>
          <a:noFill/>
          <a:ln>
            <a:noFill/>
          </a:ln>
        </p:spPr>
        <p:txBody>
          <a:bodyPr wrap="square" lIns="0" tIns="0" rIns="0" bIns="0" anchor="t"/>
          <a:lstStyle/>
          <a:p>
            <a:pPr algn="ctr">
              <a:buNone/>
            </a:pPr>
            <a:r>
              <a:rPr sz="1100" b="0">
                <a:solidFill>
                  <a:srgbClr val="DDE3E8"/>
                </a:solidFill>
                <a:latin typeface="Arial"/>
                <a:ea typeface="Arial"/>
                <a:cs typeface="Arial"/>
              </a:rPr>
              <a:t>severity, findings and provenance</a:t>
            </a:r>
            <a:endParaRPr sz="1100"/>
          </a:p>
        </p:txBody>
      </p:sp>
      <p:sp>
        <p:nvSpPr>
          <p:cNvPr id="41" name="Connector 41">
            <a:extLst>
              <a:ext uri="{FF2B5EF4-FFF2-40B4-BE49-F238E27FC236}">
                <a16:creationId xmlns:a16="http://schemas.microsoft.com/office/drawing/2014/main" id="{F11EF578-384F-4FDF-A0DB-F719DFD2A066}"/>
              </a:ext>
            </a:extLst>
          </p:cNvPr>
          <p:cNvSpPr>
            <a:spLocks noGrp="1"/>
          </p:cNvSpPr>
          <p:nvPr/>
        </p:nvSpPr>
        <p:spPr>
          <a:xfrm>
            <a:off x="10448925" y="4019550"/>
            <a:ext cx="0" cy="628650"/>
          </a:xfrm>
          <a:prstGeom prst="line">
            <a:avLst/>
          </a:prstGeom>
          <a:ln w="38100">
            <a:solidFill>
              <a:srgbClr val="D71920"/>
            </a:solidFill>
            <a:tailEnd type="triangle"/>
          </a:ln>
        </p:spPr>
      </p:sp>
      <p:sp>
        <p:nvSpPr>
          <p:cNvPr id="42" name="Shape 42">
            <a:extLst>
              <a:ext uri="{FF2B5EF4-FFF2-40B4-BE49-F238E27FC236}">
                <a16:creationId xmlns:a16="http://schemas.microsoft.com/office/drawing/2014/main" id="{A3017EE9-9EDA-4773-86A4-9905A6C821FA}"/>
              </a:ext>
            </a:extLst>
          </p:cNvPr>
          <p:cNvSpPr>
            <a:spLocks noGrp="1"/>
          </p:cNvSpPr>
          <p:nvPr/>
        </p:nvSpPr>
        <p:spPr>
          <a:xfrm>
            <a:off x="8896350" y="4648200"/>
            <a:ext cx="3105150" cy="952500"/>
          </a:xfrm>
          <a:prstGeom prst="roundRect">
            <a:avLst/>
          </a:prstGeom>
          <a:solidFill>
            <a:srgbClr val="EAF1F7"/>
          </a:solidFill>
          <a:ln w="25400">
            <a:solidFill>
              <a:srgbClr val="2A5B84"/>
            </a:solidFill>
          </a:ln>
        </p:spPr>
      </p:sp>
      <p:sp>
        <p:nvSpPr>
          <p:cNvPr id="43" name="Shape 43">
            <a:extLst>
              <a:ext uri="{FF2B5EF4-FFF2-40B4-BE49-F238E27FC236}">
                <a16:creationId xmlns:a16="http://schemas.microsoft.com/office/drawing/2014/main" id="{6D0BE296-6711-4B85-A435-0EAA72227821}"/>
              </a:ext>
            </a:extLst>
          </p:cNvPr>
          <p:cNvSpPr>
            <a:spLocks noGrp="1"/>
          </p:cNvSpPr>
          <p:nvPr/>
        </p:nvSpPr>
        <p:spPr>
          <a:xfrm>
            <a:off x="9086850" y="4876800"/>
            <a:ext cx="495300" cy="495300"/>
          </a:xfrm>
          <a:prstGeom prst="roundRect">
            <a:avLst/>
          </a:prstGeom>
          <a:solidFill>
            <a:srgbClr val="FFFFFF"/>
          </a:solidFill>
          <a:ln w="19050">
            <a:solidFill>
              <a:srgbClr val="2A5B84"/>
            </a:solidFill>
          </a:ln>
        </p:spPr>
      </p:sp>
      <p:pic>
        <p:nvPicPr>
          <p:cNvPr id="99" name="Picture 44"/>
          <p:cNvPicPr>
            <a:picLocks noChangeAspect="1"/>
          </p:cNvPicPr>
          <p:nvPr/>
        </p:nvPicPr>
        <p:blipFill>
          <a:blip r:embed="rId9"/>
          <a:stretch>
            <a:fillRect/>
          </a:stretch>
        </p:blipFill>
        <p:spPr>
          <a:xfrm>
            <a:off x="9210675" y="5000625"/>
            <a:ext cx="247650" cy="247650"/>
          </a:xfrm>
          <a:prstGeom prst="rect">
            <a:avLst/>
          </a:prstGeom>
          <a:ln>
            <a:noFill/>
          </a:ln>
        </p:spPr>
      </p:pic>
      <p:sp>
        <p:nvSpPr>
          <p:cNvPr id="45" name="Text 45">
            <a:extLst>
              <a:ext uri="{FF2B5EF4-FFF2-40B4-BE49-F238E27FC236}">
                <a16:creationId xmlns:a16="http://schemas.microsoft.com/office/drawing/2014/main" id="{D5F4A6F7-39F6-4953-8B75-B38A0DB13A44}"/>
              </a:ext>
            </a:extLst>
          </p:cNvPr>
          <p:cNvSpPr>
            <a:spLocks noGrp="1"/>
          </p:cNvSpPr>
          <p:nvPr/>
        </p:nvSpPr>
        <p:spPr>
          <a:xfrm>
            <a:off x="9753600" y="4819650"/>
            <a:ext cx="2000250" cy="590550"/>
          </a:xfrm>
          <a:prstGeom prst="rect">
            <a:avLst/>
          </a:prstGeom>
          <a:noFill/>
          <a:ln>
            <a:noFill/>
          </a:ln>
        </p:spPr>
        <p:txBody>
          <a:bodyPr wrap="square" lIns="0" tIns="0" rIns="0" bIns="0" anchor="ctr"/>
          <a:lstStyle/>
          <a:p>
            <a:pPr algn="ctr">
              <a:buNone/>
            </a:pPr>
            <a:r>
              <a:rPr sz="1500" b="1">
                <a:solidFill>
                  <a:srgbClr val="17212B"/>
                </a:solidFill>
                <a:latin typeface="Arial"/>
                <a:ea typeface="Arial"/>
                <a:cs typeface="Arial"/>
              </a:rPr>
              <a:t>Grounding validator</a:t>
            </a:r>
            <a:endParaRPr sz="1500"/>
          </a:p>
          <a:p>
            <a:pPr algn="ctr">
              <a:buNone/>
            </a:pPr>
            <a:r>
              <a:rPr sz="1500" b="1">
                <a:solidFill>
                  <a:srgbClr val="17212B"/>
                </a:solidFill>
                <a:latin typeface="Arial"/>
                <a:ea typeface="Arial"/>
                <a:cs typeface="Arial"/>
              </a:rPr>
              <a:t>and persisted history</a:t>
            </a:r>
            <a:endParaRPr sz="1500"/>
          </a:p>
        </p:txBody>
      </p:sp>
      <p:sp>
        <p:nvSpPr>
          <p:cNvPr id="46" name="Text 46">
            <a:extLst>
              <a:ext uri="{FF2B5EF4-FFF2-40B4-BE49-F238E27FC236}">
                <a16:creationId xmlns:a16="http://schemas.microsoft.com/office/drawing/2014/main" id="{73AEACF0-01BD-45DB-9BCD-F4F1BFD61747}"/>
              </a:ext>
            </a:extLst>
          </p:cNvPr>
          <p:cNvSpPr>
            <a:spLocks noGrp="1"/>
          </p:cNvSpPr>
          <p:nvPr/>
        </p:nvSpPr>
        <p:spPr>
          <a:xfrm>
            <a:off x="1028700" y="5810250"/>
            <a:ext cx="7620000" cy="323850"/>
          </a:xfrm>
          <a:prstGeom prst="rect">
            <a:avLst/>
          </a:prstGeom>
          <a:noFill/>
          <a:ln>
            <a:noFill/>
          </a:ln>
        </p:spPr>
        <p:txBody>
          <a:bodyPr wrap="square" lIns="0" tIns="0" rIns="0" bIns="0" anchor="t"/>
          <a:lstStyle/>
          <a:p>
            <a:pPr algn="l">
              <a:buNone/>
            </a:pPr>
            <a:r>
              <a:rPr sz="1500" b="1">
                <a:solidFill>
                  <a:srgbClr val="5D6873"/>
                </a:solidFill>
                <a:latin typeface="Arial"/>
                <a:ea typeface="Arial"/>
                <a:cs typeface="Arial"/>
              </a:rPr>
              <a:t>Default path sends no customer or policy content outside the local system</a:t>
            </a:r>
            <a:endParaRPr sz="1500"/>
          </a:p>
        </p:txBody>
      </p:sp>
      <p:sp>
        <p:nvSpPr>
          <p:cNvPr id="47" name="Connector 47">
            <a:extLst>
              <a:ext uri="{FF2B5EF4-FFF2-40B4-BE49-F238E27FC236}">
                <a16:creationId xmlns:a16="http://schemas.microsoft.com/office/drawing/2014/main" id="{B177F6E4-8228-4301-87DB-A9157B0E1967}"/>
              </a:ext>
            </a:extLst>
          </p:cNvPr>
          <p:cNvSpPr>
            <a:spLocks noGrp="1"/>
          </p:cNvSpPr>
          <p:nvPr/>
        </p:nvSpPr>
        <p:spPr>
          <a:xfrm>
            <a:off x="552450" y="6419850"/>
            <a:ext cx="11087100" cy="0"/>
          </a:xfrm>
          <a:prstGeom prst="line">
            <a:avLst/>
          </a:prstGeom>
          <a:ln w="12700">
            <a:solidFill>
              <a:srgbClr val="BFC5CB"/>
            </a:solidFill>
          </a:ln>
        </p:spPr>
      </p:sp>
      <p:sp>
        <p:nvSpPr>
          <p:cNvPr id="48" name="Text 48">
            <a:extLst>
              <a:ext uri="{FF2B5EF4-FFF2-40B4-BE49-F238E27FC236}">
                <a16:creationId xmlns:a16="http://schemas.microsoft.com/office/drawing/2014/main" id="{C1823FF2-042F-4E89-BB58-95857CC28EBC}"/>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49" name="Text 49">
            <a:extLst>
              <a:ext uri="{FF2B5EF4-FFF2-40B4-BE49-F238E27FC236}">
                <a16:creationId xmlns:a16="http://schemas.microsoft.com/office/drawing/2014/main" id="{52CE1C71-6734-443D-AECE-7ACF0EC456E5}"/>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G</a:t>
            </a:r>
            <a:endParaRPr sz="1000"/>
          </a:p>
        </p:txBody>
      </p:sp>
    </p:spTree>
    <p:extLst>
      <p:ext uri="{BB962C8B-B14F-4D97-AF65-F5344CB8AC3E}">
        <p14:creationId xmlns:p14="http://schemas.microsoft.com/office/powerpoint/2010/main" val="695579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5518D1E7-71E2-4F04-9772-7812FFE22E51}"/>
              </a:ext>
            </a:extLst>
          </p:cNvPr>
          <p:cNvSpPr>
            <a:spLocks noGrp="1"/>
          </p:cNvSpPr>
          <p:nvPr/>
        </p:nvSpPr>
        <p:spPr>
          <a:xfrm>
            <a:off x="571500" y="304800"/>
            <a:ext cx="11049000" cy="209550"/>
          </a:xfrm>
          <a:prstGeom prst="rect">
            <a:avLst/>
          </a:prstGeom>
          <a:noFill/>
          <a:ln>
            <a:noFill/>
          </a:ln>
        </p:spPr>
        <p:txBody>
          <a:bodyPr wrap="square" lIns="0" tIns="0" rIns="0" bIns="0" anchor="t"/>
          <a:lstStyle/>
          <a:p>
            <a:pPr algn="l">
              <a:buNone/>
            </a:pPr>
            <a:r>
              <a:rPr sz="1100" b="1" spc="180">
                <a:solidFill>
                  <a:srgbClr val="D71920"/>
                </a:solidFill>
                <a:latin typeface="Arial"/>
                <a:ea typeface="Arial"/>
                <a:cs typeface="Arial"/>
              </a:rPr>
              <a:t>APPENDIX H · VERIFICATION EVIDENCE</a:t>
            </a:r>
            <a:endParaRPr sz="1100"/>
          </a:p>
        </p:txBody>
      </p:sp>
      <p:sp>
        <p:nvSpPr>
          <p:cNvPr id="3" name="Text 3">
            <a:extLst>
              <a:ext uri="{FF2B5EF4-FFF2-40B4-BE49-F238E27FC236}">
                <a16:creationId xmlns:a16="http://schemas.microsoft.com/office/drawing/2014/main" id="{4296E311-CCEB-4E34-8DBE-B4755099D794}"/>
              </a:ext>
            </a:extLst>
          </p:cNvPr>
          <p:cNvSpPr>
            <a:spLocks noGrp="1"/>
          </p:cNvSpPr>
          <p:nvPr/>
        </p:nvSpPr>
        <p:spPr>
          <a:xfrm>
            <a:off x="552450" y="552450"/>
            <a:ext cx="11087100" cy="781050"/>
          </a:xfrm>
          <a:prstGeom prst="rect">
            <a:avLst/>
          </a:prstGeom>
          <a:noFill/>
          <a:ln>
            <a:noFill/>
          </a:ln>
        </p:spPr>
        <p:txBody>
          <a:bodyPr wrap="square" lIns="0" tIns="0" rIns="0" bIns="0" anchor="ctr"/>
          <a:lstStyle/>
          <a:p>
            <a:pPr algn="l">
              <a:buNone/>
            </a:pPr>
            <a:r>
              <a:rPr sz="3000" b="1">
                <a:solidFill>
                  <a:srgbClr val="17212B"/>
                </a:solidFill>
                <a:latin typeface="Arial"/>
                <a:ea typeface="Arial"/>
                <a:cs typeface="Arial"/>
              </a:rPr>
              <a:t>Each behavior maps to the highest boundary that can prove it</a:t>
            </a:r>
            <a:endParaRPr sz="3000"/>
          </a:p>
        </p:txBody>
      </p:sp>
      <p:sp>
        <p:nvSpPr>
          <p:cNvPr id="4" name="Text 4">
            <a:extLst>
              <a:ext uri="{FF2B5EF4-FFF2-40B4-BE49-F238E27FC236}">
                <a16:creationId xmlns:a16="http://schemas.microsoft.com/office/drawing/2014/main" id="{EDA3C928-BE09-4AA3-AEA6-320C3CC7D931}"/>
              </a:ext>
            </a:extLst>
          </p:cNvPr>
          <p:cNvSpPr>
            <a:spLocks noGrp="1"/>
          </p:cNvSpPr>
          <p:nvPr/>
        </p:nvSpPr>
        <p:spPr>
          <a:xfrm>
            <a:off x="666750" y="1562100"/>
            <a:ext cx="4095750" cy="209550"/>
          </a:xfrm>
          <a:prstGeom prst="rect">
            <a:avLst/>
          </a:prstGeom>
          <a:noFill/>
          <a:ln>
            <a:noFill/>
          </a:ln>
        </p:spPr>
        <p:txBody>
          <a:bodyPr wrap="square" lIns="0" tIns="0" rIns="0" bIns="0" anchor="t"/>
          <a:lstStyle/>
          <a:p>
            <a:pPr algn="l">
              <a:buNone/>
            </a:pPr>
            <a:r>
              <a:rPr sz="1100" b="1" spc="90">
                <a:solidFill>
                  <a:srgbClr val="5D6873"/>
                </a:solidFill>
                <a:latin typeface="Arial"/>
                <a:ea typeface="Arial"/>
                <a:cs typeface="Arial"/>
              </a:rPr>
              <a:t>REVIEWER-VISIBLE BEHAVIOR</a:t>
            </a:r>
            <a:endParaRPr sz="1100"/>
          </a:p>
        </p:txBody>
      </p:sp>
      <p:sp>
        <p:nvSpPr>
          <p:cNvPr id="5" name="Text 5">
            <a:extLst>
              <a:ext uri="{FF2B5EF4-FFF2-40B4-BE49-F238E27FC236}">
                <a16:creationId xmlns:a16="http://schemas.microsoft.com/office/drawing/2014/main" id="{B830D93E-D3B4-41A4-BAB4-24808C0A76AE}"/>
              </a:ext>
            </a:extLst>
          </p:cNvPr>
          <p:cNvSpPr>
            <a:spLocks noGrp="1"/>
          </p:cNvSpPr>
          <p:nvPr/>
        </p:nvSpPr>
        <p:spPr>
          <a:xfrm>
            <a:off x="6858000" y="1562100"/>
            <a:ext cx="4667250" cy="209550"/>
          </a:xfrm>
          <a:prstGeom prst="rect">
            <a:avLst/>
          </a:prstGeom>
          <a:noFill/>
          <a:ln>
            <a:noFill/>
          </a:ln>
        </p:spPr>
        <p:txBody>
          <a:bodyPr wrap="square" lIns="0" tIns="0" rIns="0" bIns="0" anchor="t"/>
          <a:lstStyle/>
          <a:p>
            <a:pPr algn="l">
              <a:buNone/>
            </a:pPr>
            <a:r>
              <a:rPr sz="1100" b="1" spc="90">
                <a:solidFill>
                  <a:srgbClr val="5D6873"/>
                </a:solidFill>
                <a:latin typeface="Arial"/>
                <a:ea typeface="Arial"/>
                <a:cs typeface="Arial"/>
              </a:rPr>
              <a:t>EVIDENCE BOUNDARY</a:t>
            </a:r>
            <a:endParaRPr sz="1100"/>
          </a:p>
        </p:txBody>
      </p:sp>
      <p:sp>
        <p:nvSpPr>
          <p:cNvPr id="6" name="Shape 6">
            <a:extLst>
              <a:ext uri="{FF2B5EF4-FFF2-40B4-BE49-F238E27FC236}">
                <a16:creationId xmlns:a16="http://schemas.microsoft.com/office/drawing/2014/main" id="{1923326E-4703-4A2F-845B-B3E9F2590DCB}"/>
              </a:ext>
            </a:extLst>
          </p:cNvPr>
          <p:cNvSpPr>
            <a:spLocks noGrp="1"/>
          </p:cNvSpPr>
          <p:nvPr/>
        </p:nvSpPr>
        <p:spPr>
          <a:xfrm>
            <a:off x="666750" y="1943100"/>
            <a:ext cx="4095750" cy="609600"/>
          </a:xfrm>
          <a:prstGeom prst="rect">
            <a:avLst/>
          </a:prstGeom>
          <a:solidFill>
            <a:srgbClr val="FFFFFF"/>
          </a:solidFill>
          <a:ln w="25400">
            <a:solidFill>
              <a:srgbClr val="D71920"/>
            </a:solidFill>
          </a:ln>
        </p:spPr>
      </p:sp>
      <p:sp>
        <p:nvSpPr>
          <p:cNvPr id="7" name="Shape 7">
            <a:extLst>
              <a:ext uri="{FF2B5EF4-FFF2-40B4-BE49-F238E27FC236}">
                <a16:creationId xmlns:a16="http://schemas.microsoft.com/office/drawing/2014/main" id="{D7A5B9B4-9B31-4C8F-A432-01F902A0E9C3}"/>
              </a:ext>
            </a:extLst>
          </p:cNvPr>
          <p:cNvSpPr>
            <a:spLocks noGrp="1"/>
          </p:cNvSpPr>
          <p:nvPr/>
        </p:nvSpPr>
        <p:spPr>
          <a:xfrm>
            <a:off x="666750" y="1943100"/>
            <a:ext cx="76200" cy="609600"/>
          </a:xfrm>
          <a:prstGeom prst="rect">
            <a:avLst/>
          </a:prstGeom>
          <a:solidFill>
            <a:srgbClr val="D71920"/>
          </a:solidFill>
          <a:ln w="12700">
            <a:solidFill>
              <a:srgbClr val="D71920"/>
            </a:solidFill>
          </a:ln>
        </p:spPr>
      </p:sp>
      <p:sp>
        <p:nvSpPr>
          <p:cNvPr id="8" name="Shape 8">
            <a:extLst>
              <a:ext uri="{FF2B5EF4-FFF2-40B4-BE49-F238E27FC236}">
                <a16:creationId xmlns:a16="http://schemas.microsoft.com/office/drawing/2014/main" id="{23C79975-E3BD-4519-BE88-B2E910BCBEFB}"/>
              </a:ext>
            </a:extLst>
          </p:cNvPr>
          <p:cNvSpPr>
            <a:spLocks noGrp="1"/>
          </p:cNvSpPr>
          <p:nvPr/>
        </p:nvSpPr>
        <p:spPr>
          <a:xfrm>
            <a:off x="876300" y="2038350"/>
            <a:ext cx="419100" cy="419100"/>
          </a:xfrm>
          <a:prstGeom prst="roundRect">
            <a:avLst/>
          </a:prstGeom>
          <a:solidFill>
            <a:srgbClr val="F4F6F8"/>
          </a:solidFill>
          <a:ln w="19050">
            <a:solidFill>
              <a:srgbClr val="D71920"/>
            </a:solidFill>
          </a:ln>
        </p:spPr>
      </p:sp>
      <p:pic>
        <p:nvPicPr>
          <p:cNvPr id="66" name="Picture 9"/>
          <p:cNvPicPr>
            <a:picLocks noChangeAspect="1"/>
          </p:cNvPicPr>
          <p:nvPr/>
        </p:nvPicPr>
        <p:blipFill>
          <a:blip r:embed="rId3"/>
          <a:stretch>
            <a:fillRect/>
          </a:stretch>
        </p:blipFill>
        <p:spPr>
          <a:xfrm>
            <a:off x="981075" y="2143125"/>
            <a:ext cx="209550" cy="209550"/>
          </a:xfrm>
          <a:prstGeom prst="rect">
            <a:avLst/>
          </a:prstGeom>
          <a:ln>
            <a:noFill/>
          </a:ln>
        </p:spPr>
      </p:pic>
      <p:sp>
        <p:nvSpPr>
          <p:cNvPr id="10" name="Text 10">
            <a:extLst>
              <a:ext uri="{FF2B5EF4-FFF2-40B4-BE49-F238E27FC236}">
                <a16:creationId xmlns:a16="http://schemas.microsoft.com/office/drawing/2014/main" id="{C542821B-742F-4B41-B562-B3543C5388B5}"/>
              </a:ext>
            </a:extLst>
          </p:cNvPr>
          <p:cNvSpPr>
            <a:spLocks noGrp="1"/>
          </p:cNvSpPr>
          <p:nvPr/>
        </p:nvSpPr>
        <p:spPr>
          <a:xfrm>
            <a:off x="1447800" y="2057400"/>
            <a:ext cx="3086100" cy="381000"/>
          </a:xfrm>
          <a:prstGeom prst="rect">
            <a:avLst/>
          </a:prstGeom>
          <a:noFill/>
          <a:ln>
            <a:noFill/>
          </a:ln>
        </p:spPr>
        <p:txBody>
          <a:bodyPr wrap="square" lIns="0" tIns="0" rIns="0" bIns="0" anchor="ctr"/>
          <a:lstStyle/>
          <a:p>
            <a:pPr algn="l">
              <a:buNone/>
            </a:pPr>
            <a:r>
              <a:rPr sz="1400" b="1">
                <a:solidFill>
                  <a:srgbClr val="17212B"/>
                </a:solidFill>
                <a:latin typeface="Arial"/>
                <a:ea typeface="Arial"/>
                <a:cs typeface="Arial"/>
              </a:rPr>
              <a:t>Operator can log in and reopen history</a:t>
            </a:r>
            <a:endParaRPr sz="1400"/>
          </a:p>
        </p:txBody>
      </p:sp>
      <p:sp>
        <p:nvSpPr>
          <p:cNvPr id="11" name="Connector 11">
            <a:extLst>
              <a:ext uri="{FF2B5EF4-FFF2-40B4-BE49-F238E27FC236}">
                <a16:creationId xmlns:a16="http://schemas.microsoft.com/office/drawing/2014/main" id="{C4EB9B46-60C3-4BF5-A194-0CAD4EAC1510}"/>
              </a:ext>
            </a:extLst>
          </p:cNvPr>
          <p:cNvSpPr>
            <a:spLocks noGrp="1"/>
          </p:cNvSpPr>
          <p:nvPr/>
        </p:nvSpPr>
        <p:spPr>
          <a:xfrm>
            <a:off x="4762500" y="2247900"/>
            <a:ext cx="2095500" cy="0"/>
          </a:xfrm>
          <a:prstGeom prst="line">
            <a:avLst/>
          </a:prstGeom>
          <a:ln w="38100">
            <a:solidFill>
              <a:srgbClr val="D71920"/>
            </a:solidFill>
            <a:tailEnd type="triangle"/>
          </a:ln>
        </p:spPr>
      </p:sp>
      <p:sp>
        <p:nvSpPr>
          <p:cNvPr id="12" name="Shape 12">
            <a:extLst>
              <a:ext uri="{FF2B5EF4-FFF2-40B4-BE49-F238E27FC236}">
                <a16:creationId xmlns:a16="http://schemas.microsoft.com/office/drawing/2014/main" id="{102FAEC2-5181-4588-BD27-FAA9E6E0CC4F}"/>
              </a:ext>
            </a:extLst>
          </p:cNvPr>
          <p:cNvSpPr>
            <a:spLocks noGrp="1"/>
          </p:cNvSpPr>
          <p:nvPr/>
        </p:nvSpPr>
        <p:spPr>
          <a:xfrm>
            <a:off x="6858000" y="1943100"/>
            <a:ext cx="4667250" cy="609600"/>
          </a:xfrm>
          <a:prstGeom prst="rect">
            <a:avLst/>
          </a:prstGeom>
          <a:solidFill>
            <a:srgbClr val="F4F6F8"/>
          </a:solidFill>
          <a:ln w="25400">
            <a:solidFill>
              <a:srgbClr val="D71920"/>
            </a:solidFill>
          </a:ln>
        </p:spPr>
      </p:sp>
      <p:sp>
        <p:nvSpPr>
          <p:cNvPr id="13" name="Shape 13">
            <a:extLst>
              <a:ext uri="{FF2B5EF4-FFF2-40B4-BE49-F238E27FC236}">
                <a16:creationId xmlns:a16="http://schemas.microsoft.com/office/drawing/2014/main" id="{5EE06000-15EE-435C-9743-1CE61180AE3A}"/>
              </a:ext>
            </a:extLst>
          </p:cNvPr>
          <p:cNvSpPr>
            <a:spLocks noGrp="1"/>
          </p:cNvSpPr>
          <p:nvPr/>
        </p:nvSpPr>
        <p:spPr>
          <a:xfrm>
            <a:off x="7067550" y="2038350"/>
            <a:ext cx="419100" cy="419100"/>
          </a:xfrm>
          <a:prstGeom prst="roundRect">
            <a:avLst/>
          </a:prstGeom>
          <a:solidFill>
            <a:srgbClr val="FFFFFF"/>
          </a:solidFill>
          <a:ln w="19050">
            <a:solidFill>
              <a:srgbClr val="D71920"/>
            </a:solidFill>
          </a:ln>
        </p:spPr>
      </p:sp>
      <p:pic>
        <p:nvPicPr>
          <p:cNvPr id="71" name="Picture 14"/>
          <p:cNvPicPr>
            <a:picLocks noChangeAspect="1"/>
          </p:cNvPicPr>
          <p:nvPr/>
        </p:nvPicPr>
        <p:blipFill>
          <a:blip r:embed="rId4"/>
          <a:stretch>
            <a:fillRect/>
          </a:stretch>
        </p:blipFill>
        <p:spPr>
          <a:xfrm>
            <a:off x="7172325" y="2143125"/>
            <a:ext cx="209550" cy="209550"/>
          </a:xfrm>
          <a:prstGeom prst="rect">
            <a:avLst/>
          </a:prstGeom>
          <a:ln>
            <a:noFill/>
          </a:ln>
        </p:spPr>
      </p:pic>
      <p:sp>
        <p:nvSpPr>
          <p:cNvPr id="15" name="Text 15">
            <a:extLst>
              <a:ext uri="{FF2B5EF4-FFF2-40B4-BE49-F238E27FC236}">
                <a16:creationId xmlns:a16="http://schemas.microsoft.com/office/drawing/2014/main" id="{AD2AE428-FE45-49DB-B926-77DF980E0C7F}"/>
              </a:ext>
            </a:extLst>
          </p:cNvPr>
          <p:cNvSpPr>
            <a:spLocks noGrp="1"/>
          </p:cNvSpPr>
          <p:nvPr/>
        </p:nvSpPr>
        <p:spPr>
          <a:xfrm>
            <a:off x="7639050" y="2057400"/>
            <a:ext cx="3638550" cy="381000"/>
          </a:xfrm>
          <a:prstGeom prst="rect">
            <a:avLst/>
          </a:prstGeom>
          <a:noFill/>
          <a:ln>
            <a:noFill/>
          </a:ln>
        </p:spPr>
        <p:txBody>
          <a:bodyPr wrap="square" lIns="0" tIns="0" rIns="0" bIns="0" anchor="ctr"/>
          <a:lstStyle/>
          <a:p>
            <a:pPr algn="l">
              <a:buNone/>
            </a:pPr>
            <a:r>
              <a:rPr sz="1400" b="1">
                <a:solidFill>
                  <a:srgbClr val="D71920"/>
                </a:solidFill>
                <a:latin typeface="Arial"/>
                <a:ea typeface="Arial"/>
                <a:cs typeface="Arial"/>
              </a:rPr>
              <a:t>Playwright against the packaged topology</a:t>
            </a:r>
            <a:endParaRPr sz="1400"/>
          </a:p>
        </p:txBody>
      </p:sp>
      <p:sp>
        <p:nvSpPr>
          <p:cNvPr id="16" name="Shape 16">
            <a:extLst>
              <a:ext uri="{FF2B5EF4-FFF2-40B4-BE49-F238E27FC236}">
                <a16:creationId xmlns:a16="http://schemas.microsoft.com/office/drawing/2014/main" id="{2630320E-27A3-4FBC-96C6-68B1C5916C2C}"/>
              </a:ext>
            </a:extLst>
          </p:cNvPr>
          <p:cNvSpPr>
            <a:spLocks noGrp="1"/>
          </p:cNvSpPr>
          <p:nvPr/>
        </p:nvSpPr>
        <p:spPr>
          <a:xfrm>
            <a:off x="666750" y="2857500"/>
            <a:ext cx="4095750" cy="609600"/>
          </a:xfrm>
          <a:prstGeom prst="rect">
            <a:avLst/>
          </a:prstGeom>
          <a:solidFill>
            <a:srgbClr val="FFFFFF"/>
          </a:solidFill>
          <a:ln w="25400">
            <a:solidFill>
              <a:srgbClr val="1F7A5A"/>
            </a:solidFill>
          </a:ln>
        </p:spPr>
      </p:sp>
      <p:sp>
        <p:nvSpPr>
          <p:cNvPr id="17" name="Shape 17">
            <a:extLst>
              <a:ext uri="{FF2B5EF4-FFF2-40B4-BE49-F238E27FC236}">
                <a16:creationId xmlns:a16="http://schemas.microsoft.com/office/drawing/2014/main" id="{295D8AFD-0A9D-4C05-9FF2-B87B3C51B962}"/>
              </a:ext>
            </a:extLst>
          </p:cNvPr>
          <p:cNvSpPr>
            <a:spLocks noGrp="1"/>
          </p:cNvSpPr>
          <p:nvPr/>
        </p:nvSpPr>
        <p:spPr>
          <a:xfrm>
            <a:off x="666750" y="2857500"/>
            <a:ext cx="76200" cy="609600"/>
          </a:xfrm>
          <a:prstGeom prst="rect">
            <a:avLst/>
          </a:prstGeom>
          <a:solidFill>
            <a:srgbClr val="1F7A5A"/>
          </a:solidFill>
          <a:ln w="12700">
            <a:solidFill>
              <a:srgbClr val="1F7A5A"/>
            </a:solidFill>
          </a:ln>
        </p:spPr>
      </p:sp>
      <p:sp>
        <p:nvSpPr>
          <p:cNvPr id="18" name="Shape 18">
            <a:extLst>
              <a:ext uri="{FF2B5EF4-FFF2-40B4-BE49-F238E27FC236}">
                <a16:creationId xmlns:a16="http://schemas.microsoft.com/office/drawing/2014/main" id="{64B3881A-0315-4835-B7BA-406A79565EB2}"/>
              </a:ext>
            </a:extLst>
          </p:cNvPr>
          <p:cNvSpPr>
            <a:spLocks noGrp="1"/>
          </p:cNvSpPr>
          <p:nvPr/>
        </p:nvSpPr>
        <p:spPr>
          <a:xfrm>
            <a:off x="876300" y="2952750"/>
            <a:ext cx="419100" cy="419100"/>
          </a:xfrm>
          <a:prstGeom prst="roundRect">
            <a:avLst/>
          </a:prstGeom>
          <a:solidFill>
            <a:srgbClr val="F4F6F8"/>
          </a:solidFill>
          <a:ln w="19050">
            <a:solidFill>
              <a:srgbClr val="1F7A5A"/>
            </a:solidFill>
          </a:ln>
        </p:spPr>
      </p:sp>
      <p:pic>
        <p:nvPicPr>
          <p:cNvPr id="76" name="Picture 19"/>
          <p:cNvPicPr>
            <a:picLocks noChangeAspect="1"/>
          </p:cNvPicPr>
          <p:nvPr/>
        </p:nvPicPr>
        <p:blipFill>
          <a:blip r:embed="rId5"/>
          <a:stretch>
            <a:fillRect/>
          </a:stretch>
        </p:blipFill>
        <p:spPr>
          <a:xfrm>
            <a:off x="981075" y="3057525"/>
            <a:ext cx="209550" cy="209550"/>
          </a:xfrm>
          <a:prstGeom prst="rect">
            <a:avLst/>
          </a:prstGeom>
          <a:ln>
            <a:noFill/>
          </a:ln>
        </p:spPr>
      </p:pic>
      <p:sp>
        <p:nvSpPr>
          <p:cNvPr id="20" name="Text 20">
            <a:extLst>
              <a:ext uri="{FF2B5EF4-FFF2-40B4-BE49-F238E27FC236}">
                <a16:creationId xmlns:a16="http://schemas.microsoft.com/office/drawing/2014/main" id="{5EFD4F41-39F1-4295-867B-68333B214E6E}"/>
              </a:ext>
            </a:extLst>
          </p:cNvPr>
          <p:cNvSpPr>
            <a:spLocks noGrp="1"/>
          </p:cNvSpPr>
          <p:nvPr/>
        </p:nvSpPr>
        <p:spPr>
          <a:xfrm>
            <a:off x="1447800" y="2971800"/>
            <a:ext cx="3086100" cy="381000"/>
          </a:xfrm>
          <a:prstGeom prst="rect">
            <a:avLst/>
          </a:prstGeom>
          <a:noFill/>
          <a:ln>
            <a:noFill/>
          </a:ln>
        </p:spPr>
        <p:txBody>
          <a:bodyPr wrap="square" lIns="0" tIns="0" rIns="0" bIns="0" anchor="ctr"/>
          <a:lstStyle/>
          <a:p>
            <a:pPr algn="l">
              <a:buNone/>
            </a:pPr>
            <a:r>
              <a:rPr sz="1400" b="1">
                <a:solidFill>
                  <a:srgbClr val="17212B"/>
                </a:solidFill>
                <a:latin typeface="Arial"/>
                <a:ea typeface="Arial"/>
                <a:cs typeface="Arial"/>
              </a:rPr>
              <a:t>Retrieved policy chunks remain attributable</a:t>
            </a:r>
            <a:endParaRPr sz="1400"/>
          </a:p>
        </p:txBody>
      </p:sp>
      <p:sp>
        <p:nvSpPr>
          <p:cNvPr id="21" name="Connector 21">
            <a:extLst>
              <a:ext uri="{FF2B5EF4-FFF2-40B4-BE49-F238E27FC236}">
                <a16:creationId xmlns:a16="http://schemas.microsoft.com/office/drawing/2014/main" id="{86EA80E5-D3DF-4696-8F58-70080B2F706E}"/>
              </a:ext>
            </a:extLst>
          </p:cNvPr>
          <p:cNvSpPr>
            <a:spLocks noGrp="1"/>
          </p:cNvSpPr>
          <p:nvPr/>
        </p:nvSpPr>
        <p:spPr>
          <a:xfrm>
            <a:off x="4762500" y="3162300"/>
            <a:ext cx="2095500" cy="0"/>
          </a:xfrm>
          <a:prstGeom prst="line">
            <a:avLst/>
          </a:prstGeom>
          <a:ln w="38100">
            <a:solidFill>
              <a:srgbClr val="1F7A5A"/>
            </a:solidFill>
            <a:tailEnd type="triangle"/>
          </a:ln>
        </p:spPr>
      </p:sp>
      <p:sp>
        <p:nvSpPr>
          <p:cNvPr id="22" name="Shape 22">
            <a:extLst>
              <a:ext uri="{FF2B5EF4-FFF2-40B4-BE49-F238E27FC236}">
                <a16:creationId xmlns:a16="http://schemas.microsoft.com/office/drawing/2014/main" id="{A705BD25-0728-46E0-A610-7AF5C45F3D9D}"/>
              </a:ext>
            </a:extLst>
          </p:cNvPr>
          <p:cNvSpPr>
            <a:spLocks noGrp="1"/>
          </p:cNvSpPr>
          <p:nvPr/>
        </p:nvSpPr>
        <p:spPr>
          <a:xfrm>
            <a:off x="6858000" y="2857500"/>
            <a:ext cx="4667250" cy="609600"/>
          </a:xfrm>
          <a:prstGeom prst="rect">
            <a:avLst/>
          </a:prstGeom>
          <a:solidFill>
            <a:srgbClr val="F4F6F8"/>
          </a:solidFill>
          <a:ln w="25400">
            <a:solidFill>
              <a:srgbClr val="1F7A5A"/>
            </a:solidFill>
          </a:ln>
        </p:spPr>
      </p:sp>
      <p:sp>
        <p:nvSpPr>
          <p:cNvPr id="23" name="Shape 23">
            <a:extLst>
              <a:ext uri="{FF2B5EF4-FFF2-40B4-BE49-F238E27FC236}">
                <a16:creationId xmlns:a16="http://schemas.microsoft.com/office/drawing/2014/main" id="{5696B369-6479-451D-8109-BE290E497D47}"/>
              </a:ext>
            </a:extLst>
          </p:cNvPr>
          <p:cNvSpPr>
            <a:spLocks noGrp="1"/>
          </p:cNvSpPr>
          <p:nvPr/>
        </p:nvSpPr>
        <p:spPr>
          <a:xfrm>
            <a:off x="7067550" y="2952750"/>
            <a:ext cx="419100" cy="419100"/>
          </a:xfrm>
          <a:prstGeom prst="roundRect">
            <a:avLst/>
          </a:prstGeom>
          <a:solidFill>
            <a:srgbClr val="FFFFFF"/>
          </a:solidFill>
          <a:ln w="19050">
            <a:solidFill>
              <a:srgbClr val="1F7A5A"/>
            </a:solidFill>
          </a:ln>
        </p:spPr>
      </p:sp>
      <p:pic>
        <p:nvPicPr>
          <p:cNvPr id="81" name="Picture 24"/>
          <p:cNvPicPr>
            <a:picLocks noChangeAspect="1"/>
          </p:cNvPicPr>
          <p:nvPr/>
        </p:nvPicPr>
        <p:blipFill>
          <a:blip r:embed="rId6"/>
          <a:stretch>
            <a:fillRect/>
          </a:stretch>
        </p:blipFill>
        <p:spPr>
          <a:xfrm>
            <a:off x="7172325" y="3057525"/>
            <a:ext cx="209550" cy="209550"/>
          </a:xfrm>
          <a:prstGeom prst="rect">
            <a:avLst/>
          </a:prstGeom>
          <a:ln>
            <a:noFill/>
          </a:ln>
        </p:spPr>
      </p:pic>
      <p:sp>
        <p:nvSpPr>
          <p:cNvPr id="25" name="Text 25">
            <a:extLst>
              <a:ext uri="{FF2B5EF4-FFF2-40B4-BE49-F238E27FC236}">
                <a16:creationId xmlns:a16="http://schemas.microsoft.com/office/drawing/2014/main" id="{DA38B68C-4594-4093-B80A-518544DF7053}"/>
              </a:ext>
            </a:extLst>
          </p:cNvPr>
          <p:cNvSpPr>
            <a:spLocks noGrp="1"/>
          </p:cNvSpPr>
          <p:nvPr/>
        </p:nvSpPr>
        <p:spPr>
          <a:xfrm>
            <a:off x="7639050" y="2971800"/>
            <a:ext cx="3638550" cy="381000"/>
          </a:xfrm>
          <a:prstGeom prst="rect">
            <a:avLst/>
          </a:prstGeom>
          <a:noFill/>
          <a:ln>
            <a:noFill/>
          </a:ln>
        </p:spPr>
        <p:txBody>
          <a:bodyPr wrap="square" lIns="0" tIns="0" rIns="0" bIns="0" anchor="ctr"/>
          <a:lstStyle/>
          <a:p>
            <a:pPr algn="l">
              <a:buNone/>
            </a:pPr>
            <a:r>
              <a:rPr sz="1400" b="1">
                <a:solidFill>
                  <a:srgbClr val="1F7A5A"/>
                </a:solidFill>
                <a:latin typeface="Arial"/>
                <a:ea typeface="Arial"/>
                <a:cs typeface="Arial"/>
              </a:rPr>
              <a:t>PostgreSQL and pgvector integration</a:t>
            </a:r>
            <a:endParaRPr sz="1400"/>
          </a:p>
        </p:txBody>
      </p:sp>
      <p:sp>
        <p:nvSpPr>
          <p:cNvPr id="26" name="Shape 26">
            <a:extLst>
              <a:ext uri="{FF2B5EF4-FFF2-40B4-BE49-F238E27FC236}">
                <a16:creationId xmlns:a16="http://schemas.microsoft.com/office/drawing/2014/main" id="{909DEBE7-AD0A-4C3D-83FB-080C85813379}"/>
              </a:ext>
            </a:extLst>
          </p:cNvPr>
          <p:cNvSpPr>
            <a:spLocks noGrp="1"/>
          </p:cNvSpPr>
          <p:nvPr/>
        </p:nvSpPr>
        <p:spPr>
          <a:xfrm>
            <a:off x="666750" y="3771900"/>
            <a:ext cx="4095750" cy="609600"/>
          </a:xfrm>
          <a:prstGeom prst="rect">
            <a:avLst/>
          </a:prstGeom>
          <a:solidFill>
            <a:srgbClr val="FFFFFF"/>
          </a:solidFill>
          <a:ln w="25400">
            <a:solidFill>
              <a:srgbClr val="2A5B84"/>
            </a:solidFill>
          </a:ln>
        </p:spPr>
      </p:sp>
      <p:sp>
        <p:nvSpPr>
          <p:cNvPr id="27" name="Shape 27">
            <a:extLst>
              <a:ext uri="{FF2B5EF4-FFF2-40B4-BE49-F238E27FC236}">
                <a16:creationId xmlns:a16="http://schemas.microsoft.com/office/drawing/2014/main" id="{6824D617-9C6F-4354-8339-4BDA66AF38F1}"/>
              </a:ext>
            </a:extLst>
          </p:cNvPr>
          <p:cNvSpPr>
            <a:spLocks noGrp="1"/>
          </p:cNvSpPr>
          <p:nvPr/>
        </p:nvSpPr>
        <p:spPr>
          <a:xfrm>
            <a:off x="666750" y="3771900"/>
            <a:ext cx="76200" cy="609600"/>
          </a:xfrm>
          <a:prstGeom prst="rect">
            <a:avLst/>
          </a:prstGeom>
          <a:solidFill>
            <a:srgbClr val="2A5B84"/>
          </a:solidFill>
          <a:ln w="12700">
            <a:solidFill>
              <a:srgbClr val="2A5B84"/>
            </a:solidFill>
          </a:ln>
        </p:spPr>
      </p:sp>
      <p:sp>
        <p:nvSpPr>
          <p:cNvPr id="28" name="Shape 28">
            <a:extLst>
              <a:ext uri="{FF2B5EF4-FFF2-40B4-BE49-F238E27FC236}">
                <a16:creationId xmlns:a16="http://schemas.microsoft.com/office/drawing/2014/main" id="{2FDA2583-6E57-4DC4-B79F-3F411C985CB2}"/>
              </a:ext>
            </a:extLst>
          </p:cNvPr>
          <p:cNvSpPr>
            <a:spLocks noGrp="1"/>
          </p:cNvSpPr>
          <p:nvPr/>
        </p:nvSpPr>
        <p:spPr>
          <a:xfrm>
            <a:off x="876300" y="3867150"/>
            <a:ext cx="419100" cy="419100"/>
          </a:xfrm>
          <a:prstGeom prst="roundRect">
            <a:avLst/>
          </a:prstGeom>
          <a:solidFill>
            <a:srgbClr val="F4F6F8"/>
          </a:solidFill>
          <a:ln w="19050">
            <a:solidFill>
              <a:srgbClr val="2A5B84"/>
            </a:solidFill>
          </a:ln>
        </p:spPr>
      </p:sp>
      <p:pic>
        <p:nvPicPr>
          <p:cNvPr id="86" name="Picture 29"/>
          <p:cNvPicPr>
            <a:picLocks noChangeAspect="1"/>
          </p:cNvPicPr>
          <p:nvPr/>
        </p:nvPicPr>
        <p:blipFill>
          <a:blip r:embed="rId7"/>
          <a:stretch>
            <a:fillRect/>
          </a:stretch>
        </p:blipFill>
        <p:spPr>
          <a:xfrm>
            <a:off x="981075" y="3971925"/>
            <a:ext cx="209550" cy="209550"/>
          </a:xfrm>
          <a:prstGeom prst="rect">
            <a:avLst/>
          </a:prstGeom>
          <a:ln>
            <a:noFill/>
          </a:ln>
        </p:spPr>
      </p:pic>
      <p:sp>
        <p:nvSpPr>
          <p:cNvPr id="30" name="Text 30">
            <a:extLst>
              <a:ext uri="{FF2B5EF4-FFF2-40B4-BE49-F238E27FC236}">
                <a16:creationId xmlns:a16="http://schemas.microsoft.com/office/drawing/2014/main" id="{B971DF3E-3F46-428B-8F6F-1F4B53F17B79}"/>
              </a:ext>
            </a:extLst>
          </p:cNvPr>
          <p:cNvSpPr>
            <a:spLocks noGrp="1"/>
          </p:cNvSpPr>
          <p:nvPr/>
        </p:nvSpPr>
        <p:spPr>
          <a:xfrm>
            <a:off x="1447800" y="3886200"/>
            <a:ext cx="3086100" cy="381000"/>
          </a:xfrm>
          <a:prstGeom prst="rect">
            <a:avLst/>
          </a:prstGeom>
          <a:noFill/>
          <a:ln>
            <a:noFill/>
          </a:ln>
        </p:spPr>
        <p:txBody>
          <a:bodyPr wrap="square" lIns="0" tIns="0" rIns="0" bIns="0" anchor="ctr"/>
          <a:lstStyle/>
          <a:p>
            <a:pPr algn="l">
              <a:buNone/>
            </a:pPr>
            <a:r>
              <a:rPr sz="1400" b="1">
                <a:solidFill>
                  <a:srgbClr val="17212B"/>
                </a:solidFill>
                <a:latin typeface="Arial"/>
                <a:ea typeface="Arial"/>
                <a:cs typeface="Arial"/>
              </a:rPr>
              <a:t>Adapters preserve the application contract</a:t>
            </a:r>
            <a:endParaRPr sz="1400"/>
          </a:p>
        </p:txBody>
      </p:sp>
      <p:sp>
        <p:nvSpPr>
          <p:cNvPr id="31" name="Connector 31">
            <a:extLst>
              <a:ext uri="{FF2B5EF4-FFF2-40B4-BE49-F238E27FC236}">
                <a16:creationId xmlns:a16="http://schemas.microsoft.com/office/drawing/2014/main" id="{3F8C7B42-7BE7-44F0-8034-AC5FCF472F07}"/>
              </a:ext>
            </a:extLst>
          </p:cNvPr>
          <p:cNvSpPr>
            <a:spLocks noGrp="1"/>
          </p:cNvSpPr>
          <p:nvPr/>
        </p:nvSpPr>
        <p:spPr>
          <a:xfrm>
            <a:off x="4762500" y="4076700"/>
            <a:ext cx="2095500" cy="0"/>
          </a:xfrm>
          <a:prstGeom prst="line">
            <a:avLst/>
          </a:prstGeom>
          <a:ln w="38100">
            <a:solidFill>
              <a:srgbClr val="2A5B84"/>
            </a:solidFill>
            <a:tailEnd type="triangle"/>
          </a:ln>
        </p:spPr>
      </p:sp>
      <p:sp>
        <p:nvSpPr>
          <p:cNvPr id="32" name="Shape 32">
            <a:extLst>
              <a:ext uri="{FF2B5EF4-FFF2-40B4-BE49-F238E27FC236}">
                <a16:creationId xmlns:a16="http://schemas.microsoft.com/office/drawing/2014/main" id="{B9480443-939A-4A67-9C88-FA578BB02DE3}"/>
              </a:ext>
            </a:extLst>
          </p:cNvPr>
          <p:cNvSpPr>
            <a:spLocks noGrp="1"/>
          </p:cNvSpPr>
          <p:nvPr/>
        </p:nvSpPr>
        <p:spPr>
          <a:xfrm>
            <a:off x="6858000" y="3771900"/>
            <a:ext cx="4667250" cy="609600"/>
          </a:xfrm>
          <a:prstGeom prst="rect">
            <a:avLst/>
          </a:prstGeom>
          <a:solidFill>
            <a:srgbClr val="F4F6F8"/>
          </a:solidFill>
          <a:ln w="25400">
            <a:solidFill>
              <a:srgbClr val="2A5B84"/>
            </a:solidFill>
          </a:ln>
        </p:spPr>
      </p:sp>
      <p:sp>
        <p:nvSpPr>
          <p:cNvPr id="33" name="Shape 33">
            <a:extLst>
              <a:ext uri="{FF2B5EF4-FFF2-40B4-BE49-F238E27FC236}">
                <a16:creationId xmlns:a16="http://schemas.microsoft.com/office/drawing/2014/main" id="{0C71BE93-A209-42DD-A95A-ECB0EEC1A9A2}"/>
              </a:ext>
            </a:extLst>
          </p:cNvPr>
          <p:cNvSpPr>
            <a:spLocks noGrp="1"/>
          </p:cNvSpPr>
          <p:nvPr/>
        </p:nvSpPr>
        <p:spPr>
          <a:xfrm>
            <a:off x="7067550" y="3867150"/>
            <a:ext cx="419100" cy="419100"/>
          </a:xfrm>
          <a:prstGeom prst="roundRect">
            <a:avLst/>
          </a:prstGeom>
          <a:solidFill>
            <a:srgbClr val="FFFFFF"/>
          </a:solidFill>
          <a:ln w="19050">
            <a:solidFill>
              <a:srgbClr val="2A5B84"/>
            </a:solidFill>
          </a:ln>
        </p:spPr>
      </p:sp>
      <p:pic>
        <p:nvPicPr>
          <p:cNvPr id="91" name="Picture 34"/>
          <p:cNvPicPr>
            <a:picLocks noChangeAspect="1"/>
          </p:cNvPicPr>
          <p:nvPr/>
        </p:nvPicPr>
        <p:blipFill>
          <a:blip r:embed="rId8"/>
          <a:stretch>
            <a:fillRect/>
          </a:stretch>
        </p:blipFill>
        <p:spPr>
          <a:xfrm>
            <a:off x="7172325" y="3971925"/>
            <a:ext cx="209550" cy="209550"/>
          </a:xfrm>
          <a:prstGeom prst="rect">
            <a:avLst/>
          </a:prstGeom>
          <a:ln>
            <a:noFill/>
          </a:ln>
        </p:spPr>
      </p:pic>
      <p:sp>
        <p:nvSpPr>
          <p:cNvPr id="35" name="Text 35">
            <a:extLst>
              <a:ext uri="{FF2B5EF4-FFF2-40B4-BE49-F238E27FC236}">
                <a16:creationId xmlns:a16="http://schemas.microsoft.com/office/drawing/2014/main" id="{69BB6FDA-E948-4DB0-88B3-250A2D03988D}"/>
              </a:ext>
            </a:extLst>
          </p:cNvPr>
          <p:cNvSpPr>
            <a:spLocks noGrp="1"/>
          </p:cNvSpPr>
          <p:nvPr/>
        </p:nvSpPr>
        <p:spPr>
          <a:xfrm>
            <a:off x="7639050" y="3886200"/>
            <a:ext cx="3638550" cy="381000"/>
          </a:xfrm>
          <a:prstGeom prst="rect">
            <a:avLst/>
          </a:prstGeom>
          <a:noFill/>
          <a:ln>
            <a:noFill/>
          </a:ln>
        </p:spPr>
        <p:txBody>
          <a:bodyPr wrap="square" lIns="0" tIns="0" rIns="0" bIns="0" anchor="ctr"/>
          <a:lstStyle/>
          <a:p>
            <a:pPr algn="l">
              <a:buNone/>
            </a:pPr>
            <a:r>
              <a:rPr sz="1400" b="1">
                <a:solidFill>
                  <a:srgbClr val="2A5B84"/>
                </a:solidFill>
                <a:latin typeface="Arial"/>
                <a:ea typeface="Arial"/>
                <a:cs typeface="Arial"/>
              </a:rPr>
              <a:t>Port contract tests across substitutions</a:t>
            </a:r>
            <a:endParaRPr sz="1400"/>
          </a:p>
        </p:txBody>
      </p:sp>
      <p:sp>
        <p:nvSpPr>
          <p:cNvPr id="36" name="Shape 36">
            <a:extLst>
              <a:ext uri="{FF2B5EF4-FFF2-40B4-BE49-F238E27FC236}">
                <a16:creationId xmlns:a16="http://schemas.microsoft.com/office/drawing/2014/main" id="{90292A4C-3548-4BA1-8C45-2F2628F7E6D9}"/>
              </a:ext>
            </a:extLst>
          </p:cNvPr>
          <p:cNvSpPr>
            <a:spLocks noGrp="1"/>
          </p:cNvSpPr>
          <p:nvPr/>
        </p:nvSpPr>
        <p:spPr>
          <a:xfrm>
            <a:off x="666750" y="4686300"/>
            <a:ext cx="4095750" cy="609600"/>
          </a:xfrm>
          <a:prstGeom prst="rect">
            <a:avLst/>
          </a:prstGeom>
          <a:solidFill>
            <a:srgbClr val="FFFFFF"/>
          </a:solidFill>
          <a:ln w="25400">
            <a:solidFill>
              <a:srgbClr val="17212B"/>
            </a:solidFill>
          </a:ln>
        </p:spPr>
      </p:sp>
      <p:sp>
        <p:nvSpPr>
          <p:cNvPr id="37" name="Shape 37">
            <a:extLst>
              <a:ext uri="{FF2B5EF4-FFF2-40B4-BE49-F238E27FC236}">
                <a16:creationId xmlns:a16="http://schemas.microsoft.com/office/drawing/2014/main" id="{B3BC6D7A-0ADB-4E81-8AA2-6B5D4940E996}"/>
              </a:ext>
            </a:extLst>
          </p:cNvPr>
          <p:cNvSpPr>
            <a:spLocks noGrp="1"/>
          </p:cNvSpPr>
          <p:nvPr/>
        </p:nvSpPr>
        <p:spPr>
          <a:xfrm>
            <a:off x="666750" y="4686300"/>
            <a:ext cx="76200" cy="609600"/>
          </a:xfrm>
          <a:prstGeom prst="rect">
            <a:avLst/>
          </a:prstGeom>
          <a:solidFill>
            <a:srgbClr val="17212B"/>
          </a:solidFill>
          <a:ln w="12700">
            <a:solidFill>
              <a:srgbClr val="17212B"/>
            </a:solidFill>
          </a:ln>
        </p:spPr>
      </p:sp>
      <p:sp>
        <p:nvSpPr>
          <p:cNvPr id="38" name="Shape 38">
            <a:extLst>
              <a:ext uri="{FF2B5EF4-FFF2-40B4-BE49-F238E27FC236}">
                <a16:creationId xmlns:a16="http://schemas.microsoft.com/office/drawing/2014/main" id="{BDA14349-33CC-40AF-9BC8-61FB7EADF250}"/>
              </a:ext>
            </a:extLst>
          </p:cNvPr>
          <p:cNvSpPr>
            <a:spLocks noGrp="1"/>
          </p:cNvSpPr>
          <p:nvPr/>
        </p:nvSpPr>
        <p:spPr>
          <a:xfrm>
            <a:off x="876300" y="4781550"/>
            <a:ext cx="419100" cy="419100"/>
          </a:xfrm>
          <a:prstGeom prst="roundRect">
            <a:avLst/>
          </a:prstGeom>
          <a:solidFill>
            <a:srgbClr val="F4F6F8"/>
          </a:solidFill>
          <a:ln w="19050">
            <a:solidFill>
              <a:srgbClr val="17212B"/>
            </a:solidFill>
          </a:ln>
        </p:spPr>
      </p:sp>
      <p:pic>
        <p:nvPicPr>
          <p:cNvPr id="96" name="Picture 39"/>
          <p:cNvPicPr>
            <a:picLocks noChangeAspect="1"/>
          </p:cNvPicPr>
          <p:nvPr/>
        </p:nvPicPr>
        <p:blipFill>
          <a:blip r:embed="rId9"/>
          <a:stretch>
            <a:fillRect/>
          </a:stretch>
        </p:blipFill>
        <p:spPr>
          <a:xfrm>
            <a:off x="981075" y="4886325"/>
            <a:ext cx="209550" cy="209550"/>
          </a:xfrm>
          <a:prstGeom prst="rect">
            <a:avLst/>
          </a:prstGeom>
          <a:ln>
            <a:noFill/>
          </a:ln>
        </p:spPr>
      </p:pic>
      <p:sp>
        <p:nvSpPr>
          <p:cNvPr id="40" name="Text 40">
            <a:extLst>
              <a:ext uri="{FF2B5EF4-FFF2-40B4-BE49-F238E27FC236}">
                <a16:creationId xmlns:a16="http://schemas.microsoft.com/office/drawing/2014/main" id="{D22D0B2E-8880-43F1-BF3F-DBA30CD945EA}"/>
              </a:ext>
            </a:extLst>
          </p:cNvPr>
          <p:cNvSpPr>
            <a:spLocks noGrp="1"/>
          </p:cNvSpPr>
          <p:nvPr/>
        </p:nvSpPr>
        <p:spPr>
          <a:xfrm>
            <a:off x="1447800" y="4800600"/>
            <a:ext cx="3086100" cy="381000"/>
          </a:xfrm>
          <a:prstGeom prst="rect">
            <a:avLst/>
          </a:prstGeom>
          <a:noFill/>
          <a:ln>
            <a:noFill/>
          </a:ln>
        </p:spPr>
        <p:txBody>
          <a:bodyPr wrap="square" lIns="0" tIns="0" rIns="0" bIns="0" anchor="ctr"/>
          <a:lstStyle/>
          <a:p>
            <a:pPr algn="l">
              <a:buNone/>
            </a:pPr>
            <a:r>
              <a:rPr sz="1400" b="1">
                <a:solidFill>
                  <a:srgbClr val="17212B"/>
                </a:solidFill>
                <a:latin typeface="Arial"/>
                <a:ea typeface="Arial"/>
                <a:cs typeface="Arial"/>
              </a:rPr>
              <a:t>Scores remain bounded and repeatable</a:t>
            </a:r>
            <a:endParaRPr sz="1400"/>
          </a:p>
        </p:txBody>
      </p:sp>
      <p:sp>
        <p:nvSpPr>
          <p:cNvPr id="41" name="Connector 41">
            <a:extLst>
              <a:ext uri="{FF2B5EF4-FFF2-40B4-BE49-F238E27FC236}">
                <a16:creationId xmlns:a16="http://schemas.microsoft.com/office/drawing/2014/main" id="{E719FCE1-5EA7-49D2-A715-F4D1E38EF3E2}"/>
              </a:ext>
            </a:extLst>
          </p:cNvPr>
          <p:cNvSpPr>
            <a:spLocks noGrp="1"/>
          </p:cNvSpPr>
          <p:nvPr/>
        </p:nvSpPr>
        <p:spPr>
          <a:xfrm>
            <a:off x="4762500" y="4991100"/>
            <a:ext cx="2095500" cy="0"/>
          </a:xfrm>
          <a:prstGeom prst="line">
            <a:avLst/>
          </a:prstGeom>
          <a:ln w="38100">
            <a:solidFill>
              <a:srgbClr val="17212B"/>
            </a:solidFill>
            <a:tailEnd type="triangle"/>
          </a:ln>
        </p:spPr>
      </p:sp>
      <p:sp>
        <p:nvSpPr>
          <p:cNvPr id="42" name="Shape 42">
            <a:extLst>
              <a:ext uri="{FF2B5EF4-FFF2-40B4-BE49-F238E27FC236}">
                <a16:creationId xmlns:a16="http://schemas.microsoft.com/office/drawing/2014/main" id="{ED64FF96-3F01-435F-9B2A-71246089BF34}"/>
              </a:ext>
            </a:extLst>
          </p:cNvPr>
          <p:cNvSpPr>
            <a:spLocks noGrp="1"/>
          </p:cNvSpPr>
          <p:nvPr/>
        </p:nvSpPr>
        <p:spPr>
          <a:xfrm>
            <a:off x="6858000" y="4686300"/>
            <a:ext cx="4667250" cy="609600"/>
          </a:xfrm>
          <a:prstGeom prst="rect">
            <a:avLst/>
          </a:prstGeom>
          <a:solidFill>
            <a:srgbClr val="F4F6F8"/>
          </a:solidFill>
          <a:ln w="25400">
            <a:solidFill>
              <a:srgbClr val="17212B"/>
            </a:solidFill>
          </a:ln>
        </p:spPr>
      </p:sp>
      <p:sp>
        <p:nvSpPr>
          <p:cNvPr id="43" name="Shape 43">
            <a:extLst>
              <a:ext uri="{FF2B5EF4-FFF2-40B4-BE49-F238E27FC236}">
                <a16:creationId xmlns:a16="http://schemas.microsoft.com/office/drawing/2014/main" id="{B1C3EFAD-066C-4F7D-9A85-C32DDD992941}"/>
              </a:ext>
            </a:extLst>
          </p:cNvPr>
          <p:cNvSpPr>
            <a:spLocks noGrp="1"/>
          </p:cNvSpPr>
          <p:nvPr/>
        </p:nvSpPr>
        <p:spPr>
          <a:xfrm>
            <a:off x="7067550" y="4781550"/>
            <a:ext cx="419100" cy="419100"/>
          </a:xfrm>
          <a:prstGeom prst="roundRect">
            <a:avLst/>
          </a:prstGeom>
          <a:solidFill>
            <a:srgbClr val="FFFFFF"/>
          </a:solidFill>
          <a:ln w="19050">
            <a:solidFill>
              <a:srgbClr val="17212B"/>
            </a:solidFill>
          </a:ln>
        </p:spPr>
      </p:sp>
      <p:pic>
        <p:nvPicPr>
          <p:cNvPr id="101" name="Picture 44"/>
          <p:cNvPicPr>
            <a:picLocks noChangeAspect="1"/>
          </p:cNvPicPr>
          <p:nvPr/>
        </p:nvPicPr>
        <p:blipFill>
          <a:blip r:embed="rId10"/>
          <a:stretch>
            <a:fillRect/>
          </a:stretch>
        </p:blipFill>
        <p:spPr>
          <a:xfrm>
            <a:off x="7172325" y="4886325"/>
            <a:ext cx="209550" cy="209550"/>
          </a:xfrm>
          <a:prstGeom prst="rect">
            <a:avLst/>
          </a:prstGeom>
          <a:ln>
            <a:noFill/>
          </a:ln>
        </p:spPr>
      </p:pic>
      <p:sp>
        <p:nvSpPr>
          <p:cNvPr id="45" name="Text 45">
            <a:extLst>
              <a:ext uri="{FF2B5EF4-FFF2-40B4-BE49-F238E27FC236}">
                <a16:creationId xmlns:a16="http://schemas.microsoft.com/office/drawing/2014/main" id="{38B6962E-51BE-4267-96BB-9128DAE79FAA}"/>
              </a:ext>
            </a:extLst>
          </p:cNvPr>
          <p:cNvSpPr>
            <a:spLocks noGrp="1"/>
          </p:cNvSpPr>
          <p:nvPr/>
        </p:nvSpPr>
        <p:spPr>
          <a:xfrm>
            <a:off x="7639050" y="4800600"/>
            <a:ext cx="3638550" cy="381000"/>
          </a:xfrm>
          <a:prstGeom prst="rect">
            <a:avLst/>
          </a:prstGeom>
          <a:noFill/>
          <a:ln>
            <a:noFill/>
          </a:ln>
        </p:spPr>
        <p:txBody>
          <a:bodyPr wrap="square" lIns="0" tIns="0" rIns="0" bIns="0" anchor="ctr"/>
          <a:lstStyle/>
          <a:p>
            <a:pPr algn="l">
              <a:buNone/>
            </a:pPr>
            <a:r>
              <a:rPr sz="1400" b="1">
                <a:solidFill>
                  <a:srgbClr val="17212B"/>
                </a:solidFill>
                <a:latin typeface="Arial"/>
                <a:ea typeface="Arial"/>
                <a:cs typeface="Arial"/>
              </a:rPr>
              <a:t>Unit and property tests</a:t>
            </a:r>
            <a:endParaRPr sz="1400"/>
          </a:p>
        </p:txBody>
      </p:sp>
      <p:sp>
        <p:nvSpPr>
          <p:cNvPr id="46" name="Shape 46">
            <a:extLst>
              <a:ext uri="{FF2B5EF4-FFF2-40B4-BE49-F238E27FC236}">
                <a16:creationId xmlns:a16="http://schemas.microsoft.com/office/drawing/2014/main" id="{12B50300-18BB-4ADB-A43F-603E70095234}"/>
              </a:ext>
            </a:extLst>
          </p:cNvPr>
          <p:cNvSpPr>
            <a:spLocks noGrp="1"/>
          </p:cNvSpPr>
          <p:nvPr/>
        </p:nvSpPr>
        <p:spPr>
          <a:xfrm>
            <a:off x="1524000" y="5695950"/>
            <a:ext cx="9144000" cy="457200"/>
          </a:xfrm>
          <a:prstGeom prst="rect">
            <a:avLst/>
          </a:prstGeom>
          <a:solidFill>
            <a:srgbClr val="FFFFFF"/>
          </a:solidFill>
          <a:ln w="12700">
            <a:solidFill>
              <a:srgbClr val="D9DEE3"/>
            </a:solidFill>
          </a:ln>
        </p:spPr>
      </p:sp>
      <p:sp>
        <p:nvSpPr>
          <p:cNvPr id="47" name="Text 47">
            <a:extLst>
              <a:ext uri="{FF2B5EF4-FFF2-40B4-BE49-F238E27FC236}">
                <a16:creationId xmlns:a16="http://schemas.microsoft.com/office/drawing/2014/main" id="{035CD43D-C31C-496F-B217-94217C21BDBE}"/>
              </a:ext>
            </a:extLst>
          </p:cNvPr>
          <p:cNvSpPr>
            <a:spLocks noGrp="1"/>
          </p:cNvSpPr>
          <p:nvPr/>
        </p:nvSpPr>
        <p:spPr>
          <a:xfrm>
            <a:off x="1733550" y="5810250"/>
            <a:ext cx="8724900" cy="228600"/>
          </a:xfrm>
          <a:prstGeom prst="rect">
            <a:avLst/>
          </a:prstGeom>
          <a:noFill/>
          <a:ln>
            <a:noFill/>
          </a:ln>
        </p:spPr>
        <p:txBody>
          <a:bodyPr wrap="square" lIns="0" tIns="0" rIns="0" bIns="0" anchor="t"/>
          <a:lstStyle/>
          <a:p>
            <a:pPr algn="ctr">
              <a:buNone/>
            </a:pPr>
            <a:r>
              <a:rPr sz="1300" b="1">
                <a:solidFill>
                  <a:srgbClr val="981B1E"/>
                </a:solidFill>
                <a:latin typeface="Arial"/>
                <a:ea typeface="Arial"/>
                <a:cs typeface="Arial"/>
              </a:rPr>
              <a:t>Traceability: SRS and design IDs, test markers, workflow artifact and exact source SHA</a:t>
            </a:r>
            <a:endParaRPr sz="1300"/>
          </a:p>
        </p:txBody>
      </p:sp>
      <p:sp>
        <p:nvSpPr>
          <p:cNvPr id="48" name="Connector 48">
            <a:extLst>
              <a:ext uri="{FF2B5EF4-FFF2-40B4-BE49-F238E27FC236}">
                <a16:creationId xmlns:a16="http://schemas.microsoft.com/office/drawing/2014/main" id="{49C9B5CD-52B6-4C6A-A60C-1A17303A28AD}"/>
              </a:ext>
            </a:extLst>
          </p:cNvPr>
          <p:cNvSpPr>
            <a:spLocks noGrp="1"/>
          </p:cNvSpPr>
          <p:nvPr/>
        </p:nvSpPr>
        <p:spPr>
          <a:xfrm>
            <a:off x="552450" y="6419850"/>
            <a:ext cx="11087100" cy="0"/>
          </a:xfrm>
          <a:prstGeom prst="line">
            <a:avLst/>
          </a:prstGeom>
          <a:ln w="12700">
            <a:solidFill>
              <a:srgbClr val="BFC5CB"/>
            </a:solidFill>
          </a:ln>
        </p:spPr>
      </p:sp>
      <p:sp>
        <p:nvSpPr>
          <p:cNvPr id="49" name="Text 49">
            <a:extLst>
              <a:ext uri="{FF2B5EF4-FFF2-40B4-BE49-F238E27FC236}">
                <a16:creationId xmlns:a16="http://schemas.microsoft.com/office/drawing/2014/main" id="{13AB2B67-C1C5-4688-AD45-3F01F2C75B8C}"/>
              </a:ext>
            </a:extLst>
          </p:cNvPr>
          <p:cNvSpPr>
            <a:spLocks noGrp="1"/>
          </p:cNvSpPr>
          <p:nvPr/>
        </p:nvSpPr>
        <p:spPr>
          <a:xfrm>
            <a:off x="571500" y="6496050"/>
            <a:ext cx="4953000" cy="171450"/>
          </a:xfrm>
          <a:prstGeom prst="rect">
            <a:avLst/>
          </a:prstGeom>
          <a:noFill/>
          <a:ln>
            <a:noFill/>
          </a:ln>
        </p:spPr>
        <p:txBody>
          <a:bodyPr wrap="square" lIns="0" tIns="0" rIns="0" bIns="0" anchor="t"/>
          <a:lstStyle/>
          <a:p>
            <a:pPr algn="l">
              <a:buNone/>
            </a:pPr>
            <a:r>
              <a:rPr sz="1000" b="1" spc="120">
                <a:solidFill>
                  <a:srgbClr val="5D6873"/>
                </a:solidFill>
                <a:latin typeface="Arial"/>
                <a:ea typeface="Arial"/>
                <a:cs typeface="Arial"/>
              </a:rPr>
              <a:t>TECHNICAL APPENDIX</a:t>
            </a:r>
            <a:endParaRPr sz="1000"/>
          </a:p>
        </p:txBody>
      </p:sp>
      <p:sp>
        <p:nvSpPr>
          <p:cNvPr id="50" name="Text 50">
            <a:extLst>
              <a:ext uri="{FF2B5EF4-FFF2-40B4-BE49-F238E27FC236}">
                <a16:creationId xmlns:a16="http://schemas.microsoft.com/office/drawing/2014/main" id="{71A79200-BDF2-4495-8C4B-A9E533C349E7}"/>
              </a:ext>
            </a:extLst>
          </p:cNvPr>
          <p:cNvSpPr>
            <a:spLocks noGrp="1"/>
          </p:cNvSpPr>
          <p:nvPr/>
        </p:nvSpPr>
        <p:spPr>
          <a:xfrm>
            <a:off x="11049000" y="6496050"/>
            <a:ext cx="571500" cy="171450"/>
          </a:xfrm>
          <a:prstGeom prst="rect">
            <a:avLst/>
          </a:prstGeom>
          <a:noFill/>
          <a:ln>
            <a:noFill/>
          </a:ln>
        </p:spPr>
        <p:txBody>
          <a:bodyPr wrap="square" lIns="0" tIns="0" rIns="0" bIns="0" anchor="t"/>
          <a:lstStyle/>
          <a:p>
            <a:pPr algn="r">
              <a:buNone/>
            </a:pPr>
            <a:r>
              <a:rPr sz="1000" b="0">
                <a:solidFill>
                  <a:srgbClr val="5D6873"/>
                </a:solidFill>
                <a:latin typeface="Arial"/>
                <a:ea typeface="Arial"/>
                <a:cs typeface="Arial"/>
              </a:rPr>
              <a:t>H</a:t>
            </a:r>
            <a:endParaRPr sz="1000"/>
          </a:p>
        </p:txBody>
      </p:sp>
    </p:spTree>
    <p:extLst>
      <p:ext uri="{BB962C8B-B14F-4D97-AF65-F5344CB8AC3E}">
        <p14:creationId xmlns:p14="http://schemas.microsoft.com/office/powerpoint/2010/main" val="1498805452"/>
      </p:ext>
    </p:extLst>
  </p:cSld>
  <p:clrMapOvr>
    <a:masterClrMapping/>
  </p:clrMapOvr>
</p:sld>
</file>

<file path=ppt/theme/theme1.xml><?xml version="1.0" encoding="utf-8"?>
<a:theme xmlns:a="http://schemas.openxmlformats.org/drawingml/2006/main" name="SpecGraph">
  <a:themeElements>
    <a:clrScheme name="SpecGraph">
      <a:dk1>
        <a:srgbClr val="101820"/>
      </a:dk1>
      <a:lt1>
        <a:srgbClr val="FFFFFF"/>
      </a:lt1>
      <a:dk2>
        <a:srgbClr val="17212B"/>
      </a:dk2>
      <a:lt2>
        <a:srgbClr val="F4F6F8"/>
      </a:lt2>
      <a:accent1>
        <a:srgbClr val="D71920"/>
      </a:accent1>
      <a:accent2>
        <a:srgbClr val="2A5B84"/>
      </a:accent2>
      <a:accent3>
        <a:srgbClr val="1F7A5A"/>
      </a:accent3>
      <a:accent4>
        <a:srgbClr val="B46B13"/>
      </a:accent4>
      <a:accent5>
        <a:srgbClr val="667984"/>
      </a:accent5>
      <a:accent6>
        <a:srgbClr val="977176"/>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SpecGraph">
      <a:fillStyleLst>
        <a:solidFill>
          <a:srgbClr val="D71920"/>
        </a:solidFill>
        <a:solidFill>
          <a:srgbClr val="17212B"/>
        </a:solidFill>
        <a:solidFill>
          <a:srgbClr val="F4F6F8"/>
        </a:solidFill>
      </a:fillStyleLst>
      <a:lnStyleLst>
        <a:ln w="12700">
          <a:solidFill>
            <a:srgbClr val="17212B"/>
          </a:solidFill>
        </a:ln>
        <a:ln w="25400">
          <a:solidFill>
            <a:srgbClr val="D71920"/>
          </a:solidFill>
        </a:ln>
        <a:ln w="12700">
          <a:solidFill>
            <a:srgbClr val="D9DEE3"/>
          </a:solidFill>
        </a:ln>
      </a:lnStyleLst>
      <a:effectStyleLst>
        <a:effectStyle>
          <a:effectLst/>
        </a:effectStyle>
        <a:effectStyle>
          <a:effectLst/>
        </a:effectStyle>
        <a:effectStyle>
          <a:effectLst/>
        </a:effectStyle>
      </a:effectStyleLst>
      <a:bgFillStyleLst>
        <a:solidFill>
          <a:srgbClr val="FFFFFF"/>
        </a:solidFill>
        <a:solidFill>
          <a:srgbClr val="F4F6F8"/>
        </a:solidFill>
        <a:solidFill>
          <a:srgbClr val="101820"/>
        </a:solidFill>
      </a:bgFillStyleLst>
    </a:fmtScheme>
  </a:themeElements>
  <a:objectDefaults/>
  <a:extraClrSchemeLst/>
</a:theme>
</file>

<file path=ppt/theme/theme2.xml><?xml version="1.0" encoding="utf-8"?>
<a:theme xmlns:a="http://schemas.openxmlformats.org/drawingml/2006/main" name="SpecGraph">
  <a:themeElements>
    <a:clrScheme name="SpecGraph">
      <a:dk1>
        <a:srgbClr val="101820"/>
      </a:dk1>
      <a:lt1>
        <a:srgbClr val="FFFFFF"/>
      </a:lt1>
      <a:dk2>
        <a:srgbClr val="17212B"/>
      </a:dk2>
      <a:lt2>
        <a:srgbClr val="F4F6F8"/>
      </a:lt2>
      <a:accent1>
        <a:srgbClr val="D71920"/>
      </a:accent1>
      <a:accent2>
        <a:srgbClr val="2A5B84"/>
      </a:accent2>
      <a:accent3>
        <a:srgbClr val="1F7A5A"/>
      </a:accent3>
      <a:accent4>
        <a:srgbClr val="B46B13"/>
      </a:accent4>
      <a:accent5>
        <a:srgbClr val="667984"/>
      </a:accent5>
      <a:accent6>
        <a:srgbClr val="977176"/>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SpecGraph">
      <a:fillStyleLst>
        <a:solidFill>
          <a:srgbClr val="D71920"/>
        </a:solidFill>
        <a:solidFill>
          <a:srgbClr val="17212B"/>
        </a:solidFill>
        <a:solidFill>
          <a:srgbClr val="F4F6F8"/>
        </a:solidFill>
      </a:fillStyleLst>
      <a:lnStyleLst>
        <a:ln w="12700">
          <a:solidFill>
            <a:srgbClr val="17212B"/>
          </a:solidFill>
        </a:ln>
        <a:ln w="25400">
          <a:solidFill>
            <a:srgbClr val="D71920"/>
          </a:solidFill>
        </a:ln>
        <a:ln w="12700">
          <a:solidFill>
            <a:srgbClr val="D9DEE3"/>
          </a:solidFill>
        </a:ln>
      </a:lnStyleLst>
      <a:effectStyleLst>
        <a:effectStyle>
          <a:effectLst/>
        </a:effectStyle>
        <a:effectStyle>
          <a:effectLst/>
        </a:effectStyle>
        <a:effectStyle>
          <a:effectLst/>
        </a:effectStyle>
      </a:effectStyleLst>
      <a:bgFillStyleLst>
        <a:solidFill>
          <a:srgbClr val="FFFFFF"/>
        </a:solidFill>
        <a:solidFill>
          <a:srgbClr val="F4F6F8"/>
        </a:solidFill>
        <a:solidFill>
          <a:srgbClr val="101820"/>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5365</Words>
  <Application>Microsoft Office PowerPoint</Application>
  <DocSecurity>0</DocSecurity>
  <PresentationFormat>Grand écran</PresentationFormat>
  <Paragraphs>997</Paragraphs>
  <Slides>20</Slides>
  <Notes>20</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20</vt:i4>
      </vt:variant>
    </vt:vector>
  </HeadingPairs>
  <TitlesOfParts>
    <vt:vector size="22" baseType="lpstr">
      <vt:lpstr>Arial</vt:lpstr>
      <vt:lpstr>SpecGraph</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Nicolas Cazin</cp:lastModifiedBy>
  <cp:revision>3</cp:revision>
  <dcterms:created xsi:type="dcterms:W3CDTF">2026-09-05T09:07:02Z</dcterms:created>
  <dcterms:modified xsi:type="dcterms:W3CDTF">2026-09-05T20:25:48Z</dcterms:modified>
</cp:coreProperties>
</file>