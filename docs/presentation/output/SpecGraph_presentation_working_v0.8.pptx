
<file path=[Content_Types].xml><?xml version="1.0" encoding="utf-8"?>
<Types xmlns="http://schemas.openxmlformats.org/package/2006/content-types">
  <Default Extension="rels" ContentType="application/vnd.openxmlformats-package.relationships+xml"/>
  <Default Extension="xml" ContentType="application/xml"/>
  <Default Extension="svg" ContentType="image/svg+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docProps/core.xml" ContentType="application/vnd.openxmlformats-package.core-properties+xml"/>
  <Override PartName="/docProps/app.xml" ContentType="application/vnd.openxmlformats-officedocument.extended-properties+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type="screen16x9"/>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showNarration="0"/>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View">
  <p:normalViewPr>
    <p:restoredLeft sz="15620"/>
    <p:restoredTop sz="94660"/>
  </p:normalViewPr>
  <p:slideViewPr>
    <p:cSldViewPr>
      <p:cViewPr varScale="1">
        <p:scale>
          <a:sx n="100" d="100"/>
          <a:sy n="100" d="100"/>
        </p:scale>
        <p:origin x="0" y="0"/>
      </p:cViewPr>
      <p:guideLst/>
    </p:cSldViewPr>
  </p:slideViewPr>
  <p:notesTextViewPr>
    <p:cViewPr>
      <p:scale>
        <a:sx n="100" d="100"/>
        <a:sy n="100" d="100"/>
      </p:scale>
      <p:origin x="0" y="0"/>
    </p:cViewPr>
  </p:notesTextViewPr>
  <p:gridSpacing cx="78028800" cy="780288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ableStyles" Target="tableStyles.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Notes Master">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hf hdr="0" ftr="0" dt="1" sldNum="1"/>
  <p:notesStyle>
    <a:lvl1pPr marL="0" algn="l" defTabSz="457200" rtl="0" eaLnBrk="1" latinLnBrk="0" hangingPunct="1">
      <a:defRPr sz="1400" kern="1200">
        <a:latin typeface="Arial"/>
      </a:defRPr>
    </a:lvl1pPr>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The exercise produced a product result and a delivery-system result.</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I will start with the answer. The demonstrator runs a complete Customer Care review path. The same work also exercises a controlled way for one accountable engineer to coordinate several AI agents through specifications, GitHub work state, deterministic checks and review evidence.</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start with frameworks, algorithms or issue numbers. Do not claim production readiness.</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next slide states both results before the supporting detail.</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00:20</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What exactly did the exercise produce?</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A production-shaped application demonstrator and a reviewable engineering method for building it with AI assistance.</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GitHub issue #229</a:t>
            </a:r>
            <a:endParaRPr lang="en-US" sz="1400"/>
          </a:p>
          <a:p>
            <a:r>
              <a:rPr lang="en-US" sz="1400">
                <a:latin typeface="Arial"/>
              </a:rPr>
              <a:t>README.md</a:t>
            </a:r>
            <a:endParaRPr lang="en-US" sz="1400"/>
          </a:p>
          <a:p>
            <a:r>
              <a:rPr lang="en-US" sz="1400">
                <a:latin typeface="Arial"/>
              </a:rPr>
              <a:t>docs/assignment/Inception/Inception.md</a:t>
            </a:r>
            <a:endParaRPr lang="en-US" sz="1400"/>
          </a:p>
          <a:p>
            <a:r>
              <a:rPr lang="en-US" sz="1400">
                <a:latin typeface="Arial"/>
              </a:rPr>
              <a:t>https://barbaraminto.com/</a:t>
            </a:r>
            <a:endParaRPr lang="en-US" sz="1400"/>
          </a:p>
          <a:p>
            <a:r>
              <a:rPr lang="en-US" sz="1400">
                <a:latin typeface="Arial"/>
              </a:rPr>
              <a:t>https://www.assertion-evidence.com/</a:t>
            </a:r>
            <a:endParaRPr lang="en-US"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Two results answer the exercise before any architecture detail.</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The first result is visible in the browser. The second is visible in the repository and its GitHub work graph. The two belong together because a financial-services demonstration needs reviewable evidence for both the recommendation and the way the software change was accepted.</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imply that AI agents accept their own work. The human accepts the change and the operator retains the decision.</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I will first show the operator loop, then explain the trust architecture and finally the delivery control plane.</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00:40</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present the engineering process as a result?</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The role is a pilot. The repeatable delivery cell matters alongside the application because other engineers could later use the same controlled pattern.</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docs/assignment/Inception/Inception.md sections 1, 24 and 28</a:t>
            </a:r>
            <a:endParaRPr lang="en-US" sz="1400"/>
          </a:p>
          <a:p>
            <a:r>
              <a:rPr lang="en-US" sz="1400">
                <a:latin typeface="Arial"/>
              </a:rPr>
              <a:t>GitHub issue #229</a:t>
            </a:r>
            <a:endParaRPr lang="en-US" sz="1400"/>
          </a:p>
          <a:p>
            <a:r>
              <a:rPr lang="en-US" sz="1400">
                <a:latin typeface="Arial"/>
              </a:rPr>
              <a:t>Authentic R4 Playwright artifact 9856114241</a:t>
            </a:r>
            <a:endParaRPr lang="en-US"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The product is a human review loop with memory.</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The main reading direction is left to right. The loop closes only after a completed analysis has been persisted. A later operator review reopens the same customer context, recommendation, grounding and provenance instead of starting from an isolated generated sentence.</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describe this as an automated customer decision or as continuous transaction monitoring.</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browser exposes the same chain directly.</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00:40</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Where is the human in the loop?</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The operator decides how to use the recommendation. The system supplies a reviewable trail and never writes generated content back as source risk truth.</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docs/assignment/SRS/SRS.md</a:t>
            </a:r>
            <a:endParaRPr lang="en-US" sz="1400"/>
          </a:p>
          <a:p>
            <a:r>
              <a:rPr lang="en-US" sz="1400">
                <a:latin typeface="Arial"/>
              </a:rPr>
              <a:t>docs/assignment/SDD/diagrams/activity-customer-review.puml</a:t>
            </a:r>
            <a:endParaRPr lang="en-US" sz="1400"/>
          </a:p>
          <a:p>
            <a:r>
              <a:rPr lang="en-US" sz="1400">
                <a:latin typeface="Arial"/>
              </a:rPr>
              <a:t>docs/assignment/SDD/diagrams/activity-grounded-analysis.puml</a:t>
            </a:r>
            <a:endParaRPr lang="en-US" sz="1400"/>
          </a:p>
          <a:p>
            <a:r>
              <a:rPr lang="en-US" sz="1400">
                <a:latin typeface="Arial"/>
              </a:rPr>
              <a:t>Lucide icon library, ISC license</a:t>
            </a:r>
            <a:endParaRPr lang="en-US"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R5 is the delivered full interview configuration, not a roadmap placeholder.</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WatchInfra runs the registered OCI Compose package. The authenticated operator reviews customer 444 and starts analysis. Stage 1 preserves separate Bayesian, fuzzy and Random Forest artifacts. Stage 2 retrieves synthetic policy through PostgreSQL, pgvector and local MiniLM embeddings. Stage 3 sends the bounded request to Ministral through LM Studio, records local provenance and externalTransmission=false, then persists the completed result and history.</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present the CI screenshot as a capture of the real LM Studio Developer Logs. The screenshot comes from the publication workflow's contract double; the user separately completed the same candidate against the real local model and observed the request in LM Studio.</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next slide explains why those visible sections remain distinct inside the application.</a:t>
            </a:r>
            <a:endParaRPr lang="en-US" sz="1400"/>
          </a:p>
          <a:p>
            <a:r>
              <a:rPr lang="en-US" sz="1400">
                <a:latin typeface="Arial"/>
              </a:rPr>
              <a:t/>
            </a:r>
            <a:endParaRPr lang="en-US" sz="1400"/>
          </a:p>
          <a:p>
            <a:r>
              <a:rPr lang="en-US" sz="1400">
                <a:latin typeface="Arial"/>
              </a:rPr>
              <a:t>TIME</a:t>
            </a:r>
            <a:endParaRPr lang="en-US" sz="1400"/>
          </a:p>
          <a:p>
            <a:r>
              <a:rPr lang="en-US" sz="1400">
                <a:latin typeface="Arial"/>
              </a:rPr>
              <a:t>03:45 including browser switch</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How do I know R5 reached the real local model?</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The publication workflow proved the packaged browser path and retained this screenshot. The WatchInfra rehearsal then sent the same candidate to the real Ministral process, appeared in LM Studio Developer Logs and returned the generated result to the browser.</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GitHub PR #439</a:t>
            </a:r>
            <a:endParaRPr lang="en-US" sz="1400"/>
          </a:p>
          <a:p>
            <a:r>
              <a:rPr lang="en-US" sz="1400">
                <a:latin typeface="Arial"/>
              </a:rPr>
              <a:t>GitHub issues #398 and #427</a:t>
            </a:r>
            <a:endParaRPr lang="en-US" sz="1400"/>
          </a:p>
          <a:p>
            <a:r>
              <a:rPr lang="en-US" sz="1400">
                <a:latin typeface="Arial"/>
              </a:rPr>
              <a:t>R5 proof workflow 34020857953</a:t>
            </a:r>
            <a:endParaRPr lang="en-US" sz="1400"/>
          </a:p>
          <a:p>
            <a:r>
              <a:rPr lang="en-US" sz="1400">
                <a:latin typeface="Arial"/>
              </a:rPr>
              <a:t>Artifact 9985493952</a:t>
            </a:r>
            <a:endParaRPr lang="en-US" sz="1400"/>
          </a:p>
          <a:p>
            <a:r>
              <a:rPr lang="en-US" sz="1400">
                <a:latin typeface="Arial"/>
              </a:rPr>
              <a:t>Executable source f6b989af9574a8d54249e29ffff2045129d8f127</a:t>
            </a:r>
            <a:endParaRPr lang="en-US" sz="1400"/>
          </a:p>
          <a:p>
            <a:r>
              <a:rPr lang="en-US" sz="1400">
                <a:latin typeface="Arial"/>
              </a:rPr>
              <a:t>docs/reviewer/screenshots/R5_lmstudio_ensemble_customer_444.png</a:t>
            </a:r>
            <a:endParaRPr lang="en-US" sz="1400"/>
          </a:p>
          <a:p>
            <a:r>
              <a:rPr lang="en-US" sz="1400">
                <a:latin typeface="Arial"/>
              </a:rPr>
              <a:t>docs/reviewer/r5-runtime.md</a:t>
            </a:r>
            <a:endParaRPr lang="en-US"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Each stage answers a different question and produces a different evidence type.</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Stage 1 produces advisory detector signals. Stage 2 retrieves contextual policy. The application assembles a bounded AnalysisEvidenceEnvelope. Stage 3 returns one provider-neutral structured result. A grounding validator rejects unsupported evidence references before persistence. Only a valid completed result reaches history.</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describe detector scores as source risk truth. Do not describe policy retrieval as model training.</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These stages stay replaceable because the application owns the ports between them.</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00:50</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not send all transactions directly to one language model?</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The staged flow keeps source facts, derived signals, policy context and generated wording independently testable and attributable.</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backend/src/main/java/dev/specgraph/reference/analysis/AnalysisService.java</a:t>
            </a:r>
            <a:endParaRPr lang="en-US" sz="1400"/>
          </a:p>
          <a:p>
            <a:r>
              <a:rPr lang="en-US" sz="1400">
                <a:latin typeface="Arial"/>
              </a:rPr>
              <a:t>docs/assignment/SDD/SDD.md sections 6 and 9</a:t>
            </a:r>
            <a:endParaRPr lang="en-US" sz="1400"/>
          </a:p>
          <a:p>
            <a:r>
              <a:rPr lang="en-US" sz="1400">
                <a:latin typeface="Arial"/>
              </a:rPr>
              <a:t>docs/assignment/ADR/ADR-002-provider-neutral-analysis.md</a:t>
            </a:r>
            <a:endParaRPr lang="en-US" sz="1400"/>
          </a:p>
          <a:p>
            <a:r>
              <a:rPr lang="en-US" sz="1400">
                <a:latin typeface="Arial"/>
              </a:rPr>
              <a:t>Lucide icon library, ISC license</a:t>
            </a:r>
            <a:endParaRPr lang="en-US"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The analytical pipeline supports several implementations without becoming several applications.</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Read the slide left to right. Stage 1 now delivers Bayesian, fuzzy and Random Forest evidence through the Composite while preserving every child artifact. The forest is itself a weighted ensemble of tree models; that differs from the heterogeneous Composite. Calibrated late fusion remains a follow-up. Stage 2 delivers pgvector plus local MiniLM grounding. Stage 3 retains deterministic and opt-in OpenAI implementations and now also delivers the local LM Studio adapter through explicit backend selection.</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call the Composite a calibrated ensemble. Do not call the Random Forest vote share a calibrated probability. Do not claim that fusion improves accuracy before reproducible benchmark evidence exists.</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next slide shows the ports that make this portfolio replaceable without moving application semantics.</a:t>
            </a:r>
            <a:endParaRPr lang="en-US" sz="1400"/>
          </a:p>
          <a:p>
            <a:r>
              <a:rPr lang="en-US" sz="1400">
                <a:latin typeface="Arial"/>
              </a:rPr>
              <a:t/>
            </a:r>
            <a:endParaRPr lang="en-US" sz="1400"/>
          </a:p>
          <a:p>
            <a:r>
              <a:rPr lang="en-US" sz="1400">
                <a:latin typeface="Arial"/>
              </a:rPr>
              <a:t>TIME</a:t>
            </a:r>
            <a:endParaRPr lang="en-US" sz="1400"/>
          </a:p>
          <a:p>
            <a:r>
              <a:rPr lang="en-US" sz="1400">
                <a:latin typeface="Arial"/>
              </a:rPr>
              <a:t>01:00</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introduce several analytical implementations in a five-day pilot?</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They test different uncertainty and failure assumptions behind one bounded contract. The stable port lets the team compare or replace them without duplicating orchestration, grounding, persistence or the operator journey.</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docs/assignment/SDD/diagrams/hexagonal-architecture.svg</a:t>
            </a:r>
            <a:endParaRPr lang="en-US" sz="1400"/>
          </a:p>
          <a:p>
            <a:r>
              <a:rPr lang="en-US" sz="1400">
                <a:latin typeface="Arial"/>
              </a:rPr>
              <a:t>https://github.com/jdoe-dev-159753/specgraph-reference-app/pull/263</a:t>
            </a:r>
            <a:endParaRPr lang="en-US" sz="1400"/>
          </a:p>
          <a:p>
            <a:r>
              <a:rPr lang="en-US" sz="1400">
                <a:latin typeface="Arial"/>
              </a:rPr>
              <a:t>https://github.com/jdoe-dev-159753/specgraph-reference-app/issues/223</a:t>
            </a:r>
            <a:endParaRPr lang="en-US" sz="1400"/>
          </a:p>
          <a:p>
            <a:r>
              <a:rPr lang="en-US" sz="1400">
                <a:latin typeface="Arial"/>
              </a:rPr>
              <a:t>https://github.com/jdoe-dev-159753/specgraph-reference-app/pull/384</a:t>
            </a:r>
            <a:endParaRPr lang="en-US" sz="1400"/>
          </a:p>
          <a:p>
            <a:r>
              <a:rPr lang="en-US" sz="1400">
                <a:latin typeface="Arial"/>
              </a:rPr>
              <a:t>https://github.com/jdoe-dev-159753/specgraph-reference-app/issues/254</a:t>
            </a:r>
            <a:endParaRPr lang="en-US" sz="1400"/>
          </a:p>
          <a:p>
            <a:r>
              <a:rPr lang="en-US" sz="1400">
                <a:latin typeface="Arial"/>
              </a:rPr>
              <a:t>https://github.com/jdoe-dev-159753/specgraph-reference-app/pull/326</a:t>
            </a:r>
            <a:endParaRPr lang="en-US" sz="1400"/>
          </a:p>
          <a:p>
            <a:r>
              <a:rPr lang="en-US" sz="1400">
                <a:latin typeface="Arial"/>
              </a:rPr>
              <a:t>https://github.com/jdoe-dev-159753/specgraph-reference-app/pull/439</a:t>
            </a:r>
            <a:endParaRPr lang="en-US" sz="1400"/>
          </a:p>
          <a:p>
            <a:r>
              <a:rPr lang="en-US" sz="1400">
                <a:latin typeface="Arial"/>
              </a:rPr>
              <a:t>RiskSignalDetectorPort, PolicyKnowledgePort and AnalysisModelPort</a:t>
            </a:r>
            <a:endParaRPr lang="en-US"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The architecture spends complexity only at boundaries expected to change.</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The application core owns use cases and project values. Identity, activity storage, detection, retrieval, synthesis and history each connect through a project-owned port. The adapters can change independently while failure semantics and the operator contract stay stable.</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present hexagonal architecture as a visual pattern or as proof of production readiness. Its value here is concrete substitution and test isolation.</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delivery rings used those seams to replace capability incrementally.</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00:45</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was this architecture justified for a short exercise?</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Detector, retrieval and model choices change at different rates. Stable ports prevented those experiments from redefining the application contract.</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docs/assignment/ADR/ADR-001-modular-monolith-hexagonal.md</a:t>
            </a:r>
            <a:endParaRPr lang="en-US" sz="1400"/>
          </a:p>
          <a:p>
            <a:r>
              <a:rPr lang="en-US" sz="1400">
                <a:latin typeface="Arial"/>
              </a:rPr>
              <a:t>docs/assignment/ADR/ADR-002-provider-neutral-analysis.md</a:t>
            </a:r>
            <a:endParaRPr lang="en-US" sz="1400"/>
          </a:p>
          <a:p>
            <a:r>
              <a:rPr lang="en-US" sz="1400">
                <a:latin typeface="Arial"/>
              </a:rPr>
              <a:t>docs/assignment/SDD/diagrams/hexagonal-architecture.puml</a:t>
            </a:r>
            <a:endParaRPr lang="en-US" sz="1400"/>
          </a:p>
          <a:p>
            <a:r>
              <a:rPr lang="en-US" sz="1400">
                <a:latin typeface="Arial"/>
              </a:rPr>
              <a:t>Lucide icon library, ISC license</a:t>
            </a:r>
            <a:endParaRPr lang="en-US"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Every ring preserved a coherent demonstrable application.</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R0 established the real shell. R1 made the customer review meaningful. R2 changed storage. R3 added deterministic analysis and history. R4 added authentication and real retrieval. R5 delivers the full interview path with composite detector evidence and local Ministral synthesis through LM Studio. Rings describe capability maturity. J1 to J5 remain the calendar dimension.</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present calibrated late fusion or production AML quality as delivered. The R5 runtime itself is delivered and frozen by PR #439.</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same discipline governed the parallel work through GitHub.</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00:45</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keep earlier rings after R4 exists?</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They prove that adapters changed without replacing the shell and provide executable checkpoints for compatibility and demonstration fallback.</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docs/assignment/SDD/diagrams/delivery-rings.dot</a:t>
            </a:r>
            <a:endParaRPr lang="en-US" sz="1400"/>
          </a:p>
          <a:p>
            <a:r>
              <a:rPr lang="en-US" sz="1400">
                <a:latin typeface="Arial"/>
              </a:rPr>
              <a:t>docs/assignment/Inception/Inception.md section 18</a:t>
            </a:r>
            <a:endParaRPr lang="en-US" sz="1400"/>
          </a:p>
          <a:p>
            <a:r>
              <a:rPr lang="en-US" sz="1400">
                <a:latin typeface="Arial"/>
              </a:rPr>
              <a:t>README.md section Delivery rings</a:t>
            </a:r>
            <a:endParaRPr lang="en-US" sz="1400"/>
          </a:p>
          <a:p>
            <a:r>
              <a:rPr lang="en-US" sz="1400">
                <a:latin typeface="Arial"/>
              </a:rPr>
              <a:t>GitHub PR #439</a:t>
            </a:r>
            <a:endParaRPr lang="en-US"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GitHub supplied the shared state that neither chat transcripts nor one agent memory could provide.</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The human chose priorities, resolved trade-offs and accepted results. Agents received bounded work, published change and evidence, and reviewed each other through the same durable graph. Native GitHub relations carried ownership and dependency. Two typed Project fields added only the planning dimensions GitHub does not represent natively.</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claim enterprise integration. Do not present labels or prose as lifecycle state. Do not imply that an agent can merge its own unreviewed result.</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same graph can be projected for different management conversations.</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00:50</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use GitHub as the control plane instead of a custom agent dashboard?</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GitHub already owns review, code identity, issues, pull requests and most work relationships. Reusing it reduced custom machinery and kept the human in familiar controls.</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AGENTS.md</a:t>
            </a:r>
            <a:endParaRPr lang="en-US" sz="1400"/>
          </a:p>
          <a:p>
            <a:r>
              <a:rPr lang="en-US" sz="1400">
                <a:latin typeface="Arial"/>
              </a:rPr>
              <a:t>docs/assignment/Inception/Inception.md section 22</a:t>
            </a:r>
            <a:endParaRPr lang="en-US" sz="1400"/>
          </a:p>
          <a:p>
            <a:r>
              <a:rPr lang="en-US" sz="1400">
                <a:latin typeface="Arial"/>
              </a:rPr>
              <a:t>https://github.com/jdoe-dev-159753/specgraph-harness/issues/28</a:t>
            </a:r>
            <a:endParaRPr lang="en-US" sz="1400"/>
          </a:p>
          <a:p>
            <a:r>
              <a:rPr lang="en-US" sz="1400">
                <a:latin typeface="Arial"/>
              </a:rPr>
              <a:t>scripts/work_graph_guard.py</a:t>
            </a:r>
            <a:endParaRPr lang="en-US" sz="1400"/>
          </a:p>
          <a:p>
            <a:r>
              <a:rPr lang="en-US" sz="1400">
                <a:latin typeface="Arial"/>
              </a:rPr>
              <a:t>Lucide icon library, ISC license</a:t>
            </a:r>
            <a:endParaRPr lang="en-US"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The graph supports four views without creating four sources of truth.</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WorkGraph answers structure and dependency. Delivery answers current execution. Milestones answer time sequencing. Burn-up separates completed work from changing scope. These deliberately schematic previews explain the view semantics; native GitHub issue, pull-request and Project state remains authoritative.</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present these four schematics as current screenshots. Do not infer priority from the Kanban or milestone dates.</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next slide shows how deterministic feedback constrains the work before human acceptance.</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00:40</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keep multiple views if the underlying items are the same?</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Each view answers a different management question while preserving one underlying issue and pull-request graph.</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AGENTS.md sections Delivery priority, Discovery disposition and Project status</a:t>
            </a:r>
            <a:endParaRPr lang="en-US" sz="1400"/>
          </a:p>
          <a:p>
            <a:r>
              <a:rPr lang="en-US" sz="1400">
                <a:latin typeface="Arial"/>
              </a:rPr>
              <a:t>GitHub issue #49</a:t>
            </a:r>
            <a:endParaRPr lang="en-US" sz="1400"/>
          </a:p>
          <a:p>
            <a:r>
              <a:rPr lang="en-US" sz="1400">
                <a:latin typeface="Arial"/>
              </a:rPr>
              <a:t>Private Project views shown as schematic context, not execution evidence</a:t>
            </a:r>
            <a:endParaRPr lang="en-US" sz="1400"/>
          </a:p>
          <a:p>
            <a:r>
              <a:rPr lang="en-US" sz="1400">
                <a:latin typeface="Arial"/>
              </a:rPr>
              <a:t>Lucide icon library, ISC license</a:t>
            </a:r>
            <a:endParaRPr lang="en-US"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The feedback hierarchy separates speed from authority.</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Repository instructions constrain generation before tool use. The harness roadmap experiments with the earliest supported post-edit hook and a shared pre-commit command. Those faster layers reduce correction latency but remain bypassable. The reference application already uses exact-head design, test, security, Playwright and work-graph gates. One fresh Codex review binds to the frozen head. The human accepts only that reviewed SHA.</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present the post-edit or pre-commit harness experiments as landed here. Do not call a pre-use hook a type checker for code that does not exist yet.</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next two slides quantify delivered scope and feedback-loop speed.</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00:50</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use both deterministic checks and an AI review?</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Checks own mechanically decidable rules. AI review focuses on ambiguity, architecture, counterexamples and missing evidence. The human reconciles findings and accepts the final head.</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AGENTS.md section Freeze, validation, review and merge sequencing</a:t>
            </a:r>
            <a:endParaRPr lang="en-US" sz="1400"/>
          </a:p>
          <a:p>
            <a:r>
              <a:rPr lang="en-US" sz="1400">
                <a:latin typeface="Arial"/>
              </a:rPr>
              <a:t>.github/workflows/application-ci.yml</a:t>
            </a:r>
            <a:endParaRPr lang="en-US" sz="1400"/>
          </a:p>
          <a:p>
            <a:r>
              <a:rPr lang="en-US" sz="1400">
                <a:latin typeface="Arial"/>
              </a:rPr>
              <a:t>.github/workflows/work-graph-guard.yml</a:t>
            </a:r>
            <a:endParaRPr lang="en-US" sz="1400"/>
          </a:p>
          <a:p>
            <a:r>
              <a:rPr lang="en-US" sz="1400">
                <a:latin typeface="Arial"/>
              </a:rPr>
              <a:t>https://github.com/jdoe-dev-159753/specgraph-harness/issues/74</a:t>
            </a:r>
            <a:endParaRPr lang="en-US" sz="1400"/>
          </a:p>
          <a:p>
            <a:r>
              <a:rPr lang="en-US" sz="1400">
                <a:latin typeface="Arial"/>
              </a:rPr>
              <a:t>https://github.com/jdoe-dev-159753/specgraph-harness/issues/35</a:t>
            </a:r>
            <a:endParaRPr lang="en-US" sz="1400"/>
          </a:p>
          <a:p>
            <a:r>
              <a:rPr lang="en-US" sz="1400">
                <a:latin typeface="Arial"/>
              </a:rPr>
              <a:t>Lucide icon library, ISC license</a:t>
            </a:r>
            <a:endParaRPr lang="en-US"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The 22× comparison is the historical R5-at-J+7 replay; the hardened final submission is measured separately at 32,281 authored LOC across 15 languages.</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R5 reached the complete interview path in seven calendar days. Replaying the observed PR, CI, review, correction and documentation work as human effort gives 140 to 170 workdays, midpoint 155, hence 22 times for that milestone. The later hardening tail brought the final submission to 32,281 authored LOC across 15 languages. That is a separate delivery-scale measure, not a reason to inflate the 22-times figure. The acceleration came from the control system around the agents: graph-bounded context, typed work state, deterministic ratchets, independent evidence and review, and retained execution history.</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present 22 times as the elapsed-time compression of the final hardened submission or as a controlled productivity experiment. It is a parametric replay estimate for the R5-at-J+7 milestone.</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next slide separates throughput from the speed of individual feedback loops.</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00:40</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How do 22 times and 32,281 authored LOC relate?</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They measure different things. Twenty-two times is the historical R5-at-J+7 replay estimate. 32,281 authored LOC across 15 languages is the final delivery-scale measure after the hardening and freeze tail.</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Git range 766ca0936e2ac544ed7d7e6393cba898284a0021..a2c3fd4cecdeb6f96e45b16af860520b355bb27e</a:t>
            </a:r>
            <a:endParaRPr lang="en-US" sz="1400"/>
          </a:p>
          <a:p>
            <a:r>
              <a:rPr lang="en-US" sz="1400">
                <a:latin typeface="Arial"/>
              </a:rPr>
              <a:t>git diff --numstat: 29,823 additions - 409 deletions = 29,414 net lines</a:t>
            </a:r>
            <a:endParaRPr lang="en-US" sz="1400"/>
          </a:p>
          <a:p>
            <a:r>
              <a:rPr lang="en-US" sz="1400">
                <a:latin typeface="Arial"/>
              </a:rPr>
              <a:t>GitHub PR and workflow snapshot, 6 September 2026</a:t>
            </a:r>
            <a:endParaRPr lang="en-US" sz="1400"/>
          </a:p>
          <a:p>
            <a:r>
              <a:rPr lang="en-US" sz="1400">
                <a:latin typeface="Arial"/>
              </a:rPr>
              <a:t>Dynamic PR granularity model, 49,992 changed lines</a:t>
            </a:r>
            <a:endParaRPr lang="en-US" sz="1400"/>
          </a:p>
          <a:p>
            <a:r>
              <a:rPr lang="en-US" sz="1400">
                <a:latin typeface="Arial"/>
              </a:rPr>
              <a:t>Human speed assumptions: 58 to 105 effective lines per hour by work class</a:t>
            </a:r>
            <a:endParaRPr lang="en-US" sz="1400"/>
          </a:p>
          <a:p>
            <a:r>
              <a:rPr lang="en-US" sz="1400">
                <a:latin typeface="Arial"/>
              </a:rPr>
              <a:t>Replay range: 140 to 170 human workdays</a:t>
            </a:r>
            <a:endParaRPr lang="en-US"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The strongest measured gain appears between a machine signal and the next attempted correction.</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Across the observed window, merged pull requests reached merge in one hour at the median. A failed workflow received another attempt on the same branch and workflow after 5.6 minutes at the median. The workflow itself remained mechanical, with a 1.25-minute median in the most recent 1,000-run sample. Human-only values are estimates: the user-supplied interruption model assigns 45 minutes of context recovery, then diagnosis and editing add roughly 15 to 75 minutes.</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compare raw PR counts without accounting for their median 212 additions. Do not claim that AI accelerated the CI runner itself. Do not treat issue closure as proof of defect resolution quality.</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conclusion frames these measurements as a basis for a controlled multi-team pilot.</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00:50</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Where did AI save time if CI still took the same time?</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The observed compression sits between checks: interpreting feedback, locating the relevant code, producing a correction and submitting the next SHA. Median failed-CI recovery was 5.6 minutes, while the human-only parameter range is 60 to 120 minutes.</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GitHub PR snapshot: 97 merged PRs created since 30 August 2026</a:t>
            </a:r>
            <a:endParaRPr lang="en-US" sz="1400"/>
          </a:p>
          <a:p>
            <a:r>
              <a:rPr lang="en-US" sz="1400">
                <a:latin typeface="Arial"/>
              </a:rPr>
              <a:t>GitHub issue snapshot: 306 issues closed</a:t>
            </a:r>
            <a:endParaRPr lang="en-US" sz="1400"/>
          </a:p>
          <a:p>
            <a:r>
              <a:rPr lang="en-US" sz="1400">
                <a:latin typeface="Arial"/>
              </a:rPr>
              <a:t>GitHub Actions snapshot: 7,922 runs</a:t>
            </a:r>
            <a:endParaRPr lang="en-US" sz="1400"/>
          </a:p>
          <a:p>
            <a:r>
              <a:rPr lang="en-US" sz="1400">
                <a:latin typeface="Arial"/>
              </a:rPr>
              <a:t>Most recent 1,000 workflow runs for duration percentiles</a:t>
            </a:r>
            <a:endParaRPr lang="en-US" sz="1400"/>
          </a:p>
          <a:p>
            <a:r>
              <a:rPr lang="en-US" sz="1400">
                <a:latin typeface="Arial"/>
              </a:rPr>
              <a:t>116 failed-run follow-up pairs on the same branch and workflow</a:t>
            </a:r>
            <a:endParaRPr lang="en-US" sz="1400"/>
          </a:p>
          <a:p>
            <a:r>
              <a:rPr lang="en-US" sz="1400">
                <a:latin typeface="Arial"/>
              </a:rPr>
              <a:t>Human-only recovery model: 45-minute context recovery plus diagnosis and edit time</a:t>
            </a:r>
            <a:endParaRPr lang="en-US"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The credible conclusion is a scale experiment, not a production claim.</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This pilot demonstrates one complete delivery cell: an accountable engineer, bounded agents, a GitHub control plane, deterministic acceptance and one reviewable product path. The next test is whether the same method improves several real teams while fitting Swissquote process vocabulary, operational constraints and quality expectations.</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claim production AML performance, regulatory adequacy, enterprise integration, high availability or measured productivity improvement.</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Invite questions and use the appendix for mechanism-level drill-down.</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00:35</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What would you test before scaling this role?</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Measure delivery throughput, escaped defects, review effort, model quality and operating cost across several bounded product increments, then adapt the control plane to existing enterprise systems.</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docs/assignment/Inception/Inception.md success criterion</a:t>
            </a:r>
            <a:endParaRPr lang="en-US" sz="1400"/>
          </a:p>
          <a:p>
            <a:r>
              <a:rPr lang="en-US" sz="1400">
                <a:latin typeface="Arial"/>
              </a:rPr>
              <a:t>GitHub issue #229 audience and narrative</a:t>
            </a:r>
            <a:endParaRPr lang="en-US" sz="1400"/>
          </a:p>
          <a:p>
            <a:r>
              <a:rPr lang="en-US" sz="1400">
                <a:latin typeface="Arial"/>
              </a:rPr>
              <a:t>GitHub issue #74</a:t>
            </a:r>
            <a:endParaRPr lang="en-US" sz="1400"/>
          </a:p>
          <a:p>
            <a:r>
              <a:rPr lang="en-US" sz="1400">
                <a:latin typeface="Arial"/>
              </a:rPr>
              <a:t>GitHub issue #250</a:t>
            </a:r>
            <a:endParaRPr lang="en-US" sz="1400"/>
          </a:p>
          <a:p>
            <a:r>
              <a:rPr lang="en-US" sz="1400">
                <a:latin typeface="Arial"/>
              </a:rPr>
              <a:t>Lucide icon library, ISC license</a:t>
            </a:r>
            <a:endParaRPr lang="en-US"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These are crops from authentic Playwright screenshots, not reconstructed mockups.</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R1 shows the synthetic customer review. R2 shows storage substitution through the same visible contract. R3 adds deterministic analysis and history. R4 adds authenticated operator identity and real pgvector retrieval. The large R5 panel shows the completed local-model analysis, Stage 3 local provenance and persisted history. The R1-to-R3 source PNGs remain in the named Actions artifact; the manifest identifies and digests that artifact. Only the explicitly promoted R4 and R5 source PNGs are repository-owned.</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treat image recency as newer than the source SHA in the manifest. Do not present these crops as GitHub Project views.</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Return to the relevant main slide or continue to the architecture appendix.</a:t>
            </a:r>
            <a:endParaRPr lang="en-US" sz="1400"/>
          </a:p>
          <a:p>
            <a:r>
              <a:rPr lang="en-US" sz="1400">
                <a:latin typeface="Arial"/>
              </a:rPr>
              <a:t/>
            </a:r>
            <a:endParaRPr lang="en-US" sz="1400"/>
          </a:p>
          <a:p>
            <a:r>
              <a:rPr lang="en-US" sz="1400">
                <a:latin typeface="Arial"/>
              </a:rPr>
              <a:t>TIME</a:t>
            </a:r>
            <a:endParaRPr lang="en-US" sz="1400"/>
          </a:p>
          <a:p>
            <a:r>
              <a:rPr lang="en-US" sz="1400">
                <a:latin typeface="Arial"/>
              </a:rPr>
              <a:t>As needed</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trust these screenshots?</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The workflows assert the ring-specific behavior before retaining the Playwright artifact, and the manifest records run, artifact, digest, customer and source revision.</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docs/reviewer/screenshot-manifest.md</a:t>
            </a:r>
            <a:endParaRPr lang="en-US" sz="1400"/>
          </a:p>
          <a:p>
            <a:r>
              <a:rPr lang="en-US" sz="1400">
                <a:latin typeface="Arial"/>
              </a:rPr>
              <a:t>R1/R2/R3 artifact 9844165175</a:t>
            </a:r>
            <a:endParaRPr lang="en-US" sz="1400"/>
          </a:p>
          <a:p>
            <a:r>
              <a:rPr lang="en-US" sz="1400">
                <a:latin typeface="Arial"/>
              </a:rPr>
              <a:t>R4 artifact 9856114241</a:t>
            </a:r>
            <a:endParaRPr lang="en-US" sz="1400"/>
          </a:p>
          <a:p>
            <a:r>
              <a:rPr lang="en-US" sz="1400">
                <a:latin typeface="Arial"/>
              </a:rPr>
              <a:t>R5 proof workflow 34020857953</a:t>
            </a:r>
            <a:endParaRPr lang="en-US" sz="1400"/>
          </a:p>
          <a:p>
            <a:r>
              <a:rPr lang="en-US" sz="1400">
                <a:latin typeface="Arial"/>
              </a:rPr>
              <a:t>R5 artifact 9985493952</a:t>
            </a:r>
            <a:endParaRPr lang="en-US" sz="1400"/>
          </a:p>
          <a:p>
            <a:r>
              <a:rPr lang="en-US" sz="1400">
                <a:latin typeface="Arial"/>
              </a:rPr>
              <a:t>docs/reviewer/screenshots/R5_lmstudio_ensemble_customer_444.png</a:t>
            </a:r>
            <a:endParaRPr lang="en-US"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ADRs preserve the why behind choices that would otherwise look arbitrary.</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Open the individual links when a reviewer challenges a trade-off. The ADRs cover module shape, AI trust boundaries, persistence, stack reuse, packaging, distribution, relational access and reviewer-facing product identity. They record rejected alternatives and consequences rather than repeating the SDD.</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treat ADRs as current execution evidence. Tests, code and workflow results own current behavior.</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Use the submodel slides only for mechanism-level questions.</a:t>
            </a:r>
            <a:endParaRPr lang="en-US" sz="1400"/>
          </a:p>
          <a:p>
            <a:r>
              <a:rPr lang="en-US" sz="1400">
                <a:latin typeface="Arial"/>
              </a:rPr>
              <a:t/>
            </a:r>
            <a:endParaRPr lang="en-US" sz="1400"/>
          </a:p>
          <a:p>
            <a:r>
              <a:rPr lang="en-US" sz="1400">
                <a:latin typeface="Arial"/>
              </a:rPr>
              <a:t>TIME</a:t>
            </a:r>
            <a:endParaRPr lang="en-US" sz="1400"/>
          </a:p>
          <a:p>
            <a:r>
              <a:rPr lang="en-US" sz="1400">
                <a:latin typeface="Arial"/>
              </a:rPr>
              <a:t>As needed</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eight ADRs for a five-day exercise?</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Only choices with durable alternatives received an ADR. The records make substitution and later review cheaper without turning every implementation detail into architecture.</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docs/assignment/ADR/</a:t>
            </a:r>
            <a:endParaRPr lang="en-US" sz="1400"/>
          </a:p>
          <a:p>
            <a:r>
              <a:rPr lang="en-US" sz="1400">
                <a:latin typeface="Arial"/>
              </a:rPr>
              <a:t>docs/assignment/SDD/SDD.md section 13</a:t>
            </a:r>
            <a:endParaRPr lang="en-US"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The plot shows how evidence changes the whole distribution, not only the final scalar.</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The blue curve is the explicit Beta one-four prior. This test case maps three of four activities to review-elevated observations, producing Beta four-five. The red posterior shifts its mean from 0.20 to 0.44. The shaded area above the fixed 0.40 reference equals 0.594 and becomes the emitted signal.</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call the result a probability of fraud or money laundering. Do not claim production calibration.</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fuzzy alternative expresses graded thresholds instead of a binary observation mapping.</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00:60 if asked</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What does the Bayesian score mean?</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It means the posterior probability that this synthetic review-elevated observation rate exceeds the fixed 0.40 reference, under the explicit Beta prior and mapping.</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backend/src/main/java/dev/specgraph/reference/analysis/BayesianSequentialRiskSignalDetectorAdapter.java</a:t>
            </a:r>
            <a:endParaRPr lang="en-US" sz="1400"/>
          </a:p>
          <a:p>
            <a:r>
              <a:rPr lang="en-US" sz="1400">
                <a:latin typeface="Arial"/>
              </a:rPr>
              <a:t>backend/src/test/java/dev/specgraph/reference/analysis/BayesianSequentialRiskSignalDetectorAdapterTests.java</a:t>
            </a:r>
            <a:endParaRPr lang="en-US" sz="1400"/>
          </a:p>
          <a:p>
            <a:r>
              <a:rPr lang="en-US" sz="1400">
                <a:latin typeface="Arial"/>
              </a:rPr>
              <a:t>https://docs.scipy.org/doc/scipy/reference/generated/scipy.stats.beta.html</a:t>
            </a:r>
            <a:endParaRPr lang="en-US"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The delivered v3 detector applies one overlapping low-medium-high partition to four prior-adjusted feature ratios.</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Each effective ratio divides its positive count by the observation count plus two zero-positive prior observations. The shared partition is low through 0.10, peaks at medium at 0.30 and reaches high at 0.60. Activation equals one half of the medium membership plus the high membership. The final bounded surface adds a 0.05 baseline and fixed weights of 0.10, 0.10, 0.2625 and 0.4875 for crypto, incomplete, cross-border and source-risk activation. The coupled minimum remains visible in provenance with zero consequent weight so the same evidence is not counted twice.</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call fuzzy membership or the final score a statistical probability. Do not claim these synthetic thresholds are institutional policy or calibrated AML parameters.</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next conditional slide explains how different detector families could be arbitrated after their semantics become comparable.</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00:60 if asked</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add two observations and use overlapping memberships?</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The add-two prior prevents tiny samples from saturating the detector, while the partition makes changes continuous and inspectable. Both are versioned heuristic choices, not learned or institutionally validated parameters.</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backend/src/main/java/dev/specgraph/reference/analysis/FuzzyRiskSignalDetectorAdapter.java</a:t>
            </a:r>
            <a:endParaRPr lang="en-US" sz="1400"/>
          </a:p>
          <a:p>
            <a:r>
              <a:rPr lang="en-US" sz="1400">
                <a:latin typeface="Arial"/>
              </a:rPr>
              <a:t>backend/src/test/java/dev/specgraph/reference/analysis/FuzzyRiskSignalDetectorAdapterTests.java</a:t>
            </a:r>
            <a:endParaRPr lang="en-US"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Late fusion is a future arbitration stage, not the current Composite behavior.</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Each detector specializes in a different view of the same bounded facts. After score semantics and calibration become comparable, a late-fusion stage could weight or arbitrate those signals. The fused output should retain the child evidence so disagreement and provenance remain inspectable. The expected benefit is complementary error behavior, but this project has not yet measured an accuracy or generalization gain.</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present current Composite execution as calibrated fusion. Do not claim accuracy improvement without a frozen benchmark.</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forest slide explains one candidate specialist.</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00:55 if asked</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combine several weak detectors?</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Specialists can make different errors. Fusion is useful only if comparable semantics and evaluation show that those differences improve the final signal.</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GitHub issue #224</a:t>
            </a:r>
            <a:endParaRPr lang="en-US" sz="1400"/>
          </a:p>
          <a:p>
            <a:r>
              <a:rPr lang="en-US" sz="1400">
                <a:latin typeface="Arial"/>
              </a:rPr>
              <a:t>GitHub issue #254</a:t>
            </a:r>
            <a:endParaRPr lang="en-US" sz="1400"/>
          </a:p>
          <a:p>
            <a:r>
              <a:rPr lang="en-US" sz="1400">
                <a:latin typeface="Arial"/>
              </a:rPr>
              <a:t>GitHub issue #268</a:t>
            </a:r>
            <a:endParaRPr lang="en-US" sz="1400"/>
          </a:p>
          <a:p>
            <a:r>
              <a:rPr lang="en-US" sz="1400">
                <a:latin typeface="Arial"/>
              </a:rPr>
              <a:t>Lucide icon library, ISC license</a:t>
            </a:r>
            <a:endParaRPr lang="en-US"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The forest visual shows actual trees and the runtime aggregation semantics.</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Each tree splits the bounded feature vector and emits one class vote. The runtime model averages votes for REVIEW_ELEVATED. Training is offline with a fixed seed and packaged model provenance. The adapter remains behind RiskSignalDetectorPort, so downstream grounding and synthesis do not know Tribuo types.</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call the vote share a calibrated probability. Do not claim production AML validity from synthetic training.</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Return to the fusion target only if the reviewer asks how this specialist would combine with others.</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00:55 if asked</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Random Forest after Bayesian and fuzzy detectors?</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It adds a learned non-neural baseline with different inductive assumptions while keeping the same bounded features and evidence contract.</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GitHub issue #223</a:t>
            </a:r>
            <a:endParaRPr lang="en-US" sz="1400"/>
          </a:p>
          <a:p>
            <a:r>
              <a:rPr lang="en-US" sz="1400">
                <a:latin typeface="Arial"/>
              </a:rPr>
              <a:t>GitHub PR #439</a:t>
            </a:r>
            <a:endParaRPr lang="en-US" sz="1400"/>
          </a:p>
          <a:p>
            <a:r>
              <a:rPr lang="en-US" sz="1400">
                <a:latin typeface="Arial"/>
              </a:rPr>
              <a:t>RiskSignalDetectorPort</a:t>
            </a:r>
            <a:endParaRPr lang="en-US" sz="1400"/>
          </a:p>
          <a:p>
            <a:r>
              <a:rPr lang="en-US" sz="1400">
                <a:latin typeface="Arial"/>
              </a:rPr>
              <a:t>RandomForestRiskSignalDetectorAdapter</a:t>
            </a:r>
            <a:endParaRPr lang="en-US"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Stage 3 selection is a factory concern, not application semantics.</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The bounded envelope enters one typed selection point. Deterministic execution remains the mandatory baseline. OpenAI remains opt-in. R5 delivers LM Studio as the local substitution. Every adapter returns the same structured result and model provenance. The grounding validator and history contract remain unchanged.</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imply that local execution proves model quality. The delivered claim covers runtime selection, bounded structured exchange, provenance and the browser-visible result.</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The final appendix slide maps behaviors to the evidence level that proves them.</a:t>
            </a:r>
            <a:endParaRPr lang="en-US" sz="1400"/>
          </a:p>
          <a:p>
            <a:r>
              <a:rPr lang="en-US" sz="1400">
                <a:latin typeface="Arial"/>
              </a:rPr>
              <a:t/>
            </a:r>
            <a:endParaRPr lang="en-US" sz="1400"/>
          </a:p>
          <a:p>
            <a:r>
              <a:rPr lang="en-US" sz="1400">
                <a:latin typeface="Arial"/>
              </a:rPr>
              <a:t>TIME</a:t>
            </a:r>
            <a:endParaRPr lang="en-US" sz="1400"/>
          </a:p>
          <a:p>
            <a:r>
              <a:rPr lang="en-US" sz="1400">
                <a:latin typeface="Arial"/>
              </a:rPr>
              <a:t>00:55 if asked</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retain the deterministic backend after adding a live model?</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It keeps mandatory verification reproducible, isolates retrieval and orchestration failures, and provides a supported fallback without changing the operator workflow.</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AnalysisModelPort</a:t>
            </a:r>
            <a:endParaRPr lang="en-US" sz="1400"/>
          </a:p>
          <a:p>
            <a:r>
              <a:rPr lang="en-US" sz="1400">
                <a:latin typeface="Arial"/>
              </a:rPr>
              <a:t>AnalysisEvidenceEnvelope</a:t>
            </a:r>
            <a:endParaRPr lang="en-US" sz="1400"/>
          </a:p>
          <a:p>
            <a:r>
              <a:rPr lang="en-US" sz="1400">
                <a:latin typeface="Arial"/>
              </a:rPr>
              <a:t>GitHub PR #439</a:t>
            </a:r>
            <a:endParaRPr lang="en-US" sz="1400"/>
          </a:p>
          <a:p>
            <a:r>
              <a:rPr lang="en-US" sz="1400">
                <a:latin typeface="Arial"/>
              </a:rPr>
              <a:t>GitHub issue #251</a:t>
            </a:r>
            <a:endParaRPr lang="en-US" sz="1400"/>
          </a:p>
          <a:p>
            <a:r>
              <a:rPr lang="en-US" sz="1400">
                <a:latin typeface="Arial"/>
              </a:rPr>
              <a:t>docs/reviewer/r5-runtime.md</a:t>
            </a:r>
            <a:endParaRPr lang="en-US" sz="1400"/>
          </a:p>
          <a:p>
            <a:r>
              <a:rPr lang="en-US" sz="1400">
                <a:latin typeface="Arial"/>
              </a:rPr>
              <a:t>Lucide icon library, ISC license</a:t>
            </a:r>
            <a:endParaRPr lang="en-US" sz="1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txBox="1"/>
          <p:nvPr>
            <p:ph type="body" idx="1"/>
          </p:nvPr>
        </p:nvSpPr>
        <p:spPr/>
        <p:txBody>
          <a:bodyPr/>
          <a:lstStyle/>
          <a:p>
            <a:r>
              <a:rPr lang="en-US" sz="1400">
                <a:latin typeface="Arial"/>
              </a:rPr>
              <a:t>ANCHOR</a:t>
            </a:r>
            <a:endParaRPr lang="en-US" sz="1400"/>
          </a:p>
          <a:p>
            <a:r>
              <a:rPr lang="en-US" sz="1400">
                <a:latin typeface="Arial"/>
              </a:rPr>
              <a:t>Evidence strength follows the behavior being claimed.</a:t>
            </a:r>
            <a:endParaRPr lang="en-US" sz="1400"/>
          </a:p>
          <a:p>
            <a:r>
              <a:rPr lang="en-US" sz="1400">
                <a:latin typeface="Arial"/>
              </a:rPr>
              <a:t/>
            </a:r>
            <a:endParaRPr lang="en-US" sz="1400"/>
          </a:p>
          <a:p>
            <a:r>
              <a:rPr lang="en-US" sz="1400">
                <a:latin typeface="Arial"/>
              </a:rPr>
              <a:t>SCRIPT</a:t>
            </a:r>
            <a:endParaRPr lang="en-US" sz="1400"/>
          </a:p>
          <a:p>
            <a:r>
              <a:rPr lang="en-US" sz="1400">
                <a:latin typeface="Arial"/>
              </a:rPr>
              <a:t>Unit and property tests own value and algorithm invariants. Port contracts own substitution. Integration tests own real database, security and retrieval semantics. Playwright and deployment evidence own visible composition. Stable requirement and design IDs, test markers, workflow artifacts and exact source SHAs keep the path traceable.</a:t>
            </a:r>
            <a:endParaRPr lang="en-US" sz="1400"/>
          </a:p>
          <a:p>
            <a:r>
              <a:rPr lang="en-US" sz="1400">
                <a:latin typeface="Arial"/>
              </a:rPr>
              <a:t/>
            </a:r>
            <a:endParaRPr lang="en-US" sz="1400"/>
          </a:p>
          <a:p>
            <a:r>
              <a:rPr lang="en-US" sz="1400">
                <a:latin typeface="Arial"/>
              </a:rPr>
              <a:t>DO NOT SAY</a:t>
            </a:r>
            <a:endParaRPr lang="en-US" sz="1400"/>
          </a:p>
          <a:p>
            <a:r>
              <a:rPr lang="en-US" sz="1400">
                <a:latin typeface="Arial"/>
              </a:rPr>
              <a:t>Do not use a test count or an old green workflow as a quality claim. Evidence remains bound to its behavior and source revision.</a:t>
            </a:r>
            <a:endParaRPr lang="en-US" sz="1400"/>
          </a:p>
          <a:p>
            <a:r>
              <a:rPr lang="en-US" sz="1400">
                <a:latin typeface="Arial"/>
              </a:rPr>
              <a:t/>
            </a:r>
            <a:endParaRPr lang="en-US" sz="1400"/>
          </a:p>
          <a:p>
            <a:r>
              <a:rPr lang="en-US" sz="1400">
                <a:latin typeface="Arial"/>
              </a:rPr>
              <a:t>TRANSITION</a:t>
            </a:r>
            <a:endParaRPr lang="en-US" sz="1400"/>
          </a:p>
          <a:p>
            <a:r>
              <a:rPr lang="en-US" sz="1400">
                <a:latin typeface="Arial"/>
              </a:rPr>
              <a:t>Return to the main conclusion.</a:t>
            </a:r>
            <a:endParaRPr lang="en-US" sz="1400"/>
          </a:p>
          <a:p>
            <a:r>
              <a:rPr lang="en-US" sz="1400">
                <a:latin typeface="Arial"/>
              </a:rPr>
              <a:t/>
            </a:r>
            <a:endParaRPr lang="en-US" sz="1400"/>
          </a:p>
          <a:p>
            <a:r>
              <a:rPr lang="en-US" sz="1400">
                <a:latin typeface="Arial"/>
              </a:rPr>
              <a:t>TIME</a:t>
            </a:r>
            <a:endParaRPr lang="en-US" sz="1400"/>
          </a:p>
          <a:p>
            <a:r>
              <a:rPr lang="en-US" sz="1400">
                <a:latin typeface="Arial"/>
              </a:rPr>
              <a:t>As needed</a:t>
            </a:r>
            <a:endParaRPr lang="en-US" sz="1400"/>
          </a:p>
          <a:p>
            <a:r>
              <a:rPr lang="en-US" sz="1400">
                <a:latin typeface="Arial"/>
              </a:rPr>
              <a:t/>
            </a:r>
            <a:endParaRPr lang="en-US" sz="1400"/>
          </a:p>
          <a:p>
            <a:r>
              <a:rPr lang="en-US" sz="1400">
                <a:latin typeface="Arial"/>
              </a:rPr>
              <a:t>LIKELY QUESTION</a:t>
            </a:r>
            <a:endParaRPr lang="en-US" sz="1400"/>
          </a:p>
          <a:p>
            <a:r>
              <a:rPr lang="en-US" sz="1400">
                <a:latin typeface="Arial"/>
              </a:rPr>
              <a:t>Why retain browser evidence if integration tests pass?</a:t>
            </a:r>
            <a:endParaRPr lang="en-US" sz="1400"/>
          </a:p>
          <a:p>
            <a:r>
              <a:rPr lang="en-US" sz="1400">
                <a:latin typeface="Arial"/>
              </a:rPr>
              <a:t/>
            </a:r>
            <a:endParaRPr lang="en-US" sz="1400"/>
          </a:p>
          <a:p>
            <a:r>
              <a:rPr lang="en-US" sz="1400">
                <a:latin typeface="Arial"/>
              </a:rPr>
              <a:t>DIRECT ANSWER</a:t>
            </a:r>
            <a:endParaRPr lang="en-US" sz="1400"/>
          </a:p>
          <a:p>
            <a:r>
              <a:rPr lang="en-US" sz="1400">
                <a:latin typeface="Arial"/>
              </a:rPr>
              <a:t>Authentication, navigation, visible provenance and later history are operator-visible behaviors that lower test layers cannot prove in composition.</a:t>
            </a:r>
            <a:endParaRPr lang="en-US" sz="1400"/>
          </a:p>
          <a:p>
            <a:r>
              <a:rPr lang="en-US" sz="1400">
                <a:latin typeface="Arial"/>
              </a:rPr>
              <a:t/>
            </a:r>
            <a:endParaRPr lang="en-US" sz="1400"/>
          </a:p>
          <a:p>
            <a:r>
              <a:rPr lang="en-US" sz="1400">
                <a:latin typeface="Arial"/>
              </a:rPr>
              <a:t>SOURCES</a:t>
            </a:r>
            <a:endParaRPr lang="en-US" sz="1400"/>
          </a:p>
          <a:p>
            <a:r>
              <a:rPr lang="en-US" sz="1400">
                <a:latin typeface="Arial"/>
              </a:rPr>
              <a:t>docs/assignment/VV/VV.md</a:t>
            </a:r>
            <a:endParaRPr lang="en-US" sz="1400"/>
          </a:p>
          <a:p>
            <a:r>
              <a:rPr lang="en-US" sz="1400">
                <a:latin typeface="Arial"/>
              </a:rPr>
              <a:t>docs/assignment/VV/verification.yaml</a:t>
            </a:r>
            <a:endParaRPr lang="en-US" sz="1400"/>
          </a:p>
          <a:p>
            <a:r>
              <a:rPr lang="en-US" sz="1400">
                <a:latin typeface="Arial"/>
              </a:rPr>
              <a:t>docs/reviewer/screenshot-manifest.md</a:t>
            </a:r>
            <a:endParaRPr lang="en-US" sz="1400"/>
          </a:p>
          <a:p>
            <a:r>
              <a:rPr lang="en-US" sz="1400">
                <a:latin typeface="Arial"/>
              </a:rPr>
              <a:t>Lucide icon library, ISC license</a:t>
            </a:r>
            <a:endParaRPr lang="en-US" sz="140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cGraph Master">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1" r:id="rId1"/>
  </p:sldLayoutIdLst>
  <p:txStyles>
    <p:titleStyle>
      <a:lvl1pPr algn="l">
        <a:defRPr sz="3200" b="1"/>
      </a:lvl1pPr>
    </p:titleStyle>
    <p:bodyStyle>
      <a:lvl1pPr>
        <a:defRPr sz="1800"/>
      </a:lvl1pPr>
    </p:bodyStyle>
    <p:otherStyle>
      <a:defPPr>
        <a:defRPr lang="en-US"/>
      </a:def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2-1.png"/><Relationship Id="rId3"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3-1.png"/><Relationship Id="rId3" Type="http://schemas.openxmlformats.org/officeDocument/2006/relationships/image" Target="../media/slide-3-2.png"/><Relationship Id="rId4" Type="http://schemas.openxmlformats.org/officeDocument/2006/relationships/image" Target="../media/slide-3-3.png"/><Relationship Id="rId5" Type="http://schemas.openxmlformats.org/officeDocument/2006/relationships/image" Target="../media/slide-3-4.png"/><Relationship Id="rId6" Type="http://schemas.openxmlformats.org/officeDocument/2006/relationships/image" Target="../media/slide-3-5.png"/><Relationship Id="rId7" Type="http://schemas.openxmlformats.org/officeDocument/2006/relationships/image" Target="../media/slide-3-6.png"/><Relationship Id="rId8"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4-1.png"/><Relationship Id="rId3" Type="http://schemas.openxmlformats.org/officeDocument/2006/relationships/image" Target="../media/slide-4-2.png"/><Relationship Id="rId4"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5-1.png"/><Relationship Id="rId3" Type="http://schemas.openxmlformats.org/officeDocument/2006/relationships/image" Target="../media/slide-5-2.png"/><Relationship Id="rId4" Type="http://schemas.openxmlformats.org/officeDocument/2006/relationships/image" Target="../media/slide-5-3.png"/><Relationship Id="rId5" Type="http://schemas.openxmlformats.org/officeDocument/2006/relationships/image" Target="../media/slide-5-4.png"/><Relationship Id="rId6" Type="http://schemas.openxmlformats.org/officeDocument/2006/relationships/image" Target="../media/slide-5-5.png"/><Relationship Id="rId7" Type="http://schemas.openxmlformats.org/officeDocument/2006/relationships/image" Target="../media/slide-5-6.png"/><Relationship Id="rId8" Type="http://schemas.openxmlformats.org/officeDocument/2006/relationships/image" Target="../media/slide-5-7.png"/><Relationship Id="rId9" Type="http://schemas.openxmlformats.org/officeDocument/2006/relationships/image" Target="../media/slide-5-8.png"/><Relationship Id="rId10" Type="http://schemas.openxmlformats.org/officeDocument/2006/relationships/image" Target="../media/slide-5-9.png"/><Relationship Id="rId11"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6-1.png"/><Relationship Id="rId3" Type="http://schemas.openxmlformats.org/officeDocument/2006/relationships/image" Target="../media/slide-6-2.png"/><Relationship Id="rId4" Type="http://schemas.openxmlformats.org/officeDocument/2006/relationships/image" Target="../media/slide-6-3.png"/><Relationship Id="rId5" Type="http://schemas.openxmlformats.org/officeDocument/2006/relationships/image" Target="../media/slide-6-4.png"/><Relationship Id="rId6" Type="http://schemas.openxmlformats.org/officeDocument/2006/relationships/image" Target="../media/slide-6-5.png"/><Relationship Id="rId7" Type="http://schemas.openxmlformats.org/officeDocument/2006/relationships/image" Target="../media/slide-6-6.png"/><Relationship Id="rId8" Type="http://schemas.openxmlformats.org/officeDocument/2006/relationships/image" Target="../media/slide-6-7.png"/><Relationship Id="rId9" Type="http://schemas.openxmlformats.org/officeDocument/2006/relationships/image" Target="../media/slide-6-8.png"/><Relationship Id="rId10" Type="http://schemas.openxmlformats.org/officeDocument/2006/relationships/image" Target="../media/slide-6-9.png"/><Relationship Id="rId11" Type="http://schemas.openxmlformats.org/officeDocument/2006/relationships/image" Target="../media/slide-6-10.png"/><Relationship Id="rId12" Type="http://schemas.openxmlformats.org/officeDocument/2006/relationships/image" Target="../media/slide-6-11.png"/><Relationship Id="rId13" Type="http://schemas.openxmlformats.org/officeDocument/2006/relationships/image" Target="../media/slide-6-12.png"/><Relationship Id="rId14" Type="http://schemas.openxmlformats.org/officeDocument/2006/relationships/image" Target="../media/slide-6-13.png"/><Relationship Id="rId15" Type="http://schemas.openxmlformats.org/officeDocument/2006/relationships/image" Target="../media/slide-6-14.png"/><Relationship Id="rId16" Type="http://schemas.openxmlformats.org/officeDocument/2006/relationships/hyperlink" Target="https://github.com/jdoe-dev-159753/specgraph-reference-app/pull/263" TargetMode="External"/><Relationship Id="rId17" Type="http://schemas.openxmlformats.org/officeDocument/2006/relationships/hyperlink" Target="https://github.com/jdoe-dev-159753/specgraph-reference-app/issues/254" TargetMode="External"/><Relationship Id="rId18" Type="http://schemas.openxmlformats.org/officeDocument/2006/relationships/hyperlink" Target="https://github.com/jdoe-dev-159753/specgraph-reference-app/pull/221" TargetMode="External"/><Relationship Id="rId19" Type="http://schemas.openxmlformats.org/officeDocument/2006/relationships/hyperlink" Target="https://github.com/jdoe-dev-159753/specgraph-reference-app/pull/439" TargetMode="External"/><Relationship Id="rId20" Type="http://schemas.openxmlformats.org/officeDocument/2006/relationships/hyperlink" Target="https://github.com/jdoe-dev-159753/specgraph-reference-app/pull/439" TargetMode="External"/><Relationship Id="rId21"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7-1.png"/><Relationship Id="rId3" Type="http://schemas.openxmlformats.org/officeDocument/2006/relationships/image" Target="../media/slide-7-2.png"/><Relationship Id="rId4" Type="http://schemas.openxmlformats.org/officeDocument/2006/relationships/image" Target="../media/slide-7-3.png"/><Relationship Id="rId5" Type="http://schemas.openxmlformats.org/officeDocument/2006/relationships/image" Target="../media/slide-7-4.png"/><Relationship Id="rId6" Type="http://schemas.openxmlformats.org/officeDocument/2006/relationships/image" Target="../media/slide-7-5.png"/><Relationship Id="rId7" Type="http://schemas.openxmlformats.org/officeDocument/2006/relationships/image" Target="../media/slide-7-6.png"/><Relationship Id="rId8" Type="http://schemas.openxmlformats.org/officeDocument/2006/relationships/image" Target="../media/slide-7-7.png"/><Relationship Id="rId9"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9-1.png"/><Relationship Id="rId3" Type="http://schemas.openxmlformats.org/officeDocument/2006/relationships/image" Target="../media/slide-9-2.png"/><Relationship Id="rId4" Type="http://schemas.openxmlformats.org/officeDocument/2006/relationships/image" Target="../media/slide-9-3.png"/><Relationship Id="rId5" Type="http://schemas.openxmlformats.org/officeDocument/2006/relationships/image" Target="../media/slide-9-4.png"/><Relationship Id="rId6" Type="http://schemas.openxmlformats.org/officeDocument/2006/relationships/image" Target="../media/slide-9-5.png"/><Relationship Id="rId7" Type="http://schemas.openxmlformats.org/officeDocument/2006/relationships/image" Target="../media/slide-9-6.png"/><Relationship Id="rId8"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0-1.png"/><Relationship Id="rId3" Type="http://schemas.openxmlformats.org/officeDocument/2006/relationships/image" Target="../media/slide-10-2.png"/><Relationship Id="rId4" Type="http://schemas.openxmlformats.org/officeDocument/2006/relationships/image" Target="../media/slide-10-3.png"/><Relationship Id="rId5" Type="http://schemas.openxmlformats.org/officeDocument/2006/relationships/image" Target="../media/slide-10-4.png"/><Relationship Id="rId6"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1-1.png"/><Relationship Id="rId3" Type="http://schemas.openxmlformats.org/officeDocument/2006/relationships/image" Target="../media/slide-11-2.png"/><Relationship Id="rId4" Type="http://schemas.openxmlformats.org/officeDocument/2006/relationships/image" Target="../media/slide-11-3.png"/><Relationship Id="rId5" Type="http://schemas.openxmlformats.org/officeDocument/2006/relationships/image" Target="../media/slide-11-4.png"/><Relationship Id="rId6" Type="http://schemas.openxmlformats.org/officeDocument/2006/relationships/image" Target="../media/slide-11-5.png"/><Relationship Id="rId7" Type="http://schemas.openxmlformats.org/officeDocument/2006/relationships/image" Target="../media/slide-11-6.png"/><Relationship Id="rId8"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3-1.png"/><Relationship Id="rId3" Type="http://schemas.openxmlformats.org/officeDocument/2006/relationships/image" Target="../media/slide-13-2.png"/><Relationship Id="rId4" Type="http://schemas.openxmlformats.org/officeDocument/2006/relationships/image" Target="../media/slide-13-3.png"/><Relationship Id="rId5" Type="http://schemas.openxmlformats.org/officeDocument/2006/relationships/image" Target="../media/slide-13-4.png"/><Relationship Id="rId6"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4-1.png"/><Relationship Id="rId3" Type="http://schemas.openxmlformats.org/officeDocument/2006/relationships/image" Target="../media/slide-14-2.png"/><Relationship Id="rId4" Type="http://schemas.openxmlformats.org/officeDocument/2006/relationships/image" Target="../media/slide-14-3.png"/><Relationship Id="rId5" Type="http://schemas.openxmlformats.org/officeDocument/2006/relationships/image" Target="../media/slide-14-4.png"/><Relationship Id="rId6" Type="http://schemas.openxmlformats.org/officeDocument/2006/relationships/image" Target="../media/slide-14-5.png"/><Relationship Id="rId7" Type="http://schemas.openxmlformats.org/officeDocument/2006/relationships/image" Target="../media/slide-14-6.png"/><Relationship Id="rId8" Type="http://schemas.openxmlformats.org/officeDocument/2006/relationships/image" Target="../media/slide-14-7.png"/><Relationship Id="rId9"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5-1.png"/><Relationship Id="rId3" Type="http://schemas.openxmlformats.org/officeDocument/2006/relationships/image" Target="../media/slide-15-2.png"/><Relationship Id="rId4" Type="http://schemas.openxmlformats.org/officeDocument/2006/relationships/image" Target="../media/slide-15-3.png"/><Relationship Id="rId5" Type="http://schemas.openxmlformats.org/officeDocument/2006/relationships/image" Target="../media/slide-15-4.png"/><Relationship Id="rId6" Type="http://schemas.openxmlformats.org/officeDocument/2006/relationships/image" Target="../media/slide-15-5.png"/><Relationship Id="rId7" Type="http://schemas.openxmlformats.org/officeDocument/2006/relationships/image" Target="../media/slide-15-6.png"/><Relationship Id="rId8"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github.com/jdoe-dev-159753/specgraph-reference-app/blob/main/docs/assignment/ADR/ADR-001-modular-monolith-hexagonal.md" TargetMode="External"/><Relationship Id="rId3" Type="http://schemas.openxmlformats.org/officeDocument/2006/relationships/hyperlink" Target="https://github.com/jdoe-dev-159753/specgraph-reference-app/blob/main/docs/assignment/ADR/ADR-002-provider-neutral-analysis.md" TargetMode="External"/><Relationship Id="rId4" Type="http://schemas.openxmlformats.org/officeDocument/2006/relationships/hyperlink" Target="https://github.com/jdoe-dev-159753/specgraph-reference-app/blob/main/docs/assignment/ADR/ADR-003-postgresql-pgvector-persistence.md" TargetMode="External"/><Relationship Id="rId5" Type="http://schemas.openxmlformats.org/officeDocument/2006/relationships/hyperlink" Target="https://github.com/jdoe-dev-159753/specgraph-reference-app/blob/main/docs/assignment/ADR/ADR-004-baseline-web-stack.md" TargetMode="External"/><Relationship Id="rId6" Type="http://schemas.openxmlformats.org/officeDocument/2006/relationships/hyperlink" Target="https://github.com/jdoe-dev-159753/specgraph-reference-app/blob/main/docs/assignment/ADR/ADR-005-prebuilt-demo-container-packaging.md" TargetMode="External"/><Relationship Id="rId7" Type="http://schemas.openxmlformats.org/officeDocument/2006/relationships/hyperlink" Target="https://github.com/jdoe-dev-159753/specgraph-reference-app/blob/main/docs/assignment/ADR/ADR-006-compose-oci-multi-platform-distribution.md" TargetMode="External"/><Relationship Id="rId8" Type="http://schemas.openxmlformats.org/officeDocument/2006/relationships/hyperlink" Target="https://github.com/jdoe-dev-159753/specgraph-reference-app/blob/main/docs/assignment/ADR/ADR-007-spring-jdbc-relational-adapters.md" TargetMode="External"/><Relationship Id="rId9" Type="http://schemas.openxmlformats.org/officeDocument/2006/relationships/hyperlink" Target="https://github.com/jdoe-dev-159753/specgraph-reference-app/blob/main/docs/assignment/ADR/ADR-008-customer-activity-analytics-identity.md" TargetMode="External"/><Relationship Id="rId10" Type="http://schemas.openxmlformats.org/officeDocument/2006/relationships/hyperlink" Target="https://github.com/jdoe-dev-159753/specgraph-reference-app/tree/main/docs/assignment/ADR" TargetMode="External"/><Relationship Id="rId11"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19-1.png"/><Relationship Id="rId3" Type="http://schemas.openxmlformats.org/officeDocument/2006/relationships/image" Target="../media/slide-19-2.png"/><Relationship Id="rId4" Type="http://schemas.openxmlformats.org/officeDocument/2006/relationships/image" Target="../media/slide-19-3.png"/><Relationship Id="rId5" Type="http://schemas.openxmlformats.org/officeDocument/2006/relationships/image" Target="../media/slide-19-4.png"/><Relationship Id="rId6" Type="http://schemas.openxmlformats.org/officeDocument/2006/relationships/image" Target="../media/slide-19-5.png"/><Relationship Id="rId7" Type="http://schemas.openxmlformats.org/officeDocument/2006/relationships/image" Target="../media/slide-19-6.png"/><Relationship Id="rId8" Type="http://schemas.openxmlformats.org/officeDocument/2006/relationships/image" Target="../media/slide-19-7.png"/><Relationship Id="rId9"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21-1.png"/><Relationship Id="rId3" Type="http://schemas.openxmlformats.org/officeDocument/2006/relationships/image" Target="../media/slide-21-2.png"/><Relationship Id="rId4" Type="http://schemas.openxmlformats.org/officeDocument/2006/relationships/image" Target="../media/slide-21-3.png"/><Relationship Id="rId5" Type="http://schemas.openxmlformats.org/officeDocument/2006/relationships/image" Target="../media/slide-21-4.png"/><Relationship Id="rId6" Type="http://schemas.openxmlformats.org/officeDocument/2006/relationships/image" Target="../media/slide-21-5.png"/><Relationship Id="rId7" Type="http://schemas.openxmlformats.org/officeDocument/2006/relationships/image" Target="../media/slide-21-6.png"/><Relationship Id="rId8" Type="http://schemas.openxmlformats.org/officeDocument/2006/relationships/image" Target="../media/slide-21-7.png"/><Relationship Id="rId9"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slide-22-1.png"/><Relationship Id="rId3" Type="http://schemas.openxmlformats.org/officeDocument/2006/relationships/image" Target="../media/slide-22-2.png"/><Relationship Id="rId4" Type="http://schemas.openxmlformats.org/officeDocument/2006/relationships/image" Target="../media/slide-22-3.png"/><Relationship Id="rId5" Type="http://schemas.openxmlformats.org/officeDocument/2006/relationships/image" Target="../media/slide-22-4.png"/><Relationship Id="rId6" Type="http://schemas.openxmlformats.org/officeDocument/2006/relationships/image" Target="../media/slide-22-5.png"/><Relationship Id="rId7" Type="http://schemas.openxmlformats.org/officeDocument/2006/relationships/image" Target="../media/slide-22-6.png"/><Relationship Id="rId8" Type="http://schemas.openxmlformats.org/officeDocument/2006/relationships/image" Target="../media/slide-22-7.png"/><Relationship Id="rId9" Type="http://schemas.openxmlformats.org/officeDocument/2006/relationships/image" Target="../media/slide-22-8.png"/><Relationship Id="rId10"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cxnSp>
        <p:nvCxnSpPr>
          <p:cNvPr id="2" name="Connector 2"/>
          <p:cNvCxnSpPr/>
          <p:nvPr/>
        </p:nvCxnSpPr>
        <p:spPr>
          <a:xfrm>
            <a:off x="609600" y="685800"/>
            <a:ext cx="838200" cy="0"/>
          </a:xfrm>
          <a:prstGeom prst="line">
            <a:avLst/>
          </a:prstGeom>
          <a:ln w="63500">
            <a:solidFill>
              <a:srgbClr val="D71920"/>
            </a:solidFill>
          </a:ln>
        </p:spPr>
      </p:cxnSp>
      <p:sp>
        <p:nvSpPr>
          <p:cNvPr id="3" name="Text 3"/>
          <p:cNvSpPr txBox="1"/>
          <p:nvPr/>
        </p:nvSpPr>
        <p:spPr>
          <a:xfrm>
            <a:off x="609600" y="1047750"/>
            <a:ext cx="7239000" cy="266700"/>
          </a:xfrm>
          <a:prstGeom prst="rect">
            <a:avLst/>
          </a:prstGeom>
          <a:noFill/>
          <a:ln>
            <a:noFill/>
          </a:ln>
        </p:spPr>
        <p:txBody>
          <a:bodyPr wrap="square" anchor="t" lIns="0" rIns="0" tIns="0" bIns="0"/>
          <a:lstStyle/>
          <a:p>
            <a:pPr algn="l"/>
            <a:r>
              <a:rPr lang="en-US" sz="1500" b="1" spc="220">
                <a:solidFill>
                  <a:srgbClr val="981B1E"/>
                </a:solidFill>
                <a:latin typeface="Arial"/>
              </a:rPr>
              <a:t>CUSTOMER ACTIVITY ANALYTICS</a:t>
            </a:r>
            <a:endParaRPr lang="en-US" sz="1500"/>
          </a:p>
        </p:txBody>
      </p:sp>
      <p:sp>
        <p:nvSpPr>
          <p:cNvPr id="4" name="Text 4"/>
          <p:cNvSpPr txBox="1"/>
          <p:nvPr/>
        </p:nvSpPr>
        <p:spPr>
          <a:xfrm>
            <a:off x="590550" y="1600200"/>
            <a:ext cx="10287000" cy="1447800"/>
          </a:xfrm>
          <a:prstGeom prst="rect">
            <a:avLst/>
          </a:prstGeom>
          <a:noFill/>
          <a:ln>
            <a:noFill/>
          </a:ln>
        </p:spPr>
        <p:txBody>
          <a:bodyPr wrap="square" anchor="t" lIns="0" rIns="0" tIns="0" bIns="0"/>
          <a:lstStyle/>
          <a:p>
            <a:pPr algn="l"/>
            <a:r>
              <a:rPr lang="en-US" sz="4300" b="1">
                <a:solidFill>
                  <a:srgbClr val="17212B"/>
                </a:solidFill>
                <a:latin typeface="Arial"/>
              </a:rPr>
              <a:t>A working operator path built through a controlled human-agent system</a:t>
            </a:r>
            <a:endParaRPr lang="en-US" sz="4300"/>
          </a:p>
        </p:txBody>
      </p:sp>
      <p:sp>
        <p:nvSpPr>
          <p:cNvPr id="5" name="Text 5"/>
          <p:cNvSpPr txBox="1"/>
          <p:nvPr/>
        </p:nvSpPr>
        <p:spPr>
          <a:xfrm>
            <a:off x="628650" y="3333750"/>
            <a:ext cx="8953500" cy="495300"/>
          </a:xfrm>
          <a:prstGeom prst="rect">
            <a:avLst/>
          </a:prstGeom>
          <a:noFill/>
          <a:ln>
            <a:noFill/>
          </a:ln>
        </p:spPr>
        <p:txBody>
          <a:bodyPr wrap="square" anchor="t" lIns="0" rIns="0" tIns="0" bIns="0"/>
          <a:lstStyle/>
          <a:p>
            <a:pPr algn="l"/>
            <a:r>
              <a:rPr lang="en-US" sz="2200" b="0">
                <a:solidFill>
                  <a:srgbClr val="5D6873"/>
                </a:solidFill>
                <a:latin typeface="Arial"/>
              </a:rPr>
              <a:t>Five-day build target; R5 reached at J+7, followed by submission hardening</a:t>
            </a:r>
            <a:endParaRPr lang="en-US" sz="2200"/>
          </a:p>
        </p:txBody>
      </p:sp>
      <p:cxnSp>
        <p:nvCxnSpPr>
          <p:cNvPr id="6" name="Connector 6"/>
          <p:cNvCxnSpPr/>
          <p:nvPr/>
        </p:nvCxnSpPr>
        <p:spPr>
          <a:xfrm>
            <a:off x="628650" y="4476750"/>
            <a:ext cx="10839450" cy="0"/>
          </a:xfrm>
          <a:prstGeom prst="line">
            <a:avLst/>
          </a:prstGeom>
          <a:ln w="12700">
            <a:solidFill>
              <a:srgbClr val="D9DEE3"/>
            </a:solidFill>
          </a:ln>
        </p:spPr>
      </p:cxnSp>
      <p:sp>
        <p:nvSpPr>
          <p:cNvPr id="7" name="Text 7"/>
          <p:cNvSpPr txBox="1"/>
          <p:nvPr/>
        </p:nvSpPr>
        <p:spPr>
          <a:xfrm>
            <a:off x="628650" y="4800600"/>
            <a:ext cx="3143250" cy="247650"/>
          </a:xfrm>
          <a:prstGeom prst="rect">
            <a:avLst/>
          </a:prstGeom>
          <a:noFill/>
          <a:ln>
            <a:noFill/>
          </a:ln>
        </p:spPr>
        <p:txBody>
          <a:bodyPr wrap="square" anchor="t" lIns="0" rIns="0" tIns="0" bIns="0"/>
          <a:lstStyle/>
          <a:p>
            <a:pPr algn="l"/>
            <a:r>
              <a:rPr lang="en-US" sz="1200" b="1" spc="140">
                <a:solidFill>
                  <a:srgbClr val="D71920"/>
                </a:solidFill>
                <a:latin typeface="Arial"/>
              </a:rPr>
              <a:t>PRODUCT PROOF</a:t>
            </a:r>
            <a:endParaRPr lang="en-US" sz="1200"/>
          </a:p>
        </p:txBody>
      </p:sp>
      <p:sp>
        <p:nvSpPr>
          <p:cNvPr id="8" name="Text 8"/>
          <p:cNvSpPr txBox="1"/>
          <p:nvPr/>
        </p:nvSpPr>
        <p:spPr>
          <a:xfrm>
            <a:off x="628650" y="5105400"/>
            <a:ext cx="4286250" cy="552450"/>
          </a:xfrm>
          <a:prstGeom prst="rect">
            <a:avLst/>
          </a:prstGeom>
          <a:noFill/>
          <a:ln>
            <a:noFill/>
          </a:ln>
        </p:spPr>
        <p:txBody>
          <a:bodyPr wrap="square" anchor="t" lIns="0" rIns="0" tIns="0" bIns="0"/>
          <a:lstStyle/>
          <a:p>
            <a:pPr algn="l"/>
            <a:r>
              <a:rPr lang="en-US" sz="1900" b="1">
                <a:solidFill>
                  <a:srgbClr val="17212B"/>
                </a:solidFill>
                <a:latin typeface="Arial"/>
              </a:rPr>
              <a:t>Customer activity, evidence, analysis and history</a:t>
            </a:r>
            <a:endParaRPr lang="en-US" sz="1900"/>
          </a:p>
        </p:txBody>
      </p:sp>
      <p:sp>
        <p:nvSpPr>
          <p:cNvPr id="9" name="Text 9"/>
          <p:cNvSpPr txBox="1"/>
          <p:nvPr/>
        </p:nvSpPr>
        <p:spPr>
          <a:xfrm>
            <a:off x="6191250" y="4800600"/>
            <a:ext cx="3143250" cy="247650"/>
          </a:xfrm>
          <a:prstGeom prst="rect">
            <a:avLst/>
          </a:prstGeom>
          <a:noFill/>
          <a:ln>
            <a:noFill/>
          </a:ln>
        </p:spPr>
        <p:txBody>
          <a:bodyPr wrap="square" anchor="t" lIns="0" rIns="0" tIns="0" bIns="0"/>
          <a:lstStyle/>
          <a:p>
            <a:pPr algn="l"/>
            <a:r>
              <a:rPr lang="en-US" sz="1200" b="1" spc="140">
                <a:solidFill>
                  <a:srgbClr val="2A5B84"/>
                </a:solidFill>
                <a:latin typeface="Arial"/>
              </a:rPr>
              <a:t>METHOD PROOF</a:t>
            </a:r>
            <a:endParaRPr lang="en-US" sz="1200"/>
          </a:p>
        </p:txBody>
      </p:sp>
      <p:sp>
        <p:nvSpPr>
          <p:cNvPr id="10" name="Text 10"/>
          <p:cNvSpPr txBox="1"/>
          <p:nvPr/>
        </p:nvSpPr>
        <p:spPr>
          <a:xfrm>
            <a:off x="6191250" y="5105400"/>
            <a:ext cx="4667250" cy="552450"/>
          </a:xfrm>
          <a:prstGeom prst="rect">
            <a:avLst/>
          </a:prstGeom>
          <a:noFill/>
          <a:ln>
            <a:noFill/>
          </a:ln>
        </p:spPr>
        <p:txBody>
          <a:bodyPr wrap="square" anchor="t" lIns="0" rIns="0" tIns="0" bIns="0"/>
          <a:lstStyle/>
          <a:p>
            <a:pPr algn="l"/>
            <a:r>
              <a:rPr lang="en-US" sz="1900" b="1">
                <a:solidFill>
                  <a:srgbClr val="17212B"/>
                </a:solidFill>
                <a:latin typeface="Arial"/>
              </a:rPr>
              <a:t>Specifications, work graph, ratchets and review</a:t>
            </a:r>
            <a:endParaRPr lang="en-US" sz="1900"/>
          </a:p>
        </p:txBody>
      </p:sp>
      <p:sp>
        <p:nvSpPr>
          <p:cNvPr id="11" name="Text 11"/>
          <p:cNvSpPr txBox="1"/>
          <p:nvPr/>
        </p:nvSpPr>
        <p:spPr>
          <a:xfrm>
            <a:off x="628650" y="6019800"/>
            <a:ext cx="5524500" cy="228600"/>
          </a:xfrm>
          <a:prstGeom prst="rect">
            <a:avLst/>
          </a:prstGeom>
          <a:noFill/>
          <a:ln>
            <a:noFill/>
          </a:ln>
        </p:spPr>
        <p:txBody>
          <a:bodyPr wrap="square" anchor="t" lIns="0" rIns="0" tIns="0" bIns="0"/>
          <a:lstStyle/>
          <a:p>
            <a:pPr algn="l"/>
            <a:r>
              <a:rPr lang="en-US" sz="1300" b="0">
                <a:solidFill>
                  <a:srgbClr val="5D6873"/>
                </a:solidFill>
                <a:latin typeface="Arial"/>
              </a:rPr>
              <a:t>Nicolas Cazin · working deck v0.8</a:t>
            </a:r>
            <a:endParaRPr lang="en-US" sz="1300"/>
          </a:p>
        </p:txBody>
      </p:sp>
      <p:sp>
        <p:nvSpPr>
          <p:cNvPr id="12" name="Text 12"/>
          <p:cNvSpPr txBox="1"/>
          <p:nvPr/>
        </p:nvSpPr>
        <p:spPr>
          <a:xfrm>
            <a:off x="9353550" y="6019800"/>
            <a:ext cx="2095500" cy="228600"/>
          </a:xfrm>
          <a:prstGeom prst="rect">
            <a:avLst/>
          </a:prstGeom>
          <a:noFill/>
          <a:ln>
            <a:noFill/>
          </a:ln>
        </p:spPr>
        <p:txBody>
          <a:bodyPr wrap="square" anchor="t" lIns="0" rIns="0" tIns="0" bIns="0"/>
          <a:lstStyle/>
          <a:p>
            <a:pPr algn="r"/>
            <a:r>
              <a:rPr lang="en-US" sz="1300" b="0">
                <a:solidFill>
                  <a:srgbClr val="5D6873"/>
                </a:solidFill>
                <a:latin typeface="Arial"/>
              </a:rPr>
              <a:t>submission-v1 at final freeze</a:t>
            </a:r>
            <a:endParaRPr lang="en-US" sz="13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ANSWER FIRST</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The pilot produced a working operator path and a controlled delivery system</a:t>
            </a:r>
            <a:endParaRPr lang="en-US" sz="3000"/>
          </a:p>
        </p:txBody>
      </p:sp>
      <p:sp>
        <p:nvSpPr>
          <p:cNvPr id="4" name="Shape 4"/>
          <p:cNvSpPr/>
          <p:nvPr/>
        </p:nvSpPr>
        <p:spPr>
          <a:xfrm>
            <a:off x="552450" y="1600200"/>
            <a:ext cx="6191250" cy="3867150"/>
          </a:xfrm>
          <a:prstGeom prst="rect">
            <a:avLst/>
          </a:prstGeom>
          <a:solidFill>
            <a:srgbClr val="FFFFFF"/>
          </a:solidFill>
          <a:ln w="12700">
            <a:solidFill>
              <a:srgbClr val="D9DEE3"/>
            </a:solidFill>
          </a:ln>
        </p:spPr>
      </p:sp>
      <p:pic>
        <p:nvPicPr>
          <p:cNvPr id="5" name="Picture 5"/>
          <p:cNvPicPr>
            <a:picLocks noChangeAspect="1"/>
          </p:cNvPicPr>
          <p:nvPr/>
        </p:nvPicPr>
        <p:blipFill>
          <a:blip r:embed="rId2"/>
          <a:stretch>
            <a:fillRect/>
          </a:stretch>
        </p:blipFill>
        <p:spPr>
          <a:xfrm>
            <a:off x="1006475" y="1714500"/>
            <a:ext cx="5283200" cy="3714750"/>
          </a:xfrm>
          <a:prstGeom prst="rect">
            <a:avLst/>
          </a:prstGeom>
          <a:ln>
            <a:noFill/>
          </a:ln>
        </p:spPr>
      </p:pic>
      <p:cxnSp>
        <p:nvCxnSpPr>
          <p:cNvPr id="6" name="Connector 6"/>
          <p:cNvCxnSpPr/>
          <p:nvPr/>
        </p:nvCxnSpPr>
        <p:spPr>
          <a:xfrm>
            <a:off x="7105650" y="1809750"/>
            <a:ext cx="0" cy="3429000"/>
          </a:xfrm>
          <a:prstGeom prst="line">
            <a:avLst/>
          </a:prstGeom>
          <a:ln w="25400">
            <a:solidFill>
              <a:srgbClr val="D9DEE3"/>
            </a:solidFill>
          </a:ln>
        </p:spPr>
      </p:cxnSp>
      <p:sp>
        <p:nvSpPr>
          <p:cNvPr id="7" name="Shape 7"/>
          <p:cNvSpPr/>
          <p:nvPr/>
        </p:nvSpPr>
        <p:spPr>
          <a:xfrm>
            <a:off x="7543800" y="1752600"/>
            <a:ext cx="552450" cy="552450"/>
          </a:xfrm>
          <a:prstGeom prst="ellipse">
            <a:avLst/>
          </a:prstGeom>
          <a:solidFill>
            <a:srgbClr val="D71920"/>
          </a:solidFill>
          <a:ln w="12700">
            <a:solidFill>
              <a:srgbClr val="D71920"/>
            </a:solidFill>
          </a:ln>
        </p:spPr>
      </p:sp>
      <p:sp>
        <p:nvSpPr>
          <p:cNvPr id="8" name="Text 8"/>
          <p:cNvSpPr txBox="1"/>
          <p:nvPr/>
        </p:nvSpPr>
        <p:spPr>
          <a:xfrm>
            <a:off x="7543800" y="1876425"/>
            <a:ext cx="552450" cy="304800"/>
          </a:xfrm>
          <a:prstGeom prst="rect">
            <a:avLst/>
          </a:prstGeom>
          <a:noFill/>
          <a:ln>
            <a:noFill/>
          </a:ln>
        </p:spPr>
        <p:txBody>
          <a:bodyPr wrap="square" anchor="ctr" lIns="0" rIns="0" tIns="0" bIns="0"/>
          <a:lstStyle/>
          <a:p>
            <a:pPr algn="ctr"/>
            <a:r>
              <a:rPr lang="en-US" sz="2000" b="1">
                <a:solidFill>
                  <a:srgbClr val="FFFFFF"/>
                </a:solidFill>
                <a:latin typeface="Arial"/>
              </a:rPr>
              <a:t>1</a:t>
            </a:r>
            <a:endParaRPr lang="en-US" sz="2000"/>
          </a:p>
        </p:txBody>
      </p:sp>
      <p:sp>
        <p:nvSpPr>
          <p:cNvPr id="9" name="Text 9"/>
          <p:cNvSpPr txBox="1"/>
          <p:nvPr/>
        </p:nvSpPr>
        <p:spPr>
          <a:xfrm>
            <a:off x="8324850" y="1733550"/>
            <a:ext cx="2857500" cy="323850"/>
          </a:xfrm>
          <a:prstGeom prst="rect">
            <a:avLst/>
          </a:prstGeom>
          <a:noFill/>
          <a:ln>
            <a:noFill/>
          </a:ln>
        </p:spPr>
        <p:txBody>
          <a:bodyPr wrap="square" anchor="t" lIns="0" rIns="0" tIns="0" bIns="0"/>
          <a:lstStyle/>
          <a:p>
            <a:pPr algn="l"/>
            <a:r>
              <a:rPr lang="en-US" sz="2200" b="1">
                <a:solidFill>
                  <a:srgbClr val="17212B"/>
                </a:solidFill>
                <a:latin typeface="Arial"/>
              </a:rPr>
              <a:t>Product proof</a:t>
            </a:r>
            <a:endParaRPr lang="en-US" sz="2200"/>
          </a:p>
        </p:txBody>
      </p:sp>
      <p:sp>
        <p:nvSpPr>
          <p:cNvPr id="10" name="Text 10"/>
          <p:cNvSpPr txBox="1"/>
          <p:nvPr/>
        </p:nvSpPr>
        <p:spPr>
          <a:xfrm>
            <a:off x="8324850" y="2133600"/>
            <a:ext cx="3028950" cy="914400"/>
          </a:xfrm>
          <a:prstGeom prst="rect">
            <a:avLst/>
          </a:prstGeom>
          <a:noFill/>
          <a:ln>
            <a:noFill/>
          </a:ln>
        </p:spPr>
        <p:txBody>
          <a:bodyPr wrap="square" anchor="t" lIns="0" rIns="0" tIns="0" bIns="0"/>
          <a:lstStyle/>
          <a:p>
            <a:pPr algn="l"/>
            <a:r>
              <a:rPr lang="en-US" sz="1600" b="0">
                <a:solidFill>
                  <a:srgbClr val="5D6873"/>
                </a:solidFill>
                <a:latin typeface="Arial"/>
              </a:rPr>
              <a:t>An authenticated operator inspects activity, runs grounded analysis and reopens persisted history.</a:t>
            </a:r>
            <a:endParaRPr lang="en-US" sz="1600"/>
          </a:p>
        </p:txBody>
      </p:sp>
      <p:sp>
        <p:nvSpPr>
          <p:cNvPr id="11" name="Shape 11"/>
          <p:cNvSpPr/>
          <p:nvPr/>
        </p:nvSpPr>
        <p:spPr>
          <a:xfrm>
            <a:off x="7543800" y="3333750"/>
            <a:ext cx="552450" cy="552450"/>
          </a:xfrm>
          <a:prstGeom prst="ellipse">
            <a:avLst/>
          </a:prstGeom>
          <a:solidFill>
            <a:srgbClr val="2A5B84"/>
          </a:solidFill>
          <a:ln w="12700">
            <a:solidFill>
              <a:srgbClr val="2A5B84"/>
            </a:solidFill>
          </a:ln>
        </p:spPr>
      </p:sp>
      <p:sp>
        <p:nvSpPr>
          <p:cNvPr id="12" name="Text 12"/>
          <p:cNvSpPr txBox="1"/>
          <p:nvPr/>
        </p:nvSpPr>
        <p:spPr>
          <a:xfrm>
            <a:off x="7543800" y="3457575"/>
            <a:ext cx="552450" cy="304800"/>
          </a:xfrm>
          <a:prstGeom prst="rect">
            <a:avLst/>
          </a:prstGeom>
          <a:noFill/>
          <a:ln>
            <a:noFill/>
          </a:ln>
        </p:spPr>
        <p:txBody>
          <a:bodyPr wrap="square" anchor="ctr" lIns="0" rIns="0" tIns="0" bIns="0"/>
          <a:lstStyle/>
          <a:p>
            <a:pPr algn="ctr"/>
            <a:r>
              <a:rPr lang="en-US" sz="2000" b="1">
                <a:solidFill>
                  <a:srgbClr val="FFFFFF"/>
                </a:solidFill>
                <a:latin typeface="Arial"/>
              </a:rPr>
              <a:t>2</a:t>
            </a:r>
            <a:endParaRPr lang="en-US" sz="2000"/>
          </a:p>
        </p:txBody>
      </p:sp>
      <p:sp>
        <p:nvSpPr>
          <p:cNvPr id="13" name="Text 13"/>
          <p:cNvSpPr txBox="1"/>
          <p:nvPr/>
        </p:nvSpPr>
        <p:spPr>
          <a:xfrm>
            <a:off x="8324850" y="3314700"/>
            <a:ext cx="2857500" cy="323850"/>
          </a:xfrm>
          <a:prstGeom prst="rect">
            <a:avLst/>
          </a:prstGeom>
          <a:noFill/>
          <a:ln>
            <a:noFill/>
          </a:ln>
        </p:spPr>
        <p:txBody>
          <a:bodyPr wrap="square" anchor="t" lIns="0" rIns="0" tIns="0" bIns="0"/>
          <a:lstStyle/>
          <a:p>
            <a:pPr algn="l"/>
            <a:r>
              <a:rPr lang="en-US" sz="2200" b="1">
                <a:solidFill>
                  <a:srgbClr val="17212B"/>
                </a:solidFill>
                <a:latin typeface="Arial"/>
              </a:rPr>
              <a:t>Method proof</a:t>
            </a:r>
            <a:endParaRPr lang="en-US" sz="2200"/>
          </a:p>
        </p:txBody>
      </p:sp>
      <p:sp>
        <p:nvSpPr>
          <p:cNvPr id="14" name="Text 14"/>
          <p:cNvSpPr txBox="1"/>
          <p:nvPr/>
        </p:nvSpPr>
        <p:spPr>
          <a:xfrm>
            <a:off x="8324850" y="3714750"/>
            <a:ext cx="3028950" cy="952500"/>
          </a:xfrm>
          <a:prstGeom prst="rect">
            <a:avLst/>
          </a:prstGeom>
          <a:noFill/>
          <a:ln>
            <a:noFill/>
          </a:ln>
        </p:spPr>
        <p:txBody>
          <a:bodyPr wrap="square" anchor="t" lIns="0" rIns="0" tIns="0" bIns="0"/>
          <a:lstStyle/>
          <a:p>
            <a:pPr algn="l"/>
            <a:r>
              <a:rPr lang="en-US" sz="1600" b="0">
                <a:solidFill>
                  <a:srgbClr val="5D6873"/>
                </a:solidFill>
                <a:latin typeface="Arial"/>
              </a:rPr>
              <a:t>One human coordinated agents through specifications, GitHub state, deterministic gates and review evidence.</a:t>
            </a:r>
            <a:endParaRPr lang="en-US" sz="1600"/>
          </a:p>
        </p:txBody>
      </p:sp>
      <p:sp>
        <p:nvSpPr>
          <p:cNvPr id="15" name="Shape 15"/>
          <p:cNvSpPr/>
          <p:nvPr/>
        </p:nvSpPr>
        <p:spPr>
          <a:xfrm>
            <a:off x="7429500" y="4857750"/>
            <a:ext cx="4000500" cy="723900"/>
          </a:xfrm>
          <a:prstGeom prst="roundRect">
            <a:avLst/>
          </a:prstGeom>
          <a:solidFill>
            <a:srgbClr val="17212B"/>
          </a:solidFill>
          <a:ln w="12700">
            <a:solidFill>
              <a:srgbClr val="17212B"/>
            </a:solidFill>
          </a:ln>
        </p:spPr>
      </p:sp>
      <p:sp>
        <p:nvSpPr>
          <p:cNvPr id="16" name="Text 16"/>
          <p:cNvSpPr txBox="1"/>
          <p:nvPr/>
        </p:nvSpPr>
        <p:spPr>
          <a:xfrm>
            <a:off x="7543800" y="4991100"/>
            <a:ext cx="3771900" cy="457200"/>
          </a:xfrm>
          <a:prstGeom prst="rect">
            <a:avLst/>
          </a:prstGeom>
          <a:noFill/>
          <a:ln>
            <a:noFill/>
          </a:ln>
        </p:spPr>
        <p:txBody>
          <a:bodyPr wrap="square" anchor="ctr" lIns="0" rIns="0" tIns="0" bIns="0"/>
          <a:lstStyle/>
          <a:p>
            <a:pPr algn="ctr"/>
            <a:r>
              <a:rPr lang="en-US" sz="1550" b="1">
                <a:solidFill>
                  <a:srgbClr val="FFFFFF"/>
                </a:solidFill>
                <a:latin typeface="Arial"/>
              </a:rPr>
              <a:t>Human accountability covers customer review and accepted change</a:t>
            </a:r>
            <a:endParaRPr lang="en-US" sz="1550"/>
          </a:p>
        </p:txBody>
      </p:sp>
      <p:cxnSp>
        <p:nvCxnSpPr>
          <p:cNvPr id="17" name="Connector 17"/>
          <p:cNvCxnSpPr/>
          <p:nvPr/>
        </p:nvCxnSpPr>
        <p:spPr>
          <a:xfrm>
            <a:off x="552450" y="6419850"/>
            <a:ext cx="11087100" cy="0"/>
          </a:xfrm>
          <a:prstGeom prst="line">
            <a:avLst/>
          </a:prstGeom>
          <a:ln w="12700">
            <a:solidFill>
              <a:srgbClr val="D9DEE3"/>
            </a:solidFill>
          </a:ln>
        </p:spPr>
      </p:cxnSp>
      <p:sp>
        <p:nvSpPr>
          <p:cNvPr id="18" name="Text 18"/>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CUSTOMER ACTIVITY ANALYTICS</a:t>
            </a:r>
            <a:endParaRPr lang="en-US" sz="1000"/>
          </a:p>
        </p:txBody>
      </p:sp>
      <p:sp>
        <p:nvSpPr>
          <p:cNvPr id="19" name="Text 19"/>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2</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CUSTOMER CARE LOOP</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The operator moves from source facts to a recommendation and back to reviewable history</a:t>
            </a:r>
            <a:endParaRPr lang="en-US" sz="3000"/>
          </a:p>
        </p:txBody>
      </p:sp>
      <p:cxnSp>
        <p:nvCxnSpPr>
          <p:cNvPr id="4" name="Connector 4"/>
          <p:cNvCxnSpPr/>
          <p:nvPr/>
        </p:nvCxnSpPr>
        <p:spPr>
          <a:xfrm>
            <a:off x="2324100" y="2876550"/>
            <a:ext cx="533400" cy="0"/>
          </a:xfrm>
          <a:prstGeom prst="line">
            <a:avLst/>
          </a:prstGeom>
          <a:ln w="38100">
            <a:solidFill>
              <a:srgbClr val="D71920"/>
            </a:solidFill>
            <a:tailEnd type="triangle"/>
          </a:ln>
        </p:spPr>
      </p:cxnSp>
      <p:cxnSp>
        <p:nvCxnSpPr>
          <p:cNvPr id="5" name="Connector 5"/>
          <p:cNvCxnSpPr/>
          <p:nvPr/>
        </p:nvCxnSpPr>
        <p:spPr>
          <a:xfrm>
            <a:off x="4610100" y="2876550"/>
            <a:ext cx="533400" cy="0"/>
          </a:xfrm>
          <a:prstGeom prst="line">
            <a:avLst/>
          </a:prstGeom>
          <a:ln w="38100">
            <a:solidFill>
              <a:srgbClr val="D71920"/>
            </a:solidFill>
            <a:tailEnd type="triangle"/>
          </a:ln>
        </p:spPr>
      </p:cxnSp>
      <p:cxnSp>
        <p:nvCxnSpPr>
          <p:cNvPr id="6" name="Connector 6"/>
          <p:cNvCxnSpPr/>
          <p:nvPr/>
        </p:nvCxnSpPr>
        <p:spPr>
          <a:xfrm>
            <a:off x="6896100" y="2876550"/>
            <a:ext cx="533400" cy="0"/>
          </a:xfrm>
          <a:prstGeom prst="line">
            <a:avLst/>
          </a:prstGeom>
          <a:ln w="38100">
            <a:solidFill>
              <a:srgbClr val="D71920"/>
            </a:solidFill>
            <a:tailEnd type="triangle"/>
          </a:ln>
        </p:spPr>
      </p:cxnSp>
      <p:cxnSp>
        <p:nvCxnSpPr>
          <p:cNvPr id="7" name="Connector 7"/>
          <p:cNvCxnSpPr/>
          <p:nvPr/>
        </p:nvCxnSpPr>
        <p:spPr>
          <a:xfrm>
            <a:off x="9182100" y="2876550"/>
            <a:ext cx="533400" cy="0"/>
          </a:xfrm>
          <a:prstGeom prst="line">
            <a:avLst/>
          </a:prstGeom>
          <a:ln w="38100">
            <a:solidFill>
              <a:srgbClr val="D71920"/>
            </a:solidFill>
            <a:tailEnd type="triangle"/>
          </a:ln>
        </p:spPr>
      </p:cxnSp>
      <p:cxnSp>
        <p:nvCxnSpPr>
          <p:cNvPr id="8" name="Connector 8"/>
          <p:cNvCxnSpPr/>
          <p:nvPr/>
        </p:nvCxnSpPr>
        <p:spPr>
          <a:xfrm>
            <a:off x="10591800" y="4171950"/>
            <a:ext cx="0" cy="685800"/>
          </a:xfrm>
          <a:prstGeom prst="line">
            <a:avLst/>
          </a:prstGeom>
          <a:ln w="25400">
            <a:solidFill>
              <a:srgbClr val="2A5B84"/>
            </a:solidFill>
          </a:ln>
        </p:spPr>
      </p:cxnSp>
      <p:cxnSp>
        <p:nvCxnSpPr>
          <p:cNvPr id="9" name="Connector 9"/>
          <p:cNvCxnSpPr/>
          <p:nvPr/>
        </p:nvCxnSpPr>
        <p:spPr>
          <a:xfrm flipH="1">
            <a:off x="3733800" y="4857750"/>
            <a:ext cx="6858000" cy="0"/>
          </a:xfrm>
          <a:prstGeom prst="line">
            <a:avLst/>
          </a:prstGeom>
          <a:ln w="25400">
            <a:solidFill>
              <a:srgbClr val="2A5B84"/>
            </a:solidFill>
          </a:ln>
        </p:spPr>
      </p:cxnSp>
      <p:cxnSp>
        <p:nvCxnSpPr>
          <p:cNvPr id="10" name="Connector 10"/>
          <p:cNvCxnSpPr/>
          <p:nvPr/>
        </p:nvCxnSpPr>
        <p:spPr>
          <a:xfrm flipV="1">
            <a:off x="3733800" y="4171950"/>
            <a:ext cx="0" cy="685800"/>
          </a:xfrm>
          <a:prstGeom prst="line">
            <a:avLst/>
          </a:prstGeom>
          <a:ln w="25400">
            <a:solidFill>
              <a:srgbClr val="2A5B84"/>
            </a:solidFill>
            <a:tailEnd type="triangle"/>
          </a:ln>
        </p:spPr>
      </p:cxnSp>
      <p:sp>
        <p:nvSpPr>
          <p:cNvPr id="11" name="Shape 11"/>
          <p:cNvSpPr/>
          <p:nvPr/>
        </p:nvSpPr>
        <p:spPr>
          <a:xfrm>
            <a:off x="571500" y="2133600"/>
            <a:ext cx="1752600" cy="2038350"/>
          </a:xfrm>
          <a:prstGeom prst="roundRect">
            <a:avLst/>
          </a:prstGeom>
          <a:solidFill>
            <a:srgbClr val="FFFFFF"/>
          </a:solidFill>
          <a:ln w="12700">
            <a:solidFill>
              <a:srgbClr val="D9DEE3"/>
            </a:solidFill>
          </a:ln>
        </p:spPr>
      </p:sp>
      <p:sp>
        <p:nvSpPr>
          <p:cNvPr id="12" name="Shape 12"/>
          <p:cNvSpPr/>
          <p:nvPr/>
        </p:nvSpPr>
        <p:spPr>
          <a:xfrm>
            <a:off x="571500" y="2133600"/>
            <a:ext cx="1752600" cy="57150"/>
          </a:xfrm>
          <a:prstGeom prst="rect">
            <a:avLst/>
          </a:prstGeom>
          <a:solidFill>
            <a:srgbClr val="D71920"/>
          </a:solidFill>
          <a:ln w="12700">
            <a:solidFill>
              <a:srgbClr val="D71920"/>
            </a:solidFill>
          </a:ln>
        </p:spPr>
      </p:sp>
      <p:sp>
        <p:nvSpPr>
          <p:cNvPr id="13" name="Text 13"/>
          <p:cNvSpPr txBox="1"/>
          <p:nvPr/>
        </p:nvSpPr>
        <p:spPr>
          <a:xfrm>
            <a:off x="723900" y="2286000"/>
            <a:ext cx="381000" cy="228600"/>
          </a:xfrm>
          <a:prstGeom prst="rect">
            <a:avLst/>
          </a:prstGeom>
          <a:noFill/>
          <a:ln>
            <a:noFill/>
          </a:ln>
        </p:spPr>
        <p:txBody>
          <a:bodyPr wrap="square" anchor="t" lIns="0" rIns="0" tIns="0" bIns="0"/>
          <a:lstStyle/>
          <a:p>
            <a:pPr algn="l"/>
            <a:r>
              <a:rPr lang="en-US" sz="1200" b="1">
                <a:solidFill>
                  <a:srgbClr val="D71920"/>
                </a:solidFill>
                <a:latin typeface="Arial"/>
              </a:rPr>
              <a:t>01</a:t>
            </a:r>
            <a:endParaRPr lang="en-US" sz="1200"/>
          </a:p>
        </p:txBody>
      </p:sp>
      <p:sp>
        <p:nvSpPr>
          <p:cNvPr id="14" name="Shape 14"/>
          <p:cNvSpPr/>
          <p:nvPr/>
        </p:nvSpPr>
        <p:spPr>
          <a:xfrm>
            <a:off x="1143000" y="2343150"/>
            <a:ext cx="609600" cy="609600"/>
          </a:xfrm>
          <a:prstGeom prst="ellipse">
            <a:avLst/>
          </a:prstGeom>
          <a:solidFill>
            <a:srgbClr val="F4F6F8"/>
          </a:solidFill>
          <a:ln w="19050">
            <a:solidFill>
              <a:srgbClr val="D71920"/>
            </a:solidFill>
          </a:ln>
        </p:spPr>
      </p:sp>
      <p:pic>
        <p:nvPicPr>
          <p:cNvPr id="15" name="Picture 15"/>
          <p:cNvPicPr>
            <a:picLocks noChangeAspect="1"/>
          </p:cNvPicPr>
          <p:nvPr/>
        </p:nvPicPr>
        <p:blipFill>
          <a:blip r:embed="rId2"/>
          <a:stretch>
            <a:fillRect/>
          </a:stretch>
        </p:blipFill>
        <p:spPr>
          <a:xfrm>
            <a:off x="1295400" y="2495550"/>
            <a:ext cx="304800" cy="304800"/>
          </a:xfrm>
          <a:prstGeom prst="rect">
            <a:avLst/>
          </a:prstGeom>
          <a:ln>
            <a:noFill/>
          </a:ln>
        </p:spPr>
      </p:pic>
      <p:sp>
        <p:nvSpPr>
          <p:cNvPr id="16" name="Text 16"/>
          <p:cNvSpPr txBox="1"/>
          <p:nvPr/>
        </p:nvSpPr>
        <p:spPr>
          <a:xfrm>
            <a:off x="723900" y="3105150"/>
            <a:ext cx="1447800" cy="285750"/>
          </a:xfrm>
          <a:prstGeom prst="rect">
            <a:avLst/>
          </a:prstGeom>
          <a:noFill/>
          <a:ln>
            <a:noFill/>
          </a:ln>
        </p:spPr>
        <p:txBody>
          <a:bodyPr wrap="square" anchor="t" lIns="0" rIns="0" tIns="0" bIns="0"/>
          <a:lstStyle/>
          <a:p>
            <a:pPr algn="ctr"/>
            <a:r>
              <a:rPr lang="en-US" sz="1900" b="1">
                <a:solidFill>
                  <a:srgbClr val="17212B"/>
                </a:solidFill>
                <a:latin typeface="Arial"/>
              </a:rPr>
              <a:t>Identify</a:t>
            </a:r>
            <a:endParaRPr lang="en-US" sz="1900"/>
          </a:p>
        </p:txBody>
      </p:sp>
      <p:sp>
        <p:nvSpPr>
          <p:cNvPr id="17" name="Text 17"/>
          <p:cNvSpPr txBox="1"/>
          <p:nvPr/>
        </p:nvSpPr>
        <p:spPr>
          <a:xfrm>
            <a:off x="723900" y="3486150"/>
            <a:ext cx="1447800" cy="457200"/>
          </a:xfrm>
          <a:prstGeom prst="rect">
            <a:avLst/>
          </a:prstGeom>
          <a:noFill/>
          <a:ln>
            <a:noFill/>
          </a:ln>
        </p:spPr>
        <p:txBody>
          <a:bodyPr wrap="square" anchor="t" lIns="0" rIns="0" tIns="0" bIns="0"/>
          <a:lstStyle/>
          <a:p>
            <a:pPr algn="ctr"/>
            <a:r>
              <a:rPr lang="en-US" sz="1400" b="0">
                <a:solidFill>
                  <a:srgbClr val="5D6873"/>
                </a:solidFill>
                <a:latin typeface="Arial"/>
              </a:rPr>
              <a:t>Authenticated operator</a:t>
            </a:r>
            <a:endParaRPr lang="en-US" sz="1400"/>
          </a:p>
        </p:txBody>
      </p:sp>
      <p:sp>
        <p:nvSpPr>
          <p:cNvPr id="18" name="Shape 18"/>
          <p:cNvSpPr/>
          <p:nvPr/>
        </p:nvSpPr>
        <p:spPr>
          <a:xfrm>
            <a:off x="2857500" y="2133600"/>
            <a:ext cx="1752600" cy="2038350"/>
          </a:xfrm>
          <a:prstGeom prst="roundRect">
            <a:avLst/>
          </a:prstGeom>
          <a:solidFill>
            <a:srgbClr val="FFFFFF"/>
          </a:solidFill>
          <a:ln w="12700">
            <a:solidFill>
              <a:srgbClr val="D9DEE3"/>
            </a:solidFill>
          </a:ln>
        </p:spPr>
      </p:sp>
      <p:sp>
        <p:nvSpPr>
          <p:cNvPr id="19" name="Shape 19"/>
          <p:cNvSpPr/>
          <p:nvPr/>
        </p:nvSpPr>
        <p:spPr>
          <a:xfrm>
            <a:off x="2857500" y="2133600"/>
            <a:ext cx="1752600" cy="57150"/>
          </a:xfrm>
          <a:prstGeom prst="rect">
            <a:avLst/>
          </a:prstGeom>
          <a:solidFill>
            <a:srgbClr val="2A5B84"/>
          </a:solidFill>
          <a:ln w="12700">
            <a:solidFill>
              <a:srgbClr val="2A5B84"/>
            </a:solidFill>
          </a:ln>
        </p:spPr>
      </p:sp>
      <p:sp>
        <p:nvSpPr>
          <p:cNvPr id="20" name="Text 20"/>
          <p:cNvSpPr txBox="1"/>
          <p:nvPr/>
        </p:nvSpPr>
        <p:spPr>
          <a:xfrm>
            <a:off x="3009900" y="2286000"/>
            <a:ext cx="381000" cy="228600"/>
          </a:xfrm>
          <a:prstGeom prst="rect">
            <a:avLst/>
          </a:prstGeom>
          <a:noFill/>
          <a:ln>
            <a:noFill/>
          </a:ln>
        </p:spPr>
        <p:txBody>
          <a:bodyPr wrap="square" anchor="t" lIns="0" rIns="0" tIns="0" bIns="0"/>
          <a:lstStyle/>
          <a:p>
            <a:pPr algn="l"/>
            <a:r>
              <a:rPr lang="en-US" sz="1200" b="1">
                <a:solidFill>
                  <a:srgbClr val="2A5B84"/>
                </a:solidFill>
                <a:latin typeface="Arial"/>
              </a:rPr>
              <a:t>02</a:t>
            </a:r>
            <a:endParaRPr lang="en-US" sz="1200"/>
          </a:p>
        </p:txBody>
      </p:sp>
      <p:sp>
        <p:nvSpPr>
          <p:cNvPr id="21" name="Shape 21"/>
          <p:cNvSpPr/>
          <p:nvPr/>
        </p:nvSpPr>
        <p:spPr>
          <a:xfrm>
            <a:off x="3429000" y="2343150"/>
            <a:ext cx="609600" cy="609600"/>
          </a:xfrm>
          <a:prstGeom prst="ellipse">
            <a:avLst/>
          </a:prstGeom>
          <a:solidFill>
            <a:srgbClr val="F4F6F8"/>
          </a:solidFill>
          <a:ln w="19050">
            <a:solidFill>
              <a:srgbClr val="2A5B84"/>
            </a:solidFill>
          </a:ln>
        </p:spPr>
      </p:sp>
      <p:pic>
        <p:nvPicPr>
          <p:cNvPr id="22" name="Picture 22"/>
          <p:cNvPicPr>
            <a:picLocks noChangeAspect="1"/>
          </p:cNvPicPr>
          <p:nvPr/>
        </p:nvPicPr>
        <p:blipFill>
          <a:blip r:embed="rId3"/>
          <a:stretch>
            <a:fillRect/>
          </a:stretch>
        </p:blipFill>
        <p:spPr>
          <a:xfrm>
            <a:off x="3581400" y="2495550"/>
            <a:ext cx="304800" cy="304800"/>
          </a:xfrm>
          <a:prstGeom prst="rect">
            <a:avLst/>
          </a:prstGeom>
          <a:ln>
            <a:noFill/>
          </a:ln>
        </p:spPr>
      </p:pic>
      <p:sp>
        <p:nvSpPr>
          <p:cNvPr id="23" name="Text 23"/>
          <p:cNvSpPr txBox="1"/>
          <p:nvPr/>
        </p:nvSpPr>
        <p:spPr>
          <a:xfrm>
            <a:off x="3009900" y="3105150"/>
            <a:ext cx="1447800" cy="285750"/>
          </a:xfrm>
          <a:prstGeom prst="rect">
            <a:avLst/>
          </a:prstGeom>
          <a:noFill/>
          <a:ln>
            <a:noFill/>
          </a:ln>
        </p:spPr>
        <p:txBody>
          <a:bodyPr wrap="square" anchor="t" lIns="0" rIns="0" tIns="0" bIns="0"/>
          <a:lstStyle/>
          <a:p>
            <a:pPr algn="ctr"/>
            <a:r>
              <a:rPr lang="en-US" sz="1900" b="1">
                <a:solidFill>
                  <a:srgbClr val="17212B"/>
                </a:solidFill>
                <a:latin typeface="Arial"/>
              </a:rPr>
              <a:t>Review</a:t>
            </a:r>
            <a:endParaRPr lang="en-US" sz="1900"/>
          </a:p>
        </p:txBody>
      </p:sp>
      <p:sp>
        <p:nvSpPr>
          <p:cNvPr id="24" name="Text 24"/>
          <p:cNvSpPr txBox="1"/>
          <p:nvPr/>
        </p:nvSpPr>
        <p:spPr>
          <a:xfrm>
            <a:off x="3009900" y="3486150"/>
            <a:ext cx="1447800" cy="457200"/>
          </a:xfrm>
          <a:prstGeom prst="rect">
            <a:avLst/>
          </a:prstGeom>
          <a:noFill/>
          <a:ln>
            <a:noFill/>
          </a:ln>
        </p:spPr>
        <p:txBody>
          <a:bodyPr wrap="square" anchor="t" lIns="0" rIns="0" tIns="0" bIns="0"/>
          <a:lstStyle/>
          <a:p>
            <a:pPr algn="ctr"/>
            <a:r>
              <a:rPr lang="en-US" sz="1400" b="0">
                <a:solidFill>
                  <a:srgbClr val="5D6873"/>
                </a:solidFill>
                <a:latin typeface="Arial"/>
              </a:rPr>
              <a:t>Activity facts and source risk</a:t>
            </a:r>
            <a:endParaRPr lang="en-US" sz="1400"/>
          </a:p>
        </p:txBody>
      </p:sp>
      <p:sp>
        <p:nvSpPr>
          <p:cNvPr id="25" name="Shape 25"/>
          <p:cNvSpPr/>
          <p:nvPr/>
        </p:nvSpPr>
        <p:spPr>
          <a:xfrm>
            <a:off x="5143500" y="2133600"/>
            <a:ext cx="1752600" cy="2038350"/>
          </a:xfrm>
          <a:prstGeom prst="roundRect">
            <a:avLst/>
          </a:prstGeom>
          <a:solidFill>
            <a:srgbClr val="FFFFFF"/>
          </a:solidFill>
          <a:ln w="12700">
            <a:solidFill>
              <a:srgbClr val="D9DEE3"/>
            </a:solidFill>
          </a:ln>
        </p:spPr>
      </p:sp>
      <p:sp>
        <p:nvSpPr>
          <p:cNvPr id="26" name="Shape 26"/>
          <p:cNvSpPr/>
          <p:nvPr/>
        </p:nvSpPr>
        <p:spPr>
          <a:xfrm>
            <a:off x="5143500" y="2133600"/>
            <a:ext cx="1752600" cy="57150"/>
          </a:xfrm>
          <a:prstGeom prst="rect">
            <a:avLst/>
          </a:prstGeom>
          <a:solidFill>
            <a:srgbClr val="981B1E"/>
          </a:solidFill>
          <a:ln w="12700">
            <a:solidFill>
              <a:srgbClr val="981B1E"/>
            </a:solidFill>
          </a:ln>
        </p:spPr>
      </p:sp>
      <p:sp>
        <p:nvSpPr>
          <p:cNvPr id="27" name="Text 27"/>
          <p:cNvSpPr txBox="1"/>
          <p:nvPr/>
        </p:nvSpPr>
        <p:spPr>
          <a:xfrm>
            <a:off x="5295900" y="2286000"/>
            <a:ext cx="381000" cy="228600"/>
          </a:xfrm>
          <a:prstGeom prst="rect">
            <a:avLst/>
          </a:prstGeom>
          <a:noFill/>
          <a:ln>
            <a:noFill/>
          </a:ln>
        </p:spPr>
        <p:txBody>
          <a:bodyPr wrap="square" anchor="t" lIns="0" rIns="0" tIns="0" bIns="0"/>
          <a:lstStyle/>
          <a:p>
            <a:pPr algn="l"/>
            <a:r>
              <a:rPr lang="en-US" sz="1200" b="1">
                <a:solidFill>
                  <a:srgbClr val="981B1E"/>
                </a:solidFill>
                <a:latin typeface="Arial"/>
              </a:rPr>
              <a:t>03</a:t>
            </a:r>
            <a:endParaRPr lang="en-US" sz="1200"/>
          </a:p>
        </p:txBody>
      </p:sp>
      <p:sp>
        <p:nvSpPr>
          <p:cNvPr id="28" name="Shape 28"/>
          <p:cNvSpPr/>
          <p:nvPr/>
        </p:nvSpPr>
        <p:spPr>
          <a:xfrm>
            <a:off x="5715000" y="2343150"/>
            <a:ext cx="609600" cy="609600"/>
          </a:xfrm>
          <a:prstGeom prst="ellipse">
            <a:avLst/>
          </a:prstGeom>
          <a:solidFill>
            <a:srgbClr val="F4F6F8"/>
          </a:solidFill>
          <a:ln w="19050">
            <a:solidFill>
              <a:srgbClr val="981B1E"/>
            </a:solidFill>
          </a:ln>
        </p:spPr>
      </p:sp>
      <p:pic>
        <p:nvPicPr>
          <p:cNvPr id="29" name="Picture 29"/>
          <p:cNvPicPr>
            <a:picLocks noChangeAspect="1"/>
          </p:cNvPicPr>
          <p:nvPr/>
        </p:nvPicPr>
        <p:blipFill>
          <a:blip r:embed="rId4"/>
          <a:stretch>
            <a:fillRect/>
          </a:stretch>
        </p:blipFill>
        <p:spPr>
          <a:xfrm>
            <a:off x="5867400" y="2495550"/>
            <a:ext cx="304800" cy="304800"/>
          </a:xfrm>
          <a:prstGeom prst="rect">
            <a:avLst/>
          </a:prstGeom>
          <a:ln>
            <a:noFill/>
          </a:ln>
        </p:spPr>
      </p:pic>
      <p:sp>
        <p:nvSpPr>
          <p:cNvPr id="30" name="Text 30"/>
          <p:cNvSpPr txBox="1"/>
          <p:nvPr/>
        </p:nvSpPr>
        <p:spPr>
          <a:xfrm>
            <a:off x="5295900" y="3105150"/>
            <a:ext cx="1447800" cy="285750"/>
          </a:xfrm>
          <a:prstGeom prst="rect">
            <a:avLst/>
          </a:prstGeom>
          <a:noFill/>
          <a:ln>
            <a:noFill/>
          </a:ln>
        </p:spPr>
        <p:txBody>
          <a:bodyPr wrap="square" anchor="t" lIns="0" rIns="0" tIns="0" bIns="0"/>
          <a:lstStyle/>
          <a:p>
            <a:pPr algn="ctr"/>
            <a:r>
              <a:rPr lang="en-US" sz="1900" b="1">
                <a:solidFill>
                  <a:srgbClr val="17212B"/>
                </a:solidFill>
                <a:latin typeface="Arial"/>
              </a:rPr>
              <a:t>Analyze</a:t>
            </a:r>
            <a:endParaRPr lang="en-US" sz="1900"/>
          </a:p>
        </p:txBody>
      </p:sp>
      <p:sp>
        <p:nvSpPr>
          <p:cNvPr id="31" name="Text 31"/>
          <p:cNvSpPr txBox="1"/>
          <p:nvPr/>
        </p:nvSpPr>
        <p:spPr>
          <a:xfrm>
            <a:off x="5295900" y="3486150"/>
            <a:ext cx="1447800" cy="457200"/>
          </a:xfrm>
          <a:prstGeom prst="rect">
            <a:avLst/>
          </a:prstGeom>
          <a:noFill/>
          <a:ln>
            <a:noFill/>
          </a:ln>
        </p:spPr>
        <p:txBody>
          <a:bodyPr wrap="square" anchor="t" lIns="0" rIns="0" tIns="0" bIns="0"/>
          <a:lstStyle/>
          <a:p>
            <a:pPr algn="ctr"/>
            <a:r>
              <a:rPr lang="en-US" sz="1400" b="0">
                <a:solidFill>
                  <a:srgbClr val="5D6873"/>
                </a:solidFill>
                <a:latin typeface="Arial"/>
              </a:rPr>
              <a:t>Bounded evidence pipeline</a:t>
            </a:r>
            <a:endParaRPr lang="en-US" sz="1400"/>
          </a:p>
        </p:txBody>
      </p:sp>
      <p:sp>
        <p:nvSpPr>
          <p:cNvPr id="32" name="Shape 32"/>
          <p:cNvSpPr/>
          <p:nvPr/>
        </p:nvSpPr>
        <p:spPr>
          <a:xfrm>
            <a:off x="7429500" y="2133600"/>
            <a:ext cx="1752600" cy="2038350"/>
          </a:xfrm>
          <a:prstGeom prst="roundRect">
            <a:avLst/>
          </a:prstGeom>
          <a:solidFill>
            <a:srgbClr val="FFFFFF"/>
          </a:solidFill>
          <a:ln w="12700">
            <a:solidFill>
              <a:srgbClr val="D9DEE3"/>
            </a:solidFill>
          </a:ln>
        </p:spPr>
      </p:sp>
      <p:sp>
        <p:nvSpPr>
          <p:cNvPr id="33" name="Shape 33"/>
          <p:cNvSpPr/>
          <p:nvPr/>
        </p:nvSpPr>
        <p:spPr>
          <a:xfrm>
            <a:off x="7429500" y="2133600"/>
            <a:ext cx="1752600" cy="57150"/>
          </a:xfrm>
          <a:prstGeom prst="rect">
            <a:avLst/>
          </a:prstGeom>
          <a:solidFill>
            <a:srgbClr val="1F7A5A"/>
          </a:solidFill>
          <a:ln w="12700">
            <a:solidFill>
              <a:srgbClr val="1F7A5A"/>
            </a:solidFill>
          </a:ln>
        </p:spPr>
      </p:sp>
      <p:sp>
        <p:nvSpPr>
          <p:cNvPr id="34" name="Text 34"/>
          <p:cNvSpPr txBox="1"/>
          <p:nvPr/>
        </p:nvSpPr>
        <p:spPr>
          <a:xfrm>
            <a:off x="7581900" y="2286000"/>
            <a:ext cx="381000" cy="228600"/>
          </a:xfrm>
          <a:prstGeom prst="rect">
            <a:avLst/>
          </a:prstGeom>
          <a:noFill/>
          <a:ln>
            <a:noFill/>
          </a:ln>
        </p:spPr>
        <p:txBody>
          <a:bodyPr wrap="square" anchor="t" lIns="0" rIns="0" tIns="0" bIns="0"/>
          <a:lstStyle/>
          <a:p>
            <a:pPr algn="l"/>
            <a:r>
              <a:rPr lang="en-US" sz="1200" b="1">
                <a:solidFill>
                  <a:srgbClr val="1F7A5A"/>
                </a:solidFill>
                <a:latin typeface="Arial"/>
              </a:rPr>
              <a:t>04</a:t>
            </a:r>
            <a:endParaRPr lang="en-US" sz="1200"/>
          </a:p>
        </p:txBody>
      </p:sp>
      <p:sp>
        <p:nvSpPr>
          <p:cNvPr id="35" name="Shape 35"/>
          <p:cNvSpPr/>
          <p:nvPr/>
        </p:nvSpPr>
        <p:spPr>
          <a:xfrm>
            <a:off x="8001000" y="2343150"/>
            <a:ext cx="609600" cy="609600"/>
          </a:xfrm>
          <a:prstGeom prst="ellipse">
            <a:avLst/>
          </a:prstGeom>
          <a:solidFill>
            <a:srgbClr val="F4F6F8"/>
          </a:solidFill>
          <a:ln w="19050">
            <a:solidFill>
              <a:srgbClr val="1F7A5A"/>
            </a:solidFill>
          </a:ln>
        </p:spPr>
      </p:sp>
      <p:pic>
        <p:nvPicPr>
          <p:cNvPr id="36" name="Picture 36"/>
          <p:cNvPicPr>
            <a:picLocks noChangeAspect="1"/>
          </p:cNvPicPr>
          <p:nvPr/>
        </p:nvPicPr>
        <p:blipFill>
          <a:blip r:embed="rId5"/>
          <a:stretch>
            <a:fillRect/>
          </a:stretch>
        </p:blipFill>
        <p:spPr>
          <a:xfrm>
            <a:off x="8153400" y="2495550"/>
            <a:ext cx="304800" cy="304800"/>
          </a:xfrm>
          <a:prstGeom prst="rect">
            <a:avLst/>
          </a:prstGeom>
          <a:ln>
            <a:noFill/>
          </a:ln>
        </p:spPr>
      </p:pic>
      <p:sp>
        <p:nvSpPr>
          <p:cNvPr id="37" name="Text 37"/>
          <p:cNvSpPr txBox="1"/>
          <p:nvPr/>
        </p:nvSpPr>
        <p:spPr>
          <a:xfrm>
            <a:off x="7581900" y="3105150"/>
            <a:ext cx="1447800" cy="285750"/>
          </a:xfrm>
          <a:prstGeom prst="rect">
            <a:avLst/>
          </a:prstGeom>
          <a:noFill/>
          <a:ln>
            <a:noFill/>
          </a:ln>
        </p:spPr>
        <p:txBody>
          <a:bodyPr wrap="square" anchor="t" lIns="0" rIns="0" tIns="0" bIns="0"/>
          <a:lstStyle/>
          <a:p>
            <a:pPr algn="ctr"/>
            <a:r>
              <a:rPr lang="en-US" sz="1900" b="1">
                <a:solidFill>
                  <a:srgbClr val="17212B"/>
                </a:solidFill>
                <a:latin typeface="Arial"/>
              </a:rPr>
              <a:t>Inspect</a:t>
            </a:r>
            <a:endParaRPr lang="en-US" sz="1900"/>
          </a:p>
        </p:txBody>
      </p:sp>
      <p:sp>
        <p:nvSpPr>
          <p:cNvPr id="38" name="Text 38"/>
          <p:cNvSpPr txBox="1"/>
          <p:nvPr/>
        </p:nvSpPr>
        <p:spPr>
          <a:xfrm>
            <a:off x="7581900" y="3486150"/>
            <a:ext cx="1447800" cy="457200"/>
          </a:xfrm>
          <a:prstGeom prst="rect">
            <a:avLst/>
          </a:prstGeom>
          <a:noFill/>
          <a:ln>
            <a:noFill/>
          </a:ln>
        </p:spPr>
        <p:txBody>
          <a:bodyPr wrap="square" anchor="t" lIns="0" rIns="0" tIns="0" bIns="0"/>
          <a:lstStyle/>
          <a:p>
            <a:pPr algn="ctr"/>
            <a:r>
              <a:rPr lang="en-US" sz="1400" b="0">
                <a:solidFill>
                  <a:srgbClr val="5D6873"/>
                </a:solidFill>
                <a:latin typeface="Arial"/>
              </a:rPr>
              <a:t>Grounding and provenance</a:t>
            </a:r>
            <a:endParaRPr lang="en-US" sz="1400"/>
          </a:p>
        </p:txBody>
      </p:sp>
      <p:sp>
        <p:nvSpPr>
          <p:cNvPr id="39" name="Shape 39"/>
          <p:cNvSpPr/>
          <p:nvPr/>
        </p:nvSpPr>
        <p:spPr>
          <a:xfrm>
            <a:off x="9715500" y="2133600"/>
            <a:ext cx="1752600" cy="2038350"/>
          </a:xfrm>
          <a:prstGeom prst="roundRect">
            <a:avLst/>
          </a:prstGeom>
          <a:solidFill>
            <a:srgbClr val="FCEBEC"/>
          </a:solidFill>
          <a:ln w="25400">
            <a:solidFill>
              <a:srgbClr val="D71920"/>
            </a:solidFill>
          </a:ln>
        </p:spPr>
      </p:sp>
      <p:sp>
        <p:nvSpPr>
          <p:cNvPr id="40" name="Shape 40"/>
          <p:cNvSpPr/>
          <p:nvPr/>
        </p:nvSpPr>
        <p:spPr>
          <a:xfrm>
            <a:off x="9715500" y="2133600"/>
            <a:ext cx="1752600" cy="57150"/>
          </a:xfrm>
          <a:prstGeom prst="rect">
            <a:avLst/>
          </a:prstGeom>
          <a:solidFill>
            <a:srgbClr val="D71920"/>
          </a:solidFill>
          <a:ln w="12700">
            <a:solidFill>
              <a:srgbClr val="D71920"/>
            </a:solidFill>
          </a:ln>
        </p:spPr>
      </p:sp>
      <p:sp>
        <p:nvSpPr>
          <p:cNvPr id="41" name="Text 41"/>
          <p:cNvSpPr txBox="1"/>
          <p:nvPr/>
        </p:nvSpPr>
        <p:spPr>
          <a:xfrm>
            <a:off x="9867900" y="2286000"/>
            <a:ext cx="381000" cy="228600"/>
          </a:xfrm>
          <a:prstGeom prst="rect">
            <a:avLst/>
          </a:prstGeom>
          <a:noFill/>
          <a:ln>
            <a:noFill/>
          </a:ln>
        </p:spPr>
        <p:txBody>
          <a:bodyPr wrap="square" anchor="t" lIns="0" rIns="0" tIns="0" bIns="0"/>
          <a:lstStyle/>
          <a:p>
            <a:pPr algn="l"/>
            <a:r>
              <a:rPr lang="en-US" sz="1200" b="1">
                <a:solidFill>
                  <a:srgbClr val="D71920"/>
                </a:solidFill>
                <a:latin typeface="Arial"/>
              </a:rPr>
              <a:t>05</a:t>
            </a:r>
            <a:endParaRPr lang="en-US" sz="1200"/>
          </a:p>
        </p:txBody>
      </p:sp>
      <p:sp>
        <p:nvSpPr>
          <p:cNvPr id="42" name="Shape 42"/>
          <p:cNvSpPr/>
          <p:nvPr/>
        </p:nvSpPr>
        <p:spPr>
          <a:xfrm>
            <a:off x="10287000" y="2343150"/>
            <a:ext cx="609600" cy="609600"/>
          </a:xfrm>
          <a:prstGeom prst="ellipse">
            <a:avLst/>
          </a:prstGeom>
          <a:solidFill>
            <a:srgbClr val="FFFFFF"/>
          </a:solidFill>
          <a:ln w="19050">
            <a:solidFill>
              <a:srgbClr val="D71920"/>
            </a:solidFill>
          </a:ln>
        </p:spPr>
      </p:sp>
      <p:pic>
        <p:nvPicPr>
          <p:cNvPr id="43" name="Picture 43"/>
          <p:cNvPicPr>
            <a:picLocks noChangeAspect="1"/>
          </p:cNvPicPr>
          <p:nvPr/>
        </p:nvPicPr>
        <p:blipFill>
          <a:blip r:embed="rId6"/>
          <a:stretch>
            <a:fillRect/>
          </a:stretch>
        </p:blipFill>
        <p:spPr>
          <a:xfrm>
            <a:off x="10439400" y="2495550"/>
            <a:ext cx="304800" cy="304800"/>
          </a:xfrm>
          <a:prstGeom prst="rect">
            <a:avLst/>
          </a:prstGeom>
          <a:ln>
            <a:noFill/>
          </a:ln>
        </p:spPr>
      </p:pic>
      <p:sp>
        <p:nvSpPr>
          <p:cNvPr id="44" name="Text 44"/>
          <p:cNvSpPr txBox="1"/>
          <p:nvPr/>
        </p:nvSpPr>
        <p:spPr>
          <a:xfrm>
            <a:off x="9867900" y="3105150"/>
            <a:ext cx="1447800" cy="285750"/>
          </a:xfrm>
          <a:prstGeom prst="rect">
            <a:avLst/>
          </a:prstGeom>
          <a:noFill/>
          <a:ln>
            <a:noFill/>
          </a:ln>
        </p:spPr>
        <p:txBody>
          <a:bodyPr wrap="square" anchor="t" lIns="0" rIns="0" tIns="0" bIns="0"/>
          <a:lstStyle/>
          <a:p>
            <a:pPr algn="ctr"/>
            <a:r>
              <a:rPr lang="en-US" sz="1900" b="1">
                <a:solidFill>
                  <a:srgbClr val="17212B"/>
                </a:solidFill>
                <a:latin typeface="Arial"/>
              </a:rPr>
              <a:t>Reopen</a:t>
            </a:r>
            <a:endParaRPr lang="en-US" sz="1900"/>
          </a:p>
        </p:txBody>
      </p:sp>
      <p:sp>
        <p:nvSpPr>
          <p:cNvPr id="45" name="Text 45"/>
          <p:cNvSpPr txBox="1"/>
          <p:nvPr/>
        </p:nvSpPr>
        <p:spPr>
          <a:xfrm>
            <a:off x="9867900" y="3486150"/>
            <a:ext cx="1447800" cy="457200"/>
          </a:xfrm>
          <a:prstGeom prst="rect">
            <a:avLst/>
          </a:prstGeom>
          <a:noFill/>
          <a:ln>
            <a:noFill/>
          </a:ln>
        </p:spPr>
        <p:txBody>
          <a:bodyPr wrap="square" anchor="t" lIns="0" rIns="0" tIns="0" bIns="0"/>
          <a:lstStyle/>
          <a:p>
            <a:pPr algn="ctr"/>
            <a:r>
              <a:rPr lang="en-US" sz="1400" b="0">
                <a:solidFill>
                  <a:srgbClr val="5D6873"/>
                </a:solidFill>
                <a:latin typeface="Arial"/>
              </a:rPr>
              <a:t>Persisted review context</a:t>
            </a:r>
            <a:endParaRPr lang="en-US" sz="1400"/>
          </a:p>
        </p:txBody>
      </p:sp>
      <p:sp>
        <p:nvSpPr>
          <p:cNvPr id="46" name="Text 46"/>
          <p:cNvSpPr txBox="1"/>
          <p:nvPr/>
        </p:nvSpPr>
        <p:spPr>
          <a:xfrm>
            <a:off x="4762500" y="4591050"/>
            <a:ext cx="4762500" cy="228600"/>
          </a:xfrm>
          <a:prstGeom prst="rect">
            <a:avLst/>
          </a:prstGeom>
          <a:noFill/>
          <a:ln>
            <a:noFill/>
          </a:ln>
        </p:spPr>
        <p:txBody>
          <a:bodyPr wrap="square" anchor="t" lIns="0" rIns="0" tIns="0" bIns="0"/>
          <a:lstStyle/>
          <a:p>
            <a:pPr algn="ctr"/>
            <a:r>
              <a:rPr lang="en-US" sz="1400" b="1">
                <a:solidFill>
                  <a:srgbClr val="2A5B84"/>
                </a:solidFill>
                <a:latin typeface="Arial"/>
              </a:rPr>
              <a:t>A later review resumes from retained context</a:t>
            </a:r>
            <a:endParaRPr lang="en-US" sz="1400"/>
          </a:p>
        </p:txBody>
      </p:sp>
      <p:sp>
        <p:nvSpPr>
          <p:cNvPr id="47" name="Shape 47"/>
          <p:cNvSpPr/>
          <p:nvPr/>
        </p:nvSpPr>
        <p:spPr>
          <a:xfrm>
            <a:off x="1981200" y="5391150"/>
            <a:ext cx="8229600" cy="628650"/>
          </a:xfrm>
          <a:prstGeom prst="rect">
            <a:avLst/>
          </a:prstGeom>
          <a:solidFill>
            <a:srgbClr val="F4F6F8"/>
          </a:solidFill>
          <a:ln w="12700">
            <a:solidFill>
              <a:srgbClr val="D9DEE3"/>
            </a:solidFill>
          </a:ln>
        </p:spPr>
      </p:sp>
      <p:sp>
        <p:nvSpPr>
          <p:cNvPr id="48" name="Shape 48"/>
          <p:cNvSpPr/>
          <p:nvPr/>
        </p:nvSpPr>
        <p:spPr>
          <a:xfrm>
            <a:off x="2152650" y="5495925"/>
            <a:ext cx="400050" cy="400050"/>
          </a:xfrm>
          <a:prstGeom prst="ellipse">
            <a:avLst/>
          </a:prstGeom>
          <a:solidFill>
            <a:srgbClr val="FFFFFF"/>
          </a:solidFill>
          <a:ln w="19050">
            <a:solidFill>
              <a:srgbClr val="D71920"/>
            </a:solidFill>
          </a:ln>
        </p:spPr>
      </p:sp>
      <p:pic>
        <p:nvPicPr>
          <p:cNvPr id="49" name="Picture 49"/>
          <p:cNvPicPr>
            <a:picLocks noChangeAspect="1"/>
          </p:cNvPicPr>
          <p:nvPr/>
        </p:nvPicPr>
        <p:blipFill>
          <a:blip r:embed="rId7"/>
          <a:stretch>
            <a:fillRect/>
          </a:stretch>
        </p:blipFill>
        <p:spPr>
          <a:xfrm>
            <a:off x="2257425" y="5600700"/>
            <a:ext cx="190500" cy="190500"/>
          </a:xfrm>
          <a:prstGeom prst="rect">
            <a:avLst/>
          </a:prstGeom>
          <a:ln>
            <a:noFill/>
          </a:ln>
        </p:spPr>
      </p:pic>
      <p:sp>
        <p:nvSpPr>
          <p:cNvPr id="50" name="Text 50"/>
          <p:cNvSpPr txBox="1"/>
          <p:nvPr/>
        </p:nvSpPr>
        <p:spPr>
          <a:xfrm>
            <a:off x="2743200" y="5524500"/>
            <a:ext cx="7239000" cy="361950"/>
          </a:xfrm>
          <a:prstGeom prst="rect">
            <a:avLst/>
          </a:prstGeom>
          <a:noFill/>
          <a:ln>
            <a:noFill/>
          </a:ln>
        </p:spPr>
        <p:txBody>
          <a:bodyPr wrap="square" anchor="ctr" lIns="0" rIns="0" tIns="0" bIns="0"/>
          <a:lstStyle/>
          <a:p>
            <a:pPr algn="ctr"/>
            <a:r>
              <a:rPr lang="en-US" sz="1700" b="1">
                <a:solidFill>
                  <a:srgbClr val="17212B"/>
                </a:solidFill>
                <a:latin typeface="Arial"/>
              </a:rPr>
              <a:t>The recommendation remains advisory. The operator keeps the decision.</a:t>
            </a:r>
            <a:endParaRPr lang="en-US" sz="1700"/>
          </a:p>
        </p:txBody>
      </p:sp>
      <p:cxnSp>
        <p:nvCxnSpPr>
          <p:cNvPr id="51" name="Connector 51"/>
          <p:cNvCxnSpPr/>
          <p:nvPr/>
        </p:nvCxnSpPr>
        <p:spPr>
          <a:xfrm>
            <a:off x="552450" y="6419850"/>
            <a:ext cx="11087100" cy="0"/>
          </a:xfrm>
          <a:prstGeom prst="line">
            <a:avLst/>
          </a:prstGeom>
          <a:ln w="12700">
            <a:solidFill>
              <a:srgbClr val="D9DEE3"/>
            </a:solidFill>
          </a:ln>
        </p:spPr>
      </p:cxnSp>
      <p:sp>
        <p:nvSpPr>
          <p:cNvPr id="52" name="Text 52"/>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CUSTOMER ACTIVITY ANALYTICS</a:t>
            </a:r>
            <a:endParaRPr lang="en-US" sz="1000"/>
          </a:p>
        </p:txBody>
      </p:sp>
      <p:sp>
        <p:nvSpPr>
          <p:cNvPr id="53" name="Text 53"/>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3</a:t>
            </a:r>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DELIVERED INTERVIEW DEMONSTRATOR</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R5 closes the live loop from WatchInfra to LM Studio and back to browser history</a:t>
            </a:r>
            <a:endParaRPr lang="en-US" sz="3000"/>
          </a:p>
        </p:txBody>
      </p:sp>
      <p:sp>
        <p:nvSpPr>
          <p:cNvPr id="4" name="Shape 4"/>
          <p:cNvSpPr/>
          <p:nvPr/>
        </p:nvSpPr>
        <p:spPr>
          <a:xfrm>
            <a:off x="552450" y="1619250"/>
            <a:ext cx="5429250" cy="3829050"/>
          </a:xfrm>
          <a:prstGeom prst="rect">
            <a:avLst/>
          </a:prstGeom>
          <a:solidFill>
            <a:srgbClr val="FFFFFF"/>
          </a:solidFill>
          <a:ln w="12700">
            <a:solidFill>
              <a:srgbClr val="D9DEE3"/>
            </a:solidFill>
          </a:ln>
        </p:spPr>
      </p:sp>
      <p:pic>
        <p:nvPicPr>
          <p:cNvPr id="5" name="Picture 5"/>
          <p:cNvPicPr>
            <a:picLocks noChangeAspect="1"/>
          </p:cNvPicPr>
          <p:nvPr/>
        </p:nvPicPr>
        <p:blipFill>
          <a:blip r:embed="rId2"/>
          <a:stretch>
            <a:fillRect/>
          </a:stretch>
        </p:blipFill>
        <p:spPr>
          <a:xfrm>
            <a:off x="679662" y="1714500"/>
            <a:ext cx="5174827" cy="3638550"/>
          </a:xfrm>
          <a:prstGeom prst="rect">
            <a:avLst/>
          </a:prstGeom>
          <a:ln>
            <a:noFill/>
          </a:ln>
        </p:spPr>
      </p:pic>
      <p:sp>
        <p:nvSpPr>
          <p:cNvPr id="6" name="Shape 6"/>
          <p:cNvSpPr/>
          <p:nvPr/>
        </p:nvSpPr>
        <p:spPr>
          <a:xfrm>
            <a:off x="6210300" y="1619250"/>
            <a:ext cx="5429250" cy="3829050"/>
          </a:xfrm>
          <a:prstGeom prst="rect">
            <a:avLst/>
          </a:prstGeom>
          <a:solidFill>
            <a:srgbClr val="FFFFFF"/>
          </a:solidFill>
          <a:ln w="12700">
            <a:solidFill>
              <a:srgbClr val="D9DEE3"/>
            </a:solidFill>
          </a:ln>
        </p:spPr>
      </p:sp>
      <p:pic>
        <p:nvPicPr>
          <p:cNvPr id="7" name="Picture 7"/>
          <p:cNvPicPr>
            <a:picLocks noChangeAspect="1"/>
          </p:cNvPicPr>
          <p:nvPr/>
        </p:nvPicPr>
        <p:blipFill>
          <a:blip r:embed="rId3"/>
          <a:stretch>
            <a:fillRect/>
          </a:stretch>
        </p:blipFill>
        <p:spPr>
          <a:xfrm>
            <a:off x="6337512" y="1714500"/>
            <a:ext cx="5174827" cy="3638550"/>
          </a:xfrm>
          <a:prstGeom prst="rect">
            <a:avLst/>
          </a:prstGeom>
          <a:ln>
            <a:noFill/>
          </a:ln>
        </p:spPr>
      </p:pic>
      <p:sp>
        <p:nvSpPr>
          <p:cNvPr id="8" name="Text 8"/>
          <p:cNvSpPr txBox="1"/>
          <p:nvPr/>
        </p:nvSpPr>
        <p:spPr>
          <a:xfrm>
            <a:off x="723900" y="1790700"/>
            <a:ext cx="1962150" cy="285750"/>
          </a:xfrm>
          <a:prstGeom prst="rect">
            <a:avLst/>
          </a:prstGeom>
          <a:solidFill>
            <a:srgbClr val="D71920"/>
          </a:solidFill>
          <a:ln>
            <a:noFill/>
          </a:ln>
        </p:spPr>
        <p:txBody>
          <a:bodyPr wrap="square" anchor="ctr" lIns="66675" rIns="66675" tIns="66675" bIns="66675"/>
          <a:lstStyle/>
          <a:p>
            <a:pPr algn="l"/>
            <a:r>
              <a:rPr lang="en-US" sz="1200" b="1">
                <a:solidFill>
                  <a:srgbClr val="FFFFFF"/>
                </a:solidFill>
                <a:latin typeface="Arial"/>
              </a:rPr>
              <a:t>1  ANALYSIS RESULT</a:t>
            </a:r>
            <a:endParaRPr lang="en-US" sz="1200"/>
          </a:p>
        </p:txBody>
      </p:sp>
      <p:sp>
        <p:nvSpPr>
          <p:cNvPr id="9" name="Text 9"/>
          <p:cNvSpPr txBox="1"/>
          <p:nvPr/>
        </p:nvSpPr>
        <p:spPr>
          <a:xfrm>
            <a:off x="6381750" y="1790700"/>
            <a:ext cx="2133600" cy="285750"/>
          </a:xfrm>
          <a:prstGeom prst="rect">
            <a:avLst/>
          </a:prstGeom>
          <a:solidFill>
            <a:srgbClr val="2A5B84"/>
          </a:solidFill>
          <a:ln>
            <a:noFill/>
          </a:ln>
        </p:spPr>
        <p:txBody>
          <a:bodyPr wrap="square" anchor="ctr" lIns="66675" rIns="66675" tIns="66675" bIns="66675"/>
          <a:lstStyle/>
          <a:p>
            <a:pPr algn="l"/>
            <a:r>
              <a:rPr lang="en-US" sz="1200" b="1">
                <a:solidFill>
                  <a:srgbClr val="FFFFFF"/>
                </a:solidFill>
                <a:latin typeface="Arial"/>
              </a:rPr>
              <a:t>2  LOCAL PROVENANCE</a:t>
            </a:r>
            <a:endParaRPr lang="en-US" sz="1200"/>
          </a:p>
        </p:txBody>
      </p:sp>
      <p:sp>
        <p:nvSpPr>
          <p:cNvPr id="10" name="Shape 10"/>
          <p:cNvSpPr/>
          <p:nvPr/>
        </p:nvSpPr>
        <p:spPr>
          <a:xfrm>
            <a:off x="552450" y="5619750"/>
            <a:ext cx="11087100" cy="514350"/>
          </a:xfrm>
          <a:prstGeom prst="roundRect">
            <a:avLst/>
          </a:prstGeom>
          <a:solidFill>
            <a:srgbClr val="17212B"/>
          </a:solidFill>
          <a:ln w="12700">
            <a:solidFill>
              <a:srgbClr val="17212B"/>
            </a:solidFill>
          </a:ln>
        </p:spPr>
      </p:sp>
      <p:sp>
        <p:nvSpPr>
          <p:cNvPr id="11" name="Text 11"/>
          <p:cNvSpPr txBox="1"/>
          <p:nvPr/>
        </p:nvSpPr>
        <p:spPr>
          <a:xfrm>
            <a:off x="723900" y="5715000"/>
            <a:ext cx="10744200" cy="323850"/>
          </a:xfrm>
          <a:prstGeom prst="rect">
            <a:avLst/>
          </a:prstGeom>
          <a:noFill/>
          <a:ln>
            <a:noFill/>
          </a:ln>
        </p:spPr>
        <p:txBody>
          <a:bodyPr wrap="square" anchor="ctr" lIns="0" rIns="0" tIns="0" bIns="0"/>
          <a:lstStyle/>
          <a:p>
            <a:pPr algn="ctr"/>
            <a:r>
              <a:rPr lang="en-US" sz="1400" b="1">
                <a:solidFill>
                  <a:srgbClr val="FFFFFF"/>
                </a:solidFill>
                <a:latin typeface="Arial"/>
              </a:rPr>
              <a:t>Bayesian + fuzzy + Random Forest · pgvector + MiniLM · Ministral through LM Studio · external transmission: no</a:t>
            </a:r>
            <a:endParaRPr lang="en-US" sz="1400"/>
          </a:p>
        </p:txBody>
      </p:sp>
      <p:cxnSp>
        <p:nvCxnSpPr>
          <p:cNvPr id="12" name="Connector 12"/>
          <p:cNvCxnSpPr/>
          <p:nvPr/>
        </p:nvCxnSpPr>
        <p:spPr>
          <a:xfrm>
            <a:off x="552450" y="6419850"/>
            <a:ext cx="11087100" cy="0"/>
          </a:xfrm>
          <a:prstGeom prst="line">
            <a:avLst/>
          </a:prstGeom>
          <a:ln w="12700">
            <a:solidFill>
              <a:srgbClr val="D9DEE3"/>
            </a:solidFill>
          </a:ln>
        </p:spPr>
      </p:cxnSp>
      <p:sp>
        <p:nvSpPr>
          <p:cNvPr id="13" name="Text 13"/>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CUSTOMER ACTIVITY ANALYTICS</a:t>
            </a:r>
            <a:endParaRPr lang="en-US" sz="1000"/>
          </a:p>
        </p:txBody>
      </p:sp>
      <p:sp>
        <p:nvSpPr>
          <p:cNvPr id="14" name="Text 14"/>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4</a:t>
            </a:r>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APPLICATION DATA FLOW</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Trust comes from separating detection, grounding and synthesis</a:t>
            </a:r>
            <a:endParaRPr lang="en-US" sz="3000"/>
          </a:p>
        </p:txBody>
      </p:sp>
      <p:sp>
        <p:nvSpPr>
          <p:cNvPr id="4" name="Shape 4"/>
          <p:cNvSpPr/>
          <p:nvPr/>
        </p:nvSpPr>
        <p:spPr>
          <a:xfrm>
            <a:off x="552450" y="1809750"/>
            <a:ext cx="11087100" cy="2743200"/>
          </a:xfrm>
          <a:prstGeom prst="rect">
            <a:avLst/>
          </a:prstGeom>
          <a:solidFill>
            <a:srgbClr val="F4F6F8"/>
          </a:solidFill>
          <a:ln w="12700">
            <a:solidFill>
              <a:srgbClr val="D9DEE3"/>
            </a:solidFill>
          </a:ln>
        </p:spPr>
      </p:sp>
      <p:cxnSp>
        <p:nvCxnSpPr>
          <p:cNvPr id="5" name="Connector 5"/>
          <p:cNvCxnSpPr/>
          <p:nvPr/>
        </p:nvCxnSpPr>
        <p:spPr>
          <a:xfrm>
            <a:off x="1504950" y="2619375"/>
            <a:ext cx="895350" cy="0"/>
          </a:xfrm>
          <a:prstGeom prst="line">
            <a:avLst/>
          </a:prstGeom>
          <a:ln w="38100">
            <a:solidFill>
              <a:srgbClr val="D9DEE3"/>
            </a:solidFill>
            <a:tailEnd type="triangle"/>
          </a:ln>
        </p:spPr>
      </p:cxnSp>
      <p:sp>
        <p:nvSpPr>
          <p:cNvPr id="6" name="Text 6"/>
          <p:cNvSpPr txBox="1"/>
          <p:nvPr/>
        </p:nvSpPr>
        <p:spPr>
          <a:xfrm>
            <a:off x="971550" y="1962150"/>
            <a:ext cx="342900" cy="190500"/>
          </a:xfrm>
          <a:prstGeom prst="rect">
            <a:avLst/>
          </a:prstGeom>
          <a:noFill/>
          <a:ln>
            <a:noFill/>
          </a:ln>
        </p:spPr>
        <p:txBody>
          <a:bodyPr wrap="square" anchor="t" lIns="0" rIns="0" tIns="0" bIns="0"/>
          <a:lstStyle/>
          <a:p>
            <a:pPr algn="ctr"/>
            <a:r>
              <a:rPr lang="en-US" sz="1000" b="1">
                <a:solidFill>
                  <a:srgbClr val="17212B"/>
                </a:solidFill>
                <a:latin typeface="Arial"/>
              </a:rPr>
              <a:t>01</a:t>
            </a:r>
            <a:endParaRPr lang="en-US" sz="1000"/>
          </a:p>
        </p:txBody>
      </p:sp>
      <p:sp>
        <p:nvSpPr>
          <p:cNvPr id="7" name="Shape 7"/>
          <p:cNvSpPr/>
          <p:nvPr/>
        </p:nvSpPr>
        <p:spPr>
          <a:xfrm>
            <a:off x="781050" y="2247900"/>
            <a:ext cx="723900" cy="723900"/>
          </a:xfrm>
          <a:prstGeom prst="ellipse">
            <a:avLst/>
          </a:prstGeom>
          <a:solidFill>
            <a:srgbClr val="FFFFFF"/>
          </a:solidFill>
          <a:ln w="19050">
            <a:solidFill>
              <a:srgbClr val="17212B"/>
            </a:solidFill>
          </a:ln>
        </p:spPr>
      </p:sp>
      <p:pic>
        <p:nvPicPr>
          <p:cNvPr id="8" name="Picture 8"/>
          <p:cNvPicPr>
            <a:picLocks noChangeAspect="1"/>
          </p:cNvPicPr>
          <p:nvPr/>
        </p:nvPicPr>
        <p:blipFill>
          <a:blip r:embed="rId2"/>
          <a:stretch>
            <a:fillRect/>
          </a:stretch>
        </p:blipFill>
        <p:spPr>
          <a:xfrm>
            <a:off x="962025" y="2428875"/>
            <a:ext cx="361950" cy="361950"/>
          </a:xfrm>
          <a:prstGeom prst="rect">
            <a:avLst/>
          </a:prstGeom>
          <a:ln>
            <a:noFill/>
          </a:ln>
        </p:spPr>
      </p:pic>
      <p:sp>
        <p:nvSpPr>
          <p:cNvPr id="9" name="Text 9"/>
          <p:cNvSpPr txBox="1"/>
          <p:nvPr/>
        </p:nvSpPr>
        <p:spPr>
          <a:xfrm>
            <a:off x="457200" y="3143250"/>
            <a:ext cx="1371600" cy="228600"/>
          </a:xfrm>
          <a:prstGeom prst="rect">
            <a:avLst/>
          </a:prstGeom>
          <a:noFill/>
          <a:ln>
            <a:noFill/>
          </a:ln>
        </p:spPr>
        <p:txBody>
          <a:bodyPr wrap="square" anchor="t" lIns="0" rIns="0" tIns="0" bIns="0"/>
          <a:lstStyle/>
          <a:p>
            <a:pPr algn="ctr"/>
            <a:r>
              <a:rPr lang="en-US" sz="1300" b="1" spc="30">
                <a:solidFill>
                  <a:srgbClr val="17212B"/>
                </a:solidFill>
                <a:latin typeface="Arial"/>
              </a:rPr>
              <a:t>SOURCE</a:t>
            </a:r>
            <a:endParaRPr lang="en-US" sz="1300"/>
          </a:p>
        </p:txBody>
      </p:sp>
      <p:sp>
        <p:nvSpPr>
          <p:cNvPr id="10" name="Text 10"/>
          <p:cNvSpPr txBox="1"/>
          <p:nvPr/>
        </p:nvSpPr>
        <p:spPr>
          <a:xfrm>
            <a:off x="457200" y="3448050"/>
            <a:ext cx="1371600" cy="514350"/>
          </a:xfrm>
          <a:prstGeom prst="rect">
            <a:avLst/>
          </a:prstGeom>
          <a:noFill/>
          <a:ln>
            <a:noFill/>
          </a:ln>
        </p:spPr>
        <p:txBody>
          <a:bodyPr wrap="square" anchor="ctr" lIns="0" rIns="0" tIns="0" bIns="0"/>
          <a:lstStyle/>
          <a:p>
            <a:pPr algn="ctr"/>
            <a:r>
              <a:rPr lang="en-US" sz="1300" b="0">
                <a:solidFill>
                  <a:srgbClr val="17212B"/>
                </a:solidFill>
                <a:latin typeface="Arial"/>
              </a:rPr>
              <a:t>Customer snapshot</a:t>
            </a:r>
            <a:endParaRPr lang="en-US" sz="1300"/>
          </a:p>
          <a:p>
            <a:pPr algn="ctr"/>
            <a:r>
              <a:rPr lang="en-US" sz="1300" b="0">
                <a:solidFill>
                  <a:srgbClr val="17212B"/>
                </a:solidFill>
                <a:latin typeface="Arial"/>
              </a:rPr>
              <a:t>and source risk</a:t>
            </a:r>
            <a:endParaRPr lang="en-US" sz="1300"/>
          </a:p>
        </p:txBody>
      </p:sp>
      <p:cxnSp>
        <p:nvCxnSpPr>
          <p:cNvPr id="11" name="Connector 11"/>
          <p:cNvCxnSpPr/>
          <p:nvPr/>
        </p:nvCxnSpPr>
        <p:spPr>
          <a:xfrm>
            <a:off x="3124200" y="2619375"/>
            <a:ext cx="895350" cy="0"/>
          </a:xfrm>
          <a:prstGeom prst="line">
            <a:avLst/>
          </a:prstGeom>
          <a:ln w="38100">
            <a:solidFill>
              <a:srgbClr val="D9DEE3"/>
            </a:solidFill>
            <a:tailEnd type="triangle"/>
          </a:ln>
        </p:spPr>
      </p:cxnSp>
      <p:sp>
        <p:nvSpPr>
          <p:cNvPr id="12" name="Text 12"/>
          <p:cNvSpPr txBox="1"/>
          <p:nvPr/>
        </p:nvSpPr>
        <p:spPr>
          <a:xfrm>
            <a:off x="2590800" y="1962150"/>
            <a:ext cx="342900" cy="190500"/>
          </a:xfrm>
          <a:prstGeom prst="rect">
            <a:avLst/>
          </a:prstGeom>
          <a:noFill/>
          <a:ln>
            <a:noFill/>
          </a:ln>
        </p:spPr>
        <p:txBody>
          <a:bodyPr wrap="square" anchor="t" lIns="0" rIns="0" tIns="0" bIns="0"/>
          <a:lstStyle/>
          <a:p>
            <a:pPr algn="ctr"/>
            <a:r>
              <a:rPr lang="en-US" sz="1000" b="1">
                <a:solidFill>
                  <a:srgbClr val="D71920"/>
                </a:solidFill>
                <a:latin typeface="Arial"/>
              </a:rPr>
              <a:t>02</a:t>
            </a:r>
            <a:endParaRPr lang="en-US" sz="1000"/>
          </a:p>
        </p:txBody>
      </p:sp>
      <p:sp>
        <p:nvSpPr>
          <p:cNvPr id="13" name="Shape 13"/>
          <p:cNvSpPr/>
          <p:nvPr/>
        </p:nvSpPr>
        <p:spPr>
          <a:xfrm>
            <a:off x="2400300" y="2247900"/>
            <a:ext cx="723900" cy="723900"/>
          </a:xfrm>
          <a:prstGeom prst="ellipse">
            <a:avLst/>
          </a:prstGeom>
          <a:solidFill>
            <a:srgbClr val="FFFFFF"/>
          </a:solidFill>
          <a:ln w="19050">
            <a:solidFill>
              <a:srgbClr val="D71920"/>
            </a:solidFill>
          </a:ln>
        </p:spPr>
      </p:sp>
      <p:pic>
        <p:nvPicPr>
          <p:cNvPr id="14" name="Picture 14"/>
          <p:cNvPicPr>
            <a:picLocks noChangeAspect="1"/>
          </p:cNvPicPr>
          <p:nvPr/>
        </p:nvPicPr>
        <p:blipFill>
          <a:blip r:embed="rId3"/>
          <a:stretch>
            <a:fillRect/>
          </a:stretch>
        </p:blipFill>
        <p:spPr>
          <a:xfrm>
            <a:off x="2581275" y="2428875"/>
            <a:ext cx="361950" cy="361950"/>
          </a:xfrm>
          <a:prstGeom prst="rect">
            <a:avLst/>
          </a:prstGeom>
          <a:ln>
            <a:noFill/>
          </a:ln>
        </p:spPr>
      </p:pic>
      <p:sp>
        <p:nvSpPr>
          <p:cNvPr id="15" name="Text 15"/>
          <p:cNvSpPr txBox="1"/>
          <p:nvPr/>
        </p:nvSpPr>
        <p:spPr>
          <a:xfrm>
            <a:off x="2076450" y="3143250"/>
            <a:ext cx="1371600" cy="228600"/>
          </a:xfrm>
          <a:prstGeom prst="rect">
            <a:avLst/>
          </a:prstGeom>
          <a:noFill/>
          <a:ln>
            <a:noFill/>
          </a:ln>
        </p:spPr>
        <p:txBody>
          <a:bodyPr wrap="square" anchor="t" lIns="0" rIns="0" tIns="0" bIns="0"/>
          <a:lstStyle/>
          <a:p>
            <a:pPr algn="ctr"/>
            <a:r>
              <a:rPr lang="en-US" sz="1300" b="1" spc="30">
                <a:solidFill>
                  <a:srgbClr val="D71920"/>
                </a:solidFill>
                <a:latin typeface="Arial"/>
              </a:rPr>
              <a:t>DETECT</a:t>
            </a:r>
            <a:endParaRPr lang="en-US" sz="1300"/>
          </a:p>
        </p:txBody>
      </p:sp>
      <p:sp>
        <p:nvSpPr>
          <p:cNvPr id="16" name="Text 16"/>
          <p:cNvSpPr txBox="1"/>
          <p:nvPr/>
        </p:nvSpPr>
        <p:spPr>
          <a:xfrm>
            <a:off x="2076450" y="3448050"/>
            <a:ext cx="1371600" cy="514350"/>
          </a:xfrm>
          <a:prstGeom prst="rect">
            <a:avLst/>
          </a:prstGeom>
          <a:noFill/>
          <a:ln>
            <a:noFill/>
          </a:ln>
        </p:spPr>
        <p:txBody>
          <a:bodyPr wrap="square" anchor="ctr" lIns="0" rIns="0" tIns="0" bIns="0"/>
          <a:lstStyle/>
          <a:p>
            <a:pPr algn="ctr"/>
            <a:r>
              <a:rPr lang="en-US" sz="1300" b="0">
                <a:solidFill>
                  <a:srgbClr val="17212B"/>
                </a:solidFill>
                <a:latin typeface="Arial"/>
              </a:rPr>
              <a:t>Derived signals</a:t>
            </a:r>
            <a:endParaRPr lang="en-US" sz="1300"/>
          </a:p>
          <a:p>
            <a:pPr algn="ctr"/>
            <a:r>
              <a:rPr lang="en-US" sz="1300" b="0">
                <a:solidFill>
                  <a:srgbClr val="17212B"/>
                </a:solidFill>
                <a:latin typeface="Arial"/>
              </a:rPr>
              <a:t>with provenance</a:t>
            </a:r>
            <a:endParaRPr lang="en-US" sz="1300"/>
          </a:p>
        </p:txBody>
      </p:sp>
      <p:cxnSp>
        <p:nvCxnSpPr>
          <p:cNvPr id="17" name="Connector 17"/>
          <p:cNvCxnSpPr/>
          <p:nvPr/>
        </p:nvCxnSpPr>
        <p:spPr>
          <a:xfrm>
            <a:off x="4743450" y="2619375"/>
            <a:ext cx="895350" cy="0"/>
          </a:xfrm>
          <a:prstGeom prst="line">
            <a:avLst/>
          </a:prstGeom>
          <a:ln w="38100">
            <a:solidFill>
              <a:srgbClr val="D9DEE3"/>
            </a:solidFill>
            <a:tailEnd type="triangle"/>
          </a:ln>
        </p:spPr>
      </p:cxnSp>
      <p:sp>
        <p:nvSpPr>
          <p:cNvPr id="18" name="Text 18"/>
          <p:cNvSpPr txBox="1"/>
          <p:nvPr/>
        </p:nvSpPr>
        <p:spPr>
          <a:xfrm>
            <a:off x="4210050" y="1962150"/>
            <a:ext cx="342900" cy="190500"/>
          </a:xfrm>
          <a:prstGeom prst="rect">
            <a:avLst/>
          </a:prstGeom>
          <a:noFill/>
          <a:ln>
            <a:noFill/>
          </a:ln>
        </p:spPr>
        <p:txBody>
          <a:bodyPr wrap="square" anchor="t" lIns="0" rIns="0" tIns="0" bIns="0"/>
          <a:lstStyle/>
          <a:p>
            <a:pPr algn="ctr"/>
            <a:r>
              <a:rPr lang="en-US" sz="1000" b="1">
                <a:solidFill>
                  <a:srgbClr val="2A5B84"/>
                </a:solidFill>
                <a:latin typeface="Arial"/>
              </a:rPr>
              <a:t>03</a:t>
            </a:r>
            <a:endParaRPr lang="en-US" sz="1000"/>
          </a:p>
        </p:txBody>
      </p:sp>
      <p:sp>
        <p:nvSpPr>
          <p:cNvPr id="19" name="Shape 19"/>
          <p:cNvSpPr/>
          <p:nvPr/>
        </p:nvSpPr>
        <p:spPr>
          <a:xfrm>
            <a:off x="4019550" y="2247900"/>
            <a:ext cx="723900" cy="723900"/>
          </a:xfrm>
          <a:prstGeom prst="ellipse">
            <a:avLst/>
          </a:prstGeom>
          <a:solidFill>
            <a:srgbClr val="FFFFFF"/>
          </a:solidFill>
          <a:ln w="19050">
            <a:solidFill>
              <a:srgbClr val="2A5B84"/>
            </a:solidFill>
          </a:ln>
        </p:spPr>
      </p:sp>
      <p:pic>
        <p:nvPicPr>
          <p:cNvPr id="20" name="Picture 20"/>
          <p:cNvPicPr>
            <a:picLocks noChangeAspect="1"/>
          </p:cNvPicPr>
          <p:nvPr/>
        </p:nvPicPr>
        <p:blipFill>
          <a:blip r:embed="rId4"/>
          <a:stretch>
            <a:fillRect/>
          </a:stretch>
        </p:blipFill>
        <p:spPr>
          <a:xfrm>
            <a:off x="4200525" y="2428875"/>
            <a:ext cx="361950" cy="361950"/>
          </a:xfrm>
          <a:prstGeom prst="rect">
            <a:avLst/>
          </a:prstGeom>
          <a:ln>
            <a:noFill/>
          </a:ln>
        </p:spPr>
      </p:pic>
      <p:sp>
        <p:nvSpPr>
          <p:cNvPr id="21" name="Text 21"/>
          <p:cNvSpPr txBox="1"/>
          <p:nvPr/>
        </p:nvSpPr>
        <p:spPr>
          <a:xfrm>
            <a:off x="3695700" y="3143250"/>
            <a:ext cx="1371600" cy="228600"/>
          </a:xfrm>
          <a:prstGeom prst="rect">
            <a:avLst/>
          </a:prstGeom>
          <a:noFill/>
          <a:ln>
            <a:noFill/>
          </a:ln>
        </p:spPr>
        <p:txBody>
          <a:bodyPr wrap="square" anchor="t" lIns="0" rIns="0" tIns="0" bIns="0"/>
          <a:lstStyle/>
          <a:p>
            <a:pPr algn="ctr"/>
            <a:r>
              <a:rPr lang="en-US" sz="1300" b="1" spc="30">
                <a:solidFill>
                  <a:srgbClr val="2A5B84"/>
                </a:solidFill>
                <a:latin typeface="Arial"/>
              </a:rPr>
              <a:t>RETRIEVE</a:t>
            </a:r>
            <a:endParaRPr lang="en-US" sz="1300"/>
          </a:p>
        </p:txBody>
      </p:sp>
      <p:sp>
        <p:nvSpPr>
          <p:cNvPr id="22" name="Text 22"/>
          <p:cNvSpPr txBox="1"/>
          <p:nvPr/>
        </p:nvSpPr>
        <p:spPr>
          <a:xfrm>
            <a:off x="3695700" y="3448050"/>
            <a:ext cx="1371600" cy="514350"/>
          </a:xfrm>
          <a:prstGeom prst="rect">
            <a:avLst/>
          </a:prstGeom>
          <a:noFill/>
          <a:ln>
            <a:noFill/>
          </a:ln>
        </p:spPr>
        <p:txBody>
          <a:bodyPr wrap="square" anchor="ctr" lIns="0" rIns="0" tIns="0" bIns="0"/>
          <a:lstStyle/>
          <a:p>
            <a:pPr algn="ctr"/>
            <a:r>
              <a:rPr lang="en-US" sz="1300" b="0">
                <a:solidFill>
                  <a:srgbClr val="17212B"/>
                </a:solidFill>
                <a:latin typeface="Arial"/>
              </a:rPr>
              <a:t>Relevant synthetic</a:t>
            </a:r>
            <a:endParaRPr lang="en-US" sz="1300"/>
          </a:p>
          <a:p>
            <a:pPr algn="ctr"/>
            <a:r>
              <a:rPr lang="en-US" sz="1300" b="0">
                <a:solidFill>
                  <a:srgbClr val="17212B"/>
                </a:solidFill>
                <a:latin typeface="Arial"/>
              </a:rPr>
              <a:t>policy chunks</a:t>
            </a:r>
            <a:endParaRPr lang="en-US" sz="1300"/>
          </a:p>
        </p:txBody>
      </p:sp>
      <p:cxnSp>
        <p:nvCxnSpPr>
          <p:cNvPr id="23" name="Connector 23"/>
          <p:cNvCxnSpPr/>
          <p:nvPr/>
        </p:nvCxnSpPr>
        <p:spPr>
          <a:xfrm>
            <a:off x="6362700" y="2619375"/>
            <a:ext cx="895350" cy="0"/>
          </a:xfrm>
          <a:prstGeom prst="line">
            <a:avLst/>
          </a:prstGeom>
          <a:ln w="38100">
            <a:solidFill>
              <a:srgbClr val="D9DEE3"/>
            </a:solidFill>
            <a:tailEnd type="triangle"/>
          </a:ln>
        </p:spPr>
      </p:cxnSp>
      <p:sp>
        <p:nvSpPr>
          <p:cNvPr id="24" name="Text 24"/>
          <p:cNvSpPr txBox="1"/>
          <p:nvPr/>
        </p:nvSpPr>
        <p:spPr>
          <a:xfrm>
            <a:off x="5829300" y="1962150"/>
            <a:ext cx="342900" cy="190500"/>
          </a:xfrm>
          <a:prstGeom prst="rect">
            <a:avLst/>
          </a:prstGeom>
          <a:noFill/>
          <a:ln>
            <a:noFill/>
          </a:ln>
        </p:spPr>
        <p:txBody>
          <a:bodyPr wrap="square" anchor="t" lIns="0" rIns="0" tIns="0" bIns="0"/>
          <a:lstStyle/>
          <a:p>
            <a:pPr algn="ctr"/>
            <a:r>
              <a:rPr lang="en-US" sz="1000" b="1">
                <a:solidFill>
                  <a:srgbClr val="384754"/>
                </a:solidFill>
                <a:latin typeface="Arial"/>
              </a:rPr>
              <a:t>04</a:t>
            </a:r>
            <a:endParaRPr lang="en-US" sz="1000"/>
          </a:p>
        </p:txBody>
      </p:sp>
      <p:sp>
        <p:nvSpPr>
          <p:cNvPr id="25" name="Shape 25"/>
          <p:cNvSpPr/>
          <p:nvPr/>
        </p:nvSpPr>
        <p:spPr>
          <a:xfrm>
            <a:off x="5638800" y="2247900"/>
            <a:ext cx="723900" cy="723900"/>
          </a:xfrm>
          <a:prstGeom prst="ellipse">
            <a:avLst/>
          </a:prstGeom>
          <a:solidFill>
            <a:srgbClr val="FFFFFF"/>
          </a:solidFill>
          <a:ln w="19050">
            <a:solidFill>
              <a:srgbClr val="384754"/>
            </a:solidFill>
          </a:ln>
        </p:spPr>
      </p:sp>
      <p:pic>
        <p:nvPicPr>
          <p:cNvPr id="26" name="Picture 26"/>
          <p:cNvPicPr>
            <a:picLocks noChangeAspect="1"/>
          </p:cNvPicPr>
          <p:nvPr/>
        </p:nvPicPr>
        <p:blipFill>
          <a:blip r:embed="rId5"/>
          <a:stretch>
            <a:fillRect/>
          </a:stretch>
        </p:blipFill>
        <p:spPr>
          <a:xfrm>
            <a:off x="5819775" y="2428875"/>
            <a:ext cx="361950" cy="361950"/>
          </a:xfrm>
          <a:prstGeom prst="rect">
            <a:avLst/>
          </a:prstGeom>
          <a:ln>
            <a:noFill/>
          </a:ln>
        </p:spPr>
      </p:pic>
      <p:sp>
        <p:nvSpPr>
          <p:cNvPr id="27" name="Text 27"/>
          <p:cNvSpPr txBox="1"/>
          <p:nvPr/>
        </p:nvSpPr>
        <p:spPr>
          <a:xfrm>
            <a:off x="5314950" y="3143250"/>
            <a:ext cx="1371600" cy="228600"/>
          </a:xfrm>
          <a:prstGeom prst="rect">
            <a:avLst/>
          </a:prstGeom>
          <a:noFill/>
          <a:ln>
            <a:noFill/>
          </a:ln>
        </p:spPr>
        <p:txBody>
          <a:bodyPr wrap="square" anchor="t" lIns="0" rIns="0" tIns="0" bIns="0"/>
          <a:lstStyle/>
          <a:p>
            <a:pPr algn="ctr"/>
            <a:r>
              <a:rPr lang="en-US" sz="1300" b="1" spc="30">
                <a:solidFill>
                  <a:srgbClr val="384754"/>
                </a:solidFill>
                <a:latin typeface="Arial"/>
              </a:rPr>
              <a:t>ENVELOPE</a:t>
            </a:r>
            <a:endParaRPr lang="en-US" sz="1300"/>
          </a:p>
        </p:txBody>
      </p:sp>
      <p:sp>
        <p:nvSpPr>
          <p:cNvPr id="28" name="Text 28"/>
          <p:cNvSpPr txBox="1"/>
          <p:nvPr/>
        </p:nvSpPr>
        <p:spPr>
          <a:xfrm>
            <a:off x="5314950" y="3448050"/>
            <a:ext cx="1371600" cy="514350"/>
          </a:xfrm>
          <a:prstGeom prst="rect">
            <a:avLst/>
          </a:prstGeom>
          <a:noFill/>
          <a:ln>
            <a:noFill/>
          </a:ln>
        </p:spPr>
        <p:txBody>
          <a:bodyPr wrap="square" anchor="ctr" lIns="0" rIns="0" tIns="0" bIns="0"/>
          <a:lstStyle/>
          <a:p>
            <a:pPr algn="ctr"/>
            <a:r>
              <a:rPr lang="en-US" sz="1300" b="0">
                <a:solidFill>
                  <a:srgbClr val="17212B"/>
                </a:solidFill>
                <a:latin typeface="Arial"/>
              </a:rPr>
              <a:t>Bounded typed</a:t>
            </a:r>
            <a:endParaRPr lang="en-US" sz="1300"/>
          </a:p>
          <a:p>
            <a:pPr algn="ctr"/>
            <a:r>
              <a:rPr lang="en-US" sz="1300" b="0">
                <a:solidFill>
                  <a:srgbClr val="17212B"/>
                </a:solidFill>
                <a:latin typeface="Arial"/>
              </a:rPr>
              <a:t>evidence context</a:t>
            </a:r>
            <a:endParaRPr lang="en-US" sz="1300"/>
          </a:p>
        </p:txBody>
      </p:sp>
      <p:cxnSp>
        <p:nvCxnSpPr>
          <p:cNvPr id="29" name="Connector 29"/>
          <p:cNvCxnSpPr/>
          <p:nvPr/>
        </p:nvCxnSpPr>
        <p:spPr>
          <a:xfrm>
            <a:off x="7981950" y="2619375"/>
            <a:ext cx="895350" cy="0"/>
          </a:xfrm>
          <a:prstGeom prst="line">
            <a:avLst/>
          </a:prstGeom>
          <a:ln w="38100">
            <a:solidFill>
              <a:srgbClr val="D9DEE3"/>
            </a:solidFill>
            <a:tailEnd type="triangle"/>
          </a:ln>
        </p:spPr>
      </p:cxnSp>
      <p:sp>
        <p:nvSpPr>
          <p:cNvPr id="30" name="Text 30"/>
          <p:cNvSpPr txBox="1"/>
          <p:nvPr/>
        </p:nvSpPr>
        <p:spPr>
          <a:xfrm>
            <a:off x="7448550" y="1962150"/>
            <a:ext cx="342900" cy="190500"/>
          </a:xfrm>
          <a:prstGeom prst="rect">
            <a:avLst/>
          </a:prstGeom>
          <a:noFill/>
          <a:ln>
            <a:noFill/>
          </a:ln>
        </p:spPr>
        <p:txBody>
          <a:bodyPr wrap="square" anchor="t" lIns="0" rIns="0" tIns="0" bIns="0"/>
          <a:lstStyle/>
          <a:p>
            <a:pPr algn="ctr"/>
            <a:r>
              <a:rPr lang="en-US" sz="1000" b="1">
                <a:solidFill>
                  <a:srgbClr val="1F7A5A"/>
                </a:solidFill>
                <a:latin typeface="Arial"/>
              </a:rPr>
              <a:t>05</a:t>
            </a:r>
            <a:endParaRPr lang="en-US" sz="1000"/>
          </a:p>
        </p:txBody>
      </p:sp>
      <p:sp>
        <p:nvSpPr>
          <p:cNvPr id="31" name="Shape 31"/>
          <p:cNvSpPr/>
          <p:nvPr/>
        </p:nvSpPr>
        <p:spPr>
          <a:xfrm>
            <a:off x="7258050" y="2247900"/>
            <a:ext cx="723900" cy="723900"/>
          </a:xfrm>
          <a:prstGeom prst="ellipse">
            <a:avLst/>
          </a:prstGeom>
          <a:solidFill>
            <a:srgbClr val="FFFFFF"/>
          </a:solidFill>
          <a:ln w="19050">
            <a:solidFill>
              <a:srgbClr val="1F7A5A"/>
            </a:solidFill>
          </a:ln>
        </p:spPr>
      </p:sp>
      <p:pic>
        <p:nvPicPr>
          <p:cNvPr id="32" name="Picture 32"/>
          <p:cNvPicPr>
            <a:picLocks noChangeAspect="1"/>
          </p:cNvPicPr>
          <p:nvPr/>
        </p:nvPicPr>
        <p:blipFill>
          <a:blip r:embed="rId6"/>
          <a:stretch>
            <a:fillRect/>
          </a:stretch>
        </p:blipFill>
        <p:spPr>
          <a:xfrm>
            <a:off x="7439025" y="2428875"/>
            <a:ext cx="361950" cy="361950"/>
          </a:xfrm>
          <a:prstGeom prst="rect">
            <a:avLst/>
          </a:prstGeom>
          <a:ln>
            <a:noFill/>
          </a:ln>
        </p:spPr>
      </p:pic>
      <p:sp>
        <p:nvSpPr>
          <p:cNvPr id="33" name="Text 33"/>
          <p:cNvSpPr txBox="1"/>
          <p:nvPr/>
        </p:nvSpPr>
        <p:spPr>
          <a:xfrm>
            <a:off x="6934200" y="3143250"/>
            <a:ext cx="1371600" cy="228600"/>
          </a:xfrm>
          <a:prstGeom prst="rect">
            <a:avLst/>
          </a:prstGeom>
          <a:noFill/>
          <a:ln>
            <a:noFill/>
          </a:ln>
        </p:spPr>
        <p:txBody>
          <a:bodyPr wrap="square" anchor="t" lIns="0" rIns="0" tIns="0" bIns="0"/>
          <a:lstStyle/>
          <a:p>
            <a:pPr algn="ctr"/>
            <a:r>
              <a:rPr lang="en-US" sz="1300" b="1" spc="30">
                <a:solidFill>
                  <a:srgbClr val="1F7A5A"/>
                </a:solidFill>
                <a:latin typeface="Arial"/>
              </a:rPr>
              <a:t>SYNTHESIZE</a:t>
            </a:r>
            <a:endParaRPr lang="en-US" sz="1300"/>
          </a:p>
        </p:txBody>
      </p:sp>
      <p:sp>
        <p:nvSpPr>
          <p:cNvPr id="34" name="Text 34"/>
          <p:cNvSpPr txBox="1"/>
          <p:nvPr/>
        </p:nvSpPr>
        <p:spPr>
          <a:xfrm>
            <a:off x="6934200" y="3448050"/>
            <a:ext cx="1371600" cy="514350"/>
          </a:xfrm>
          <a:prstGeom prst="rect">
            <a:avLst/>
          </a:prstGeom>
          <a:noFill/>
          <a:ln>
            <a:noFill/>
          </a:ln>
        </p:spPr>
        <p:txBody>
          <a:bodyPr wrap="square" anchor="ctr" lIns="0" rIns="0" tIns="0" bIns="0"/>
          <a:lstStyle/>
          <a:p>
            <a:pPr algn="ctr"/>
            <a:r>
              <a:rPr lang="en-US" sz="1300" b="0">
                <a:solidFill>
                  <a:srgbClr val="17212B"/>
                </a:solidFill>
                <a:latin typeface="Arial"/>
              </a:rPr>
              <a:t>Structured result</a:t>
            </a:r>
            <a:endParaRPr lang="en-US" sz="1300"/>
          </a:p>
          <a:p>
            <a:pPr algn="ctr"/>
            <a:r>
              <a:rPr lang="en-US" sz="1300" b="0">
                <a:solidFill>
                  <a:srgbClr val="17212B"/>
                </a:solidFill>
                <a:latin typeface="Arial"/>
              </a:rPr>
              <a:t>through one port</a:t>
            </a:r>
            <a:endParaRPr lang="en-US" sz="1300"/>
          </a:p>
        </p:txBody>
      </p:sp>
      <p:cxnSp>
        <p:nvCxnSpPr>
          <p:cNvPr id="35" name="Connector 35"/>
          <p:cNvCxnSpPr/>
          <p:nvPr/>
        </p:nvCxnSpPr>
        <p:spPr>
          <a:xfrm>
            <a:off x="9601200" y="2619375"/>
            <a:ext cx="895350" cy="0"/>
          </a:xfrm>
          <a:prstGeom prst="line">
            <a:avLst/>
          </a:prstGeom>
          <a:ln w="38100">
            <a:solidFill>
              <a:srgbClr val="D9DEE3"/>
            </a:solidFill>
            <a:tailEnd type="triangle"/>
          </a:ln>
        </p:spPr>
      </p:cxnSp>
      <p:sp>
        <p:nvSpPr>
          <p:cNvPr id="36" name="Text 36"/>
          <p:cNvSpPr txBox="1"/>
          <p:nvPr/>
        </p:nvSpPr>
        <p:spPr>
          <a:xfrm>
            <a:off x="9067800" y="1962150"/>
            <a:ext cx="342900" cy="190500"/>
          </a:xfrm>
          <a:prstGeom prst="rect">
            <a:avLst/>
          </a:prstGeom>
          <a:noFill/>
          <a:ln>
            <a:noFill/>
          </a:ln>
        </p:spPr>
        <p:txBody>
          <a:bodyPr wrap="square" anchor="t" lIns="0" rIns="0" tIns="0" bIns="0"/>
          <a:lstStyle/>
          <a:p>
            <a:pPr algn="ctr"/>
            <a:r>
              <a:rPr lang="en-US" sz="1000" b="1">
                <a:solidFill>
                  <a:srgbClr val="B46B13"/>
                </a:solidFill>
                <a:latin typeface="Arial"/>
              </a:rPr>
              <a:t>06</a:t>
            </a:r>
            <a:endParaRPr lang="en-US" sz="1000"/>
          </a:p>
        </p:txBody>
      </p:sp>
      <p:sp>
        <p:nvSpPr>
          <p:cNvPr id="37" name="Shape 37"/>
          <p:cNvSpPr/>
          <p:nvPr/>
        </p:nvSpPr>
        <p:spPr>
          <a:xfrm>
            <a:off x="8877300" y="2247900"/>
            <a:ext cx="723900" cy="723900"/>
          </a:xfrm>
          <a:prstGeom prst="ellipse">
            <a:avLst/>
          </a:prstGeom>
          <a:solidFill>
            <a:srgbClr val="FFFFFF"/>
          </a:solidFill>
          <a:ln w="19050">
            <a:solidFill>
              <a:srgbClr val="B46B13"/>
            </a:solidFill>
          </a:ln>
        </p:spPr>
      </p:sp>
      <p:pic>
        <p:nvPicPr>
          <p:cNvPr id="38" name="Picture 38"/>
          <p:cNvPicPr>
            <a:picLocks noChangeAspect="1"/>
          </p:cNvPicPr>
          <p:nvPr/>
        </p:nvPicPr>
        <p:blipFill>
          <a:blip r:embed="rId7"/>
          <a:stretch>
            <a:fillRect/>
          </a:stretch>
        </p:blipFill>
        <p:spPr>
          <a:xfrm>
            <a:off x="9058275" y="2428875"/>
            <a:ext cx="361950" cy="361950"/>
          </a:xfrm>
          <a:prstGeom prst="rect">
            <a:avLst/>
          </a:prstGeom>
          <a:ln>
            <a:noFill/>
          </a:ln>
        </p:spPr>
      </p:pic>
      <p:sp>
        <p:nvSpPr>
          <p:cNvPr id="39" name="Text 39"/>
          <p:cNvSpPr txBox="1"/>
          <p:nvPr/>
        </p:nvSpPr>
        <p:spPr>
          <a:xfrm>
            <a:off x="8553450" y="3143250"/>
            <a:ext cx="1371600" cy="228600"/>
          </a:xfrm>
          <a:prstGeom prst="rect">
            <a:avLst/>
          </a:prstGeom>
          <a:noFill/>
          <a:ln>
            <a:noFill/>
          </a:ln>
        </p:spPr>
        <p:txBody>
          <a:bodyPr wrap="square" anchor="t" lIns="0" rIns="0" tIns="0" bIns="0"/>
          <a:lstStyle/>
          <a:p>
            <a:pPr algn="ctr"/>
            <a:r>
              <a:rPr lang="en-US" sz="1300" b="1" spc="30">
                <a:solidFill>
                  <a:srgbClr val="B46B13"/>
                </a:solidFill>
                <a:latin typeface="Arial"/>
              </a:rPr>
              <a:t>VALIDATE</a:t>
            </a:r>
            <a:endParaRPr lang="en-US" sz="1300"/>
          </a:p>
        </p:txBody>
      </p:sp>
      <p:sp>
        <p:nvSpPr>
          <p:cNvPr id="40" name="Text 40"/>
          <p:cNvSpPr txBox="1"/>
          <p:nvPr/>
        </p:nvSpPr>
        <p:spPr>
          <a:xfrm>
            <a:off x="8553450" y="3448050"/>
            <a:ext cx="1371600" cy="514350"/>
          </a:xfrm>
          <a:prstGeom prst="rect">
            <a:avLst/>
          </a:prstGeom>
          <a:noFill/>
          <a:ln>
            <a:noFill/>
          </a:ln>
        </p:spPr>
        <p:txBody>
          <a:bodyPr wrap="square" anchor="ctr" lIns="0" rIns="0" tIns="0" bIns="0"/>
          <a:lstStyle/>
          <a:p>
            <a:pPr algn="ctr"/>
            <a:r>
              <a:rPr lang="en-US" sz="1300" b="0">
                <a:solidFill>
                  <a:srgbClr val="17212B"/>
                </a:solidFill>
                <a:latin typeface="Arial"/>
              </a:rPr>
              <a:t>Evidence references</a:t>
            </a:r>
            <a:endParaRPr lang="en-US" sz="1300"/>
          </a:p>
          <a:p>
            <a:pPr algn="ctr"/>
            <a:r>
              <a:rPr lang="en-US" sz="1300" b="0">
                <a:solidFill>
                  <a:srgbClr val="17212B"/>
                </a:solidFill>
                <a:latin typeface="Arial"/>
              </a:rPr>
              <a:t>must be supported</a:t>
            </a:r>
            <a:endParaRPr lang="en-US" sz="1300"/>
          </a:p>
        </p:txBody>
      </p:sp>
      <p:sp>
        <p:nvSpPr>
          <p:cNvPr id="41" name="Text 41"/>
          <p:cNvSpPr txBox="1"/>
          <p:nvPr/>
        </p:nvSpPr>
        <p:spPr>
          <a:xfrm>
            <a:off x="10687050" y="1962150"/>
            <a:ext cx="342900" cy="190500"/>
          </a:xfrm>
          <a:prstGeom prst="rect">
            <a:avLst/>
          </a:prstGeom>
          <a:noFill/>
          <a:ln>
            <a:noFill/>
          </a:ln>
        </p:spPr>
        <p:txBody>
          <a:bodyPr wrap="square" anchor="t" lIns="0" rIns="0" tIns="0" bIns="0"/>
          <a:lstStyle/>
          <a:p>
            <a:pPr algn="ctr"/>
            <a:r>
              <a:rPr lang="en-US" sz="1000" b="1">
                <a:solidFill>
                  <a:srgbClr val="981B1E"/>
                </a:solidFill>
                <a:latin typeface="Arial"/>
              </a:rPr>
              <a:t>07</a:t>
            </a:r>
            <a:endParaRPr lang="en-US" sz="1000"/>
          </a:p>
        </p:txBody>
      </p:sp>
      <p:sp>
        <p:nvSpPr>
          <p:cNvPr id="42" name="Shape 42"/>
          <p:cNvSpPr/>
          <p:nvPr/>
        </p:nvSpPr>
        <p:spPr>
          <a:xfrm>
            <a:off x="10496550" y="2247900"/>
            <a:ext cx="723900" cy="723900"/>
          </a:xfrm>
          <a:prstGeom prst="ellipse">
            <a:avLst/>
          </a:prstGeom>
          <a:solidFill>
            <a:srgbClr val="FFFFFF"/>
          </a:solidFill>
          <a:ln w="19050">
            <a:solidFill>
              <a:srgbClr val="981B1E"/>
            </a:solidFill>
          </a:ln>
        </p:spPr>
      </p:sp>
      <p:pic>
        <p:nvPicPr>
          <p:cNvPr id="43" name="Picture 43"/>
          <p:cNvPicPr>
            <a:picLocks noChangeAspect="1"/>
          </p:cNvPicPr>
          <p:nvPr/>
        </p:nvPicPr>
        <p:blipFill>
          <a:blip r:embed="rId8"/>
          <a:stretch>
            <a:fillRect/>
          </a:stretch>
        </p:blipFill>
        <p:spPr>
          <a:xfrm>
            <a:off x="10677525" y="2428875"/>
            <a:ext cx="361950" cy="361950"/>
          </a:xfrm>
          <a:prstGeom prst="rect">
            <a:avLst/>
          </a:prstGeom>
          <a:ln>
            <a:noFill/>
          </a:ln>
        </p:spPr>
      </p:pic>
      <p:sp>
        <p:nvSpPr>
          <p:cNvPr id="44" name="Text 44"/>
          <p:cNvSpPr txBox="1"/>
          <p:nvPr/>
        </p:nvSpPr>
        <p:spPr>
          <a:xfrm>
            <a:off x="10172700" y="3143250"/>
            <a:ext cx="1371600" cy="228600"/>
          </a:xfrm>
          <a:prstGeom prst="rect">
            <a:avLst/>
          </a:prstGeom>
          <a:noFill/>
          <a:ln>
            <a:noFill/>
          </a:ln>
        </p:spPr>
        <p:txBody>
          <a:bodyPr wrap="square" anchor="t" lIns="0" rIns="0" tIns="0" bIns="0"/>
          <a:lstStyle/>
          <a:p>
            <a:pPr algn="ctr"/>
            <a:r>
              <a:rPr lang="en-US" sz="1300" b="1" spc="30">
                <a:solidFill>
                  <a:srgbClr val="981B1E"/>
                </a:solidFill>
                <a:latin typeface="Arial"/>
              </a:rPr>
              <a:t>PERSIST</a:t>
            </a:r>
            <a:endParaRPr lang="en-US" sz="1300"/>
          </a:p>
        </p:txBody>
      </p:sp>
      <p:sp>
        <p:nvSpPr>
          <p:cNvPr id="45" name="Text 45"/>
          <p:cNvSpPr txBox="1"/>
          <p:nvPr/>
        </p:nvSpPr>
        <p:spPr>
          <a:xfrm>
            <a:off x="10172700" y="3448050"/>
            <a:ext cx="1371600" cy="514350"/>
          </a:xfrm>
          <a:prstGeom prst="rect">
            <a:avLst/>
          </a:prstGeom>
          <a:noFill/>
          <a:ln>
            <a:noFill/>
          </a:ln>
        </p:spPr>
        <p:txBody>
          <a:bodyPr wrap="square" anchor="ctr" lIns="0" rIns="0" tIns="0" bIns="0"/>
          <a:lstStyle/>
          <a:p>
            <a:pPr algn="ctr"/>
            <a:r>
              <a:rPr lang="en-US" sz="1300" b="0">
                <a:solidFill>
                  <a:srgbClr val="17212B"/>
                </a:solidFill>
                <a:latin typeface="Arial"/>
              </a:rPr>
              <a:t>Completed result</a:t>
            </a:r>
            <a:endParaRPr lang="en-US" sz="1300"/>
          </a:p>
          <a:p>
            <a:pPr algn="ctr"/>
            <a:r>
              <a:rPr lang="en-US" sz="1300" b="0">
                <a:solidFill>
                  <a:srgbClr val="17212B"/>
                </a:solidFill>
                <a:latin typeface="Arial"/>
              </a:rPr>
              <a:t>and history</a:t>
            </a:r>
            <a:endParaRPr lang="en-US" sz="1300"/>
          </a:p>
        </p:txBody>
      </p:sp>
      <p:sp>
        <p:nvSpPr>
          <p:cNvPr id="46" name="Shape 46"/>
          <p:cNvSpPr/>
          <p:nvPr/>
        </p:nvSpPr>
        <p:spPr>
          <a:xfrm>
            <a:off x="6496050" y="4171950"/>
            <a:ext cx="4914900" cy="247650"/>
          </a:xfrm>
          <a:prstGeom prst="rect">
            <a:avLst/>
          </a:prstGeom>
          <a:solidFill>
            <a:srgbClr val="FFFFFF"/>
          </a:solidFill>
          <a:ln w="12700">
            <a:solidFill>
              <a:srgbClr val="B46B13"/>
            </a:solidFill>
          </a:ln>
        </p:spPr>
      </p:sp>
      <p:sp>
        <p:nvSpPr>
          <p:cNvPr id="47" name="Text 47"/>
          <p:cNvSpPr txBox="1"/>
          <p:nvPr/>
        </p:nvSpPr>
        <p:spPr>
          <a:xfrm>
            <a:off x="6667500" y="4210050"/>
            <a:ext cx="4572000" cy="171450"/>
          </a:xfrm>
          <a:prstGeom prst="rect">
            <a:avLst/>
          </a:prstGeom>
          <a:noFill/>
          <a:ln>
            <a:noFill/>
          </a:ln>
        </p:spPr>
        <p:txBody>
          <a:bodyPr wrap="square" anchor="t" lIns="0" rIns="0" tIns="0" bIns="0"/>
          <a:lstStyle/>
          <a:p>
            <a:pPr algn="ctr"/>
            <a:r>
              <a:rPr lang="en-US" sz="1100" b="1">
                <a:solidFill>
                  <a:srgbClr val="B46B13"/>
                </a:solidFill>
                <a:latin typeface="Arial"/>
              </a:rPr>
              <a:t>Any failure remains explicit before persistence</a:t>
            </a:r>
            <a:endParaRPr lang="en-US" sz="1100"/>
          </a:p>
        </p:txBody>
      </p:sp>
      <p:sp>
        <p:nvSpPr>
          <p:cNvPr id="48" name="Shape 48"/>
          <p:cNvSpPr/>
          <p:nvPr/>
        </p:nvSpPr>
        <p:spPr>
          <a:xfrm>
            <a:off x="895350" y="4914900"/>
            <a:ext cx="10401300" cy="876300"/>
          </a:xfrm>
          <a:prstGeom prst="rect">
            <a:avLst/>
          </a:prstGeom>
          <a:solidFill>
            <a:srgbClr val="FFFFFF"/>
          </a:solidFill>
          <a:ln w="12700">
            <a:solidFill>
              <a:srgbClr val="D9DEE3"/>
            </a:solidFill>
          </a:ln>
        </p:spPr>
      </p:sp>
      <p:sp>
        <p:nvSpPr>
          <p:cNvPr id="49" name="Shape 49"/>
          <p:cNvSpPr/>
          <p:nvPr/>
        </p:nvSpPr>
        <p:spPr>
          <a:xfrm>
            <a:off x="1123950" y="5105400"/>
            <a:ext cx="476250" cy="476250"/>
          </a:xfrm>
          <a:prstGeom prst="roundRect">
            <a:avLst/>
          </a:prstGeom>
          <a:solidFill>
            <a:srgbClr val="EAF1F7"/>
          </a:solidFill>
          <a:ln w="19050">
            <a:solidFill>
              <a:srgbClr val="2A5B84"/>
            </a:solidFill>
          </a:ln>
        </p:spPr>
      </p:sp>
      <p:pic>
        <p:nvPicPr>
          <p:cNvPr id="50" name="Picture 50"/>
          <p:cNvPicPr>
            <a:picLocks noChangeAspect="1"/>
          </p:cNvPicPr>
          <p:nvPr/>
        </p:nvPicPr>
        <p:blipFill>
          <a:blip r:embed="rId9"/>
          <a:stretch>
            <a:fillRect/>
          </a:stretch>
        </p:blipFill>
        <p:spPr>
          <a:xfrm>
            <a:off x="1247775" y="5229225"/>
            <a:ext cx="228600" cy="228600"/>
          </a:xfrm>
          <a:prstGeom prst="rect">
            <a:avLst/>
          </a:prstGeom>
          <a:ln>
            <a:noFill/>
          </a:ln>
        </p:spPr>
      </p:pic>
      <p:sp>
        <p:nvSpPr>
          <p:cNvPr id="51" name="Text 51"/>
          <p:cNvSpPr txBox="1"/>
          <p:nvPr/>
        </p:nvSpPr>
        <p:spPr>
          <a:xfrm>
            <a:off x="1790700" y="5048250"/>
            <a:ext cx="3905250" cy="571500"/>
          </a:xfrm>
          <a:prstGeom prst="rect">
            <a:avLst/>
          </a:prstGeom>
          <a:noFill/>
          <a:ln>
            <a:noFill/>
          </a:ln>
        </p:spPr>
        <p:txBody>
          <a:bodyPr wrap="square" anchor="ctr" lIns="0" rIns="0" tIns="0" bIns="0"/>
          <a:lstStyle/>
          <a:p>
            <a:pPr algn="l"/>
            <a:r>
              <a:rPr lang="en-US" sz="1600" b="1">
                <a:solidFill>
                  <a:srgbClr val="17212B"/>
                </a:solidFill>
                <a:latin typeface="Arial"/>
              </a:rPr>
              <a:t>Source facts stay authoritative and separate from derived evidence</a:t>
            </a:r>
            <a:endParaRPr lang="en-US" sz="1600"/>
          </a:p>
        </p:txBody>
      </p:sp>
      <p:cxnSp>
        <p:nvCxnSpPr>
          <p:cNvPr id="52" name="Connector 52"/>
          <p:cNvCxnSpPr/>
          <p:nvPr/>
        </p:nvCxnSpPr>
        <p:spPr>
          <a:xfrm>
            <a:off x="6038850" y="5048250"/>
            <a:ext cx="0" cy="571500"/>
          </a:xfrm>
          <a:prstGeom prst="line">
            <a:avLst/>
          </a:prstGeom>
          <a:ln w="25400">
            <a:solidFill>
              <a:srgbClr val="D9DEE3"/>
            </a:solidFill>
          </a:ln>
        </p:spPr>
      </p:cxnSp>
      <p:sp>
        <p:nvSpPr>
          <p:cNvPr id="53" name="Shape 53"/>
          <p:cNvSpPr/>
          <p:nvPr/>
        </p:nvSpPr>
        <p:spPr>
          <a:xfrm>
            <a:off x="6381750" y="5105400"/>
            <a:ext cx="476250" cy="476250"/>
          </a:xfrm>
          <a:prstGeom prst="roundRect">
            <a:avLst/>
          </a:prstGeom>
          <a:solidFill>
            <a:srgbClr val="EAF5F0"/>
          </a:solidFill>
          <a:ln w="19050">
            <a:solidFill>
              <a:srgbClr val="1F7A5A"/>
            </a:solidFill>
          </a:ln>
        </p:spPr>
      </p:sp>
      <p:pic>
        <p:nvPicPr>
          <p:cNvPr id="54" name="Picture 54"/>
          <p:cNvPicPr>
            <a:picLocks noChangeAspect="1"/>
          </p:cNvPicPr>
          <p:nvPr/>
        </p:nvPicPr>
        <p:blipFill>
          <a:blip r:embed="rId10"/>
          <a:stretch>
            <a:fillRect/>
          </a:stretch>
        </p:blipFill>
        <p:spPr>
          <a:xfrm>
            <a:off x="6505575" y="5229225"/>
            <a:ext cx="228600" cy="228600"/>
          </a:xfrm>
          <a:prstGeom prst="rect">
            <a:avLst/>
          </a:prstGeom>
          <a:ln>
            <a:noFill/>
          </a:ln>
        </p:spPr>
      </p:pic>
      <p:sp>
        <p:nvSpPr>
          <p:cNvPr id="55" name="Text 55"/>
          <p:cNvSpPr txBox="1"/>
          <p:nvPr/>
        </p:nvSpPr>
        <p:spPr>
          <a:xfrm>
            <a:off x="7048500" y="5048250"/>
            <a:ext cx="3905250" cy="571500"/>
          </a:xfrm>
          <a:prstGeom prst="rect">
            <a:avLst/>
          </a:prstGeom>
          <a:noFill/>
          <a:ln>
            <a:noFill/>
          </a:ln>
        </p:spPr>
        <p:txBody>
          <a:bodyPr wrap="square" anchor="ctr" lIns="0" rIns="0" tIns="0" bIns="0"/>
          <a:lstStyle/>
          <a:p>
            <a:pPr algn="l"/>
            <a:r>
              <a:rPr lang="en-US" sz="1600" b="1">
                <a:solidFill>
                  <a:srgbClr val="17212B"/>
                </a:solidFill>
                <a:latin typeface="Arial"/>
              </a:rPr>
              <a:t>Only a valid completed result reaches reviewable history</a:t>
            </a:r>
            <a:endParaRPr lang="en-US" sz="1600"/>
          </a:p>
        </p:txBody>
      </p:sp>
      <p:cxnSp>
        <p:nvCxnSpPr>
          <p:cNvPr id="56" name="Connector 56"/>
          <p:cNvCxnSpPr/>
          <p:nvPr/>
        </p:nvCxnSpPr>
        <p:spPr>
          <a:xfrm>
            <a:off x="552450" y="6419850"/>
            <a:ext cx="11087100" cy="0"/>
          </a:xfrm>
          <a:prstGeom prst="line">
            <a:avLst/>
          </a:prstGeom>
          <a:ln w="12700">
            <a:solidFill>
              <a:srgbClr val="D9DEE3"/>
            </a:solidFill>
          </a:ln>
        </p:spPr>
      </p:cxnSp>
      <p:sp>
        <p:nvSpPr>
          <p:cNvPr id="57" name="Text 57"/>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CUSTOMER ACTIVITY ANALYTICS</a:t>
            </a:r>
            <a:endParaRPr lang="en-US" sz="1000"/>
          </a:p>
        </p:txBody>
      </p:sp>
      <p:sp>
        <p:nvSpPr>
          <p:cNvPr id="58" name="Text 58"/>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5</a:t>
            </a:r>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IMPLEMENTATION LANDSCAPE</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The analytical pipeline is a portfolio — not one model</a:t>
            </a:r>
            <a:endParaRPr lang="en-US" sz="3000"/>
          </a:p>
        </p:txBody>
      </p:sp>
      <p:sp>
        <p:nvSpPr>
          <p:cNvPr id="4" name="Text 4"/>
          <p:cNvSpPr txBox="1"/>
          <p:nvPr/>
        </p:nvSpPr>
        <p:spPr>
          <a:xfrm>
            <a:off x="571500" y="1362075"/>
            <a:ext cx="2857500" cy="190500"/>
          </a:xfrm>
          <a:prstGeom prst="rect">
            <a:avLst/>
          </a:prstGeom>
          <a:noFill/>
          <a:ln>
            <a:noFill/>
          </a:ln>
        </p:spPr>
        <p:txBody>
          <a:bodyPr wrap="square" anchor="t" lIns="0" rIns="0" tIns="0" bIns="0"/>
          <a:lstStyle/>
          <a:p>
            <a:pPr algn="l"/>
            <a:r>
              <a:rPr lang="en-US" sz="1000" b="1" spc="110">
                <a:solidFill>
                  <a:srgbClr val="5D6873"/>
                </a:solidFill>
                <a:latin typeface="Arial"/>
              </a:rPr>
              <a:t>STATUS · 6 SEPTEMBER 2026</a:t>
            </a:r>
            <a:endParaRPr lang="en-US" sz="1000"/>
          </a:p>
        </p:txBody>
      </p:sp>
      <p:sp>
        <p:nvSpPr>
          <p:cNvPr id="5" name="Shape 5"/>
          <p:cNvSpPr/>
          <p:nvPr/>
        </p:nvSpPr>
        <p:spPr>
          <a:xfrm>
            <a:off x="6838950" y="1390650"/>
            <a:ext cx="114300" cy="114300"/>
          </a:xfrm>
          <a:prstGeom prst="ellipse">
            <a:avLst/>
          </a:prstGeom>
          <a:solidFill>
            <a:srgbClr val="1F7A5A"/>
          </a:solidFill>
          <a:ln w="12700">
            <a:solidFill>
              <a:srgbClr val="1F7A5A"/>
            </a:solidFill>
          </a:ln>
        </p:spPr>
      </p:sp>
      <p:sp>
        <p:nvSpPr>
          <p:cNvPr id="6" name="Text 6"/>
          <p:cNvSpPr txBox="1"/>
          <p:nvPr/>
        </p:nvSpPr>
        <p:spPr>
          <a:xfrm>
            <a:off x="7029450" y="1343025"/>
            <a:ext cx="781050" cy="209550"/>
          </a:xfrm>
          <a:prstGeom prst="rect">
            <a:avLst/>
          </a:prstGeom>
          <a:noFill/>
          <a:ln>
            <a:noFill/>
          </a:ln>
        </p:spPr>
        <p:txBody>
          <a:bodyPr wrap="square" anchor="t" lIns="0" rIns="0" tIns="0" bIns="0"/>
          <a:lstStyle/>
          <a:p>
            <a:pPr algn="l"/>
            <a:r>
              <a:rPr lang="en-US" sz="1000" b="1">
                <a:solidFill>
                  <a:srgbClr val="5D6873"/>
                </a:solidFill>
                <a:latin typeface="Arial"/>
              </a:rPr>
              <a:t>DELIVERED</a:t>
            </a:r>
            <a:endParaRPr lang="en-US" sz="1000"/>
          </a:p>
        </p:txBody>
      </p:sp>
      <p:sp>
        <p:nvSpPr>
          <p:cNvPr id="7" name="Shape 7"/>
          <p:cNvSpPr/>
          <p:nvPr/>
        </p:nvSpPr>
        <p:spPr>
          <a:xfrm>
            <a:off x="7981950" y="1390650"/>
            <a:ext cx="114300" cy="114300"/>
          </a:xfrm>
          <a:prstGeom prst="ellipse">
            <a:avLst/>
          </a:prstGeom>
          <a:solidFill>
            <a:srgbClr val="B46B13"/>
          </a:solidFill>
          <a:ln w="12700">
            <a:solidFill>
              <a:srgbClr val="B46B13"/>
            </a:solidFill>
          </a:ln>
        </p:spPr>
      </p:sp>
      <p:sp>
        <p:nvSpPr>
          <p:cNvPr id="8" name="Text 8"/>
          <p:cNvSpPr txBox="1"/>
          <p:nvPr/>
        </p:nvSpPr>
        <p:spPr>
          <a:xfrm>
            <a:off x="8172450" y="1343025"/>
            <a:ext cx="800100" cy="209550"/>
          </a:xfrm>
          <a:prstGeom prst="rect">
            <a:avLst/>
          </a:prstGeom>
          <a:noFill/>
          <a:ln>
            <a:noFill/>
          </a:ln>
        </p:spPr>
        <p:txBody>
          <a:bodyPr wrap="square" anchor="t" lIns="0" rIns="0" tIns="0" bIns="0"/>
          <a:lstStyle/>
          <a:p>
            <a:pPr algn="l"/>
            <a:r>
              <a:rPr lang="en-US" sz="1000" b="1">
                <a:solidFill>
                  <a:srgbClr val="5D6873"/>
                </a:solidFill>
                <a:latin typeface="Arial"/>
              </a:rPr>
              <a:t>FOLLOW-UP</a:t>
            </a:r>
            <a:endParaRPr lang="en-US" sz="1000"/>
          </a:p>
        </p:txBody>
      </p:sp>
      <p:sp>
        <p:nvSpPr>
          <p:cNvPr id="9" name="Shape 9"/>
          <p:cNvSpPr/>
          <p:nvPr/>
        </p:nvSpPr>
        <p:spPr>
          <a:xfrm>
            <a:off x="9220200" y="1390650"/>
            <a:ext cx="114300" cy="114300"/>
          </a:xfrm>
          <a:prstGeom prst="ellipse">
            <a:avLst/>
          </a:prstGeom>
          <a:solidFill>
            <a:srgbClr val="FFFFFF"/>
          </a:solidFill>
          <a:ln w="25400">
            <a:solidFill>
              <a:srgbClr val="384754"/>
            </a:solidFill>
          </a:ln>
        </p:spPr>
      </p:sp>
      <p:sp>
        <p:nvSpPr>
          <p:cNvPr id="10" name="Text 10"/>
          <p:cNvSpPr txBox="1"/>
          <p:nvPr/>
        </p:nvSpPr>
        <p:spPr>
          <a:xfrm>
            <a:off x="9410700" y="1343025"/>
            <a:ext cx="1066800" cy="209550"/>
          </a:xfrm>
          <a:prstGeom prst="rect">
            <a:avLst/>
          </a:prstGeom>
          <a:noFill/>
          <a:ln>
            <a:noFill/>
          </a:ln>
        </p:spPr>
        <p:txBody>
          <a:bodyPr wrap="square" anchor="t" lIns="0" rIns="0" tIns="0" bIns="0"/>
          <a:lstStyle/>
          <a:p>
            <a:pPr algn="l"/>
            <a:r>
              <a:rPr lang="en-US" sz="1000" b="1">
                <a:solidFill>
                  <a:srgbClr val="5D6873"/>
                </a:solidFill>
                <a:latin typeface="Arial"/>
              </a:rPr>
              <a:t>PLANNED</a:t>
            </a:r>
            <a:endParaRPr lang="en-US" sz="1000"/>
          </a:p>
        </p:txBody>
      </p:sp>
      <p:sp>
        <p:nvSpPr>
          <p:cNvPr id="11" name="Shape 11"/>
          <p:cNvSpPr/>
          <p:nvPr/>
        </p:nvSpPr>
        <p:spPr>
          <a:xfrm>
            <a:off x="552450" y="1695450"/>
            <a:ext cx="5429250" cy="400050"/>
          </a:xfrm>
          <a:prstGeom prst="roundRect">
            <a:avLst/>
          </a:prstGeom>
          <a:solidFill>
            <a:srgbClr val="FCEBEC"/>
          </a:solidFill>
          <a:ln w="19050">
            <a:solidFill>
              <a:srgbClr val="D71920"/>
            </a:solidFill>
          </a:ln>
        </p:spPr>
      </p:sp>
      <p:sp>
        <p:nvSpPr>
          <p:cNvPr id="12" name="Text 12"/>
          <p:cNvSpPr txBox="1"/>
          <p:nvPr/>
        </p:nvSpPr>
        <p:spPr>
          <a:xfrm>
            <a:off x="723900" y="1771650"/>
            <a:ext cx="5086350" cy="247650"/>
          </a:xfrm>
          <a:prstGeom prst="rect">
            <a:avLst/>
          </a:prstGeom>
          <a:noFill/>
          <a:ln>
            <a:noFill/>
          </a:ln>
        </p:spPr>
        <p:txBody>
          <a:bodyPr wrap="square" anchor="t" lIns="0" rIns="0" tIns="0" bIns="0"/>
          <a:lstStyle/>
          <a:p>
            <a:pPr algn="l"/>
            <a:r>
              <a:rPr lang="en-US" sz="1400" b="1" spc="80">
                <a:solidFill>
                  <a:srgbClr val="981B1E"/>
                </a:solidFill>
                <a:latin typeface="Arial"/>
              </a:rPr>
              <a:t>STAGE 1 · DETECT &amp; SCORE</a:t>
            </a:r>
            <a:endParaRPr lang="en-US" sz="1400"/>
          </a:p>
        </p:txBody>
      </p:sp>
      <p:sp>
        <p:nvSpPr>
          <p:cNvPr id="13" name="Shape 13"/>
          <p:cNvSpPr/>
          <p:nvPr/>
        </p:nvSpPr>
        <p:spPr>
          <a:xfrm>
            <a:off x="685800" y="2247900"/>
            <a:ext cx="5162550" cy="495300"/>
          </a:xfrm>
          <a:prstGeom prst="roundRect">
            <a:avLst/>
          </a:prstGeom>
          <a:solidFill>
            <a:srgbClr val="FFFFFF"/>
          </a:solidFill>
          <a:ln w="25400">
            <a:solidFill>
              <a:srgbClr val="D71920"/>
            </a:solidFill>
          </a:ln>
        </p:spPr>
      </p:sp>
      <p:pic>
        <p:nvPicPr>
          <p:cNvPr id="14" name="Picture 14"/>
          <p:cNvPicPr>
            <a:picLocks noChangeAspect="1"/>
          </p:cNvPicPr>
          <p:nvPr/>
        </p:nvPicPr>
        <p:blipFill>
          <a:blip r:embed="rId2"/>
          <a:stretch>
            <a:fillRect/>
          </a:stretch>
        </p:blipFill>
        <p:spPr>
          <a:xfrm>
            <a:off x="819150" y="2352675"/>
            <a:ext cx="285750" cy="285750"/>
          </a:xfrm>
          <a:prstGeom prst="rect">
            <a:avLst/>
          </a:prstGeom>
          <a:ln>
            <a:noFill/>
          </a:ln>
        </p:spPr>
      </p:pic>
      <p:sp>
        <p:nvSpPr>
          <p:cNvPr id="15" name="Text 15"/>
          <p:cNvSpPr txBox="1"/>
          <p:nvPr/>
        </p:nvSpPr>
        <p:spPr>
          <a:xfrm>
            <a:off x="1238250" y="2314575"/>
            <a:ext cx="2724150" cy="342900"/>
          </a:xfrm>
          <a:prstGeom prst="rect">
            <a:avLst/>
          </a:prstGeom>
          <a:noFill/>
          <a:ln>
            <a:noFill/>
          </a:ln>
        </p:spPr>
        <p:txBody>
          <a:bodyPr wrap="square" anchor="ctr" lIns="0" rIns="0" tIns="0" bIns="0"/>
          <a:lstStyle/>
          <a:p>
            <a:pPr algn="l"/>
            <a:r>
              <a:rPr lang="en-US" sz="1800" b="1">
                <a:solidFill>
                  <a:srgbClr val="17212B"/>
                </a:solidFill>
                <a:latin typeface="Arial"/>
              </a:rPr>
              <a:t>RiskSignalDetectorPort</a:t>
            </a:r>
            <a:endParaRPr lang="en-US" sz="1800"/>
          </a:p>
        </p:txBody>
      </p:sp>
      <p:sp>
        <p:nvSpPr>
          <p:cNvPr id="16" name="Text 16"/>
          <p:cNvSpPr txBox="1"/>
          <p:nvPr/>
        </p:nvSpPr>
        <p:spPr>
          <a:xfrm>
            <a:off x="4171950" y="2343150"/>
            <a:ext cx="1466850" cy="285750"/>
          </a:xfrm>
          <a:prstGeom prst="rect">
            <a:avLst/>
          </a:prstGeom>
          <a:noFill/>
          <a:ln>
            <a:noFill/>
          </a:ln>
        </p:spPr>
        <p:txBody>
          <a:bodyPr wrap="square" anchor="ctr" lIns="0" rIns="0" tIns="0" bIns="0"/>
          <a:lstStyle/>
          <a:p>
            <a:pPr algn="r"/>
            <a:r>
              <a:rPr lang="en-US" sz="1000" b="1">
                <a:solidFill>
                  <a:srgbClr val="5D6873"/>
                </a:solidFill>
                <a:latin typeface="Arial"/>
              </a:rPr>
              <a:t>stable contract</a:t>
            </a:r>
            <a:endParaRPr lang="en-US" sz="1000"/>
          </a:p>
        </p:txBody>
      </p:sp>
      <p:cxnSp>
        <p:nvCxnSpPr>
          <p:cNvPr id="17" name="Connector 17"/>
          <p:cNvCxnSpPr/>
          <p:nvPr/>
        </p:nvCxnSpPr>
        <p:spPr>
          <a:xfrm>
            <a:off x="3267075" y="2743200"/>
            <a:ext cx="0" cy="171450"/>
          </a:xfrm>
          <a:prstGeom prst="line">
            <a:avLst/>
          </a:prstGeom>
          <a:ln w="25400">
            <a:solidFill>
              <a:srgbClr val="D71920"/>
            </a:solidFill>
          </a:ln>
        </p:spPr>
      </p:cxnSp>
      <p:cxnSp>
        <p:nvCxnSpPr>
          <p:cNvPr id="18" name="Connector 18"/>
          <p:cNvCxnSpPr/>
          <p:nvPr/>
        </p:nvCxnSpPr>
        <p:spPr>
          <a:xfrm>
            <a:off x="1247775" y="2914650"/>
            <a:ext cx="3867150" cy="0"/>
          </a:xfrm>
          <a:prstGeom prst="line">
            <a:avLst/>
          </a:prstGeom>
          <a:ln w="25400">
            <a:solidFill>
              <a:srgbClr val="D71920"/>
            </a:solidFill>
          </a:ln>
        </p:spPr>
      </p:cxnSp>
      <p:cxnSp>
        <p:nvCxnSpPr>
          <p:cNvPr id="19" name="Connector 19"/>
          <p:cNvCxnSpPr/>
          <p:nvPr/>
        </p:nvCxnSpPr>
        <p:spPr>
          <a:xfrm>
            <a:off x="1247775" y="2914650"/>
            <a:ext cx="0" cy="114300"/>
          </a:xfrm>
          <a:prstGeom prst="line">
            <a:avLst/>
          </a:prstGeom>
          <a:ln w="25400">
            <a:solidFill>
              <a:srgbClr val="D71920"/>
            </a:solidFill>
          </a:ln>
        </p:spPr>
      </p:cxnSp>
      <p:cxnSp>
        <p:nvCxnSpPr>
          <p:cNvPr id="20" name="Connector 20"/>
          <p:cNvCxnSpPr/>
          <p:nvPr/>
        </p:nvCxnSpPr>
        <p:spPr>
          <a:xfrm>
            <a:off x="2524125" y="2914650"/>
            <a:ext cx="0" cy="114300"/>
          </a:xfrm>
          <a:prstGeom prst="line">
            <a:avLst/>
          </a:prstGeom>
          <a:ln w="25400">
            <a:solidFill>
              <a:srgbClr val="D71920"/>
            </a:solidFill>
          </a:ln>
        </p:spPr>
      </p:cxnSp>
      <p:cxnSp>
        <p:nvCxnSpPr>
          <p:cNvPr id="21" name="Connector 21"/>
          <p:cNvCxnSpPr/>
          <p:nvPr/>
        </p:nvCxnSpPr>
        <p:spPr>
          <a:xfrm>
            <a:off x="3800475" y="2914650"/>
            <a:ext cx="0" cy="114300"/>
          </a:xfrm>
          <a:prstGeom prst="line">
            <a:avLst/>
          </a:prstGeom>
          <a:ln w="25400">
            <a:solidFill>
              <a:srgbClr val="D71920"/>
            </a:solidFill>
          </a:ln>
        </p:spPr>
      </p:cxnSp>
      <p:cxnSp>
        <p:nvCxnSpPr>
          <p:cNvPr id="22" name="Connector 22"/>
          <p:cNvCxnSpPr/>
          <p:nvPr/>
        </p:nvCxnSpPr>
        <p:spPr>
          <a:xfrm>
            <a:off x="5076825" y="2914650"/>
            <a:ext cx="0" cy="114300"/>
          </a:xfrm>
          <a:prstGeom prst="line">
            <a:avLst/>
          </a:prstGeom>
          <a:ln w="25400">
            <a:solidFill>
              <a:srgbClr val="D71920"/>
            </a:solidFill>
          </a:ln>
        </p:spPr>
      </p:cxnSp>
      <p:sp>
        <p:nvSpPr>
          <p:cNvPr id="23" name="Shape 23"/>
          <p:cNvSpPr/>
          <p:nvPr/>
        </p:nvSpPr>
        <p:spPr>
          <a:xfrm>
            <a:off x="666750" y="3028950"/>
            <a:ext cx="1162050" cy="914400"/>
          </a:xfrm>
          <a:prstGeom prst="roundRect">
            <a:avLst/>
          </a:prstGeom>
          <a:solidFill>
            <a:srgbClr val="FFFFFF"/>
          </a:solidFill>
          <a:ln w="19050">
            <a:solidFill>
              <a:srgbClr val="1F7A5A"/>
            </a:solidFill>
          </a:ln>
        </p:spPr>
      </p:sp>
      <p:pic>
        <p:nvPicPr>
          <p:cNvPr id="24" name="Picture 24"/>
          <p:cNvPicPr>
            <a:picLocks noChangeAspect="1"/>
          </p:cNvPicPr>
          <p:nvPr/>
        </p:nvPicPr>
        <p:blipFill>
          <a:blip r:embed="rId3"/>
          <a:stretch>
            <a:fillRect/>
          </a:stretch>
        </p:blipFill>
        <p:spPr>
          <a:xfrm>
            <a:off x="781050" y="3181350"/>
            <a:ext cx="247650" cy="247650"/>
          </a:xfrm>
          <a:prstGeom prst="rect">
            <a:avLst/>
          </a:prstGeom>
          <a:ln>
            <a:noFill/>
          </a:ln>
        </p:spPr>
      </p:pic>
      <p:sp>
        <p:nvSpPr>
          <p:cNvPr id="25" name="Shape 25"/>
          <p:cNvSpPr/>
          <p:nvPr/>
        </p:nvSpPr>
        <p:spPr>
          <a:xfrm>
            <a:off x="1628775" y="3124200"/>
            <a:ext cx="95250" cy="95250"/>
          </a:xfrm>
          <a:prstGeom prst="ellipse">
            <a:avLst/>
          </a:prstGeom>
          <a:solidFill>
            <a:srgbClr val="1F7A5A"/>
          </a:solidFill>
          <a:ln w="12700">
            <a:solidFill>
              <a:srgbClr val="1F7A5A"/>
            </a:solidFill>
          </a:ln>
        </p:spPr>
      </p:sp>
      <p:sp>
        <p:nvSpPr>
          <p:cNvPr id="26" name="Text 26"/>
          <p:cNvSpPr txBox="1"/>
          <p:nvPr/>
        </p:nvSpPr>
        <p:spPr>
          <a:xfrm>
            <a:off x="1047750" y="3124200"/>
            <a:ext cx="723900" cy="323850"/>
          </a:xfrm>
          <a:prstGeom prst="rect">
            <a:avLst/>
          </a:prstGeom>
          <a:noFill/>
          <a:ln>
            <a:noFill/>
          </a:ln>
        </p:spPr>
        <p:txBody>
          <a:bodyPr wrap="square" anchor="ctr" lIns="0" rIns="0" tIns="0" bIns="0"/>
          <a:lstStyle/>
          <a:p>
            <a:pPr algn="l"/>
            <a:r>
              <a:rPr lang="en-US" sz="1050" b="1">
                <a:solidFill>
                  <a:srgbClr val="17212B"/>
                </a:solidFill>
                <a:latin typeface="Arial"/>
              </a:rPr>
              <a:t>No-op</a:t>
            </a:r>
            <a:endParaRPr lang="en-US" sz="1050"/>
          </a:p>
        </p:txBody>
      </p:sp>
      <p:sp>
        <p:nvSpPr>
          <p:cNvPr id="27" name="Text 27"/>
          <p:cNvSpPr txBox="1"/>
          <p:nvPr/>
        </p:nvSpPr>
        <p:spPr>
          <a:xfrm>
            <a:off x="762000" y="3524250"/>
            <a:ext cx="971550" cy="323850"/>
          </a:xfrm>
          <a:prstGeom prst="rect">
            <a:avLst/>
          </a:prstGeom>
          <a:noFill/>
          <a:ln>
            <a:noFill/>
          </a:ln>
        </p:spPr>
        <p:txBody>
          <a:bodyPr wrap="square" anchor="ctr" lIns="0" rIns="0" tIns="0" bIns="0"/>
          <a:lstStyle/>
          <a:p>
            <a:pPr algn="ctr"/>
            <a:r>
              <a:rPr lang="en-US" sz="1000" b="0">
                <a:solidFill>
                  <a:srgbClr val="5D6873"/>
                </a:solidFill>
                <a:latin typeface="Arial"/>
              </a:rPr>
              <a:t>baseline</a:t>
            </a:r>
            <a:endParaRPr lang="en-US" sz="1000"/>
          </a:p>
        </p:txBody>
      </p:sp>
      <p:sp>
        <p:nvSpPr>
          <p:cNvPr id="28" name="Shape 28"/>
          <p:cNvSpPr/>
          <p:nvPr/>
        </p:nvSpPr>
        <p:spPr>
          <a:xfrm>
            <a:off x="1943100" y="3028950"/>
            <a:ext cx="1162050" cy="914400"/>
          </a:xfrm>
          <a:prstGeom prst="roundRect">
            <a:avLst/>
          </a:prstGeom>
          <a:solidFill>
            <a:srgbClr val="FFFFFF"/>
          </a:solidFill>
          <a:ln w="19050">
            <a:solidFill>
              <a:srgbClr val="1F7A5A"/>
            </a:solidFill>
          </a:ln>
        </p:spPr>
      </p:sp>
      <p:pic>
        <p:nvPicPr>
          <p:cNvPr id="29" name="Picture 29"/>
          <p:cNvPicPr>
            <a:picLocks noChangeAspect="1"/>
          </p:cNvPicPr>
          <p:nvPr/>
        </p:nvPicPr>
        <p:blipFill>
          <a:blip r:embed="rId4"/>
          <a:stretch>
            <a:fillRect/>
          </a:stretch>
        </p:blipFill>
        <p:spPr>
          <a:xfrm>
            <a:off x="2057400" y="3181350"/>
            <a:ext cx="247650" cy="247650"/>
          </a:xfrm>
          <a:prstGeom prst="rect">
            <a:avLst/>
          </a:prstGeom>
          <a:ln>
            <a:noFill/>
          </a:ln>
        </p:spPr>
      </p:pic>
      <p:sp>
        <p:nvSpPr>
          <p:cNvPr id="30" name="Shape 30"/>
          <p:cNvSpPr/>
          <p:nvPr/>
        </p:nvSpPr>
        <p:spPr>
          <a:xfrm>
            <a:off x="2905125" y="3124200"/>
            <a:ext cx="95250" cy="95250"/>
          </a:xfrm>
          <a:prstGeom prst="ellipse">
            <a:avLst/>
          </a:prstGeom>
          <a:solidFill>
            <a:srgbClr val="1F7A5A"/>
          </a:solidFill>
          <a:ln w="12700">
            <a:solidFill>
              <a:srgbClr val="1F7A5A"/>
            </a:solidFill>
          </a:ln>
        </p:spPr>
      </p:sp>
      <p:sp>
        <p:nvSpPr>
          <p:cNvPr id="31" name="Text 31"/>
          <p:cNvSpPr txBox="1"/>
          <p:nvPr/>
        </p:nvSpPr>
        <p:spPr>
          <a:xfrm>
            <a:off x="2324100" y="3124200"/>
            <a:ext cx="723900" cy="323850"/>
          </a:xfrm>
          <a:prstGeom prst="rect">
            <a:avLst/>
          </a:prstGeom>
          <a:noFill/>
          <a:ln>
            <a:noFill/>
          </a:ln>
        </p:spPr>
        <p:txBody>
          <a:bodyPr wrap="square" anchor="ctr" lIns="0" rIns="0" tIns="0" bIns="0"/>
          <a:lstStyle/>
          <a:p>
            <a:pPr algn="l"/>
            <a:r>
              <a:rPr lang="en-US" sz="1050" b="1">
                <a:solidFill>
                  <a:srgbClr val="17212B"/>
                </a:solidFill>
                <a:latin typeface="Arial"/>
              </a:rPr>
              <a:t>Bayesian</a:t>
            </a:r>
            <a:endParaRPr lang="en-US" sz="1050"/>
          </a:p>
        </p:txBody>
      </p:sp>
      <p:sp>
        <p:nvSpPr>
          <p:cNvPr id="32" name="Text 32"/>
          <p:cNvSpPr txBox="1"/>
          <p:nvPr/>
        </p:nvSpPr>
        <p:spPr>
          <a:xfrm>
            <a:off x="2038350" y="3524250"/>
            <a:ext cx="971550" cy="323850"/>
          </a:xfrm>
          <a:prstGeom prst="rect">
            <a:avLst/>
          </a:prstGeom>
          <a:noFill/>
          <a:ln>
            <a:noFill/>
          </a:ln>
        </p:spPr>
        <p:txBody>
          <a:bodyPr wrap="square" anchor="ctr" lIns="0" rIns="0" tIns="0" bIns="0"/>
          <a:lstStyle/>
          <a:p>
            <a:pPr algn="ctr"/>
            <a:r>
              <a:rPr lang="en-US" sz="1000" b="0">
                <a:solidFill>
                  <a:srgbClr val="5D6873"/>
                </a:solidFill>
                <a:latin typeface="Arial"/>
              </a:rPr>
              <a:t>sequential</a:t>
            </a:r>
            <a:endParaRPr lang="en-US" sz="1000"/>
          </a:p>
        </p:txBody>
      </p:sp>
      <p:sp>
        <p:nvSpPr>
          <p:cNvPr id="33" name="Shape 33"/>
          <p:cNvSpPr/>
          <p:nvPr/>
        </p:nvSpPr>
        <p:spPr>
          <a:xfrm>
            <a:off x="3219450" y="3028950"/>
            <a:ext cx="1162050" cy="914400"/>
          </a:xfrm>
          <a:prstGeom prst="roundRect">
            <a:avLst/>
          </a:prstGeom>
          <a:solidFill>
            <a:srgbClr val="FFFFFF"/>
          </a:solidFill>
          <a:ln w="19050">
            <a:solidFill>
              <a:srgbClr val="1F7A5A"/>
            </a:solidFill>
          </a:ln>
        </p:spPr>
      </p:sp>
      <p:pic>
        <p:nvPicPr>
          <p:cNvPr id="34" name="Picture 34"/>
          <p:cNvPicPr>
            <a:picLocks noChangeAspect="1"/>
          </p:cNvPicPr>
          <p:nvPr/>
        </p:nvPicPr>
        <p:blipFill>
          <a:blip r:embed="rId5"/>
          <a:stretch>
            <a:fillRect/>
          </a:stretch>
        </p:blipFill>
        <p:spPr>
          <a:xfrm>
            <a:off x="3333750" y="3181350"/>
            <a:ext cx="247650" cy="247650"/>
          </a:xfrm>
          <a:prstGeom prst="rect">
            <a:avLst/>
          </a:prstGeom>
          <a:ln>
            <a:noFill/>
          </a:ln>
        </p:spPr>
      </p:pic>
      <p:sp>
        <p:nvSpPr>
          <p:cNvPr id="35" name="Shape 35"/>
          <p:cNvSpPr/>
          <p:nvPr/>
        </p:nvSpPr>
        <p:spPr>
          <a:xfrm>
            <a:off x="4181475" y="3124200"/>
            <a:ext cx="95250" cy="95250"/>
          </a:xfrm>
          <a:prstGeom prst="ellipse">
            <a:avLst/>
          </a:prstGeom>
          <a:solidFill>
            <a:srgbClr val="1F7A5A"/>
          </a:solidFill>
          <a:ln w="12700">
            <a:solidFill>
              <a:srgbClr val="1F7A5A"/>
            </a:solidFill>
          </a:ln>
        </p:spPr>
      </p:sp>
      <p:sp>
        <p:nvSpPr>
          <p:cNvPr id="36" name="Text 36"/>
          <p:cNvSpPr txBox="1"/>
          <p:nvPr/>
        </p:nvSpPr>
        <p:spPr>
          <a:xfrm>
            <a:off x="3600450" y="3124200"/>
            <a:ext cx="723900" cy="323850"/>
          </a:xfrm>
          <a:prstGeom prst="rect">
            <a:avLst/>
          </a:prstGeom>
          <a:noFill/>
          <a:ln>
            <a:noFill/>
          </a:ln>
        </p:spPr>
        <p:txBody>
          <a:bodyPr wrap="square" anchor="ctr" lIns="0" rIns="0" tIns="0" bIns="0"/>
          <a:lstStyle/>
          <a:p>
            <a:pPr algn="l"/>
            <a:r>
              <a:rPr lang="en-US" sz="1050" b="1">
                <a:solidFill>
                  <a:srgbClr val="17212B"/>
                </a:solidFill>
                <a:latin typeface="Arial"/>
              </a:rPr>
              <a:t>Fuzzy logic</a:t>
            </a:r>
            <a:endParaRPr lang="en-US" sz="1050"/>
          </a:p>
        </p:txBody>
      </p:sp>
      <p:sp>
        <p:nvSpPr>
          <p:cNvPr id="37" name="Text 37"/>
          <p:cNvSpPr txBox="1"/>
          <p:nvPr/>
        </p:nvSpPr>
        <p:spPr>
          <a:xfrm>
            <a:off x="3314700" y="3524250"/>
            <a:ext cx="971550" cy="323850"/>
          </a:xfrm>
          <a:prstGeom prst="rect">
            <a:avLst/>
          </a:prstGeom>
          <a:noFill/>
          <a:ln>
            <a:noFill/>
          </a:ln>
        </p:spPr>
        <p:txBody>
          <a:bodyPr wrap="square" anchor="ctr" lIns="0" rIns="0" tIns="0" bIns="0"/>
          <a:lstStyle/>
          <a:p>
            <a:pPr algn="ctr"/>
            <a:r>
              <a:rPr lang="en-US" sz="1000" b="0">
                <a:solidFill>
                  <a:srgbClr val="5D6873"/>
                </a:solidFill>
                <a:latin typeface="Arial"/>
              </a:rPr>
              <a:t>graded rules</a:t>
            </a:r>
            <a:endParaRPr lang="en-US" sz="1000"/>
          </a:p>
        </p:txBody>
      </p:sp>
      <p:sp>
        <p:nvSpPr>
          <p:cNvPr id="38" name="Shape 38"/>
          <p:cNvSpPr/>
          <p:nvPr/>
        </p:nvSpPr>
        <p:spPr>
          <a:xfrm>
            <a:off x="4495800" y="3028950"/>
            <a:ext cx="1162050" cy="914400"/>
          </a:xfrm>
          <a:prstGeom prst="roundRect">
            <a:avLst/>
          </a:prstGeom>
          <a:solidFill>
            <a:srgbClr val="FFFFFF"/>
          </a:solidFill>
          <a:ln w="19050">
            <a:solidFill>
              <a:srgbClr val="1F7A5A"/>
            </a:solidFill>
          </a:ln>
        </p:spPr>
      </p:sp>
      <p:pic>
        <p:nvPicPr>
          <p:cNvPr id="39" name="Picture 39"/>
          <p:cNvPicPr>
            <a:picLocks noChangeAspect="1"/>
          </p:cNvPicPr>
          <p:nvPr/>
        </p:nvPicPr>
        <p:blipFill>
          <a:blip r:embed="rId6"/>
          <a:stretch>
            <a:fillRect/>
          </a:stretch>
        </p:blipFill>
        <p:spPr>
          <a:xfrm>
            <a:off x="4610100" y="3181350"/>
            <a:ext cx="247650" cy="247650"/>
          </a:xfrm>
          <a:prstGeom prst="rect">
            <a:avLst/>
          </a:prstGeom>
          <a:ln>
            <a:noFill/>
          </a:ln>
        </p:spPr>
      </p:pic>
      <p:sp>
        <p:nvSpPr>
          <p:cNvPr id="40" name="Shape 40"/>
          <p:cNvSpPr/>
          <p:nvPr/>
        </p:nvSpPr>
        <p:spPr>
          <a:xfrm>
            <a:off x="5457825" y="3124200"/>
            <a:ext cx="95250" cy="95250"/>
          </a:xfrm>
          <a:prstGeom prst="ellipse">
            <a:avLst/>
          </a:prstGeom>
          <a:solidFill>
            <a:srgbClr val="1F7A5A"/>
          </a:solidFill>
          <a:ln w="12700">
            <a:solidFill>
              <a:srgbClr val="1F7A5A"/>
            </a:solidFill>
          </a:ln>
        </p:spPr>
      </p:sp>
      <p:sp>
        <p:nvSpPr>
          <p:cNvPr id="41" name="Text 41"/>
          <p:cNvSpPr txBox="1"/>
          <p:nvPr/>
        </p:nvSpPr>
        <p:spPr>
          <a:xfrm>
            <a:off x="4876800" y="3124200"/>
            <a:ext cx="723900" cy="323850"/>
          </a:xfrm>
          <a:prstGeom prst="rect">
            <a:avLst/>
          </a:prstGeom>
          <a:noFill/>
          <a:ln>
            <a:noFill/>
          </a:ln>
        </p:spPr>
        <p:txBody>
          <a:bodyPr wrap="square" anchor="ctr" lIns="0" rIns="0" tIns="0" bIns="0"/>
          <a:lstStyle/>
          <a:p>
            <a:pPr algn="l"/>
            <a:r>
              <a:rPr lang="en-US" sz="1000" b="1">
                <a:solidFill>
                  <a:srgbClr val="17212B"/>
                </a:solidFill>
                <a:latin typeface="Arial"/>
              </a:rPr>
              <a:t>Random Forest</a:t>
            </a:r>
            <a:endParaRPr lang="en-US" sz="1000"/>
          </a:p>
        </p:txBody>
      </p:sp>
      <p:sp>
        <p:nvSpPr>
          <p:cNvPr id="42" name="Text 42"/>
          <p:cNvSpPr txBox="1"/>
          <p:nvPr/>
        </p:nvSpPr>
        <p:spPr>
          <a:xfrm>
            <a:off x="4591050" y="3524250"/>
            <a:ext cx="971550" cy="323850"/>
          </a:xfrm>
          <a:prstGeom prst="rect">
            <a:avLst/>
          </a:prstGeom>
          <a:noFill/>
          <a:ln>
            <a:noFill/>
          </a:ln>
        </p:spPr>
        <p:txBody>
          <a:bodyPr wrap="square" anchor="ctr" lIns="0" rIns="0" tIns="0" bIns="0"/>
          <a:lstStyle/>
          <a:p>
            <a:pPr algn="ctr"/>
            <a:r>
              <a:rPr lang="en-US" sz="900" b="0">
                <a:solidFill>
                  <a:srgbClr val="5D6873"/>
                </a:solidFill>
                <a:latin typeface="Arial"/>
              </a:rPr>
              <a:t>weighted ensemble</a:t>
            </a:r>
            <a:endParaRPr lang="en-US" sz="900"/>
          </a:p>
          <a:p>
            <a:pPr algn="ctr"/>
            <a:r>
              <a:rPr lang="en-US" sz="900" b="0">
                <a:solidFill>
                  <a:srgbClr val="5D6873"/>
                </a:solidFill>
                <a:latin typeface="Arial"/>
              </a:rPr>
              <a:t>of trees</a:t>
            </a:r>
            <a:endParaRPr lang="en-US" sz="900"/>
          </a:p>
        </p:txBody>
      </p:sp>
      <p:sp>
        <p:nvSpPr>
          <p:cNvPr id="43" name="Shape 43"/>
          <p:cNvSpPr/>
          <p:nvPr/>
        </p:nvSpPr>
        <p:spPr>
          <a:xfrm>
            <a:off x="685800" y="4114800"/>
            <a:ext cx="5162550" cy="495300"/>
          </a:xfrm>
          <a:prstGeom prst="roundRect">
            <a:avLst/>
          </a:prstGeom>
          <a:solidFill>
            <a:srgbClr val="EAF5F0"/>
          </a:solidFill>
          <a:ln w="19050">
            <a:solidFill>
              <a:srgbClr val="1F7A5A"/>
            </a:solidFill>
          </a:ln>
        </p:spPr>
      </p:sp>
      <p:pic>
        <p:nvPicPr>
          <p:cNvPr id="44" name="Picture 44"/>
          <p:cNvPicPr>
            <a:picLocks noChangeAspect="1"/>
          </p:cNvPicPr>
          <p:nvPr/>
        </p:nvPicPr>
        <p:blipFill>
          <a:blip r:embed="rId7"/>
          <a:stretch>
            <a:fillRect/>
          </a:stretch>
        </p:blipFill>
        <p:spPr>
          <a:xfrm>
            <a:off x="838200" y="4219575"/>
            <a:ext cx="285750" cy="285750"/>
          </a:xfrm>
          <a:prstGeom prst="rect">
            <a:avLst/>
          </a:prstGeom>
          <a:ln>
            <a:noFill/>
          </a:ln>
        </p:spPr>
      </p:pic>
      <p:sp>
        <p:nvSpPr>
          <p:cNvPr id="45" name="Text 45"/>
          <p:cNvSpPr txBox="1"/>
          <p:nvPr/>
        </p:nvSpPr>
        <p:spPr>
          <a:xfrm>
            <a:off x="1257300" y="4181475"/>
            <a:ext cx="1295400" cy="323850"/>
          </a:xfrm>
          <a:prstGeom prst="rect">
            <a:avLst/>
          </a:prstGeom>
          <a:noFill/>
          <a:ln>
            <a:noFill/>
          </a:ln>
        </p:spPr>
        <p:txBody>
          <a:bodyPr wrap="square" anchor="ctr" lIns="0" rIns="0" tIns="0" bIns="0"/>
          <a:lstStyle/>
          <a:p>
            <a:pPr algn="l"/>
            <a:r>
              <a:rPr lang="en-US" sz="1300" b="1" spc="70">
                <a:solidFill>
                  <a:srgbClr val="1F7A5A"/>
                </a:solidFill>
                <a:latin typeface="Arial"/>
                <a:hlinkClick r:id="rId16"/>
              </a:rPr>
              <a:t>COMPOSITE</a:t>
            </a:r>
            <a:endParaRPr lang="en-US" sz="1300"/>
          </a:p>
        </p:txBody>
      </p:sp>
      <p:sp>
        <p:nvSpPr>
          <p:cNvPr id="46" name="Text 46"/>
          <p:cNvSpPr txBox="1"/>
          <p:nvPr/>
        </p:nvSpPr>
        <p:spPr>
          <a:xfrm>
            <a:off x="2571750" y="4181475"/>
            <a:ext cx="3105150" cy="323850"/>
          </a:xfrm>
          <a:prstGeom prst="rect">
            <a:avLst/>
          </a:prstGeom>
          <a:noFill/>
          <a:ln>
            <a:noFill/>
          </a:ln>
        </p:spPr>
        <p:txBody>
          <a:bodyPr wrap="square" anchor="ctr" lIns="0" rIns="0" tIns="0" bIns="0"/>
          <a:lstStyle/>
          <a:p>
            <a:pPr algn="l"/>
            <a:r>
              <a:rPr lang="en-US" sz="1200" b="1">
                <a:solidFill>
                  <a:srgbClr val="17212B"/>
                </a:solidFill>
                <a:latin typeface="Arial"/>
              </a:rPr>
              <a:t>Ordered dispatch; every child artifact remains visible</a:t>
            </a:r>
            <a:endParaRPr lang="en-US" sz="1200"/>
          </a:p>
        </p:txBody>
      </p:sp>
      <p:sp>
        <p:nvSpPr>
          <p:cNvPr id="47" name="Shape 47"/>
          <p:cNvSpPr/>
          <p:nvPr/>
        </p:nvSpPr>
        <p:spPr>
          <a:xfrm>
            <a:off x="685800" y="4762500"/>
            <a:ext cx="5162550" cy="609600"/>
          </a:xfrm>
          <a:prstGeom prst="roundRect">
            <a:avLst/>
          </a:prstGeom>
          <a:solidFill>
            <a:srgbClr val="FFF4E3"/>
          </a:solidFill>
          <a:ln w="19050">
            <a:solidFill>
              <a:srgbClr val="B46B13"/>
            </a:solidFill>
          </a:ln>
        </p:spPr>
      </p:sp>
      <p:pic>
        <p:nvPicPr>
          <p:cNvPr id="48" name="Picture 48"/>
          <p:cNvPicPr>
            <a:picLocks noChangeAspect="1"/>
          </p:cNvPicPr>
          <p:nvPr/>
        </p:nvPicPr>
        <p:blipFill>
          <a:blip r:embed="rId8"/>
          <a:stretch>
            <a:fillRect/>
          </a:stretch>
        </p:blipFill>
        <p:spPr>
          <a:xfrm>
            <a:off x="838200" y="4924425"/>
            <a:ext cx="285750" cy="285750"/>
          </a:xfrm>
          <a:prstGeom prst="rect">
            <a:avLst/>
          </a:prstGeom>
          <a:ln>
            <a:noFill/>
          </a:ln>
        </p:spPr>
      </p:pic>
      <p:cxnSp>
        <p:nvCxnSpPr>
          <p:cNvPr id="49" name="Connector 49"/>
          <p:cNvCxnSpPr/>
          <p:nvPr/>
        </p:nvCxnSpPr>
        <p:spPr>
          <a:xfrm>
            <a:off x="3267075" y="4610100"/>
            <a:ext cx="0" cy="152400"/>
          </a:xfrm>
          <a:prstGeom prst="line">
            <a:avLst/>
          </a:prstGeom>
          <a:ln w="25400">
            <a:solidFill>
              <a:srgbClr val="B46B13"/>
            </a:solidFill>
          </a:ln>
        </p:spPr>
      </p:cxnSp>
      <p:sp>
        <p:nvSpPr>
          <p:cNvPr id="50" name="Text 50"/>
          <p:cNvSpPr txBox="1"/>
          <p:nvPr/>
        </p:nvSpPr>
        <p:spPr>
          <a:xfrm>
            <a:off x="1257300" y="4829175"/>
            <a:ext cx="2324100" cy="209550"/>
          </a:xfrm>
          <a:prstGeom prst="rect">
            <a:avLst/>
          </a:prstGeom>
          <a:noFill/>
          <a:ln>
            <a:noFill/>
          </a:ln>
        </p:spPr>
        <p:txBody>
          <a:bodyPr wrap="square" anchor="t" lIns="0" rIns="0" tIns="0" bIns="0"/>
          <a:lstStyle/>
          <a:p>
            <a:pPr algn="l"/>
            <a:r>
              <a:rPr lang="en-US" sz="1100" b="1" spc="30">
                <a:solidFill>
                  <a:srgbClr val="B46B13"/>
                </a:solidFill>
                <a:latin typeface="Arial"/>
                <a:hlinkClick r:id="rId17"/>
              </a:rPr>
              <a:t>CALIBRATED LATE FUSION</a:t>
            </a:r>
            <a:endParaRPr lang="en-US" sz="1100"/>
          </a:p>
        </p:txBody>
      </p:sp>
      <p:sp>
        <p:nvSpPr>
          <p:cNvPr id="51" name="Text 51"/>
          <p:cNvSpPr txBox="1"/>
          <p:nvPr/>
        </p:nvSpPr>
        <p:spPr>
          <a:xfrm>
            <a:off x="1257300" y="5067300"/>
            <a:ext cx="4400550" cy="209550"/>
          </a:xfrm>
          <a:prstGeom prst="rect">
            <a:avLst/>
          </a:prstGeom>
          <a:noFill/>
          <a:ln>
            <a:noFill/>
          </a:ln>
        </p:spPr>
        <p:txBody>
          <a:bodyPr wrap="square" anchor="ctr" lIns="0" rIns="0" tIns="0" bIns="0"/>
          <a:lstStyle/>
          <a:p>
            <a:pPr algn="l"/>
            <a:r>
              <a:rPr lang="en-US" sz="1050" b="0">
                <a:solidFill>
                  <a:srgbClr val="17212B"/>
                </a:solidFill>
                <a:latin typeface="Arial"/>
              </a:rPr>
              <a:t>Target: normalize semantics → weight → emit one additional artifact</a:t>
            </a:r>
            <a:endParaRPr lang="en-US" sz="1050"/>
          </a:p>
        </p:txBody>
      </p:sp>
      <p:sp>
        <p:nvSpPr>
          <p:cNvPr id="52" name="Shape 52"/>
          <p:cNvSpPr/>
          <p:nvPr/>
        </p:nvSpPr>
        <p:spPr>
          <a:xfrm>
            <a:off x="6115050" y="1695450"/>
            <a:ext cx="2419350" cy="400050"/>
          </a:xfrm>
          <a:prstGeom prst="roundRect">
            <a:avLst/>
          </a:prstGeom>
          <a:solidFill>
            <a:srgbClr val="EAF1F7"/>
          </a:solidFill>
          <a:ln w="19050">
            <a:solidFill>
              <a:srgbClr val="2A5B84"/>
            </a:solidFill>
          </a:ln>
        </p:spPr>
      </p:sp>
      <p:sp>
        <p:nvSpPr>
          <p:cNvPr id="53" name="Text 53"/>
          <p:cNvSpPr txBox="1"/>
          <p:nvPr/>
        </p:nvSpPr>
        <p:spPr>
          <a:xfrm>
            <a:off x="6286500" y="1771650"/>
            <a:ext cx="2076450" cy="247650"/>
          </a:xfrm>
          <a:prstGeom prst="rect">
            <a:avLst/>
          </a:prstGeom>
          <a:noFill/>
          <a:ln>
            <a:noFill/>
          </a:ln>
        </p:spPr>
        <p:txBody>
          <a:bodyPr wrap="square" anchor="t" lIns="0" rIns="0" tIns="0" bIns="0"/>
          <a:lstStyle/>
          <a:p>
            <a:pPr algn="l"/>
            <a:r>
              <a:rPr lang="en-US" sz="1400" b="1" spc="80">
                <a:solidFill>
                  <a:srgbClr val="2A5B84"/>
                </a:solidFill>
                <a:latin typeface="Arial"/>
              </a:rPr>
              <a:t>STAGE 2 · GROUND</a:t>
            </a:r>
            <a:endParaRPr lang="en-US" sz="1400"/>
          </a:p>
        </p:txBody>
      </p:sp>
      <p:sp>
        <p:nvSpPr>
          <p:cNvPr id="54" name="Shape 54"/>
          <p:cNvSpPr/>
          <p:nvPr/>
        </p:nvSpPr>
        <p:spPr>
          <a:xfrm>
            <a:off x="6248400" y="2247900"/>
            <a:ext cx="2152650" cy="495300"/>
          </a:xfrm>
          <a:prstGeom prst="roundRect">
            <a:avLst/>
          </a:prstGeom>
          <a:solidFill>
            <a:srgbClr val="FFFFFF"/>
          </a:solidFill>
          <a:ln w="25400">
            <a:solidFill>
              <a:srgbClr val="2A5B84"/>
            </a:solidFill>
          </a:ln>
        </p:spPr>
      </p:sp>
      <p:pic>
        <p:nvPicPr>
          <p:cNvPr id="55" name="Picture 55"/>
          <p:cNvPicPr>
            <a:picLocks noChangeAspect="1"/>
          </p:cNvPicPr>
          <p:nvPr/>
        </p:nvPicPr>
        <p:blipFill>
          <a:blip r:embed="rId9"/>
          <a:stretch>
            <a:fillRect/>
          </a:stretch>
        </p:blipFill>
        <p:spPr>
          <a:xfrm>
            <a:off x="6381750" y="2352675"/>
            <a:ext cx="285750" cy="285750"/>
          </a:xfrm>
          <a:prstGeom prst="rect">
            <a:avLst/>
          </a:prstGeom>
          <a:ln>
            <a:noFill/>
          </a:ln>
        </p:spPr>
      </p:pic>
      <p:sp>
        <p:nvSpPr>
          <p:cNvPr id="56" name="Text 56"/>
          <p:cNvSpPr txBox="1"/>
          <p:nvPr/>
        </p:nvSpPr>
        <p:spPr>
          <a:xfrm>
            <a:off x="6800850" y="2314575"/>
            <a:ext cx="1428750" cy="342900"/>
          </a:xfrm>
          <a:prstGeom prst="rect">
            <a:avLst/>
          </a:prstGeom>
          <a:noFill/>
          <a:ln>
            <a:noFill/>
          </a:ln>
        </p:spPr>
        <p:txBody>
          <a:bodyPr wrap="square" anchor="ctr" lIns="0" rIns="0" tIns="0" bIns="0"/>
          <a:lstStyle/>
          <a:p>
            <a:pPr algn="l"/>
            <a:r>
              <a:rPr lang="en-US" sz="1050" b="1">
                <a:solidFill>
                  <a:srgbClr val="17212B"/>
                </a:solidFill>
                <a:latin typeface="Arial"/>
              </a:rPr>
              <a:t>PolicyKnowledgePort</a:t>
            </a:r>
            <a:endParaRPr lang="en-US" sz="1050"/>
          </a:p>
        </p:txBody>
      </p:sp>
      <p:cxnSp>
        <p:nvCxnSpPr>
          <p:cNvPr id="57" name="Connector 57"/>
          <p:cNvCxnSpPr/>
          <p:nvPr/>
        </p:nvCxnSpPr>
        <p:spPr>
          <a:xfrm>
            <a:off x="7324725" y="2743200"/>
            <a:ext cx="0" cy="114300"/>
          </a:xfrm>
          <a:prstGeom prst="line">
            <a:avLst/>
          </a:prstGeom>
          <a:ln w="25400">
            <a:solidFill>
              <a:srgbClr val="2A5B84"/>
            </a:solidFill>
          </a:ln>
        </p:spPr>
      </p:cxnSp>
      <p:cxnSp>
        <p:nvCxnSpPr>
          <p:cNvPr id="58" name="Connector 58"/>
          <p:cNvCxnSpPr/>
          <p:nvPr/>
        </p:nvCxnSpPr>
        <p:spPr>
          <a:xfrm flipH="1">
            <a:off x="6134100" y="2857500"/>
            <a:ext cx="1190625" cy="0"/>
          </a:xfrm>
          <a:prstGeom prst="line">
            <a:avLst/>
          </a:prstGeom>
          <a:ln w="25400">
            <a:solidFill>
              <a:srgbClr val="2A5B84"/>
            </a:solidFill>
          </a:ln>
        </p:spPr>
      </p:cxnSp>
      <p:cxnSp>
        <p:nvCxnSpPr>
          <p:cNvPr id="59" name="Connector 59"/>
          <p:cNvCxnSpPr/>
          <p:nvPr/>
        </p:nvCxnSpPr>
        <p:spPr>
          <a:xfrm>
            <a:off x="6134100" y="2857500"/>
            <a:ext cx="0" cy="1466850"/>
          </a:xfrm>
          <a:prstGeom prst="line">
            <a:avLst/>
          </a:prstGeom>
          <a:ln w="25400">
            <a:solidFill>
              <a:srgbClr val="2A5B84"/>
            </a:solidFill>
          </a:ln>
        </p:spPr>
      </p:cxnSp>
      <p:cxnSp>
        <p:nvCxnSpPr>
          <p:cNvPr id="60" name="Connector 60"/>
          <p:cNvCxnSpPr/>
          <p:nvPr/>
        </p:nvCxnSpPr>
        <p:spPr>
          <a:xfrm>
            <a:off x="6134100" y="3343275"/>
            <a:ext cx="114300" cy="0"/>
          </a:xfrm>
          <a:prstGeom prst="line">
            <a:avLst/>
          </a:prstGeom>
          <a:ln w="25400">
            <a:solidFill>
              <a:srgbClr val="2A5B84"/>
            </a:solidFill>
          </a:ln>
        </p:spPr>
      </p:cxnSp>
      <p:cxnSp>
        <p:nvCxnSpPr>
          <p:cNvPr id="61" name="Connector 61"/>
          <p:cNvCxnSpPr/>
          <p:nvPr/>
        </p:nvCxnSpPr>
        <p:spPr>
          <a:xfrm>
            <a:off x="6134100" y="4324350"/>
            <a:ext cx="114300" cy="0"/>
          </a:xfrm>
          <a:prstGeom prst="line">
            <a:avLst/>
          </a:prstGeom>
          <a:ln w="25400">
            <a:solidFill>
              <a:srgbClr val="2A5B84"/>
            </a:solidFill>
          </a:ln>
        </p:spPr>
      </p:cxnSp>
      <p:sp>
        <p:nvSpPr>
          <p:cNvPr id="62" name="Shape 62"/>
          <p:cNvSpPr/>
          <p:nvPr/>
        </p:nvSpPr>
        <p:spPr>
          <a:xfrm>
            <a:off x="6248400" y="2971800"/>
            <a:ext cx="2152650" cy="742950"/>
          </a:xfrm>
          <a:prstGeom prst="roundRect">
            <a:avLst/>
          </a:prstGeom>
          <a:solidFill>
            <a:srgbClr val="FFFFFF"/>
          </a:solidFill>
          <a:ln w="19050">
            <a:solidFill>
              <a:srgbClr val="1F7A5A"/>
            </a:solidFill>
          </a:ln>
        </p:spPr>
      </p:sp>
      <p:pic>
        <p:nvPicPr>
          <p:cNvPr id="63" name="Picture 63"/>
          <p:cNvPicPr>
            <a:picLocks noChangeAspect="1"/>
          </p:cNvPicPr>
          <p:nvPr/>
        </p:nvPicPr>
        <p:blipFill>
          <a:blip r:embed="rId10"/>
          <a:stretch>
            <a:fillRect/>
          </a:stretch>
        </p:blipFill>
        <p:spPr>
          <a:xfrm>
            <a:off x="6400800" y="3143250"/>
            <a:ext cx="285750" cy="285750"/>
          </a:xfrm>
          <a:prstGeom prst="rect">
            <a:avLst/>
          </a:prstGeom>
          <a:ln>
            <a:noFill/>
          </a:ln>
        </p:spPr>
      </p:pic>
      <p:sp>
        <p:nvSpPr>
          <p:cNvPr id="64" name="Shape 64"/>
          <p:cNvSpPr/>
          <p:nvPr/>
        </p:nvSpPr>
        <p:spPr>
          <a:xfrm>
            <a:off x="8153400" y="3067050"/>
            <a:ext cx="95250" cy="95250"/>
          </a:xfrm>
          <a:prstGeom prst="ellipse">
            <a:avLst/>
          </a:prstGeom>
          <a:solidFill>
            <a:srgbClr val="1F7A5A"/>
          </a:solidFill>
          <a:ln w="12700">
            <a:solidFill>
              <a:srgbClr val="1F7A5A"/>
            </a:solidFill>
          </a:ln>
        </p:spPr>
      </p:sp>
      <p:sp>
        <p:nvSpPr>
          <p:cNvPr id="65" name="Text 65"/>
          <p:cNvSpPr txBox="1"/>
          <p:nvPr/>
        </p:nvSpPr>
        <p:spPr>
          <a:xfrm>
            <a:off x="6724650" y="3057525"/>
            <a:ext cx="1581150" cy="247650"/>
          </a:xfrm>
          <a:prstGeom prst="rect">
            <a:avLst/>
          </a:prstGeom>
          <a:noFill/>
          <a:ln>
            <a:noFill/>
          </a:ln>
        </p:spPr>
        <p:txBody>
          <a:bodyPr wrap="square" anchor="t" lIns="0" rIns="0" tIns="0" bIns="0"/>
          <a:lstStyle/>
          <a:p>
            <a:pPr algn="l"/>
            <a:r>
              <a:rPr lang="en-US" sz="1300" b="1">
                <a:solidFill>
                  <a:srgbClr val="17212B"/>
                </a:solidFill>
                <a:latin typeface="Arial"/>
              </a:rPr>
              <a:t>Static</a:t>
            </a:r>
            <a:endParaRPr lang="en-US" sz="1300"/>
          </a:p>
        </p:txBody>
      </p:sp>
      <p:sp>
        <p:nvSpPr>
          <p:cNvPr id="66" name="Text 66"/>
          <p:cNvSpPr txBox="1"/>
          <p:nvPr/>
        </p:nvSpPr>
        <p:spPr>
          <a:xfrm>
            <a:off x="6724650" y="3333750"/>
            <a:ext cx="1581150" cy="228600"/>
          </a:xfrm>
          <a:prstGeom prst="rect">
            <a:avLst/>
          </a:prstGeom>
          <a:noFill/>
          <a:ln>
            <a:noFill/>
          </a:ln>
        </p:spPr>
        <p:txBody>
          <a:bodyPr wrap="square" anchor="t" lIns="0" rIns="0" tIns="0" bIns="0"/>
          <a:lstStyle/>
          <a:p>
            <a:pPr algn="l"/>
            <a:r>
              <a:rPr lang="en-US" sz="1050" b="0">
                <a:solidFill>
                  <a:srgbClr val="5D6873"/>
                </a:solidFill>
                <a:latin typeface="Arial"/>
              </a:rPr>
              <a:t>offline policy baseline</a:t>
            </a:r>
            <a:endParaRPr lang="en-US" sz="1050"/>
          </a:p>
        </p:txBody>
      </p:sp>
      <p:sp>
        <p:nvSpPr>
          <p:cNvPr id="67" name="Shape 67"/>
          <p:cNvSpPr/>
          <p:nvPr/>
        </p:nvSpPr>
        <p:spPr>
          <a:xfrm>
            <a:off x="6248400" y="3867150"/>
            <a:ext cx="2152650" cy="914400"/>
          </a:xfrm>
          <a:prstGeom prst="roundRect">
            <a:avLst/>
          </a:prstGeom>
          <a:solidFill>
            <a:srgbClr val="FFFFFF"/>
          </a:solidFill>
          <a:ln w="19050">
            <a:solidFill>
              <a:srgbClr val="1F7A5A"/>
            </a:solidFill>
          </a:ln>
        </p:spPr>
      </p:sp>
      <p:pic>
        <p:nvPicPr>
          <p:cNvPr id="68" name="Picture 68"/>
          <p:cNvPicPr>
            <a:picLocks noChangeAspect="1"/>
          </p:cNvPicPr>
          <p:nvPr/>
        </p:nvPicPr>
        <p:blipFill>
          <a:blip r:embed="rId11"/>
          <a:stretch>
            <a:fillRect/>
          </a:stretch>
        </p:blipFill>
        <p:spPr>
          <a:xfrm>
            <a:off x="6400800" y="4095750"/>
            <a:ext cx="285750" cy="285750"/>
          </a:xfrm>
          <a:prstGeom prst="rect">
            <a:avLst/>
          </a:prstGeom>
          <a:ln>
            <a:noFill/>
          </a:ln>
        </p:spPr>
      </p:pic>
      <p:sp>
        <p:nvSpPr>
          <p:cNvPr id="69" name="Shape 69"/>
          <p:cNvSpPr/>
          <p:nvPr/>
        </p:nvSpPr>
        <p:spPr>
          <a:xfrm>
            <a:off x="8153400" y="3962400"/>
            <a:ext cx="95250" cy="95250"/>
          </a:xfrm>
          <a:prstGeom prst="ellipse">
            <a:avLst/>
          </a:prstGeom>
          <a:solidFill>
            <a:srgbClr val="1F7A5A"/>
          </a:solidFill>
          <a:ln w="12700">
            <a:solidFill>
              <a:srgbClr val="1F7A5A"/>
            </a:solidFill>
          </a:ln>
        </p:spPr>
      </p:sp>
      <p:sp>
        <p:nvSpPr>
          <p:cNvPr id="70" name="Text 70"/>
          <p:cNvSpPr txBox="1"/>
          <p:nvPr/>
        </p:nvSpPr>
        <p:spPr>
          <a:xfrm>
            <a:off x="6724650" y="3971925"/>
            <a:ext cx="1581150" cy="304800"/>
          </a:xfrm>
          <a:prstGeom prst="rect">
            <a:avLst/>
          </a:prstGeom>
          <a:noFill/>
          <a:ln>
            <a:noFill/>
          </a:ln>
        </p:spPr>
        <p:txBody>
          <a:bodyPr wrap="square" anchor="t" lIns="0" rIns="0" tIns="0" bIns="0"/>
          <a:lstStyle/>
          <a:p>
            <a:pPr algn="l"/>
            <a:r>
              <a:rPr lang="en-US" sz="1200" b="1">
                <a:solidFill>
                  <a:srgbClr val="17212B"/>
                </a:solidFill>
                <a:latin typeface="Arial"/>
              </a:rPr>
              <a:t>pgvector + MiniLM</a:t>
            </a:r>
            <a:endParaRPr lang="en-US" sz="1200"/>
          </a:p>
        </p:txBody>
      </p:sp>
      <p:sp>
        <p:nvSpPr>
          <p:cNvPr id="71" name="Text 71"/>
          <p:cNvSpPr txBox="1"/>
          <p:nvPr/>
        </p:nvSpPr>
        <p:spPr>
          <a:xfrm>
            <a:off x="6724650" y="4324350"/>
            <a:ext cx="1581150" cy="304800"/>
          </a:xfrm>
          <a:prstGeom prst="rect">
            <a:avLst/>
          </a:prstGeom>
          <a:noFill/>
          <a:ln>
            <a:noFill/>
          </a:ln>
        </p:spPr>
        <p:txBody>
          <a:bodyPr wrap="square" anchor="t" lIns="0" rIns="0" tIns="0" bIns="0"/>
          <a:lstStyle/>
          <a:p>
            <a:pPr algn="l"/>
            <a:r>
              <a:rPr lang="en-US" sz="1050" b="0">
                <a:solidFill>
                  <a:srgbClr val="5D6873"/>
                </a:solidFill>
                <a:latin typeface="Arial"/>
              </a:rPr>
              <a:t>local retrieval</a:t>
            </a:r>
            <a:endParaRPr lang="en-US" sz="1050"/>
          </a:p>
          <a:p>
            <a:pPr algn="l"/>
            <a:r>
              <a:rPr lang="en-US" sz="1050" b="0">
                <a:solidFill>
                  <a:srgbClr val="5D6873"/>
                </a:solidFill>
                <a:latin typeface="Arial"/>
              </a:rPr>
              <a:t>with source metadata</a:t>
            </a:r>
            <a:endParaRPr lang="en-US" sz="1050"/>
          </a:p>
        </p:txBody>
      </p:sp>
      <p:sp>
        <p:nvSpPr>
          <p:cNvPr id="72" name="Shape 72"/>
          <p:cNvSpPr/>
          <p:nvPr/>
        </p:nvSpPr>
        <p:spPr>
          <a:xfrm>
            <a:off x="6248400" y="4933950"/>
            <a:ext cx="2152650" cy="438150"/>
          </a:xfrm>
          <a:prstGeom prst="roundRect">
            <a:avLst/>
          </a:prstGeom>
          <a:solidFill>
            <a:srgbClr val="EAF1F7"/>
          </a:solidFill>
          <a:ln w="12700">
            <a:solidFill>
              <a:srgbClr val="2A5B84"/>
            </a:solidFill>
          </a:ln>
        </p:spPr>
      </p:sp>
      <p:sp>
        <p:nvSpPr>
          <p:cNvPr id="73" name="Text 73"/>
          <p:cNvSpPr txBox="1"/>
          <p:nvPr/>
        </p:nvSpPr>
        <p:spPr>
          <a:xfrm>
            <a:off x="6400800" y="5010150"/>
            <a:ext cx="1847850" cy="266700"/>
          </a:xfrm>
          <a:prstGeom prst="rect">
            <a:avLst/>
          </a:prstGeom>
          <a:noFill/>
          <a:ln>
            <a:noFill/>
          </a:ln>
        </p:spPr>
        <p:txBody>
          <a:bodyPr wrap="square" anchor="ctr" lIns="0" rIns="0" tIns="0" bIns="0"/>
          <a:lstStyle/>
          <a:p>
            <a:pPr algn="ctr"/>
            <a:r>
              <a:rPr lang="en-US" sz="1100" b="1">
                <a:solidFill>
                  <a:srgbClr val="2A5B84"/>
                </a:solidFill>
                <a:latin typeface="Arial"/>
              </a:rPr>
              <a:t>PolicyEvidence + provenance</a:t>
            </a:r>
            <a:endParaRPr lang="en-US" sz="1100"/>
          </a:p>
        </p:txBody>
      </p:sp>
      <p:sp>
        <p:nvSpPr>
          <p:cNvPr id="74" name="Shape 74"/>
          <p:cNvSpPr/>
          <p:nvPr/>
        </p:nvSpPr>
        <p:spPr>
          <a:xfrm>
            <a:off x="8667750" y="1695450"/>
            <a:ext cx="2971800" cy="400050"/>
          </a:xfrm>
          <a:prstGeom prst="roundRect">
            <a:avLst/>
          </a:prstGeom>
          <a:solidFill>
            <a:srgbClr val="FFF4E3"/>
          </a:solidFill>
          <a:ln w="19050">
            <a:solidFill>
              <a:srgbClr val="B46B13"/>
            </a:solidFill>
          </a:ln>
        </p:spPr>
      </p:sp>
      <p:sp>
        <p:nvSpPr>
          <p:cNvPr id="75" name="Text 75"/>
          <p:cNvSpPr txBox="1"/>
          <p:nvPr/>
        </p:nvSpPr>
        <p:spPr>
          <a:xfrm>
            <a:off x="8839200" y="1771650"/>
            <a:ext cx="2628900" cy="247650"/>
          </a:xfrm>
          <a:prstGeom prst="rect">
            <a:avLst/>
          </a:prstGeom>
          <a:noFill/>
          <a:ln>
            <a:noFill/>
          </a:ln>
        </p:spPr>
        <p:txBody>
          <a:bodyPr wrap="square" anchor="t" lIns="0" rIns="0" tIns="0" bIns="0"/>
          <a:lstStyle/>
          <a:p>
            <a:pPr algn="l"/>
            <a:r>
              <a:rPr lang="en-US" sz="1400" b="1" spc="80">
                <a:solidFill>
                  <a:srgbClr val="B46B13"/>
                </a:solidFill>
                <a:latin typeface="Arial"/>
              </a:rPr>
              <a:t>STAGE 3 · SYNTHESIZE</a:t>
            </a:r>
            <a:endParaRPr lang="en-US" sz="1400"/>
          </a:p>
        </p:txBody>
      </p:sp>
      <p:sp>
        <p:nvSpPr>
          <p:cNvPr id="76" name="Shape 76"/>
          <p:cNvSpPr/>
          <p:nvPr/>
        </p:nvSpPr>
        <p:spPr>
          <a:xfrm>
            <a:off x="8801100" y="2247900"/>
            <a:ext cx="2705100" cy="495300"/>
          </a:xfrm>
          <a:prstGeom prst="roundRect">
            <a:avLst/>
          </a:prstGeom>
          <a:solidFill>
            <a:srgbClr val="FFFFFF"/>
          </a:solidFill>
          <a:ln w="25400">
            <a:solidFill>
              <a:srgbClr val="B46B13"/>
            </a:solidFill>
          </a:ln>
        </p:spPr>
      </p:sp>
      <p:pic>
        <p:nvPicPr>
          <p:cNvPr id="77" name="Picture 77"/>
          <p:cNvPicPr>
            <a:picLocks noChangeAspect="1"/>
          </p:cNvPicPr>
          <p:nvPr/>
        </p:nvPicPr>
        <p:blipFill>
          <a:blip r:embed="rId12"/>
          <a:stretch>
            <a:fillRect/>
          </a:stretch>
        </p:blipFill>
        <p:spPr>
          <a:xfrm>
            <a:off x="8934450" y="2352675"/>
            <a:ext cx="285750" cy="285750"/>
          </a:xfrm>
          <a:prstGeom prst="rect">
            <a:avLst/>
          </a:prstGeom>
          <a:ln>
            <a:noFill/>
          </a:ln>
        </p:spPr>
      </p:pic>
      <p:sp>
        <p:nvSpPr>
          <p:cNvPr id="78" name="Text 78"/>
          <p:cNvSpPr txBox="1"/>
          <p:nvPr/>
        </p:nvSpPr>
        <p:spPr>
          <a:xfrm>
            <a:off x="9353550" y="2314575"/>
            <a:ext cx="1981200" cy="342900"/>
          </a:xfrm>
          <a:prstGeom prst="rect">
            <a:avLst/>
          </a:prstGeom>
          <a:noFill/>
          <a:ln>
            <a:noFill/>
          </a:ln>
        </p:spPr>
        <p:txBody>
          <a:bodyPr wrap="square" anchor="ctr" lIns="0" rIns="0" tIns="0" bIns="0"/>
          <a:lstStyle/>
          <a:p>
            <a:pPr algn="l"/>
            <a:r>
              <a:rPr lang="en-US" sz="1700" b="1">
                <a:solidFill>
                  <a:srgbClr val="17212B"/>
                </a:solidFill>
                <a:latin typeface="Arial"/>
              </a:rPr>
              <a:t>AnalysisModelPort</a:t>
            </a:r>
            <a:endParaRPr lang="en-US" sz="1700"/>
          </a:p>
        </p:txBody>
      </p:sp>
      <p:cxnSp>
        <p:nvCxnSpPr>
          <p:cNvPr id="79" name="Connector 79"/>
          <p:cNvCxnSpPr/>
          <p:nvPr/>
        </p:nvCxnSpPr>
        <p:spPr>
          <a:xfrm>
            <a:off x="10153650" y="2743200"/>
            <a:ext cx="0" cy="114300"/>
          </a:xfrm>
          <a:prstGeom prst="line">
            <a:avLst/>
          </a:prstGeom>
          <a:ln w="25400">
            <a:solidFill>
              <a:srgbClr val="B46B13"/>
            </a:solidFill>
          </a:ln>
        </p:spPr>
      </p:cxnSp>
      <p:cxnSp>
        <p:nvCxnSpPr>
          <p:cNvPr id="80" name="Connector 80"/>
          <p:cNvCxnSpPr/>
          <p:nvPr/>
        </p:nvCxnSpPr>
        <p:spPr>
          <a:xfrm flipH="1">
            <a:off x="8686800" y="2857500"/>
            <a:ext cx="1466850" cy="0"/>
          </a:xfrm>
          <a:prstGeom prst="line">
            <a:avLst/>
          </a:prstGeom>
          <a:ln w="25400">
            <a:solidFill>
              <a:srgbClr val="B46B13"/>
            </a:solidFill>
          </a:ln>
        </p:spPr>
      </p:cxnSp>
      <p:cxnSp>
        <p:nvCxnSpPr>
          <p:cNvPr id="81" name="Connector 81"/>
          <p:cNvCxnSpPr/>
          <p:nvPr/>
        </p:nvCxnSpPr>
        <p:spPr>
          <a:xfrm>
            <a:off x="8686800" y="2857500"/>
            <a:ext cx="0" cy="2000250"/>
          </a:xfrm>
          <a:prstGeom prst="line">
            <a:avLst/>
          </a:prstGeom>
          <a:ln w="25400">
            <a:solidFill>
              <a:srgbClr val="B46B13"/>
            </a:solidFill>
          </a:ln>
        </p:spPr>
      </p:cxnSp>
      <p:cxnSp>
        <p:nvCxnSpPr>
          <p:cNvPr id="82" name="Connector 82"/>
          <p:cNvCxnSpPr/>
          <p:nvPr/>
        </p:nvCxnSpPr>
        <p:spPr>
          <a:xfrm>
            <a:off x="8686800" y="3295650"/>
            <a:ext cx="114300" cy="0"/>
          </a:xfrm>
          <a:prstGeom prst="line">
            <a:avLst/>
          </a:prstGeom>
          <a:ln w="25400">
            <a:solidFill>
              <a:srgbClr val="B46B13"/>
            </a:solidFill>
          </a:ln>
        </p:spPr>
      </p:cxnSp>
      <p:cxnSp>
        <p:nvCxnSpPr>
          <p:cNvPr id="83" name="Connector 83"/>
          <p:cNvCxnSpPr/>
          <p:nvPr/>
        </p:nvCxnSpPr>
        <p:spPr>
          <a:xfrm>
            <a:off x="8686800" y="4076700"/>
            <a:ext cx="114300" cy="0"/>
          </a:xfrm>
          <a:prstGeom prst="line">
            <a:avLst/>
          </a:prstGeom>
          <a:ln w="25400">
            <a:solidFill>
              <a:srgbClr val="B46B13"/>
            </a:solidFill>
          </a:ln>
        </p:spPr>
      </p:cxnSp>
      <p:cxnSp>
        <p:nvCxnSpPr>
          <p:cNvPr id="84" name="Connector 84"/>
          <p:cNvCxnSpPr/>
          <p:nvPr/>
        </p:nvCxnSpPr>
        <p:spPr>
          <a:xfrm>
            <a:off x="8686800" y="4857750"/>
            <a:ext cx="114300" cy="0"/>
          </a:xfrm>
          <a:prstGeom prst="line">
            <a:avLst/>
          </a:prstGeom>
          <a:ln w="25400">
            <a:solidFill>
              <a:srgbClr val="B46B13"/>
            </a:solidFill>
          </a:ln>
        </p:spPr>
      </p:cxnSp>
      <p:sp>
        <p:nvSpPr>
          <p:cNvPr id="85" name="Shape 85"/>
          <p:cNvSpPr/>
          <p:nvPr/>
        </p:nvSpPr>
        <p:spPr>
          <a:xfrm>
            <a:off x="8801100" y="2971800"/>
            <a:ext cx="2705100" cy="647700"/>
          </a:xfrm>
          <a:prstGeom prst="roundRect">
            <a:avLst/>
          </a:prstGeom>
          <a:solidFill>
            <a:srgbClr val="FFFFFF"/>
          </a:solidFill>
          <a:ln w="19050">
            <a:solidFill>
              <a:srgbClr val="1F7A5A"/>
            </a:solidFill>
          </a:ln>
        </p:spPr>
      </p:sp>
      <p:pic>
        <p:nvPicPr>
          <p:cNvPr id="86" name="Picture 86"/>
          <p:cNvPicPr>
            <a:picLocks noChangeAspect="1"/>
          </p:cNvPicPr>
          <p:nvPr/>
        </p:nvPicPr>
        <p:blipFill>
          <a:blip r:embed="rId13"/>
          <a:stretch>
            <a:fillRect/>
          </a:stretch>
        </p:blipFill>
        <p:spPr>
          <a:xfrm>
            <a:off x="8953500" y="3143250"/>
            <a:ext cx="285750" cy="285750"/>
          </a:xfrm>
          <a:prstGeom prst="rect">
            <a:avLst/>
          </a:prstGeom>
          <a:ln>
            <a:noFill/>
          </a:ln>
        </p:spPr>
      </p:pic>
      <p:sp>
        <p:nvSpPr>
          <p:cNvPr id="87" name="Shape 87"/>
          <p:cNvSpPr/>
          <p:nvPr/>
        </p:nvSpPr>
        <p:spPr>
          <a:xfrm>
            <a:off x="11258550" y="3067050"/>
            <a:ext cx="95250" cy="95250"/>
          </a:xfrm>
          <a:prstGeom prst="ellipse">
            <a:avLst/>
          </a:prstGeom>
          <a:solidFill>
            <a:srgbClr val="1F7A5A"/>
          </a:solidFill>
          <a:ln w="12700">
            <a:solidFill>
              <a:srgbClr val="1F7A5A"/>
            </a:solidFill>
          </a:ln>
        </p:spPr>
      </p:sp>
      <p:sp>
        <p:nvSpPr>
          <p:cNvPr id="88" name="Text 88"/>
          <p:cNvSpPr txBox="1"/>
          <p:nvPr/>
        </p:nvSpPr>
        <p:spPr>
          <a:xfrm>
            <a:off x="9372600" y="3048000"/>
            <a:ext cx="1733550" cy="228600"/>
          </a:xfrm>
          <a:prstGeom prst="rect">
            <a:avLst/>
          </a:prstGeom>
          <a:noFill/>
          <a:ln>
            <a:noFill/>
          </a:ln>
        </p:spPr>
        <p:txBody>
          <a:bodyPr wrap="square" anchor="t" lIns="0" rIns="0" tIns="0" bIns="0"/>
          <a:lstStyle/>
          <a:p>
            <a:pPr algn="l"/>
            <a:r>
              <a:rPr lang="en-US" sz="1400" b="1">
                <a:solidFill>
                  <a:srgbClr val="17212B"/>
                </a:solidFill>
                <a:latin typeface="Arial"/>
              </a:rPr>
              <a:t>Deterministic</a:t>
            </a:r>
            <a:endParaRPr lang="en-US" sz="1400"/>
          </a:p>
        </p:txBody>
      </p:sp>
      <p:sp>
        <p:nvSpPr>
          <p:cNvPr id="89" name="Text 89"/>
          <p:cNvSpPr txBox="1"/>
          <p:nvPr/>
        </p:nvSpPr>
        <p:spPr>
          <a:xfrm>
            <a:off x="9372600" y="3295650"/>
            <a:ext cx="1885950" cy="209550"/>
          </a:xfrm>
          <a:prstGeom prst="rect">
            <a:avLst/>
          </a:prstGeom>
          <a:noFill/>
          <a:ln>
            <a:noFill/>
          </a:ln>
        </p:spPr>
        <p:txBody>
          <a:bodyPr wrap="square" anchor="t" lIns="0" rIns="0" tIns="0" bIns="0"/>
          <a:lstStyle/>
          <a:p>
            <a:pPr algn="l"/>
            <a:r>
              <a:rPr lang="en-US" sz="1100" b="0">
                <a:solidFill>
                  <a:srgbClr val="5D6873"/>
                </a:solidFill>
                <a:latin typeface="Arial"/>
              </a:rPr>
              <a:t>offline acceptance baseline</a:t>
            </a:r>
            <a:endParaRPr lang="en-US" sz="1100"/>
          </a:p>
        </p:txBody>
      </p:sp>
      <p:sp>
        <p:nvSpPr>
          <p:cNvPr id="90" name="Shape 90"/>
          <p:cNvSpPr/>
          <p:nvPr/>
        </p:nvSpPr>
        <p:spPr>
          <a:xfrm>
            <a:off x="8801100" y="3752850"/>
            <a:ext cx="2705100" cy="647700"/>
          </a:xfrm>
          <a:prstGeom prst="roundRect">
            <a:avLst/>
          </a:prstGeom>
          <a:solidFill>
            <a:srgbClr val="FFFFFF"/>
          </a:solidFill>
          <a:ln w="19050">
            <a:solidFill>
              <a:srgbClr val="1F7A5A"/>
            </a:solidFill>
          </a:ln>
        </p:spPr>
      </p:sp>
      <p:pic>
        <p:nvPicPr>
          <p:cNvPr id="91" name="Picture 91"/>
          <p:cNvPicPr>
            <a:picLocks noChangeAspect="1"/>
          </p:cNvPicPr>
          <p:nvPr/>
        </p:nvPicPr>
        <p:blipFill>
          <a:blip r:embed="rId14"/>
          <a:stretch>
            <a:fillRect/>
          </a:stretch>
        </p:blipFill>
        <p:spPr>
          <a:xfrm>
            <a:off x="8953500" y="3924300"/>
            <a:ext cx="285750" cy="285750"/>
          </a:xfrm>
          <a:prstGeom prst="rect">
            <a:avLst/>
          </a:prstGeom>
          <a:ln>
            <a:noFill/>
          </a:ln>
        </p:spPr>
      </p:pic>
      <p:sp>
        <p:nvSpPr>
          <p:cNvPr id="92" name="Shape 92"/>
          <p:cNvSpPr/>
          <p:nvPr/>
        </p:nvSpPr>
        <p:spPr>
          <a:xfrm>
            <a:off x="11258550" y="3848100"/>
            <a:ext cx="95250" cy="95250"/>
          </a:xfrm>
          <a:prstGeom prst="ellipse">
            <a:avLst/>
          </a:prstGeom>
          <a:solidFill>
            <a:srgbClr val="1F7A5A"/>
          </a:solidFill>
          <a:ln w="12700">
            <a:solidFill>
              <a:srgbClr val="1F7A5A"/>
            </a:solidFill>
          </a:ln>
        </p:spPr>
      </p:sp>
      <p:sp>
        <p:nvSpPr>
          <p:cNvPr id="93" name="Text 93"/>
          <p:cNvSpPr txBox="1"/>
          <p:nvPr/>
        </p:nvSpPr>
        <p:spPr>
          <a:xfrm>
            <a:off x="9372600" y="3829050"/>
            <a:ext cx="1733550" cy="228600"/>
          </a:xfrm>
          <a:prstGeom prst="rect">
            <a:avLst/>
          </a:prstGeom>
          <a:noFill/>
          <a:ln>
            <a:noFill/>
          </a:ln>
        </p:spPr>
        <p:txBody>
          <a:bodyPr wrap="square" anchor="t" lIns="0" rIns="0" tIns="0" bIns="0"/>
          <a:lstStyle/>
          <a:p>
            <a:pPr algn="l"/>
            <a:r>
              <a:rPr lang="en-US" sz="1400" b="1">
                <a:solidFill>
                  <a:srgbClr val="17212B"/>
                </a:solidFill>
                <a:latin typeface="Arial"/>
                <a:hlinkClick r:id="rId18"/>
              </a:rPr>
              <a:t>OpenAI</a:t>
            </a:r>
            <a:endParaRPr lang="en-US" sz="1400"/>
          </a:p>
        </p:txBody>
      </p:sp>
      <p:sp>
        <p:nvSpPr>
          <p:cNvPr id="94" name="Text 94"/>
          <p:cNvSpPr txBox="1"/>
          <p:nvPr/>
        </p:nvSpPr>
        <p:spPr>
          <a:xfrm>
            <a:off x="9372600" y="4076700"/>
            <a:ext cx="1885950" cy="209550"/>
          </a:xfrm>
          <a:prstGeom prst="rect">
            <a:avLst/>
          </a:prstGeom>
          <a:noFill/>
          <a:ln>
            <a:noFill/>
          </a:ln>
        </p:spPr>
        <p:txBody>
          <a:bodyPr wrap="square" anchor="t" lIns="0" rIns="0" tIns="0" bIns="0"/>
          <a:lstStyle/>
          <a:p>
            <a:pPr algn="l"/>
            <a:r>
              <a:rPr lang="en-US" sz="1100" b="0">
                <a:solidFill>
                  <a:srgbClr val="5D6873"/>
                </a:solidFill>
                <a:latin typeface="Arial"/>
              </a:rPr>
              <a:t>explicit external opt-in</a:t>
            </a:r>
            <a:endParaRPr lang="en-US" sz="1100"/>
          </a:p>
        </p:txBody>
      </p:sp>
      <p:sp>
        <p:nvSpPr>
          <p:cNvPr id="95" name="Shape 95"/>
          <p:cNvSpPr/>
          <p:nvPr/>
        </p:nvSpPr>
        <p:spPr>
          <a:xfrm>
            <a:off x="8801100" y="4533900"/>
            <a:ext cx="2705100" cy="647700"/>
          </a:xfrm>
          <a:prstGeom prst="roundRect">
            <a:avLst/>
          </a:prstGeom>
          <a:solidFill>
            <a:srgbClr val="FFFFFF"/>
          </a:solidFill>
          <a:ln w="19050">
            <a:solidFill>
              <a:srgbClr val="1F7A5A"/>
            </a:solidFill>
          </a:ln>
        </p:spPr>
      </p:sp>
      <p:pic>
        <p:nvPicPr>
          <p:cNvPr id="96" name="Picture 96"/>
          <p:cNvPicPr>
            <a:picLocks noChangeAspect="1"/>
          </p:cNvPicPr>
          <p:nvPr/>
        </p:nvPicPr>
        <p:blipFill>
          <a:blip r:embed="rId15"/>
          <a:stretch>
            <a:fillRect/>
          </a:stretch>
        </p:blipFill>
        <p:spPr>
          <a:xfrm>
            <a:off x="8953500" y="4705350"/>
            <a:ext cx="285750" cy="285750"/>
          </a:xfrm>
          <a:prstGeom prst="rect">
            <a:avLst/>
          </a:prstGeom>
          <a:ln>
            <a:noFill/>
          </a:ln>
        </p:spPr>
      </p:pic>
      <p:sp>
        <p:nvSpPr>
          <p:cNvPr id="97" name="Shape 97"/>
          <p:cNvSpPr/>
          <p:nvPr/>
        </p:nvSpPr>
        <p:spPr>
          <a:xfrm>
            <a:off x="11258550" y="4629150"/>
            <a:ext cx="95250" cy="95250"/>
          </a:xfrm>
          <a:prstGeom prst="ellipse">
            <a:avLst/>
          </a:prstGeom>
          <a:solidFill>
            <a:srgbClr val="1F7A5A"/>
          </a:solidFill>
          <a:ln w="12700">
            <a:solidFill>
              <a:srgbClr val="1F7A5A"/>
            </a:solidFill>
          </a:ln>
        </p:spPr>
      </p:sp>
      <p:sp>
        <p:nvSpPr>
          <p:cNvPr id="98" name="Text 98"/>
          <p:cNvSpPr txBox="1"/>
          <p:nvPr/>
        </p:nvSpPr>
        <p:spPr>
          <a:xfrm>
            <a:off x="9372600" y="4610100"/>
            <a:ext cx="1733550" cy="228600"/>
          </a:xfrm>
          <a:prstGeom prst="rect">
            <a:avLst/>
          </a:prstGeom>
          <a:noFill/>
          <a:ln>
            <a:noFill/>
          </a:ln>
        </p:spPr>
        <p:txBody>
          <a:bodyPr wrap="square" anchor="t" lIns="0" rIns="0" tIns="0" bIns="0"/>
          <a:lstStyle/>
          <a:p>
            <a:pPr algn="l"/>
            <a:r>
              <a:rPr lang="en-US" sz="1400" b="1">
                <a:solidFill>
                  <a:srgbClr val="17212B"/>
                </a:solidFill>
                <a:latin typeface="Arial"/>
                <a:hlinkClick r:id="rId19"/>
              </a:rPr>
              <a:t>LM Studio</a:t>
            </a:r>
            <a:endParaRPr lang="en-US" sz="1400"/>
          </a:p>
        </p:txBody>
      </p:sp>
      <p:sp>
        <p:nvSpPr>
          <p:cNvPr id="99" name="Text 99"/>
          <p:cNvSpPr txBox="1"/>
          <p:nvPr/>
        </p:nvSpPr>
        <p:spPr>
          <a:xfrm>
            <a:off x="9372600" y="4857750"/>
            <a:ext cx="1885950" cy="209550"/>
          </a:xfrm>
          <a:prstGeom prst="rect">
            <a:avLst/>
          </a:prstGeom>
          <a:noFill/>
          <a:ln>
            <a:noFill/>
          </a:ln>
        </p:spPr>
        <p:txBody>
          <a:bodyPr wrap="square" anchor="t" lIns="0" rIns="0" tIns="0" bIns="0"/>
          <a:lstStyle/>
          <a:p>
            <a:pPr algn="l"/>
            <a:r>
              <a:rPr lang="en-US" sz="1100" b="0">
                <a:solidFill>
                  <a:srgbClr val="5D6873"/>
                </a:solidFill>
                <a:latin typeface="Arial"/>
              </a:rPr>
              <a:t>local R5 · delivered</a:t>
            </a:r>
            <a:endParaRPr lang="en-US" sz="1100"/>
          </a:p>
        </p:txBody>
      </p:sp>
      <p:sp>
        <p:nvSpPr>
          <p:cNvPr id="100" name="Shape 100"/>
          <p:cNvSpPr/>
          <p:nvPr/>
        </p:nvSpPr>
        <p:spPr>
          <a:xfrm>
            <a:off x="8801100" y="5314950"/>
            <a:ext cx="2705100" cy="361950"/>
          </a:xfrm>
          <a:prstGeom prst="roundRect">
            <a:avLst/>
          </a:prstGeom>
          <a:solidFill>
            <a:srgbClr val="EAF5F0"/>
          </a:solidFill>
          <a:ln w="19050">
            <a:solidFill>
              <a:srgbClr val="1F7A5A"/>
            </a:solidFill>
          </a:ln>
        </p:spPr>
      </p:sp>
      <p:sp>
        <p:nvSpPr>
          <p:cNvPr id="101" name="Shape 101"/>
          <p:cNvSpPr/>
          <p:nvPr/>
        </p:nvSpPr>
        <p:spPr>
          <a:xfrm>
            <a:off x="8953500" y="5448300"/>
            <a:ext cx="95250" cy="95250"/>
          </a:xfrm>
          <a:prstGeom prst="ellipse">
            <a:avLst/>
          </a:prstGeom>
          <a:solidFill>
            <a:srgbClr val="1F7A5A"/>
          </a:solidFill>
          <a:ln w="12700">
            <a:solidFill>
              <a:srgbClr val="1F7A5A"/>
            </a:solidFill>
          </a:ln>
        </p:spPr>
      </p:sp>
      <p:sp>
        <p:nvSpPr>
          <p:cNvPr id="102" name="Text 102"/>
          <p:cNvSpPr txBox="1"/>
          <p:nvPr/>
        </p:nvSpPr>
        <p:spPr>
          <a:xfrm>
            <a:off x="9124950" y="5381625"/>
            <a:ext cx="2209800" cy="228600"/>
          </a:xfrm>
          <a:prstGeom prst="rect">
            <a:avLst/>
          </a:prstGeom>
          <a:noFill/>
          <a:ln>
            <a:noFill/>
          </a:ln>
        </p:spPr>
        <p:txBody>
          <a:bodyPr wrap="square" anchor="ctr" lIns="0" rIns="0" tIns="0" bIns="0"/>
          <a:lstStyle/>
          <a:p>
            <a:pPr algn="l"/>
            <a:r>
              <a:rPr lang="en-US" sz="1000" b="1">
                <a:solidFill>
                  <a:srgbClr val="1F7A5A"/>
                </a:solidFill>
                <a:latin typeface="Arial"/>
                <a:hlinkClick r:id="rId20"/>
              </a:rPr>
              <a:t>Explicit backend selection · delivered</a:t>
            </a:r>
            <a:endParaRPr lang="en-US" sz="1000"/>
          </a:p>
        </p:txBody>
      </p:sp>
      <p:sp>
        <p:nvSpPr>
          <p:cNvPr id="103" name="Shape 103"/>
          <p:cNvSpPr/>
          <p:nvPr/>
        </p:nvSpPr>
        <p:spPr>
          <a:xfrm>
            <a:off x="685800" y="5867400"/>
            <a:ext cx="10820400" cy="361950"/>
          </a:xfrm>
          <a:prstGeom prst="roundRect">
            <a:avLst/>
          </a:prstGeom>
          <a:solidFill>
            <a:srgbClr val="17212B"/>
          </a:solidFill>
          <a:ln w="12700">
            <a:solidFill>
              <a:srgbClr val="17212B"/>
            </a:solidFill>
          </a:ln>
        </p:spPr>
      </p:sp>
      <p:sp>
        <p:nvSpPr>
          <p:cNvPr id="104" name="Text 104"/>
          <p:cNvSpPr txBox="1"/>
          <p:nvPr/>
        </p:nvSpPr>
        <p:spPr>
          <a:xfrm>
            <a:off x="895350" y="5934075"/>
            <a:ext cx="10401300" cy="228600"/>
          </a:xfrm>
          <a:prstGeom prst="rect">
            <a:avLst/>
          </a:prstGeom>
          <a:noFill/>
          <a:ln>
            <a:noFill/>
          </a:ln>
        </p:spPr>
        <p:txBody>
          <a:bodyPr wrap="square" anchor="ctr" lIns="0" rIns="0" tIns="0" bIns="0"/>
          <a:lstStyle/>
          <a:p>
            <a:pPr algn="ctr"/>
            <a:r>
              <a:rPr lang="en-US" sz="1200" b="1">
                <a:solidFill>
                  <a:srgbClr val="FFFFFF"/>
                </a:solidFill>
                <a:latin typeface="Arial"/>
              </a:rPr>
              <a:t>One AnalysisService · bounded evidence · provider-neutral output · same operator contract</a:t>
            </a:r>
            <a:endParaRPr lang="en-US" sz="1200"/>
          </a:p>
        </p:txBody>
      </p:sp>
      <p:cxnSp>
        <p:nvCxnSpPr>
          <p:cNvPr id="105" name="Connector 105"/>
          <p:cNvCxnSpPr/>
          <p:nvPr/>
        </p:nvCxnSpPr>
        <p:spPr>
          <a:xfrm>
            <a:off x="552450" y="6419850"/>
            <a:ext cx="11087100" cy="0"/>
          </a:xfrm>
          <a:prstGeom prst="line">
            <a:avLst/>
          </a:prstGeom>
          <a:ln w="12700">
            <a:solidFill>
              <a:srgbClr val="D9DEE3"/>
            </a:solidFill>
          </a:ln>
        </p:spPr>
      </p:cxnSp>
      <p:sp>
        <p:nvSpPr>
          <p:cNvPr id="106" name="Text 106"/>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CUSTOMER ACTIVITY ANALYTICS</a:t>
            </a:r>
            <a:endParaRPr lang="en-US" sz="1000"/>
          </a:p>
        </p:txBody>
      </p:sp>
      <p:sp>
        <p:nvSpPr>
          <p:cNvPr id="107" name="Text 107"/>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6</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HEXAGONAL SUBSTITUTION MAP</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Stable ports let adapters evolve without moving application semantics</a:t>
            </a:r>
            <a:endParaRPr lang="en-US" sz="3000"/>
          </a:p>
        </p:txBody>
      </p:sp>
      <p:sp>
        <p:nvSpPr>
          <p:cNvPr id="4" name="Shape 4"/>
          <p:cNvSpPr/>
          <p:nvPr/>
        </p:nvSpPr>
        <p:spPr>
          <a:xfrm>
            <a:off x="838200" y="1657350"/>
            <a:ext cx="10515600" cy="1619250"/>
          </a:xfrm>
          <a:prstGeom prst="roundRect">
            <a:avLst/>
          </a:prstGeom>
          <a:solidFill>
            <a:srgbClr val="17212B"/>
          </a:solidFill>
          <a:ln w="12700">
            <a:solidFill>
              <a:srgbClr val="17212B"/>
            </a:solidFill>
          </a:ln>
        </p:spPr>
      </p:sp>
      <p:sp>
        <p:nvSpPr>
          <p:cNvPr id="5" name="Text 5"/>
          <p:cNvSpPr txBox="1"/>
          <p:nvPr/>
        </p:nvSpPr>
        <p:spPr>
          <a:xfrm>
            <a:off x="1143000" y="1866900"/>
            <a:ext cx="9906000" cy="285750"/>
          </a:xfrm>
          <a:prstGeom prst="rect">
            <a:avLst/>
          </a:prstGeom>
          <a:noFill/>
          <a:ln>
            <a:noFill/>
          </a:ln>
        </p:spPr>
        <p:txBody>
          <a:bodyPr wrap="square" anchor="t" lIns="0" rIns="0" tIns="0" bIns="0"/>
          <a:lstStyle/>
          <a:p>
            <a:pPr algn="ctr"/>
            <a:r>
              <a:rPr lang="en-US" sz="1500" b="1" spc="160">
                <a:solidFill>
                  <a:srgbClr val="FF8589"/>
                </a:solidFill>
                <a:latin typeface="Arial"/>
              </a:rPr>
              <a:t>APPLICATION CORE</a:t>
            </a:r>
            <a:endParaRPr lang="en-US" sz="1500"/>
          </a:p>
        </p:txBody>
      </p:sp>
      <p:sp>
        <p:nvSpPr>
          <p:cNvPr id="6" name="Shape 6"/>
          <p:cNvSpPr/>
          <p:nvPr/>
        </p:nvSpPr>
        <p:spPr>
          <a:xfrm>
            <a:off x="1238250" y="2343150"/>
            <a:ext cx="590550" cy="590550"/>
          </a:xfrm>
          <a:prstGeom prst="roundRect">
            <a:avLst/>
          </a:prstGeom>
          <a:solidFill>
            <a:srgbClr val="2B3742"/>
          </a:solidFill>
          <a:ln w="19050">
            <a:solidFill>
              <a:srgbClr val="FFFFFF"/>
            </a:solidFill>
          </a:ln>
        </p:spPr>
      </p:sp>
      <p:pic>
        <p:nvPicPr>
          <p:cNvPr id="7" name="Picture 7"/>
          <p:cNvPicPr>
            <a:picLocks noChangeAspect="1"/>
          </p:cNvPicPr>
          <p:nvPr/>
        </p:nvPicPr>
        <p:blipFill>
          <a:blip r:embed="rId2"/>
          <a:stretch>
            <a:fillRect/>
          </a:stretch>
        </p:blipFill>
        <p:spPr>
          <a:xfrm>
            <a:off x="1390650" y="2495550"/>
            <a:ext cx="285750" cy="285750"/>
          </a:xfrm>
          <a:prstGeom prst="rect">
            <a:avLst/>
          </a:prstGeom>
          <a:ln>
            <a:noFill/>
          </a:ln>
        </p:spPr>
      </p:pic>
      <p:sp>
        <p:nvSpPr>
          <p:cNvPr id="8" name="Text 8"/>
          <p:cNvSpPr txBox="1"/>
          <p:nvPr/>
        </p:nvSpPr>
        <p:spPr>
          <a:xfrm>
            <a:off x="2114550" y="2343150"/>
            <a:ext cx="8286750" cy="590550"/>
          </a:xfrm>
          <a:prstGeom prst="rect">
            <a:avLst/>
          </a:prstGeom>
          <a:noFill/>
          <a:ln>
            <a:noFill/>
          </a:ln>
        </p:spPr>
        <p:txBody>
          <a:bodyPr wrap="square" anchor="ctr" lIns="0" rIns="0" tIns="0" bIns="0"/>
          <a:lstStyle/>
          <a:p>
            <a:pPr algn="ctr"/>
            <a:r>
              <a:rPr lang="en-US" sz="2100" b="1">
                <a:solidFill>
                  <a:srgbClr val="FFFFFF"/>
                </a:solidFill>
                <a:latin typeface="Arial"/>
              </a:rPr>
              <a:t>Customer review and analysis use cases own the domain contracts, failure semantics and orchestration</a:t>
            </a:r>
            <a:endParaRPr lang="en-US" sz="2100"/>
          </a:p>
        </p:txBody>
      </p:sp>
      <p:cxnSp>
        <p:nvCxnSpPr>
          <p:cNvPr id="9" name="Connector 9"/>
          <p:cNvCxnSpPr/>
          <p:nvPr/>
        </p:nvCxnSpPr>
        <p:spPr>
          <a:xfrm>
            <a:off x="1400175" y="3276600"/>
            <a:ext cx="0" cy="685800"/>
          </a:xfrm>
          <a:prstGeom prst="line">
            <a:avLst/>
          </a:prstGeom>
          <a:ln w="25400">
            <a:solidFill>
              <a:srgbClr val="D9DEE3"/>
            </a:solidFill>
          </a:ln>
        </p:spPr>
      </p:cxnSp>
      <p:cxnSp>
        <p:nvCxnSpPr>
          <p:cNvPr id="10" name="Connector 10"/>
          <p:cNvCxnSpPr/>
          <p:nvPr/>
        </p:nvCxnSpPr>
        <p:spPr>
          <a:xfrm>
            <a:off x="3209925" y="3276600"/>
            <a:ext cx="0" cy="685800"/>
          </a:xfrm>
          <a:prstGeom prst="line">
            <a:avLst/>
          </a:prstGeom>
          <a:ln w="25400">
            <a:solidFill>
              <a:srgbClr val="D9DEE3"/>
            </a:solidFill>
          </a:ln>
        </p:spPr>
      </p:cxnSp>
      <p:cxnSp>
        <p:nvCxnSpPr>
          <p:cNvPr id="11" name="Connector 11"/>
          <p:cNvCxnSpPr/>
          <p:nvPr/>
        </p:nvCxnSpPr>
        <p:spPr>
          <a:xfrm>
            <a:off x="5019675" y="3276600"/>
            <a:ext cx="0" cy="685800"/>
          </a:xfrm>
          <a:prstGeom prst="line">
            <a:avLst/>
          </a:prstGeom>
          <a:ln w="25400">
            <a:solidFill>
              <a:srgbClr val="D9DEE3"/>
            </a:solidFill>
          </a:ln>
        </p:spPr>
      </p:cxnSp>
      <p:cxnSp>
        <p:nvCxnSpPr>
          <p:cNvPr id="12" name="Connector 12"/>
          <p:cNvCxnSpPr/>
          <p:nvPr/>
        </p:nvCxnSpPr>
        <p:spPr>
          <a:xfrm>
            <a:off x="6829425" y="3276600"/>
            <a:ext cx="0" cy="685800"/>
          </a:xfrm>
          <a:prstGeom prst="line">
            <a:avLst/>
          </a:prstGeom>
          <a:ln w="25400">
            <a:solidFill>
              <a:srgbClr val="D9DEE3"/>
            </a:solidFill>
          </a:ln>
        </p:spPr>
      </p:cxnSp>
      <p:cxnSp>
        <p:nvCxnSpPr>
          <p:cNvPr id="13" name="Connector 13"/>
          <p:cNvCxnSpPr/>
          <p:nvPr/>
        </p:nvCxnSpPr>
        <p:spPr>
          <a:xfrm>
            <a:off x="8639175" y="3276600"/>
            <a:ext cx="0" cy="685800"/>
          </a:xfrm>
          <a:prstGeom prst="line">
            <a:avLst/>
          </a:prstGeom>
          <a:ln w="25400">
            <a:solidFill>
              <a:srgbClr val="D9DEE3"/>
            </a:solidFill>
          </a:ln>
        </p:spPr>
      </p:cxnSp>
      <p:cxnSp>
        <p:nvCxnSpPr>
          <p:cNvPr id="14" name="Connector 14"/>
          <p:cNvCxnSpPr/>
          <p:nvPr/>
        </p:nvCxnSpPr>
        <p:spPr>
          <a:xfrm>
            <a:off x="10448925" y="3276600"/>
            <a:ext cx="0" cy="685800"/>
          </a:xfrm>
          <a:prstGeom prst="line">
            <a:avLst/>
          </a:prstGeom>
          <a:ln w="25400">
            <a:solidFill>
              <a:srgbClr val="D9DEE3"/>
            </a:solidFill>
          </a:ln>
        </p:spPr>
      </p:cxnSp>
      <p:sp>
        <p:nvSpPr>
          <p:cNvPr id="15" name="Shape 15"/>
          <p:cNvSpPr/>
          <p:nvPr/>
        </p:nvSpPr>
        <p:spPr>
          <a:xfrm>
            <a:off x="571500" y="3962400"/>
            <a:ext cx="1657350" cy="666750"/>
          </a:xfrm>
          <a:prstGeom prst="roundRect">
            <a:avLst/>
          </a:prstGeom>
          <a:solidFill>
            <a:srgbClr val="FCEBEC"/>
          </a:solidFill>
          <a:ln w="25400">
            <a:solidFill>
              <a:srgbClr val="D71920"/>
            </a:solidFill>
          </a:ln>
        </p:spPr>
      </p:sp>
      <p:sp>
        <p:nvSpPr>
          <p:cNvPr id="16" name="Shape 16"/>
          <p:cNvSpPr/>
          <p:nvPr/>
        </p:nvSpPr>
        <p:spPr>
          <a:xfrm>
            <a:off x="685800" y="4105275"/>
            <a:ext cx="381000" cy="381000"/>
          </a:xfrm>
          <a:prstGeom prst="roundRect">
            <a:avLst/>
          </a:prstGeom>
          <a:solidFill>
            <a:srgbClr val="FFFFFF"/>
          </a:solidFill>
          <a:ln w="19050">
            <a:solidFill>
              <a:srgbClr val="D71920"/>
            </a:solidFill>
          </a:ln>
        </p:spPr>
      </p:sp>
      <p:pic>
        <p:nvPicPr>
          <p:cNvPr id="17" name="Picture 17"/>
          <p:cNvPicPr>
            <a:picLocks noChangeAspect="1"/>
          </p:cNvPicPr>
          <p:nvPr/>
        </p:nvPicPr>
        <p:blipFill>
          <a:blip r:embed="rId3"/>
          <a:stretch>
            <a:fillRect/>
          </a:stretch>
        </p:blipFill>
        <p:spPr>
          <a:xfrm>
            <a:off x="781050" y="4200525"/>
            <a:ext cx="190500" cy="190500"/>
          </a:xfrm>
          <a:prstGeom prst="rect">
            <a:avLst/>
          </a:prstGeom>
          <a:ln>
            <a:noFill/>
          </a:ln>
        </p:spPr>
      </p:pic>
      <p:sp>
        <p:nvSpPr>
          <p:cNvPr id="18" name="Text 18"/>
          <p:cNvSpPr txBox="1"/>
          <p:nvPr/>
        </p:nvSpPr>
        <p:spPr>
          <a:xfrm>
            <a:off x="1143000" y="4057650"/>
            <a:ext cx="990600" cy="476250"/>
          </a:xfrm>
          <a:prstGeom prst="rect">
            <a:avLst/>
          </a:prstGeom>
          <a:noFill/>
          <a:ln>
            <a:noFill/>
          </a:ln>
        </p:spPr>
        <p:txBody>
          <a:bodyPr wrap="square" anchor="ctr" lIns="0" rIns="0" tIns="0" bIns="0"/>
          <a:lstStyle/>
          <a:p>
            <a:pPr algn="l"/>
            <a:r>
              <a:rPr lang="en-US" sz="1200" b="1">
                <a:solidFill>
                  <a:srgbClr val="981B1E"/>
                </a:solidFill>
                <a:latin typeface="Arial"/>
              </a:rPr>
              <a:t>Operator</a:t>
            </a:r>
            <a:endParaRPr lang="en-US" sz="1200"/>
          </a:p>
          <a:p>
            <a:pPr algn="l"/>
            <a:r>
              <a:rPr lang="en-US" sz="1200" b="1">
                <a:solidFill>
                  <a:srgbClr val="981B1E"/>
                </a:solidFill>
                <a:latin typeface="Arial"/>
              </a:rPr>
              <a:t>ContextPort</a:t>
            </a:r>
            <a:endParaRPr lang="en-US" sz="1200"/>
          </a:p>
        </p:txBody>
      </p:sp>
      <p:sp>
        <p:nvSpPr>
          <p:cNvPr id="19" name="Shape 19"/>
          <p:cNvSpPr/>
          <p:nvPr/>
        </p:nvSpPr>
        <p:spPr>
          <a:xfrm>
            <a:off x="571500" y="4800600"/>
            <a:ext cx="1657350" cy="914400"/>
          </a:xfrm>
          <a:prstGeom prst="roundRect">
            <a:avLst/>
          </a:prstGeom>
          <a:solidFill>
            <a:srgbClr val="FFFFFF"/>
          </a:solidFill>
          <a:ln w="12700">
            <a:solidFill>
              <a:srgbClr val="D9DEE3"/>
            </a:solidFill>
          </a:ln>
        </p:spPr>
      </p:sp>
      <p:sp>
        <p:nvSpPr>
          <p:cNvPr id="20" name="Shape 20"/>
          <p:cNvSpPr/>
          <p:nvPr/>
        </p:nvSpPr>
        <p:spPr>
          <a:xfrm>
            <a:off x="571500" y="4800600"/>
            <a:ext cx="1657350" cy="47625"/>
          </a:xfrm>
          <a:prstGeom prst="rect">
            <a:avLst/>
          </a:prstGeom>
          <a:solidFill>
            <a:srgbClr val="D71920"/>
          </a:solidFill>
          <a:ln w="12700">
            <a:solidFill>
              <a:srgbClr val="D71920"/>
            </a:solidFill>
          </a:ln>
        </p:spPr>
      </p:sp>
      <p:sp>
        <p:nvSpPr>
          <p:cNvPr id="21" name="Text 21"/>
          <p:cNvSpPr txBox="1"/>
          <p:nvPr/>
        </p:nvSpPr>
        <p:spPr>
          <a:xfrm>
            <a:off x="666750" y="4953000"/>
            <a:ext cx="1466850" cy="609600"/>
          </a:xfrm>
          <a:prstGeom prst="rect">
            <a:avLst/>
          </a:prstGeom>
          <a:noFill/>
          <a:ln>
            <a:noFill/>
          </a:ln>
        </p:spPr>
        <p:txBody>
          <a:bodyPr wrap="square" anchor="ctr" lIns="0" rIns="0" tIns="0" bIns="0"/>
          <a:lstStyle/>
          <a:p>
            <a:pPr algn="ctr"/>
            <a:r>
              <a:rPr lang="en-US" sz="1400" b="0">
                <a:solidFill>
                  <a:srgbClr val="17212B"/>
                </a:solidFill>
                <a:latin typeface="Arial"/>
              </a:rPr>
              <a:t>Spring Security</a:t>
            </a:r>
            <a:endParaRPr lang="en-US" sz="1400"/>
          </a:p>
          <a:p>
            <a:pPr algn="ctr"/>
            <a:r>
              <a:rPr lang="en-US" sz="1400" b="0">
                <a:solidFill>
                  <a:srgbClr val="17212B"/>
                </a:solidFill>
                <a:latin typeface="Arial"/>
              </a:rPr>
              <a:t>Static baseline</a:t>
            </a:r>
            <a:endParaRPr lang="en-US" sz="1400"/>
          </a:p>
        </p:txBody>
      </p:sp>
      <p:sp>
        <p:nvSpPr>
          <p:cNvPr id="22" name="Shape 22"/>
          <p:cNvSpPr/>
          <p:nvPr/>
        </p:nvSpPr>
        <p:spPr>
          <a:xfrm>
            <a:off x="2381250" y="3962400"/>
            <a:ext cx="1657350" cy="666750"/>
          </a:xfrm>
          <a:prstGeom prst="roundRect">
            <a:avLst/>
          </a:prstGeom>
          <a:solidFill>
            <a:srgbClr val="FCEBEC"/>
          </a:solidFill>
          <a:ln w="25400">
            <a:solidFill>
              <a:srgbClr val="D71920"/>
            </a:solidFill>
          </a:ln>
        </p:spPr>
      </p:sp>
      <p:sp>
        <p:nvSpPr>
          <p:cNvPr id="23" name="Shape 23"/>
          <p:cNvSpPr/>
          <p:nvPr/>
        </p:nvSpPr>
        <p:spPr>
          <a:xfrm>
            <a:off x="2495550" y="4105275"/>
            <a:ext cx="381000" cy="381000"/>
          </a:xfrm>
          <a:prstGeom prst="roundRect">
            <a:avLst/>
          </a:prstGeom>
          <a:solidFill>
            <a:srgbClr val="FFFFFF"/>
          </a:solidFill>
          <a:ln w="19050">
            <a:solidFill>
              <a:srgbClr val="2A5B84"/>
            </a:solidFill>
          </a:ln>
        </p:spPr>
      </p:sp>
      <p:pic>
        <p:nvPicPr>
          <p:cNvPr id="24" name="Picture 24"/>
          <p:cNvPicPr>
            <a:picLocks noChangeAspect="1"/>
          </p:cNvPicPr>
          <p:nvPr/>
        </p:nvPicPr>
        <p:blipFill>
          <a:blip r:embed="rId4"/>
          <a:stretch>
            <a:fillRect/>
          </a:stretch>
        </p:blipFill>
        <p:spPr>
          <a:xfrm>
            <a:off x="2590800" y="4200525"/>
            <a:ext cx="190500" cy="190500"/>
          </a:xfrm>
          <a:prstGeom prst="rect">
            <a:avLst/>
          </a:prstGeom>
          <a:ln>
            <a:noFill/>
          </a:ln>
        </p:spPr>
      </p:pic>
      <p:sp>
        <p:nvSpPr>
          <p:cNvPr id="25" name="Text 25"/>
          <p:cNvSpPr txBox="1"/>
          <p:nvPr/>
        </p:nvSpPr>
        <p:spPr>
          <a:xfrm>
            <a:off x="2952750" y="4057650"/>
            <a:ext cx="990600" cy="476250"/>
          </a:xfrm>
          <a:prstGeom prst="rect">
            <a:avLst/>
          </a:prstGeom>
          <a:noFill/>
          <a:ln>
            <a:noFill/>
          </a:ln>
        </p:spPr>
        <p:txBody>
          <a:bodyPr wrap="square" anchor="ctr" lIns="0" rIns="0" tIns="0" bIns="0"/>
          <a:lstStyle/>
          <a:p>
            <a:pPr algn="l"/>
            <a:r>
              <a:rPr lang="en-US" sz="1200" b="1">
                <a:solidFill>
                  <a:srgbClr val="981B1E"/>
                </a:solidFill>
                <a:latin typeface="Arial"/>
              </a:rPr>
              <a:t>Customer</a:t>
            </a:r>
            <a:endParaRPr lang="en-US" sz="1200"/>
          </a:p>
          <a:p>
            <a:pPr algn="l"/>
            <a:r>
              <a:rPr lang="en-US" sz="1200" b="1">
                <a:solidFill>
                  <a:srgbClr val="981B1E"/>
                </a:solidFill>
                <a:latin typeface="Arial"/>
              </a:rPr>
              <a:t>ActivityPort</a:t>
            </a:r>
            <a:endParaRPr lang="en-US" sz="1200"/>
          </a:p>
        </p:txBody>
      </p:sp>
      <p:sp>
        <p:nvSpPr>
          <p:cNvPr id="26" name="Shape 26"/>
          <p:cNvSpPr/>
          <p:nvPr/>
        </p:nvSpPr>
        <p:spPr>
          <a:xfrm>
            <a:off x="2381250" y="4800600"/>
            <a:ext cx="1657350" cy="914400"/>
          </a:xfrm>
          <a:prstGeom prst="roundRect">
            <a:avLst/>
          </a:prstGeom>
          <a:solidFill>
            <a:srgbClr val="FFFFFF"/>
          </a:solidFill>
          <a:ln w="12700">
            <a:solidFill>
              <a:srgbClr val="D9DEE3"/>
            </a:solidFill>
          </a:ln>
        </p:spPr>
      </p:sp>
      <p:sp>
        <p:nvSpPr>
          <p:cNvPr id="27" name="Shape 27"/>
          <p:cNvSpPr/>
          <p:nvPr/>
        </p:nvSpPr>
        <p:spPr>
          <a:xfrm>
            <a:off x="2381250" y="4800600"/>
            <a:ext cx="1657350" cy="47625"/>
          </a:xfrm>
          <a:prstGeom prst="rect">
            <a:avLst/>
          </a:prstGeom>
          <a:solidFill>
            <a:srgbClr val="2A5B84"/>
          </a:solidFill>
          <a:ln w="12700">
            <a:solidFill>
              <a:srgbClr val="2A5B84"/>
            </a:solidFill>
          </a:ln>
        </p:spPr>
      </p:sp>
      <p:sp>
        <p:nvSpPr>
          <p:cNvPr id="28" name="Text 28"/>
          <p:cNvSpPr txBox="1"/>
          <p:nvPr/>
        </p:nvSpPr>
        <p:spPr>
          <a:xfrm>
            <a:off x="2476500" y="4953000"/>
            <a:ext cx="1466850" cy="609600"/>
          </a:xfrm>
          <a:prstGeom prst="rect">
            <a:avLst/>
          </a:prstGeom>
          <a:noFill/>
          <a:ln>
            <a:noFill/>
          </a:ln>
        </p:spPr>
        <p:txBody>
          <a:bodyPr wrap="square" anchor="ctr" lIns="0" rIns="0" tIns="0" bIns="0"/>
          <a:lstStyle/>
          <a:p>
            <a:pPr algn="ctr"/>
            <a:r>
              <a:rPr lang="en-US" sz="1400" b="0">
                <a:solidFill>
                  <a:srgbClr val="17212B"/>
                </a:solidFill>
                <a:latin typeface="Arial"/>
              </a:rPr>
              <a:t>Spring JDBC</a:t>
            </a:r>
            <a:endParaRPr lang="en-US" sz="1400"/>
          </a:p>
          <a:p>
            <a:pPr algn="ctr"/>
            <a:r>
              <a:rPr lang="en-US" sz="1400" b="0">
                <a:solidFill>
                  <a:srgbClr val="17212B"/>
                </a:solidFill>
                <a:latin typeface="Arial"/>
              </a:rPr>
              <a:t>Synthetic baseline</a:t>
            </a:r>
            <a:endParaRPr lang="en-US" sz="1400"/>
          </a:p>
        </p:txBody>
      </p:sp>
      <p:sp>
        <p:nvSpPr>
          <p:cNvPr id="29" name="Shape 29"/>
          <p:cNvSpPr/>
          <p:nvPr/>
        </p:nvSpPr>
        <p:spPr>
          <a:xfrm>
            <a:off x="4191000" y="3962400"/>
            <a:ext cx="1657350" cy="666750"/>
          </a:xfrm>
          <a:prstGeom prst="roundRect">
            <a:avLst/>
          </a:prstGeom>
          <a:solidFill>
            <a:srgbClr val="FCEBEC"/>
          </a:solidFill>
          <a:ln w="25400">
            <a:solidFill>
              <a:srgbClr val="D71920"/>
            </a:solidFill>
          </a:ln>
        </p:spPr>
      </p:sp>
      <p:sp>
        <p:nvSpPr>
          <p:cNvPr id="30" name="Shape 30"/>
          <p:cNvSpPr/>
          <p:nvPr/>
        </p:nvSpPr>
        <p:spPr>
          <a:xfrm>
            <a:off x="4305300" y="4105275"/>
            <a:ext cx="381000" cy="381000"/>
          </a:xfrm>
          <a:prstGeom prst="roundRect">
            <a:avLst/>
          </a:prstGeom>
          <a:solidFill>
            <a:srgbClr val="FFFFFF"/>
          </a:solidFill>
          <a:ln w="19050">
            <a:solidFill>
              <a:srgbClr val="981B1E"/>
            </a:solidFill>
          </a:ln>
        </p:spPr>
      </p:sp>
      <p:pic>
        <p:nvPicPr>
          <p:cNvPr id="31" name="Picture 31"/>
          <p:cNvPicPr>
            <a:picLocks noChangeAspect="1"/>
          </p:cNvPicPr>
          <p:nvPr/>
        </p:nvPicPr>
        <p:blipFill>
          <a:blip r:embed="rId5"/>
          <a:stretch>
            <a:fillRect/>
          </a:stretch>
        </p:blipFill>
        <p:spPr>
          <a:xfrm>
            <a:off x="4400550" y="4200525"/>
            <a:ext cx="190500" cy="190500"/>
          </a:xfrm>
          <a:prstGeom prst="rect">
            <a:avLst/>
          </a:prstGeom>
          <a:ln>
            <a:noFill/>
          </a:ln>
        </p:spPr>
      </p:pic>
      <p:sp>
        <p:nvSpPr>
          <p:cNvPr id="32" name="Text 32"/>
          <p:cNvSpPr txBox="1"/>
          <p:nvPr/>
        </p:nvSpPr>
        <p:spPr>
          <a:xfrm>
            <a:off x="4762500" y="4057650"/>
            <a:ext cx="990600" cy="476250"/>
          </a:xfrm>
          <a:prstGeom prst="rect">
            <a:avLst/>
          </a:prstGeom>
          <a:noFill/>
          <a:ln>
            <a:noFill/>
          </a:ln>
        </p:spPr>
        <p:txBody>
          <a:bodyPr wrap="square" anchor="ctr" lIns="0" rIns="0" tIns="0" bIns="0"/>
          <a:lstStyle/>
          <a:p>
            <a:pPr algn="l"/>
            <a:r>
              <a:rPr lang="en-US" sz="1200" b="1">
                <a:solidFill>
                  <a:srgbClr val="981B1E"/>
                </a:solidFill>
                <a:latin typeface="Arial"/>
              </a:rPr>
              <a:t>Risk Signal</a:t>
            </a:r>
            <a:endParaRPr lang="en-US" sz="1200"/>
          </a:p>
          <a:p>
            <a:pPr algn="l"/>
            <a:r>
              <a:rPr lang="en-US" sz="1200" b="1">
                <a:solidFill>
                  <a:srgbClr val="981B1E"/>
                </a:solidFill>
                <a:latin typeface="Arial"/>
              </a:rPr>
              <a:t>DetectorPort</a:t>
            </a:r>
            <a:endParaRPr lang="en-US" sz="1200"/>
          </a:p>
        </p:txBody>
      </p:sp>
      <p:sp>
        <p:nvSpPr>
          <p:cNvPr id="33" name="Shape 33"/>
          <p:cNvSpPr/>
          <p:nvPr/>
        </p:nvSpPr>
        <p:spPr>
          <a:xfrm>
            <a:off x="4191000" y="4800600"/>
            <a:ext cx="1657350" cy="914400"/>
          </a:xfrm>
          <a:prstGeom prst="roundRect">
            <a:avLst/>
          </a:prstGeom>
          <a:solidFill>
            <a:srgbClr val="FFFFFF"/>
          </a:solidFill>
          <a:ln w="12700">
            <a:solidFill>
              <a:srgbClr val="D9DEE3"/>
            </a:solidFill>
          </a:ln>
        </p:spPr>
      </p:sp>
      <p:sp>
        <p:nvSpPr>
          <p:cNvPr id="34" name="Shape 34"/>
          <p:cNvSpPr/>
          <p:nvPr/>
        </p:nvSpPr>
        <p:spPr>
          <a:xfrm>
            <a:off x="4191000" y="4800600"/>
            <a:ext cx="1657350" cy="47625"/>
          </a:xfrm>
          <a:prstGeom prst="rect">
            <a:avLst/>
          </a:prstGeom>
          <a:solidFill>
            <a:srgbClr val="981B1E"/>
          </a:solidFill>
          <a:ln w="12700">
            <a:solidFill>
              <a:srgbClr val="981B1E"/>
            </a:solidFill>
          </a:ln>
        </p:spPr>
      </p:sp>
      <p:sp>
        <p:nvSpPr>
          <p:cNvPr id="35" name="Text 35"/>
          <p:cNvSpPr txBox="1"/>
          <p:nvPr/>
        </p:nvSpPr>
        <p:spPr>
          <a:xfrm>
            <a:off x="4286250" y="4953000"/>
            <a:ext cx="1466850" cy="609600"/>
          </a:xfrm>
          <a:prstGeom prst="rect">
            <a:avLst/>
          </a:prstGeom>
          <a:noFill/>
          <a:ln>
            <a:noFill/>
          </a:ln>
        </p:spPr>
        <p:txBody>
          <a:bodyPr wrap="square" anchor="ctr" lIns="0" rIns="0" tIns="0" bIns="0"/>
          <a:lstStyle/>
          <a:p>
            <a:pPr algn="ctr"/>
            <a:r>
              <a:rPr lang="en-US" sz="1400" b="0">
                <a:solidFill>
                  <a:srgbClr val="17212B"/>
                </a:solidFill>
                <a:latin typeface="Arial"/>
              </a:rPr>
              <a:t>No-op · Bayesian · Fuzzy</a:t>
            </a:r>
            <a:endParaRPr lang="en-US" sz="1400"/>
          </a:p>
          <a:p>
            <a:pPr algn="ctr"/>
            <a:r>
              <a:rPr lang="en-US" sz="1400" b="0">
                <a:solidFill>
                  <a:srgbClr val="17212B"/>
                </a:solidFill>
                <a:latin typeface="Arial"/>
              </a:rPr>
              <a:t>Random Forest delivered</a:t>
            </a:r>
            <a:endParaRPr lang="en-US" sz="1400"/>
          </a:p>
        </p:txBody>
      </p:sp>
      <p:sp>
        <p:nvSpPr>
          <p:cNvPr id="36" name="Shape 36"/>
          <p:cNvSpPr/>
          <p:nvPr/>
        </p:nvSpPr>
        <p:spPr>
          <a:xfrm>
            <a:off x="6000750" y="3962400"/>
            <a:ext cx="1657350" cy="666750"/>
          </a:xfrm>
          <a:prstGeom prst="roundRect">
            <a:avLst/>
          </a:prstGeom>
          <a:solidFill>
            <a:srgbClr val="FCEBEC"/>
          </a:solidFill>
          <a:ln w="25400">
            <a:solidFill>
              <a:srgbClr val="D71920"/>
            </a:solidFill>
          </a:ln>
        </p:spPr>
      </p:sp>
      <p:sp>
        <p:nvSpPr>
          <p:cNvPr id="37" name="Shape 37"/>
          <p:cNvSpPr/>
          <p:nvPr/>
        </p:nvSpPr>
        <p:spPr>
          <a:xfrm>
            <a:off x="6115050" y="4105275"/>
            <a:ext cx="381000" cy="381000"/>
          </a:xfrm>
          <a:prstGeom prst="roundRect">
            <a:avLst/>
          </a:prstGeom>
          <a:solidFill>
            <a:srgbClr val="FFFFFF"/>
          </a:solidFill>
          <a:ln w="19050">
            <a:solidFill>
              <a:srgbClr val="1F7A5A"/>
            </a:solidFill>
          </a:ln>
        </p:spPr>
      </p:sp>
      <p:pic>
        <p:nvPicPr>
          <p:cNvPr id="38" name="Picture 38"/>
          <p:cNvPicPr>
            <a:picLocks noChangeAspect="1"/>
          </p:cNvPicPr>
          <p:nvPr/>
        </p:nvPicPr>
        <p:blipFill>
          <a:blip r:embed="rId6"/>
          <a:stretch>
            <a:fillRect/>
          </a:stretch>
        </p:blipFill>
        <p:spPr>
          <a:xfrm>
            <a:off x="6210300" y="4200525"/>
            <a:ext cx="190500" cy="190500"/>
          </a:xfrm>
          <a:prstGeom prst="rect">
            <a:avLst/>
          </a:prstGeom>
          <a:ln>
            <a:noFill/>
          </a:ln>
        </p:spPr>
      </p:pic>
      <p:sp>
        <p:nvSpPr>
          <p:cNvPr id="39" name="Text 39"/>
          <p:cNvSpPr txBox="1"/>
          <p:nvPr/>
        </p:nvSpPr>
        <p:spPr>
          <a:xfrm>
            <a:off x="6572250" y="4057650"/>
            <a:ext cx="990600" cy="476250"/>
          </a:xfrm>
          <a:prstGeom prst="rect">
            <a:avLst/>
          </a:prstGeom>
          <a:noFill/>
          <a:ln>
            <a:noFill/>
          </a:ln>
        </p:spPr>
        <p:txBody>
          <a:bodyPr wrap="square" anchor="ctr" lIns="0" rIns="0" tIns="0" bIns="0"/>
          <a:lstStyle/>
          <a:p>
            <a:pPr algn="l"/>
            <a:r>
              <a:rPr lang="en-US" sz="1000" b="1">
                <a:solidFill>
                  <a:srgbClr val="981B1E"/>
                </a:solidFill>
                <a:latin typeface="Arial"/>
              </a:rPr>
              <a:t>Policy</a:t>
            </a:r>
            <a:endParaRPr lang="en-US" sz="1000"/>
          </a:p>
          <a:p>
            <a:pPr algn="l"/>
            <a:r>
              <a:rPr lang="en-US" sz="1000" b="1">
                <a:solidFill>
                  <a:srgbClr val="981B1E"/>
                </a:solidFill>
                <a:latin typeface="Arial"/>
              </a:rPr>
              <a:t>Knowledge</a:t>
            </a:r>
            <a:endParaRPr lang="en-US" sz="1000"/>
          </a:p>
          <a:p>
            <a:pPr algn="l"/>
            <a:r>
              <a:rPr lang="en-US" sz="1000" b="1">
                <a:solidFill>
                  <a:srgbClr val="981B1E"/>
                </a:solidFill>
                <a:latin typeface="Arial"/>
              </a:rPr>
              <a:t>Port</a:t>
            </a:r>
            <a:endParaRPr lang="en-US" sz="1000"/>
          </a:p>
        </p:txBody>
      </p:sp>
      <p:sp>
        <p:nvSpPr>
          <p:cNvPr id="40" name="Shape 40"/>
          <p:cNvSpPr/>
          <p:nvPr/>
        </p:nvSpPr>
        <p:spPr>
          <a:xfrm>
            <a:off x="6000750" y="4800600"/>
            <a:ext cx="1657350" cy="914400"/>
          </a:xfrm>
          <a:prstGeom prst="roundRect">
            <a:avLst/>
          </a:prstGeom>
          <a:solidFill>
            <a:srgbClr val="FFFFFF"/>
          </a:solidFill>
          <a:ln w="12700">
            <a:solidFill>
              <a:srgbClr val="D9DEE3"/>
            </a:solidFill>
          </a:ln>
        </p:spPr>
      </p:sp>
      <p:sp>
        <p:nvSpPr>
          <p:cNvPr id="41" name="Shape 41"/>
          <p:cNvSpPr/>
          <p:nvPr/>
        </p:nvSpPr>
        <p:spPr>
          <a:xfrm>
            <a:off x="6000750" y="4800600"/>
            <a:ext cx="1657350" cy="47625"/>
          </a:xfrm>
          <a:prstGeom prst="rect">
            <a:avLst/>
          </a:prstGeom>
          <a:solidFill>
            <a:srgbClr val="1F7A5A"/>
          </a:solidFill>
          <a:ln w="12700">
            <a:solidFill>
              <a:srgbClr val="1F7A5A"/>
            </a:solidFill>
          </a:ln>
        </p:spPr>
      </p:sp>
      <p:sp>
        <p:nvSpPr>
          <p:cNvPr id="42" name="Text 42"/>
          <p:cNvSpPr txBox="1"/>
          <p:nvPr/>
        </p:nvSpPr>
        <p:spPr>
          <a:xfrm>
            <a:off x="6096000" y="4953000"/>
            <a:ext cx="1466850" cy="609600"/>
          </a:xfrm>
          <a:prstGeom prst="rect">
            <a:avLst/>
          </a:prstGeom>
          <a:noFill/>
          <a:ln>
            <a:noFill/>
          </a:ln>
        </p:spPr>
        <p:txBody>
          <a:bodyPr wrap="square" anchor="ctr" lIns="0" rIns="0" tIns="0" bIns="0"/>
          <a:lstStyle/>
          <a:p>
            <a:pPr algn="ctr"/>
            <a:r>
              <a:rPr lang="en-US" sz="1400" b="0">
                <a:solidFill>
                  <a:srgbClr val="17212B"/>
                </a:solidFill>
                <a:latin typeface="Arial"/>
              </a:rPr>
              <a:t>pgvector + MiniLM</a:t>
            </a:r>
            <a:endParaRPr lang="en-US" sz="1400"/>
          </a:p>
          <a:p>
            <a:pPr algn="ctr"/>
            <a:r>
              <a:rPr lang="en-US" sz="1400" b="0">
                <a:solidFill>
                  <a:srgbClr val="17212B"/>
                </a:solidFill>
                <a:latin typeface="Arial"/>
              </a:rPr>
              <a:t>Static baseline</a:t>
            </a:r>
            <a:endParaRPr lang="en-US" sz="1400"/>
          </a:p>
        </p:txBody>
      </p:sp>
      <p:sp>
        <p:nvSpPr>
          <p:cNvPr id="43" name="Shape 43"/>
          <p:cNvSpPr/>
          <p:nvPr/>
        </p:nvSpPr>
        <p:spPr>
          <a:xfrm>
            <a:off x="7810500" y="3962400"/>
            <a:ext cx="1657350" cy="666750"/>
          </a:xfrm>
          <a:prstGeom prst="roundRect">
            <a:avLst/>
          </a:prstGeom>
          <a:solidFill>
            <a:srgbClr val="FCEBEC"/>
          </a:solidFill>
          <a:ln w="25400">
            <a:solidFill>
              <a:srgbClr val="D71920"/>
            </a:solidFill>
          </a:ln>
        </p:spPr>
      </p:sp>
      <p:sp>
        <p:nvSpPr>
          <p:cNvPr id="44" name="Shape 44"/>
          <p:cNvSpPr/>
          <p:nvPr/>
        </p:nvSpPr>
        <p:spPr>
          <a:xfrm>
            <a:off x="7924800" y="4105275"/>
            <a:ext cx="381000" cy="381000"/>
          </a:xfrm>
          <a:prstGeom prst="roundRect">
            <a:avLst/>
          </a:prstGeom>
          <a:solidFill>
            <a:srgbClr val="FFFFFF"/>
          </a:solidFill>
          <a:ln w="19050">
            <a:solidFill>
              <a:srgbClr val="B46B13"/>
            </a:solidFill>
          </a:ln>
        </p:spPr>
      </p:sp>
      <p:pic>
        <p:nvPicPr>
          <p:cNvPr id="45" name="Picture 45"/>
          <p:cNvPicPr>
            <a:picLocks noChangeAspect="1"/>
          </p:cNvPicPr>
          <p:nvPr/>
        </p:nvPicPr>
        <p:blipFill>
          <a:blip r:embed="rId7"/>
          <a:stretch>
            <a:fillRect/>
          </a:stretch>
        </p:blipFill>
        <p:spPr>
          <a:xfrm>
            <a:off x="8020050" y="4200525"/>
            <a:ext cx="190500" cy="190500"/>
          </a:xfrm>
          <a:prstGeom prst="rect">
            <a:avLst/>
          </a:prstGeom>
          <a:ln>
            <a:noFill/>
          </a:ln>
        </p:spPr>
      </p:pic>
      <p:sp>
        <p:nvSpPr>
          <p:cNvPr id="46" name="Text 46"/>
          <p:cNvSpPr txBox="1"/>
          <p:nvPr/>
        </p:nvSpPr>
        <p:spPr>
          <a:xfrm>
            <a:off x="8382000" y="4057650"/>
            <a:ext cx="990600" cy="476250"/>
          </a:xfrm>
          <a:prstGeom prst="rect">
            <a:avLst/>
          </a:prstGeom>
          <a:noFill/>
          <a:ln>
            <a:noFill/>
          </a:ln>
        </p:spPr>
        <p:txBody>
          <a:bodyPr wrap="square" anchor="ctr" lIns="0" rIns="0" tIns="0" bIns="0"/>
          <a:lstStyle/>
          <a:p>
            <a:pPr algn="l"/>
            <a:r>
              <a:rPr lang="en-US" sz="1200" b="1">
                <a:solidFill>
                  <a:srgbClr val="981B1E"/>
                </a:solidFill>
                <a:latin typeface="Arial"/>
              </a:rPr>
              <a:t>Analysis</a:t>
            </a:r>
            <a:endParaRPr lang="en-US" sz="1200"/>
          </a:p>
          <a:p>
            <a:pPr algn="l"/>
            <a:r>
              <a:rPr lang="en-US" sz="1200" b="1">
                <a:solidFill>
                  <a:srgbClr val="981B1E"/>
                </a:solidFill>
                <a:latin typeface="Arial"/>
              </a:rPr>
              <a:t>ModelPort</a:t>
            </a:r>
            <a:endParaRPr lang="en-US" sz="1200"/>
          </a:p>
        </p:txBody>
      </p:sp>
      <p:sp>
        <p:nvSpPr>
          <p:cNvPr id="47" name="Shape 47"/>
          <p:cNvSpPr/>
          <p:nvPr/>
        </p:nvSpPr>
        <p:spPr>
          <a:xfrm>
            <a:off x="7810500" y="4800600"/>
            <a:ext cx="1657350" cy="914400"/>
          </a:xfrm>
          <a:prstGeom prst="roundRect">
            <a:avLst/>
          </a:prstGeom>
          <a:solidFill>
            <a:srgbClr val="FFFFFF"/>
          </a:solidFill>
          <a:ln w="12700">
            <a:solidFill>
              <a:srgbClr val="D9DEE3"/>
            </a:solidFill>
          </a:ln>
        </p:spPr>
      </p:sp>
      <p:sp>
        <p:nvSpPr>
          <p:cNvPr id="48" name="Shape 48"/>
          <p:cNvSpPr/>
          <p:nvPr/>
        </p:nvSpPr>
        <p:spPr>
          <a:xfrm>
            <a:off x="7810500" y="4800600"/>
            <a:ext cx="1657350" cy="47625"/>
          </a:xfrm>
          <a:prstGeom prst="rect">
            <a:avLst/>
          </a:prstGeom>
          <a:solidFill>
            <a:srgbClr val="B46B13"/>
          </a:solidFill>
          <a:ln w="12700">
            <a:solidFill>
              <a:srgbClr val="B46B13"/>
            </a:solidFill>
          </a:ln>
        </p:spPr>
      </p:sp>
      <p:sp>
        <p:nvSpPr>
          <p:cNvPr id="49" name="Text 49"/>
          <p:cNvSpPr txBox="1"/>
          <p:nvPr/>
        </p:nvSpPr>
        <p:spPr>
          <a:xfrm>
            <a:off x="7905750" y="4953000"/>
            <a:ext cx="1466850" cy="609600"/>
          </a:xfrm>
          <a:prstGeom prst="rect">
            <a:avLst/>
          </a:prstGeom>
          <a:noFill/>
          <a:ln>
            <a:noFill/>
          </a:ln>
        </p:spPr>
        <p:txBody>
          <a:bodyPr wrap="square" anchor="ctr" lIns="0" rIns="0" tIns="0" bIns="0"/>
          <a:lstStyle/>
          <a:p>
            <a:pPr algn="ctr"/>
            <a:r>
              <a:rPr lang="en-US" sz="1400" b="0">
                <a:solidFill>
                  <a:srgbClr val="17212B"/>
                </a:solidFill>
                <a:latin typeface="Arial"/>
              </a:rPr>
              <a:t>Deterministic</a:t>
            </a:r>
            <a:endParaRPr lang="en-US" sz="1400"/>
          </a:p>
          <a:p>
            <a:pPr algn="ctr"/>
            <a:r>
              <a:rPr lang="en-US" sz="1400" b="0">
                <a:solidFill>
                  <a:srgbClr val="17212B"/>
                </a:solidFill>
                <a:latin typeface="Arial"/>
              </a:rPr>
              <a:t>Provider adapters</a:t>
            </a:r>
            <a:endParaRPr lang="en-US" sz="1400"/>
          </a:p>
        </p:txBody>
      </p:sp>
      <p:sp>
        <p:nvSpPr>
          <p:cNvPr id="50" name="Shape 50"/>
          <p:cNvSpPr/>
          <p:nvPr/>
        </p:nvSpPr>
        <p:spPr>
          <a:xfrm>
            <a:off x="9620250" y="3962400"/>
            <a:ext cx="1657350" cy="666750"/>
          </a:xfrm>
          <a:prstGeom prst="roundRect">
            <a:avLst/>
          </a:prstGeom>
          <a:solidFill>
            <a:srgbClr val="FCEBEC"/>
          </a:solidFill>
          <a:ln w="25400">
            <a:solidFill>
              <a:srgbClr val="D71920"/>
            </a:solidFill>
          </a:ln>
        </p:spPr>
      </p:sp>
      <p:sp>
        <p:nvSpPr>
          <p:cNvPr id="51" name="Shape 51"/>
          <p:cNvSpPr/>
          <p:nvPr/>
        </p:nvSpPr>
        <p:spPr>
          <a:xfrm>
            <a:off x="9734550" y="4105275"/>
            <a:ext cx="381000" cy="381000"/>
          </a:xfrm>
          <a:prstGeom prst="roundRect">
            <a:avLst/>
          </a:prstGeom>
          <a:solidFill>
            <a:srgbClr val="FFFFFF"/>
          </a:solidFill>
          <a:ln w="19050">
            <a:solidFill>
              <a:srgbClr val="384754"/>
            </a:solidFill>
          </a:ln>
        </p:spPr>
      </p:sp>
      <p:pic>
        <p:nvPicPr>
          <p:cNvPr id="52" name="Picture 52"/>
          <p:cNvPicPr>
            <a:picLocks noChangeAspect="1"/>
          </p:cNvPicPr>
          <p:nvPr/>
        </p:nvPicPr>
        <p:blipFill>
          <a:blip r:embed="rId8"/>
          <a:stretch>
            <a:fillRect/>
          </a:stretch>
        </p:blipFill>
        <p:spPr>
          <a:xfrm>
            <a:off x="9829800" y="4200525"/>
            <a:ext cx="190500" cy="190500"/>
          </a:xfrm>
          <a:prstGeom prst="rect">
            <a:avLst/>
          </a:prstGeom>
          <a:ln>
            <a:noFill/>
          </a:ln>
        </p:spPr>
      </p:pic>
      <p:sp>
        <p:nvSpPr>
          <p:cNvPr id="53" name="Text 53"/>
          <p:cNvSpPr txBox="1"/>
          <p:nvPr/>
        </p:nvSpPr>
        <p:spPr>
          <a:xfrm>
            <a:off x="10191750" y="4057650"/>
            <a:ext cx="990600" cy="476250"/>
          </a:xfrm>
          <a:prstGeom prst="rect">
            <a:avLst/>
          </a:prstGeom>
          <a:noFill/>
          <a:ln>
            <a:noFill/>
          </a:ln>
        </p:spPr>
        <p:txBody>
          <a:bodyPr wrap="square" anchor="ctr" lIns="0" rIns="0" tIns="0" bIns="0"/>
          <a:lstStyle/>
          <a:p>
            <a:pPr algn="l"/>
            <a:r>
              <a:rPr lang="en-US" sz="1200" b="1">
                <a:solidFill>
                  <a:srgbClr val="981B1E"/>
                </a:solidFill>
                <a:latin typeface="Arial"/>
              </a:rPr>
              <a:t>Analysis</a:t>
            </a:r>
            <a:endParaRPr lang="en-US" sz="1200"/>
          </a:p>
          <a:p>
            <a:pPr algn="l"/>
            <a:r>
              <a:rPr lang="en-US" sz="1200" b="1">
                <a:solidFill>
                  <a:srgbClr val="981B1E"/>
                </a:solidFill>
                <a:latin typeface="Arial"/>
              </a:rPr>
              <a:t>HistoryPort</a:t>
            </a:r>
            <a:endParaRPr lang="en-US" sz="1200"/>
          </a:p>
        </p:txBody>
      </p:sp>
      <p:sp>
        <p:nvSpPr>
          <p:cNvPr id="54" name="Shape 54"/>
          <p:cNvSpPr/>
          <p:nvPr/>
        </p:nvSpPr>
        <p:spPr>
          <a:xfrm>
            <a:off x="9620250" y="4800600"/>
            <a:ext cx="1657350" cy="914400"/>
          </a:xfrm>
          <a:prstGeom prst="roundRect">
            <a:avLst/>
          </a:prstGeom>
          <a:solidFill>
            <a:srgbClr val="FFFFFF"/>
          </a:solidFill>
          <a:ln w="12700">
            <a:solidFill>
              <a:srgbClr val="D9DEE3"/>
            </a:solidFill>
          </a:ln>
        </p:spPr>
      </p:sp>
      <p:sp>
        <p:nvSpPr>
          <p:cNvPr id="55" name="Shape 55"/>
          <p:cNvSpPr/>
          <p:nvPr/>
        </p:nvSpPr>
        <p:spPr>
          <a:xfrm>
            <a:off x="9620250" y="4800600"/>
            <a:ext cx="1657350" cy="47625"/>
          </a:xfrm>
          <a:prstGeom prst="rect">
            <a:avLst/>
          </a:prstGeom>
          <a:solidFill>
            <a:srgbClr val="384754"/>
          </a:solidFill>
          <a:ln w="12700">
            <a:solidFill>
              <a:srgbClr val="384754"/>
            </a:solidFill>
          </a:ln>
        </p:spPr>
      </p:sp>
      <p:sp>
        <p:nvSpPr>
          <p:cNvPr id="56" name="Text 56"/>
          <p:cNvSpPr txBox="1"/>
          <p:nvPr/>
        </p:nvSpPr>
        <p:spPr>
          <a:xfrm>
            <a:off x="9715500" y="4953000"/>
            <a:ext cx="1466850" cy="609600"/>
          </a:xfrm>
          <a:prstGeom prst="rect">
            <a:avLst/>
          </a:prstGeom>
          <a:noFill/>
          <a:ln>
            <a:noFill/>
          </a:ln>
        </p:spPr>
        <p:txBody>
          <a:bodyPr wrap="square" anchor="ctr" lIns="0" rIns="0" tIns="0" bIns="0"/>
          <a:lstStyle/>
          <a:p>
            <a:pPr algn="ctr"/>
            <a:r>
              <a:rPr lang="en-US" sz="1400" b="0">
                <a:solidFill>
                  <a:srgbClr val="17212B"/>
                </a:solidFill>
                <a:latin typeface="Arial"/>
              </a:rPr>
              <a:t>Spring JDBC</a:t>
            </a:r>
            <a:endParaRPr lang="en-US" sz="1400"/>
          </a:p>
          <a:p>
            <a:pPr algn="ctr"/>
            <a:r>
              <a:rPr lang="en-US" sz="1400" b="0">
                <a:solidFill>
                  <a:srgbClr val="17212B"/>
                </a:solidFill>
                <a:latin typeface="Arial"/>
              </a:rPr>
              <a:t>In-memory baseline</a:t>
            </a:r>
            <a:endParaRPr lang="en-US" sz="1400"/>
          </a:p>
        </p:txBody>
      </p:sp>
      <p:sp>
        <p:nvSpPr>
          <p:cNvPr id="57" name="Text 57"/>
          <p:cNvSpPr txBox="1"/>
          <p:nvPr/>
        </p:nvSpPr>
        <p:spPr>
          <a:xfrm>
            <a:off x="952500" y="5943600"/>
            <a:ext cx="10287000" cy="266700"/>
          </a:xfrm>
          <a:prstGeom prst="rect">
            <a:avLst/>
          </a:prstGeom>
          <a:noFill/>
          <a:ln>
            <a:noFill/>
          </a:ln>
        </p:spPr>
        <p:txBody>
          <a:bodyPr wrap="square" anchor="t" lIns="0" rIns="0" tIns="0" bIns="0"/>
          <a:lstStyle/>
          <a:p>
            <a:pPr algn="ctr"/>
            <a:r>
              <a:rPr lang="en-US" sz="1700" b="1">
                <a:solidFill>
                  <a:srgbClr val="5D6873"/>
                </a:solidFill>
                <a:latin typeface="Arial"/>
              </a:rPr>
              <a:t>Framework and provider types stop at the adapter boundary</a:t>
            </a:r>
            <a:endParaRPr lang="en-US" sz="1700"/>
          </a:p>
        </p:txBody>
      </p:sp>
      <p:cxnSp>
        <p:nvCxnSpPr>
          <p:cNvPr id="58" name="Connector 58"/>
          <p:cNvCxnSpPr/>
          <p:nvPr/>
        </p:nvCxnSpPr>
        <p:spPr>
          <a:xfrm>
            <a:off x="552450" y="6419850"/>
            <a:ext cx="11087100" cy="0"/>
          </a:xfrm>
          <a:prstGeom prst="line">
            <a:avLst/>
          </a:prstGeom>
          <a:ln w="12700">
            <a:solidFill>
              <a:srgbClr val="D9DEE3"/>
            </a:solidFill>
          </a:ln>
        </p:spPr>
      </p:cxnSp>
      <p:sp>
        <p:nvSpPr>
          <p:cNvPr id="59" name="Text 59"/>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CUSTOMER ACTIVITY ANALYTICS</a:t>
            </a:r>
            <a:endParaRPr lang="en-US" sz="1000"/>
          </a:p>
        </p:txBody>
      </p:sp>
      <p:sp>
        <p:nvSpPr>
          <p:cNvPr id="60" name="Text 60"/>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7</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CONCENTRIC DELIVERY</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Six delivery rings kept one deployable shell reviewable throughout the build</a:t>
            </a:r>
            <a:endParaRPr lang="en-US" sz="3000"/>
          </a:p>
        </p:txBody>
      </p:sp>
      <p:sp>
        <p:nvSpPr>
          <p:cNvPr id="4" name="Shape 4"/>
          <p:cNvSpPr/>
          <p:nvPr/>
        </p:nvSpPr>
        <p:spPr>
          <a:xfrm>
            <a:off x="704850" y="1619250"/>
            <a:ext cx="4095750" cy="4095750"/>
          </a:xfrm>
          <a:prstGeom prst="ellipse">
            <a:avLst/>
          </a:prstGeom>
          <a:noFill/>
          <a:ln w="38100">
            <a:solidFill>
              <a:srgbClr val="981B1E"/>
            </a:solidFill>
          </a:ln>
        </p:spPr>
      </p:sp>
      <p:sp>
        <p:nvSpPr>
          <p:cNvPr id="5" name="Shape 5"/>
          <p:cNvSpPr/>
          <p:nvPr/>
        </p:nvSpPr>
        <p:spPr>
          <a:xfrm>
            <a:off x="990600" y="1905000"/>
            <a:ext cx="3524250" cy="3524250"/>
          </a:xfrm>
          <a:prstGeom prst="ellipse">
            <a:avLst/>
          </a:prstGeom>
          <a:noFill/>
          <a:ln w="38100">
            <a:solidFill>
              <a:srgbClr val="D71920"/>
            </a:solidFill>
          </a:ln>
        </p:spPr>
      </p:sp>
      <p:sp>
        <p:nvSpPr>
          <p:cNvPr id="6" name="Shape 6"/>
          <p:cNvSpPr/>
          <p:nvPr/>
        </p:nvSpPr>
        <p:spPr>
          <a:xfrm>
            <a:off x="1276350" y="2190750"/>
            <a:ext cx="2952750" cy="2952750"/>
          </a:xfrm>
          <a:prstGeom prst="ellipse">
            <a:avLst/>
          </a:prstGeom>
          <a:noFill/>
          <a:ln w="25400">
            <a:solidFill>
              <a:srgbClr val="C94D52"/>
            </a:solidFill>
          </a:ln>
        </p:spPr>
      </p:sp>
      <p:sp>
        <p:nvSpPr>
          <p:cNvPr id="7" name="Shape 7"/>
          <p:cNvSpPr/>
          <p:nvPr/>
        </p:nvSpPr>
        <p:spPr>
          <a:xfrm>
            <a:off x="1562100" y="2476500"/>
            <a:ext cx="2381250" cy="2381250"/>
          </a:xfrm>
          <a:prstGeom prst="ellipse">
            <a:avLst/>
          </a:prstGeom>
          <a:noFill/>
          <a:ln w="25400">
            <a:solidFill>
              <a:srgbClr val="977176"/>
            </a:solidFill>
          </a:ln>
        </p:spPr>
      </p:sp>
      <p:sp>
        <p:nvSpPr>
          <p:cNvPr id="8" name="Shape 8"/>
          <p:cNvSpPr/>
          <p:nvPr/>
        </p:nvSpPr>
        <p:spPr>
          <a:xfrm>
            <a:off x="1847850" y="2762250"/>
            <a:ext cx="1809750" cy="1809750"/>
          </a:xfrm>
          <a:prstGeom prst="ellipse">
            <a:avLst/>
          </a:prstGeom>
          <a:noFill/>
          <a:ln w="25400">
            <a:solidFill>
              <a:srgbClr val="2A5B84"/>
            </a:solidFill>
          </a:ln>
        </p:spPr>
      </p:sp>
      <p:sp>
        <p:nvSpPr>
          <p:cNvPr id="9" name="Shape 9"/>
          <p:cNvSpPr/>
          <p:nvPr/>
        </p:nvSpPr>
        <p:spPr>
          <a:xfrm>
            <a:off x="2228850" y="3143250"/>
            <a:ext cx="1047750" cy="1047750"/>
          </a:xfrm>
          <a:prstGeom prst="ellipse">
            <a:avLst/>
          </a:prstGeom>
          <a:solidFill>
            <a:srgbClr val="FCEBEC"/>
          </a:solidFill>
          <a:ln w="25400">
            <a:solidFill>
              <a:srgbClr val="17212B"/>
            </a:solidFill>
          </a:ln>
        </p:spPr>
      </p:sp>
      <p:sp>
        <p:nvSpPr>
          <p:cNvPr id="10" name="Text 10"/>
          <p:cNvSpPr txBox="1"/>
          <p:nvPr/>
        </p:nvSpPr>
        <p:spPr>
          <a:xfrm>
            <a:off x="2428875" y="3314700"/>
            <a:ext cx="647700" cy="381000"/>
          </a:xfrm>
          <a:prstGeom prst="rect">
            <a:avLst/>
          </a:prstGeom>
          <a:noFill/>
          <a:ln>
            <a:noFill/>
          </a:ln>
        </p:spPr>
        <p:txBody>
          <a:bodyPr wrap="square" anchor="t" lIns="0" rIns="0" tIns="0" bIns="0"/>
          <a:lstStyle/>
          <a:p>
            <a:pPr algn="ctr"/>
            <a:r>
              <a:rPr lang="en-US" sz="2200" b="1">
                <a:solidFill>
                  <a:srgbClr val="17212B"/>
                </a:solidFill>
                <a:latin typeface="Arial"/>
              </a:rPr>
              <a:t>R0</a:t>
            </a:r>
            <a:endParaRPr lang="en-US" sz="2200"/>
          </a:p>
        </p:txBody>
      </p:sp>
      <p:sp>
        <p:nvSpPr>
          <p:cNvPr id="11" name="Text 11"/>
          <p:cNvSpPr txBox="1"/>
          <p:nvPr/>
        </p:nvSpPr>
        <p:spPr>
          <a:xfrm>
            <a:off x="2428875" y="2800350"/>
            <a:ext cx="647700" cy="228600"/>
          </a:xfrm>
          <a:prstGeom prst="rect">
            <a:avLst/>
          </a:prstGeom>
          <a:noFill/>
          <a:ln>
            <a:noFill/>
          </a:ln>
        </p:spPr>
        <p:txBody>
          <a:bodyPr wrap="square" anchor="t" lIns="0" rIns="0" tIns="0" bIns="0"/>
          <a:lstStyle/>
          <a:p>
            <a:pPr algn="ctr"/>
            <a:r>
              <a:rPr lang="en-US" sz="1300" b="1">
                <a:solidFill>
                  <a:srgbClr val="2A5B84"/>
                </a:solidFill>
                <a:latin typeface="Arial"/>
              </a:rPr>
              <a:t>R1</a:t>
            </a:r>
            <a:endParaRPr lang="en-US" sz="1300"/>
          </a:p>
        </p:txBody>
      </p:sp>
      <p:sp>
        <p:nvSpPr>
          <p:cNvPr id="12" name="Text 12"/>
          <p:cNvSpPr txBox="1"/>
          <p:nvPr/>
        </p:nvSpPr>
        <p:spPr>
          <a:xfrm>
            <a:off x="2428875" y="2514600"/>
            <a:ext cx="647700" cy="228600"/>
          </a:xfrm>
          <a:prstGeom prst="rect">
            <a:avLst/>
          </a:prstGeom>
          <a:noFill/>
          <a:ln>
            <a:noFill/>
          </a:ln>
        </p:spPr>
        <p:txBody>
          <a:bodyPr wrap="square" anchor="t" lIns="0" rIns="0" tIns="0" bIns="0"/>
          <a:lstStyle/>
          <a:p>
            <a:pPr algn="ctr"/>
            <a:r>
              <a:rPr lang="en-US" sz="1300" b="1">
                <a:solidFill>
                  <a:srgbClr val="977176"/>
                </a:solidFill>
                <a:latin typeface="Arial"/>
              </a:rPr>
              <a:t>R2</a:t>
            </a:r>
            <a:endParaRPr lang="en-US" sz="1300"/>
          </a:p>
        </p:txBody>
      </p:sp>
      <p:sp>
        <p:nvSpPr>
          <p:cNvPr id="13" name="Text 13"/>
          <p:cNvSpPr txBox="1"/>
          <p:nvPr/>
        </p:nvSpPr>
        <p:spPr>
          <a:xfrm>
            <a:off x="2428875" y="2228850"/>
            <a:ext cx="647700" cy="228600"/>
          </a:xfrm>
          <a:prstGeom prst="rect">
            <a:avLst/>
          </a:prstGeom>
          <a:noFill/>
          <a:ln>
            <a:noFill/>
          </a:ln>
        </p:spPr>
        <p:txBody>
          <a:bodyPr wrap="square" anchor="t" lIns="0" rIns="0" tIns="0" bIns="0"/>
          <a:lstStyle/>
          <a:p>
            <a:pPr algn="ctr"/>
            <a:r>
              <a:rPr lang="en-US" sz="1300" b="1">
                <a:solidFill>
                  <a:srgbClr val="C94D52"/>
                </a:solidFill>
                <a:latin typeface="Arial"/>
              </a:rPr>
              <a:t>R3</a:t>
            </a:r>
            <a:endParaRPr lang="en-US" sz="1300"/>
          </a:p>
        </p:txBody>
      </p:sp>
      <p:sp>
        <p:nvSpPr>
          <p:cNvPr id="14" name="Text 14"/>
          <p:cNvSpPr txBox="1"/>
          <p:nvPr/>
        </p:nvSpPr>
        <p:spPr>
          <a:xfrm>
            <a:off x="2428875" y="1943100"/>
            <a:ext cx="647700" cy="228600"/>
          </a:xfrm>
          <a:prstGeom prst="rect">
            <a:avLst/>
          </a:prstGeom>
          <a:noFill/>
          <a:ln>
            <a:noFill/>
          </a:ln>
        </p:spPr>
        <p:txBody>
          <a:bodyPr wrap="square" anchor="t" lIns="0" rIns="0" tIns="0" bIns="0"/>
          <a:lstStyle/>
          <a:p>
            <a:pPr algn="ctr"/>
            <a:r>
              <a:rPr lang="en-US" sz="1300" b="1">
                <a:solidFill>
                  <a:srgbClr val="D71920"/>
                </a:solidFill>
                <a:latin typeface="Arial"/>
              </a:rPr>
              <a:t>R4</a:t>
            </a:r>
            <a:endParaRPr lang="en-US" sz="1300"/>
          </a:p>
        </p:txBody>
      </p:sp>
      <p:sp>
        <p:nvSpPr>
          <p:cNvPr id="15" name="Text 15"/>
          <p:cNvSpPr txBox="1"/>
          <p:nvPr/>
        </p:nvSpPr>
        <p:spPr>
          <a:xfrm>
            <a:off x="2428875" y="1657350"/>
            <a:ext cx="647700" cy="228600"/>
          </a:xfrm>
          <a:prstGeom prst="rect">
            <a:avLst/>
          </a:prstGeom>
          <a:noFill/>
          <a:ln>
            <a:noFill/>
          </a:ln>
        </p:spPr>
        <p:txBody>
          <a:bodyPr wrap="square" anchor="t" lIns="0" rIns="0" tIns="0" bIns="0"/>
          <a:lstStyle/>
          <a:p>
            <a:pPr algn="ctr"/>
            <a:r>
              <a:rPr lang="en-US" sz="1300" b="1">
                <a:solidFill>
                  <a:srgbClr val="981B1E"/>
                </a:solidFill>
                <a:latin typeface="Arial"/>
              </a:rPr>
              <a:t>R5</a:t>
            </a:r>
            <a:endParaRPr lang="en-US" sz="1300"/>
          </a:p>
        </p:txBody>
      </p:sp>
      <p:sp>
        <p:nvSpPr>
          <p:cNvPr id="16" name="Text 16"/>
          <p:cNvSpPr txBox="1"/>
          <p:nvPr/>
        </p:nvSpPr>
        <p:spPr>
          <a:xfrm>
            <a:off x="5429250" y="1714500"/>
            <a:ext cx="457200" cy="285750"/>
          </a:xfrm>
          <a:prstGeom prst="rect">
            <a:avLst/>
          </a:prstGeom>
          <a:noFill/>
          <a:ln>
            <a:noFill/>
          </a:ln>
        </p:spPr>
        <p:txBody>
          <a:bodyPr wrap="square" anchor="t" lIns="0" rIns="0" tIns="0" bIns="0"/>
          <a:lstStyle/>
          <a:p>
            <a:pPr algn="l"/>
            <a:r>
              <a:rPr lang="en-US" sz="1500" b="1">
                <a:solidFill>
                  <a:srgbClr val="17212B"/>
                </a:solidFill>
                <a:latin typeface="Arial"/>
              </a:rPr>
              <a:t>R0</a:t>
            </a:r>
            <a:endParaRPr lang="en-US" sz="1500"/>
          </a:p>
        </p:txBody>
      </p:sp>
      <p:cxnSp>
        <p:nvCxnSpPr>
          <p:cNvPr id="17" name="Connector 17"/>
          <p:cNvCxnSpPr/>
          <p:nvPr/>
        </p:nvCxnSpPr>
        <p:spPr>
          <a:xfrm>
            <a:off x="5981700" y="1847850"/>
            <a:ext cx="419100" cy="0"/>
          </a:xfrm>
          <a:prstGeom prst="line">
            <a:avLst/>
          </a:prstGeom>
          <a:ln w="25400">
            <a:solidFill>
              <a:srgbClr val="D9DEE3"/>
            </a:solidFill>
          </a:ln>
        </p:spPr>
      </p:cxnSp>
      <p:sp>
        <p:nvSpPr>
          <p:cNvPr id="18" name="Text 18"/>
          <p:cNvSpPr txBox="1"/>
          <p:nvPr/>
        </p:nvSpPr>
        <p:spPr>
          <a:xfrm>
            <a:off x="6534150" y="1695450"/>
            <a:ext cx="4476750" cy="285750"/>
          </a:xfrm>
          <a:prstGeom prst="rect">
            <a:avLst/>
          </a:prstGeom>
          <a:noFill/>
          <a:ln>
            <a:noFill/>
          </a:ln>
        </p:spPr>
        <p:txBody>
          <a:bodyPr wrap="square" anchor="t" lIns="0" rIns="0" tIns="0" bIns="0"/>
          <a:lstStyle/>
          <a:p>
            <a:pPr algn="l"/>
            <a:r>
              <a:rPr lang="en-US" sz="1700" b="1">
                <a:solidFill>
                  <a:srgbClr val="17212B"/>
                </a:solidFill>
                <a:latin typeface="Arial"/>
              </a:rPr>
              <a:t>Deployable hollow shell</a:t>
            </a:r>
            <a:endParaRPr lang="en-US" sz="1700"/>
          </a:p>
        </p:txBody>
      </p:sp>
      <p:sp>
        <p:nvSpPr>
          <p:cNvPr id="19" name="Text 19"/>
          <p:cNvSpPr txBox="1"/>
          <p:nvPr/>
        </p:nvSpPr>
        <p:spPr>
          <a:xfrm>
            <a:off x="6534150" y="1962150"/>
            <a:ext cx="4476750" cy="266700"/>
          </a:xfrm>
          <a:prstGeom prst="rect">
            <a:avLst/>
          </a:prstGeom>
          <a:noFill/>
          <a:ln>
            <a:noFill/>
          </a:ln>
        </p:spPr>
        <p:txBody>
          <a:bodyPr wrap="square" anchor="t" lIns="0" rIns="0" tIns="0" bIns="0"/>
          <a:lstStyle/>
          <a:p>
            <a:pPr algn="l"/>
            <a:r>
              <a:rPr lang="en-US" sz="1400" b="0">
                <a:solidFill>
                  <a:srgbClr val="5D6873"/>
                </a:solidFill>
                <a:latin typeface="Arial"/>
              </a:rPr>
              <a:t>Same browser, API, ports and packaging</a:t>
            </a:r>
            <a:endParaRPr lang="en-US" sz="1400"/>
          </a:p>
        </p:txBody>
      </p:sp>
      <p:sp>
        <p:nvSpPr>
          <p:cNvPr id="20" name="Text 20"/>
          <p:cNvSpPr txBox="1"/>
          <p:nvPr/>
        </p:nvSpPr>
        <p:spPr>
          <a:xfrm>
            <a:off x="5429250" y="2362200"/>
            <a:ext cx="457200" cy="285750"/>
          </a:xfrm>
          <a:prstGeom prst="rect">
            <a:avLst/>
          </a:prstGeom>
          <a:noFill/>
          <a:ln>
            <a:noFill/>
          </a:ln>
        </p:spPr>
        <p:txBody>
          <a:bodyPr wrap="square" anchor="t" lIns="0" rIns="0" tIns="0" bIns="0"/>
          <a:lstStyle/>
          <a:p>
            <a:pPr algn="l"/>
            <a:r>
              <a:rPr lang="en-US" sz="1500" b="1">
                <a:solidFill>
                  <a:srgbClr val="17212B"/>
                </a:solidFill>
                <a:latin typeface="Arial"/>
              </a:rPr>
              <a:t>R1</a:t>
            </a:r>
            <a:endParaRPr lang="en-US" sz="1500"/>
          </a:p>
        </p:txBody>
      </p:sp>
      <p:cxnSp>
        <p:nvCxnSpPr>
          <p:cNvPr id="21" name="Connector 21"/>
          <p:cNvCxnSpPr/>
          <p:nvPr/>
        </p:nvCxnSpPr>
        <p:spPr>
          <a:xfrm>
            <a:off x="5981700" y="2495550"/>
            <a:ext cx="419100" cy="0"/>
          </a:xfrm>
          <a:prstGeom prst="line">
            <a:avLst/>
          </a:prstGeom>
          <a:ln w="25400">
            <a:solidFill>
              <a:srgbClr val="D9DEE3"/>
            </a:solidFill>
          </a:ln>
        </p:spPr>
      </p:cxnSp>
      <p:sp>
        <p:nvSpPr>
          <p:cNvPr id="22" name="Text 22"/>
          <p:cNvSpPr txBox="1"/>
          <p:nvPr/>
        </p:nvSpPr>
        <p:spPr>
          <a:xfrm>
            <a:off x="6534150" y="2343150"/>
            <a:ext cx="4476750" cy="285750"/>
          </a:xfrm>
          <a:prstGeom prst="rect">
            <a:avLst/>
          </a:prstGeom>
          <a:noFill/>
          <a:ln>
            <a:noFill/>
          </a:ln>
        </p:spPr>
        <p:txBody>
          <a:bodyPr wrap="square" anchor="t" lIns="0" rIns="0" tIns="0" bIns="0"/>
          <a:lstStyle/>
          <a:p>
            <a:pPr algn="l"/>
            <a:r>
              <a:rPr lang="en-US" sz="1700" b="1">
                <a:solidFill>
                  <a:srgbClr val="17212B"/>
                </a:solidFill>
                <a:latin typeface="Arial"/>
              </a:rPr>
              <a:t>Synthetic customer review</a:t>
            </a:r>
            <a:endParaRPr lang="en-US" sz="1700"/>
          </a:p>
        </p:txBody>
      </p:sp>
      <p:sp>
        <p:nvSpPr>
          <p:cNvPr id="23" name="Text 23"/>
          <p:cNvSpPr txBox="1"/>
          <p:nvPr/>
        </p:nvSpPr>
        <p:spPr>
          <a:xfrm>
            <a:off x="6534150" y="2609850"/>
            <a:ext cx="4476750" cy="266700"/>
          </a:xfrm>
          <a:prstGeom prst="rect">
            <a:avLst/>
          </a:prstGeom>
          <a:noFill/>
          <a:ln>
            <a:noFill/>
          </a:ln>
        </p:spPr>
        <p:txBody>
          <a:bodyPr wrap="square" anchor="t" lIns="0" rIns="0" tIns="0" bIns="0"/>
          <a:lstStyle/>
          <a:p>
            <a:pPr algn="l"/>
            <a:r>
              <a:rPr lang="en-US" sz="1400" b="0">
                <a:solidFill>
                  <a:srgbClr val="5D6873"/>
                </a:solidFill>
                <a:latin typeface="Arial"/>
              </a:rPr>
              <a:t>First meaningful operator path</a:t>
            </a:r>
            <a:endParaRPr lang="en-US" sz="1400"/>
          </a:p>
        </p:txBody>
      </p:sp>
      <p:sp>
        <p:nvSpPr>
          <p:cNvPr id="24" name="Text 24"/>
          <p:cNvSpPr txBox="1"/>
          <p:nvPr/>
        </p:nvSpPr>
        <p:spPr>
          <a:xfrm>
            <a:off x="5429250" y="3009900"/>
            <a:ext cx="457200" cy="285750"/>
          </a:xfrm>
          <a:prstGeom prst="rect">
            <a:avLst/>
          </a:prstGeom>
          <a:noFill/>
          <a:ln>
            <a:noFill/>
          </a:ln>
        </p:spPr>
        <p:txBody>
          <a:bodyPr wrap="square" anchor="t" lIns="0" rIns="0" tIns="0" bIns="0"/>
          <a:lstStyle/>
          <a:p>
            <a:pPr algn="l"/>
            <a:r>
              <a:rPr lang="en-US" sz="1500" b="1">
                <a:solidFill>
                  <a:srgbClr val="17212B"/>
                </a:solidFill>
                <a:latin typeface="Arial"/>
              </a:rPr>
              <a:t>R2</a:t>
            </a:r>
            <a:endParaRPr lang="en-US" sz="1500"/>
          </a:p>
        </p:txBody>
      </p:sp>
      <p:cxnSp>
        <p:nvCxnSpPr>
          <p:cNvPr id="25" name="Connector 25"/>
          <p:cNvCxnSpPr/>
          <p:nvPr/>
        </p:nvCxnSpPr>
        <p:spPr>
          <a:xfrm>
            <a:off x="5981700" y="3143250"/>
            <a:ext cx="419100" cy="0"/>
          </a:xfrm>
          <a:prstGeom prst="line">
            <a:avLst/>
          </a:prstGeom>
          <a:ln w="25400">
            <a:solidFill>
              <a:srgbClr val="D9DEE3"/>
            </a:solidFill>
          </a:ln>
        </p:spPr>
      </p:cxnSp>
      <p:sp>
        <p:nvSpPr>
          <p:cNvPr id="26" name="Text 26"/>
          <p:cNvSpPr txBox="1"/>
          <p:nvPr/>
        </p:nvSpPr>
        <p:spPr>
          <a:xfrm>
            <a:off x="6534150" y="2990850"/>
            <a:ext cx="4476750" cy="285750"/>
          </a:xfrm>
          <a:prstGeom prst="rect">
            <a:avLst/>
          </a:prstGeom>
          <a:noFill/>
          <a:ln>
            <a:noFill/>
          </a:ln>
        </p:spPr>
        <p:txBody>
          <a:bodyPr wrap="square" anchor="t" lIns="0" rIns="0" tIns="0" bIns="0"/>
          <a:lstStyle/>
          <a:p>
            <a:pPr algn="l"/>
            <a:r>
              <a:rPr lang="en-US" sz="1700" b="1">
                <a:solidFill>
                  <a:srgbClr val="17212B"/>
                </a:solidFill>
                <a:latin typeface="Arial"/>
              </a:rPr>
              <a:t>Relational substitution</a:t>
            </a:r>
            <a:endParaRPr lang="en-US" sz="1700"/>
          </a:p>
        </p:txBody>
      </p:sp>
      <p:sp>
        <p:nvSpPr>
          <p:cNvPr id="27" name="Text 27"/>
          <p:cNvSpPr txBox="1"/>
          <p:nvPr/>
        </p:nvSpPr>
        <p:spPr>
          <a:xfrm>
            <a:off x="6534150" y="3257550"/>
            <a:ext cx="4476750" cy="266700"/>
          </a:xfrm>
          <a:prstGeom prst="rect">
            <a:avLst/>
          </a:prstGeom>
          <a:noFill/>
          <a:ln>
            <a:noFill/>
          </a:ln>
        </p:spPr>
        <p:txBody>
          <a:bodyPr wrap="square" anchor="t" lIns="0" rIns="0" tIns="0" bIns="0"/>
          <a:lstStyle/>
          <a:p>
            <a:pPr algn="l"/>
            <a:r>
              <a:rPr lang="en-US" sz="1400" b="0">
                <a:solidFill>
                  <a:srgbClr val="5D6873"/>
                </a:solidFill>
                <a:latin typeface="Arial"/>
              </a:rPr>
              <a:t>PostgreSQL and source-shaped evidence</a:t>
            </a:r>
            <a:endParaRPr lang="en-US" sz="1400"/>
          </a:p>
        </p:txBody>
      </p:sp>
      <p:sp>
        <p:nvSpPr>
          <p:cNvPr id="28" name="Text 28"/>
          <p:cNvSpPr txBox="1"/>
          <p:nvPr/>
        </p:nvSpPr>
        <p:spPr>
          <a:xfrm>
            <a:off x="5429250" y="3657600"/>
            <a:ext cx="457200" cy="285750"/>
          </a:xfrm>
          <a:prstGeom prst="rect">
            <a:avLst/>
          </a:prstGeom>
          <a:noFill/>
          <a:ln>
            <a:noFill/>
          </a:ln>
        </p:spPr>
        <p:txBody>
          <a:bodyPr wrap="square" anchor="t" lIns="0" rIns="0" tIns="0" bIns="0"/>
          <a:lstStyle/>
          <a:p>
            <a:pPr algn="l"/>
            <a:r>
              <a:rPr lang="en-US" sz="1500" b="1">
                <a:solidFill>
                  <a:srgbClr val="17212B"/>
                </a:solidFill>
                <a:latin typeface="Arial"/>
              </a:rPr>
              <a:t>R3</a:t>
            </a:r>
            <a:endParaRPr lang="en-US" sz="1500"/>
          </a:p>
        </p:txBody>
      </p:sp>
      <p:cxnSp>
        <p:nvCxnSpPr>
          <p:cNvPr id="29" name="Connector 29"/>
          <p:cNvCxnSpPr/>
          <p:nvPr/>
        </p:nvCxnSpPr>
        <p:spPr>
          <a:xfrm>
            <a:off x="5981700" y="3790950"/>
            <a:ext cx="419100" cy="0"/>
          </a:xfrm>
          <a:prstGeom prst="line">
            <a:avLst/>
          </a:prstGeom>
          <a:ln w="25400">
            <a:solidFill>
              <a:srgbClr val="D9DEE3"/>
            </a:solidFill>
          </a:ln>
        </p:spPr>
      </p:cxnSp>
      <p:sp>
        <p:nvSpPr>
          <p:cNvPr id="30" name="Text 30"/>
          <p:cNvSpPr txBox="1"/>
          <p:nvPr/>
        </p:nvSpPr>
        <p:spPr>
          <a:xfrm>
            <a:off x="6534150" y="3638550"/>
            <a:ext cx="4476750" cy="285750"/>
          </a:xfrm>
          <a:prstGeom prst="rect">
            <a:avLst/>
          </a:prstGeom>
          <a:noFill/>
          <a:ln>
            <a:noFill/>
          </a:ln>
        </p:spPr>
        <p:txBody>
          <a:bodyPr wrap="square" anchor="t" lIns="0" rIns="0" tIns="0" bIns="0"/>
          <a:lstStyle/>
          <a:p>
            <a:pPr algn="l"/>
            <a:r>
              <a:rPr lang="en-US" sz="1700" b="1">
                <a:solidFill>
                  <a:srgbClr val="17212B"/>
                </a:solidFill>
                <a:latin typeface="Arial"/>
              </a:rPr>
              <a:t>Analysis and history</a:t>
            </a:r>
            <a:endParaRPr lang="en-US" sz="1700"/>
          </a:p>
        </p:txBody>
      </p:sp>
      <p:sp>
        <p:nvSpPr>
          <p:cNvPr id="31" name="Text 31"/>
          <p:cNvSpPr txBox="1"/>
          <p:nvPr/>
        </p:nvSpPr>
        <p:spPr>
          <a:xfrm>
            <a:off x="6534150" y="3905250"/>
            <a:ext cx="4476750" cy="266700"/>
          </a:xfrm>
          <a:prstGeom prst="rect">
            <a:avLst/>
          </a:prstGeom>
          <a:noFill/>
          <a:ln>
            <a:noFill/>
          </a:ln>
        </p:spPr>
        <p:txBody>
          <a:bodyPr wrap="square" anchor="t" lIns="0" rIns="0" tIns="0" bIns="0"/>
          <a:lstStyle/>
          <a:p>
            <a:pPr algn="l"/>
            <a:r>
              <a:rPr lang="en-US" sz="1400" b="0">
                <a:solidFill>
                  <a:srgbClr val="5D6873"/>
                </a:solidFill>
                <a:latin typeface="Arial"/>
              </a:rPr>
              <a:t>Deterministic end-to-end baseline</a:t>
            </a:r>
            <a:endParaRPr lang="en-US" sz="1400"/>
          </a:p>
        </p:txBody>
      </p:sp>
      <p:sp>
        <p:nvSpPr>
          <p:cNvPr id="32" name="Text 32"/>
          <p:cNvSpPr txBox="1"/>
          <p:nvPr/>
        </p:nvSpPr>
        <p:spPr>
          <a:xfrm>
            <a:off x="5429250" y="4305300"/>
            <a:ext cx="457200" cy="285750"/>
          </a:xfrm>
          <a:prstGeom prst="rect">
            <a:avLst/>
          </a:prstGeom>
          <a:noFill/>
          <a:ln>
            <a:noFill/>
          </a:ln>
        </p:spPr>
        <p:txBody>
          <a:bodyPr wrap="square" anchor="t" lIns="0" rIns="0" tIns="0" bIns="0"/>
          <a:lstStyle/>
          <a:p>
            <a:pPr algn="l"/>
            <a:r>
              <a:rPr lang="en-US" sz="1500" b="1">
                <a:solidFill>
                  <a:srgbClr val="D71920"/>
                </a:solidFill>
                <a:latin typeface="Arial"/>
              </a:rPr>
              <a:t>R4</a:t>
            </a:r>
            <a:endParaRPr lang="en-US" sz="1500"/>
          </a:p>
        </p:txBody>
      </p:sp>
      <p:cxnSp>
        <p:nvCxnSpPr>
          <p:cNvPr id="33" name="Connector 33"/>
          <p:cNvCxnSpPr/>
          <p:nvPr/>
        </p:nvCxnSpPr>
        <p:spPr>
          <a:xfrm>
            <a:off x="5981700" y="4438650"/>
            <a:ext cx="419100" cy="0"/>
          </a:xfrm>
          <a:prstGeom prst="line">
            <a:avLst/>
          </a:prstGeom>
          <a:ln w="25400">
            <a:solidFill>
              <a:srgbClr val="D71920"/>
            </a:solidFill>
          </a:ln>
        </p:spPr>
      </p:cxnSp>
      <p:sp>
        <p:nvSpPr>
          <p:cNvPr id="34" name="Text 34"/>
          <p:cNvSpPr txBox="1"/>
          <p:nvPr/>
        </p:nvSpPr>
        <p:spPr>
          <a:xfrm>
            <a:off x="6534150" y="4286250"/>
            <a:ext cx="4476750" cy="285750"/>
          </a:xfrm>
          <a:prstGeom prst="rect">
            <a:avLst/>
          </a:prstGeom>
          <a:noFill/>
          <a:ln>
            <a:noFill/>
          </a:ln>
        </p:spPr>
        <p:txBody>
          <a:bodyPr wrap="square" anchor="t" lIns="0" rIns="0" tIns="0" bIns="0"/>
          <a:lstStyle/>
          <a:p>
            <a:pPr algn="l"/>
            <a:r>
              <a:rPr lang="en-US" sz="1700" b="1">
                <a:solidFill>
                  <a:srgbClr val="17212B"/>
                </a:solidFill>
                <a:latin typeface="Arial"/>
              </a:rPr>
              <a:t>Authenticated retrieval</a:t>
            </a:r>
            <a:endParaRPr lang="en-US" sz="1700"/>
          </a:p>
        </p:txBody>
      </p:sp>
      <p:sp>
        <p:nvSpPr>
          <p:cNvPr id="35" name="Text 35"/>
          <p:cNvSpPr txBox="1"/>
          <p:nvPr/>
        </p:nvSpPr>
        <p:spPr>
          <a:xfrm>
            <a:off x="6534150" y="4552950"/>
            <a:ext cx="4476750" cy="266700"/>
          </a:xfrm>
          <a:prstGeom prst="rect">
            <a:avLst/>
          </a:prstGeom>
          <a:noFill/>
          <a:ln>
            <a:noFill/>
          </a:ln>
        </p:spPr>
        <p:txBody>
          <a:bodyPr wrap="square" anchor="t" lIns="0" rIns="0" tIns="0" bIns="0"/>
          <a:lstStyle/>
          <a:p>
            <a:pPr algn="l"/>
            <a:r>
              <a:rPr lang="en-US" sz="1400" b="0">
                <a:solidFill>
                  <a:srgbClr val="5D6873"/>
                </a:solidFill>
                <a:latin typeface="Arial"/>
              </a:rPr>
              <a:t>R4 baseline retained</a:t>
            </a:r>
            <a:endParaRPr lang="en-US" sz="1400"/>
          </a:p>
        </p:txBody>
      </p:sp>
      <p:sp>
        <p:nvSpPr>
          <p:cNvPr id="36" name="Text 36"/>
          <p:cNvSpPr txBox="1"/>
          <p:nvPr/>
        </p:nvSpPr>
        <p:spPr>
          <a:xfrm>
            <a:off x="5429250" y="4953000"/>
            <a:ext cx="457200" cy="285750"/>
          </a:xfrm>
          <a:prstGeom prst="rect">
            <a:avLst/>
          </a:prstGeom>
          <a:noFill/>
          <a:ln>
            <a:noFill/>
          </a:ln>
        </p:spPr>
        <p:txBody>
          <a:bodyPr wrap="square" anchor="t" lIns="0" rIns="0" tIns="0" bIns="0"/>
          <a:lstStyle/>
          <a:p>
            <a:pPr algn="l"/>
            <a:r>
              <a:rPr lang="en-US" sz="1500" b="1">
                <a:solidFill>
                  <a:srgbClr val="D71920"/>
                </a:solidFill>
                <a:latin typeface="Arial"/>
              </a:rPr>
              <a:t>R5</a:t>
            </a:r>
            <a:endParaRPr lang="en-US" sz="1500"/>
          </a:p>
        </p:txBody>
      </p:sp>
      <p:cxnSp>
        <p:nvCxnSpPr>
          <p:cNvPr id="37" name="Connector 37"/>
          <p:cNvCxnSpPr/>
          <p:nvPr/>
        </p:nvCxnSpPr>
        <p:spPr>
          <a:xfrm>
            <a:off x="5981700" y="5086350"/>
            <a:ext cx="419100" cy="0"/>
          </a:xfrm>
          <a:prstGeom prst="line">
            <a:avLst/>
          </a:prstGeom>
          <a:ln w="25400">
            <a:solidFill>
              <a:srgbClr val="D71920"/>
            </a:solidFill>
          </a:ln>
        </p:spPr>
      </p:cxnSp>
      <p:sp>
        <p:nvSpPr>
          <p:cNvPr id="38" name="Text 38"/>
          <p:cNvSpPr txBox="1"/>
          <p:nvPr/>
        </p:nvSpPr>
        <p:spPr>
          <a:xfrm>
            <a:off x="6534150" y="4933950"/>
            <a:ext cx="4476750" cy="285750"/>
          </a:xfrm>
          <a:prstGeom prst="rect">
            <a:avLst/>
          </a:prstGeom>
          <a:noFill/>
          <a:ln>
            <a:noFill/>
          </a:ln>
        </p:spPr>
        <p:txBody>
          <a:bodyPr wrap="square" anchor="t" lIns="0" rIns="0" tIns="0" bIns="0"/>
          <a:lstStyle/>
          <a:p>
            <a:pPr algn="l"/>
            <a:r>
              <a:rPr lang="en-US" sz="1700" b="1">
                <a:solidFill>
                  <a:srgbClr val="17212B"/>
                </a:solidFill>
                <a:latin typeface="Arial"/>
              </a:rPr>
              <a:t>Full interview demonstrator</a:t>
            </a:r>
            <a:endParaRPr lang="en-US" sz="1700"/>
          </a:p>
        </p:txBody>
      </p:sp>
      <p:sp>
        <p:nvSpPr>
          <p:cNvPr id="39" name="Text 39"/>
          <p:cNvSpPr txBox="1"/>
          <p:nvPr/>
        </p:nvSpPr>
        <p:spPr>
          <a:xfrm>
            <a:off x="6534150" y="5200650"/>
            <a:ext cx="4476750" cy="266700"/>
          </a:xfrm>
          <a:prstGeom prst="rect">
            <a:avLst/>
          </a:prstGeom>
          <a:noFill/>
          <a:ln>
            <a:noFill/>
          </a:ln>
        </p:spPr>
        <p:txBody>
          <a:bodyPr wrap="square" anchor="t" lIns="0" rIns="0" tIns="0" bIns="0"/>
          <a:lstStyle/>
          <a:p>
            <a:pPr algn="l"/>
            <a:r>
              <a:rPr lang="en-US" sz="1400" b="0">
                <a:solidFill>
                  <a:srgbClr val="5D6873"/>
                </a:solidFill>
                <a:latin typeface="Arial"/>
              </a:rPr>
              <a:t>Delivered composite + LM Studio path</a:t>
            </a:r>
            <a:endParaRPr lang="en-US" sz="1400"/>
          </a:p>
        </p:txBody>
      </p:sp>
      <p:cxnSp>
        <p:nvCxnSpPr>
          <p:cNvPr id="40" name="Connector 40"/>
          <p:cNvCxnSpPr/>
          <p:nvPr/>
        </p:nvCxnSpPr>
        <p:spPr>
          <a:xfrm>
            <a:off x="552450" y="6419850"/>
            <a:ext cx="11087100" cy="0"/>
          </a:xfrm>
          <a:prstGeom prst="line">
            <a:avLst/>
          </a:prstGeom>
          <a:ln w="12700">
            <a:solidFill>
              <a:srgbClr val="D9DEE3"/>
            </a:solidFill>
          </a:ln>
        </p:spPr>
      </p:cxnSp>
      <p:sp>
        <p:nvSpPr>
          <p:cNvPr id="41" name="Text 41"/>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CUSTOMER ACTIVITY ANALYTICS</a:t>
            </a:r>
            <a:endParaRPr lang="en-US" sz="1000"/>
          </a:p>
        </p:txBody>
      </p:sp>
      <p:sp>
        <p:nvSpPr>
          <p:cNvPr id="42" name="Text 42"/>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8</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ENGINEERING CONTROL PLANE</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GitHub mediated every hand-off between one accountable human and parallel agents</a:t>
            </a:r>
            <a:endParaRPr lang="en-US" sz="3000"/>
          </a:p>
        </p:txBody>
      </p:sp>
      <p:cxnSp>
        <p:nvCxnSpPr>
          <p:cNvPr id="4" name="Connector 4"/>
          <p:cNvCxnSpPr/>
          <p:nvPr/>
        </p:nvCxnSpPr>
        <p:spPr>
          <a:xfrm>
            <a:off x="2571750" y="3162300"/>
            <a:ext cx="1714500" cy="0"/>
          </a:xfrm>
          <a:prstGeom prst="line">
            <a:avLst/>
          </a:prstGeom>
          <a:ln w="38100">
            <a:solidFill>
              <a:srgbClr val="D71920"/>
            </a:solidFill>
            <a:headEnd type="triangle"/>
            <a:tailEnd type="triangle"/>
          </a:ln>
        </p:spPr>
      </p:cxnSp>
      <p:cxnSp>
        <p:nvCxnSpPr>
          <p:cNvPr id="5" name="Connector 5"/>
          <p:cNvCxnSpPr/>
          <p:nvPr/>
        </p:nvCxnSpPr>
        <p:spPr>
          <a:xfrm flipV="1">
            <a:off x="6762750" y="2190750"/>
            <a:ext cx="2095500" cy="495300"/>
          </a:xfrm>
          <a:prstGeom prst="line">
            <a:avLst/>
          </a:prstGeom>
          <a:ln w="25400">
            <a:solidFill>
              <a:srgbClr val="2A5B84"/>
            </a:solidFill>
            <a:headEnd type="triangle"/>
            <a:tailEnd type="triangle"/>
          </a:ln>
        </p:spPr>
      </p:cxnSp>
      <p:cxnSp>
        <p:nvCxnSpPr>
          <p:cNvPr id="6" name="Connector 6"/>
          <p:cNvCxnSpPr/>
          <p:nvPr/>
        </p:nvCxnSpPr>
        <p:spPr>
          <a:xfrm>
            <a:off x="6762750" y="3162300"/>
            <a:ext cx="2095500" cy="0"/>
          </a:xfrm>
          <a:prstGeom prst="line">
            <a:avLst/>
          </a:prstGeom>
          <a:ln w="25400">
            <a:solidFill>
              <a:srgbClr val="2A5B84"/>
            </a:solidFill>
            <a:headEnd type="triangle"/>
            <a:tailEnd type="triangle"/>
          </a:ln>
        </p:spPr>
      </p:cxnSp>
      <p:cxnSp>
        <p:nvCxnSpPr>
          <p:cNvPr id="7" name="Connector 7"/>
          <p:cNvCxnSpPr/>
          <p:nvPr/>
        </p:nvCxnSpPr>
        <p:spPr>
          <a:xfrm>
            <a:off x="6762750" y="3638550"/>
            <a:ext cx="2095500" cy="495300"/>
          </a:xfrm>
          <a:prstGeom prst="line">
            <a:avLst/>
          </a:prstGeom>
          <a:ln w="25400">
            <a:solidFill>
              <a:srgbClr val="2A5B84"/>
            </a:solidFill>
            <a:headEnd type="triangle"/>
            <a:tailEnd type="triangle"/>
          </a:ln>
        </p:spPr>
      </p:cxnSp>
      <p:sp>
        <p:nvSpPr>
          <p:cNvPr id="8" name="Shape 8"/>
          <p:cNvSpPr/>
          <p:nvPr/>
        </p:nvSpPr>
        <p:spPr>
          <a:xfrm>
            <a:off x="800100" y="2305050"/>
            <a:ext cx="1771650" cy="1771650"/>
          </a:xfrm>
          <a:prstGeom prst="ellipse">
            <a:avLst/>
          </a:prstGeom>
          <a:solidFill>
            <a:srgbClr val="FCEBEC"/>
          </a:solidFill>
          <a:ln w="38100">
            <a:solidFill>
              <a:srgbClr val="D71920"/>
            </a:solidFill>
          </a:ln>
        </p:spPr>
      </p:sp>
      <p:pic>
        <p:nvPicPr>
          <p:cNvPr id="9" name="Picture 9"/>
          <p:cNvPicPr>
            <a:picLocks noChangeAspect="1"/>
          </p:cNvPicPr>
          <p:nvPr/>
        </p:nvPicPr>
        <p:blipFill>
          <a:blip r:embed="rId2"/>
          <a:stretch>
            <a:fillRect/>
          </a:stretch>
        </p:blipFill>
        <p:spPr>
          <a:xfrm>
            <a:off x="1381125" y="2533650"/>
            <a:ext cx="609600" cy="609600"/>
          </a:xfrm>
          <a:prstGeom prst="rect">
            <a:avLst/>
          </a:prstGeom>
          <a:ln>
            <a:noFill/>
          </a:ln>
        </p:spPr>
      </p:pic>
      <p:sp>
        <p:nvSpPr>
          <p:cNvPr id="10" name="Text 10"/>
          <p:cNvSpPr txBox="1"/>
          <p:nvPr/>
        </p:nvSpPr>
        <p:spPr>
          <a:xfrm>
            <a:off x="1047750" y="3219450"/>
            <a:ext cx="1276350" cy="285750"/>
          </a:xfrm>
          <a:prstGeom prst="rect">
            <a:avLst/>
          </a:prstGeom>
          <a:noFill/>
          <a:ln>
            <a:noFill/>
          </a:ln>
        </p:spPr>
        <p:txBody>
          <a:bodyPr wrap="square" anchor="t" lIns="0" rIns="0" tIns="0" bIns="0"/>
          <a:lstStyle/>
          <a:p>
            <a:pPr algn="ctr"/>
            <a:r>
              <a:rPr lang="en-US" sz="1800" b="1">
                <a:solidFill>
                  <a:srgbClr val="981B1E"/>
                </a:solidFill>
                <a:latin typeface="Arial"/>
              </a:rPr>
              <a:t>HUMAN</a:t>
            </a:r>
            <a:endParaRPr lang="en-US" sz="1800"/>
          </a:p>
        </p:txBody>
      </p:sp>
      <p:sp>
        <p:nvSpPr>
          <p:cNvPr id="11" name="Text 11"/>
          <p:cNvSpPr txBox="1"/>
          <p:nvPr/>
        </p:nvSpPr>
        <p:spPr>
          <a:xfrm>
            <a:off x="1009650" y="3562350"/>
            <a:ext cx="1352550" cy="266700"/>
          </a:xfrm>
          <a:prstGeom prst="rect">
            <a:avLst/>
          </a:prstGeom>
          <a:noFill/>
          <a:ln>
            <a:noFill/>
          </a:ln>
        </p:spPr>
        <p:txBody>
          <a:bodyPr wrap="square" anchor="t" lIns="0" rIns="0" tIns="0" bIns="0"/>
          <a:lstStyle/>
          <a:p>
            <a:pPr algn="ctr"/>
            <a:r>
              <a:rPr lang="en-US" sz="1300" b="0">
                <a:solidFill>
                  <a:srgbClr val="17212B"/>
                </a:solidFill>
                <a:latin typeface="Arial"/>
              </a:rPr>
              <a:t>Prioritizes and accepts</a:t>
            </a:r>
            <a:endParaRPr lang="en-US" sz="1300"/>
          </a:p>
        </p:txBody>
      </p:sp>
      <p:sp>
        <p:nvSpPr>
          <p:cNvPr id="12" name="Shape 12"/>
          <p:cNvSpPr/>
          <p:nvPr/>
        </p:nvSpPr>
        <p:spPr>
          <a:xfrm>
            <a:off x="4286250" y="1924050"/>
            <a:ext cx="2476500" cy="2476500"/>
          </a:xfrm>
          <a:prstGeom prst="ellipse">
            <a:avLst/>
          </a:prstGeom>
          <a:solidFill>
            <a:srgbClr val="17212B"/>
          </a:solidFill>
          <a:ln w="12700">
            <a:solidFill>
              <a:srgbClr val="17212B"/>
            </a:solidFill>
          </a:ln>
        </p:spPr>
      </p:sp>
      <p:pic>
        <p:nvPicPr>
          <p:cNvPr id="13" name="Picture 13"/>
          <p:cNvPicPr>
            <a:picLocks noChangeAspect="1"/>
          </p:cNvPicPr>
          <p:nvPr/>
        </p:nvPicPr>
        <p:blipFill>
          <a:blip r:embed="rId3"/>
          <a:stretch>
            <a:fillRect/>
          </a:stretch>
        </p:blipFill>
        <p:spPr>
          <a:xfrm>
            <a:off x="5124450" y="2228850"/>
            <a:ext cx="800100" cy="800100"/>
          </a:xfrm>
          <a:prstGeom prst="rect">
            <a:avLst/>
          </a:prstGeom>
          <a:ln>
            <a:noFill/>
          </a:ln>
        </p:spPr>
      </p:pic>
      <p:sp>
        <p:nvSpPr>
          <p:cNvPr id="14" name="Text 14"/>
          <p:cNvSpPr txBox="1"/>
          <p:nvPr/>
        </p:nvSpPr>
        <p:spPr>
          <a:xfrm>
            <a:off x="4629150" y="3105150"/>
            <a:ext cx="1790700" cy="247650"/>
          </a:xfrm>
          <a:prstGeom prst="rect">
            <a:avLst/>
          </a:prstGeom>
          <a:noFill/>
          <a:ln>
            <a:noFill/>
          </a:ln>
        </p:spPr>
        <p:txBody>
          <a:bodyPr wrap="square" anchor="t" lIns="0" rIns="0" tIns="0" bIns="0"/>
          <a:lstStyle/>
          <a:p>
            <a:pPr algn="ctr"/>
            <a:r>
              <a:rPr lang="en-US" sz="1900" b="1">
                <a:solidFill>
                  <a:srgbClr val="FF8589"/>
                </a:solidFill>
                <a:latin typeface="Arial"/>
              </a:rPr>
              <a:t>GITHUB</a:t>
            </a:r>
            <a:endParaRPr lang="en-US" sz="1900"/>
          </a:p>
        </p:txBody>
      </p:sp>
      <p:sp>
        <p:nvSpPr>
          <p:cNvPr id="15" name="Text 15"/>
          <p:cNvSpPr txBox="1"/>
          <p:nvPr/>
        </p:nvSpPr>
        <p:spPr>
          <a:xfrm>
            <a:off x="4629150" y="3409950"/>
            <a:ext cx="1790700" cy="419100"/>
          </a:xfrm>
          <a:prstGeom prst="rect">
            <a:avLst/>
          </a:prstGeom>
          <a:noFill/>
          <a:ln>
            <a:noFill/>
          </a:ln>
        </p:spPr>
        <p:txBody>
          <a:bodyPr wrap="square" anchor="t" lIns="0" rIns="0" tIns="0" bIns="0"/>
          <a:lstStyle/>
          <a:p>
            <a:pPr algn="ctr"/>
            <a:r>
              <a:rPr lang="en-US" sz="1800" b="1">
                <a:solidFill>
                  <a:srgbClr val="FF8589"/>
                </a:solidFill>
                <a:latin typeface="Arial"/>
              </a:rPr>
              <a:t>CONTROL PLANE</a:t>
            </a:r>
            <a:endParaRPr lang="en-US" sz="1800"/>
          </a:p>
        </p:txBody>
      </p:sp>
      <p:sp>
        <p:nvSpPr>
          <p:cNvPr id="16" name="Text 16"/>
          <p:cNvSpPr txBox="1"/>
          <p:nvPr/>
        </p:nvSpPr>
        <p:spPr>
          <a:xfrm>
            <a:off x="4629150" y="3905250"/>
            <a:ext cx="1790700" cy="190500"/>
          </a:xfrm>
          <a:prstGeom prst="rect">
            <a:avLst/>
          </a:prstGeom>
          <a:noFill/>
          <a:ln>
            <a:noFill/>
          </a:ln>
        </p:spPr>
        <p:txBody>
          <a:bodyPr wrap="square" anchor="t" lIns="0" rIns="0" tIns="0" bIns="0"/>
          <a:lstStyle/>
          <a:p>
            <a:pPr algn="ctr"/>
            <a:r>
              <a:rPr lang="en-US" sz="1200" b="0">
                <a:solidFill>
                  <a:srgbClr val="DDE3E8"/>
                </a:solidFill>
                <a:latin typeface="Arial"/>
              </a:rPr>
              <a:t>work state + evidence</a:t>
            </a:r>
            <a:endParaRPr lang="en-US" sz="1200"/>
          </a:p>
        </p:txBody>
      </p:sp>
      <p:sp>
        <p:nvSpPr>
          <p:cNvPr id="17" name="Shape 17"/>
          <p:cNvSpPr/>
          <p:nvPr/>
        </p:nvSpPr>
        <p:spPr>
          <a:xfrm>
            <a:off x="8858250" y="1714500"/>
            <a:ext cx="2476500" cy="781050"/>
          </a:xfrm>
          <a:prstGeom prst="roundRect">
            <a:avLst/>
          </a:prstGeom>
          <a:solidFill>
            <a:srgbClr val="EAF1F7"/>
          </a:solidFill>
          <a:ln w="25400">
            <a:solidFill>
              <a:srgbClr val="2A5B84"/>
            </a:solidFill>
          </a:ln>
        </p:spPr>
      </p:sp>
      <p:sp>
        <p:nvSpPr>
          <p:cNvPr id="18" name="Shape 18"/>
          <p:cNvSpPr/>
          <p:nvPr/>
        </p:nvSpPr>
        <p:spPr>
          <a:xfrm>
            <a:off x="9010650" y="1866900"/>
            <a:ext cx="476250" cy="476250"/>
          </a:xfrm>
          <a:prstGeom prst="roundRect">
            <a:avLst/>
          </a:prstGeom>
          <a:solidFill>
            <a:srgbClr val="FFFFFF"/>
          </a:solidFill>
          <a:ln w="19050">
            <a:solidFill>
              <a:srgbClr val="2A5B84"/>
            </a:solidFill>
          </a:ln>
        </p:spPr>
      </p:sp>
      <p:pic>
        <p:nvPicPr>
          <p:cNvPr id="19" name="Picture 19"/>
          <p:cNvPicPr>
            <a:picLocks noChangeAspect="1"/>
          </p:cNvPicPr>
          <p:nvPr/>
        </p:nvPicPr>
        <p:blipFill>
          <a:blip r:embed="rId4"/>
          <a:stretch>
            <a:fillRect/>
          </a:stretch>
        </p:blipFill>
        <p:spPr>
          <a:xfrm>
            <a:off x="9134475" y="1990725"/>
            <a:ext cx="228600" cy="228600"/>
          </a:xfrm>
          <a:prstGeom prst="rect">
            <a:avLst/>
          </a:prstGeom>
          <a:ln>
            <a:noFill/>
          </a:ln>
        </p:spPr>
      </p:pic>
      <p:sp>
        <p:nvSpPr>
          <p:cNvPr id="20" name="Text 20"/>
          <p:cNvSpPr txBox="1"/>
          <p:nvPr/>
        </p:nvSpPr>
        <p:spPr>
          <a:xfrm>
            <a:off x="9639300" y="1828800"/>
            <a:ext cx="1504950" cy="228600"/>
          </a:xfrm>
          <a:prstGeom prst="rect">
            <a:avLst/>
          </a:prstGeom>
          <a:noFill/>
          <a:ln>
            <a:noFill/>
          </a:ln>
        </p:spPr>
        <p:txBody>
          <a:bodyPr wrap="square" anchor="t" lIns="0" rIns="0" tIns="0" bIns="0"/>
          <a:lstStyle/>
          <a:p>
            <a:pPr algn="l"/>
            <a:r>
              <a:rPr lang="en-US" sz="1500" b="1">
                <a:solidFill>
                  <a:srgbClr val="2A5B84"/>
                </a:solidFill>
                <a:latin typeface="Arial"/>
              </a:rPr>
              <a:t>AGENT A</a:t>
            </a:r>
            <a:endParaRPr lang="en-US" sz="1500"/>
          </a:p>
        </p:txBody>
      </p:sp>
      <p:sp>
        <p:nvSpPr>
          <p:cNvPr id="21" name="Text 21"/>
          <p:cNvSpPr txBox="1"/>
          <p:nvPr/>
        </p:nvSpPr>
        <p:spPr>
          <a:xfrm>
            <a:off x="9639300" y="2114550"/>
            <a:ext cx="1504950" cy="266700"/>
          </a:xfrm>
          <a:prstGeom prst="rect">
            <a:avLst/>
          </a:prstGeom>
          <a:noFill/>
          <a:ln>
            <a:noFill/>
          </a:ln>
        </p:spPr>
        <p:txBody>
          <a:bodyPr wrap="square" anchor="t" lIns="0" rIns="0" tIns="0" bIns="0"/>
          <a:lstStyle/>
          <a:p>
            <a:pPr algn="l"/>
            <a:r>
              <a:rPr lang="en-US" sz="1300" b="0">
                <a:solidFill>
                  <a:srgbClr val="17212B"/>
                </a:solidFill>
                <a:latin typeface="Arial"/>
              </a:rPr>
              <a:t>bounded implementation</a:t>
            </a:r>
            <a:endParaRPr lang="en-US" sz="1300"/>
          </a:p>
        </p:txBody>
      </p:sp>
      <p:sp>
        <p:nvSpPr>
          <p:cNvPr id="22" name="Shape 22"/>
          <p:cNvSpPr/>
          <p:nvPr/>
        </p:nvSpPr>
        <p:spPr>
          <a:xfrm>
            <a:off x="8858250" y="2733675"/>
            <a:ext cx="2476500" cy="781050"/>
          </a:xfrm>
          <a:prstGeom prst="roundRect">
            <a:avLst/>
          </a:prstGeom>
          <a:solidFill>
            <a:srgbClr val="EAF1F7"/>
          </a:solidFill>
          <a:ln w="25400">
            <a:solidFill>
              <a:srgbClr val="2A5B84"/>
            </a:solidFill>
          </a:ln>
        </p:spPr>
      </p:sp>
      <p:sp>
        <p:nvSpPr>
          <p:cNvPr id="23" name="Shape 23"/>
          <p:cNvSpPr/>
          <p:nvPr/>
        </p:nvSpPr>
        <p:spPr>
          <a:xfrm>
            <a:off x="9010650" y="2886075"/>
            <a:ext cx="476250" cy="476250"/>
          </a:xfrm>
          <a:prstGeom prst="roundRect">
            <a:avLst/>
          </a:prstGeom>
          <a:solidFill>
            <a:srgbClr val="FFFFFF"/>
          </a:solidFill>
          <a:ln w="19050">
            <a:solidFill>
              <a:srgbClr val="2A5B84"/>
            </a:solidFill>
          </a:ln>
        </p:spPr>
      </p:sp>
      <p:pic>
        <p:nvPicPr>
          <p:cNvPr id="24" name="Picture 24"/>
          <p:cNvPicPr>
            <a:picLocks noChangeAspect="1"/>
          </p:cNvPicPr>
          <p:nvPr/>
        </p:nvPicPr>
        <p:blipFill>
          <a:blip r:embed="rId5"/>
          <a:stretch>
            <a:fillRect/>
          </a:stretch>
        </p:blipFill>
        <p:spPr>
          <a:xfrm>
            <a:off x="9134475" y="3009900"/>
            <a:ext cx="228600" cy="228600"/>
          </a:xfrm>
          <a:prstGeom prst="rect">
            <a:avLst/>
          </a:prstGeom>
          <a:ln>
            <a:noFill/>
          </a:ln>
        </p:spPr>
      </p:pic>
      <p:sp>
        <p:nvSpPr>
          <p:cNvPr id="25" name="Text 25"/>
          <p:cNvSpPr txBox="1"/>
          <p:nvPr/>
        </p:nvSpPr>
        <p:spPr>
          <a:xfrm>
            <a:off x="9639300" y="2847975"/>
            <a:ext cx="1504950" cy="228600"/>
          </a:xfrm>
          <a:prstGeom prst="rect">
            <a:avLst/>
          </a:prstGeom>
          <a:noFill/>
          <a:ln>
            <a:noFill/>
          </a:ln>
        </p:spPr>
        <p:txBody>
          <a:bodyPr wrap="square" anchor="t" lIns="0" rIns="0" tIns="0" bIns="0"/>
          <a:lstStyle/>
          <a:p>
            <a:pPr algn="l"/>
            <a:r>
              <a:rPr lang="en-US" sz="1500" b="1">
                <a:solidFill>
                  <a:srgbClr val="2A5B84"/>
                </a:solidFill>
                <a:latin typeface="Arial"/>
              </a:rPr>
              <a:t>AGENT B</a:t>
            </a:r>
            <a:endParaRPr lang="en-US" sz="1500"/>
          </a:p>
        </p:txBody>
      </p:sp>
      <p:sp>
        <p:nvSpPr>
          <p:cNvPr id="26" name="Text 26"/>
          <p:cNvSpPr txBox="1"/>
          <p:nvPr/>
        </p:nvSpPr>
        <p:spPr>
          <a:xfrm>
            <a:off x="9639300" y="3133725"/>
            <a:ext cx="1504950" cy="266700"/>
          </a:xfrm>
          <a:prstGeom prst="rect">
            <a:avLst/>
          </a:prstGeom>
          <a:noFill/>
          <a:ln>
            <a:noFill/>
          </a:ln>
        </p:spPr>
        <p:txBody>
          <a:bodyPr wrap="square" anchor="t" lIns="0" rIns="0" tIns="0" bIns="0"/>
          <a:lstStyle/>
          <a:p>
            <a:pPr algn="l"/>
            <a:r>
              <a:rPr lang="en-US" sz="1300" b="0">
                <a:solidFill>
                  <a:srgbClr val="17212B"/>
                </a:solidFill>
                <a:latin typeface="Arial"/>
              </a:rPr>
              <a:t>independent review</a:t>
            </a:r>
            <a:endParaRPr lang="en-US" sz="1300"/>
          </a:p>
        </p:txBody>
      </p:sp>
      <p:sp>
        <p:nvSpPr>
          <p:cNvPr id="27" name="Shape 27"/>
          <p:cNvSpPr/>
          <p:nvPr/>
        </p:nvSpPr>
        <p:spPr>
          <a:xfrm>
            <a:off x="8858250" y="3752850"/>
            <a:ext cx="2476500" cy="781050"/>
          </a:xfrm>
          <a:prstGeom prst="roundRect">
            <a:avLst/>
          </a:prstGeom>
          <a:solidFill>
            <a:srgbClr val="EAF1F7"/>
          </a:solidFill>
          <a:ln w="25400">
            <a:solidFill>
              <a:srgbClr val="2A5B84"/>
            </a:solidFill>
          </a:ln>
        </p:spPr>
      </p:sp>
      <p:sp>
        <p:nvSpPr>
          <p:cNvPr id="28" name="Shape 28"/>
          <p:cNvSpPr/>
          <p:nvPr/>
        </p:nvSpPr>
        <p:spPr>
          <a:xfrm>
            <a:off x="9010650" y="3905250"/>
            <a:ext cx="476250" cy="476250"/>
          </a:xfrm>
          <a:prstGeom prst="roundRect">
            <a:avLst/>
          </a:prstGeom>
          <a:solidFill>
            <a:srgbClr val="FFFFFF"/>
          </a:solidFill>
          <a:ln w="19050">
            <a:solidFill>
              <a:srgbClr val="2A5B84"/>
            </a:solidFill>
          </a:ln>
        </p:spPr>
      </p:sp>
      <p:pic>
        <p:nvPicPr>
          <p:cNvPr id="29" name="Picture 29"/>
          <p:cNvPicPr>
            <a:picLocks noChangeAspect="1"/>
          </p:cNvPicPr>
          <p:nvPr/>
        </p:nvPicPr>
        <p:blipFill>
          <a:blip r:embed="rId6"/>
          <a:stretch>
            <a:fillRect/>
          </a:stretch>
        </p:blipFill>
        <p:spPr>
          <a:xfrm>
            <a:off x="9134475" y="4029075"/>
            <a:ext cx="228600" cy="228600"/>
          </a:xfrm>
          <a:prstGeom prst="rect">
            <a:avLst/>
          </a:prstGeom>
          <a:ln>
            <a:noFill/>
          </a:ln>
        </p:spPr>
      </p:pic>
      <p:sp>
        <p:nvSpPr>
          <p:cNvPr id="30" name="Text 30"/>
          <p:cNvSpPr txBox="1"/>
          <p:nvPr/>
        </p:nvSpPr>
        <p:spPr>
          <a:xfrm>
            <a:off x="9639300" y="3867150"/>
            <a:ext cx="1504950" cy="228600"/>
          </a:xfrm>
          <a:prstGeom prst="rect">
            <a:avLst/>
          </a:prstGeom>
          <a:noFill/>
          <a:ln>
            <a:noFill/>
          </a:ln>
        </p:spPr>
        <p:txBody>
          <a:bodyPr wrap="square" anchor="t" lIns="0" rIns="0" tIns="0" bIns="0"/>
          <a:lstStyle/>
          <a:p>
            <a:pPr algn="l"/>
            <a:r>
              <a:rPr lang="en-US" sz="1500" b="1">
                <a:solidFill>
                  <a:srgbClr val="2A5B84"/>
                </a:solidFill>
                <a:latin typeface="Arial"/>
              </a:rPr>
              <a:t>AGENT C</a:t>
            </a:r>
            <a:endParaRPr lang="en-US" sz="1500"/>
          </a:p>
        </p:txBody>
      </p:sp>
      <p:sp>
        <p:nvSpPr>
          <p:cNvPr id="31" name="Text 31"/>
          <p:cNvSpPr txBox="1"/>
          <p:nvPr/>
        </p:nvSpPr>
        <p:spPr>
          <a:xfrm>
            <a:off x="9639300" y="4152900"/>
            <a:ext cx="1504950" cy="266700"/>
          </a:xfrm>
          <a:prstGeom prst="rect">
            <a:avLst/>
          </a:prstGeom>
          <a:noFill/>
          <a:ln>
            <a:noFill/>
          </a:ln>
        </p:spPr>
        <p:txBody>
          <a:bodyPr wrap="square" anchor="t" lIns="0" rIns="0" tIns="0" bIns="0"/>
          <a:lstStyle/>
          <a:p>
            <a:pPr algn="l"/>
            <a:r>
              <a:rPr lang="en-US" sz="1300" b="0">
                <a:solidFill>
                  <a:srgbClr val="17212B"/>
                </a:solidFill>
                <a:latin typeface="Arial"/>
              </a:rPr>
              <a:t>verification or docs</a:t>
            </a:r>
            <a:endParaRPr lang="en-US" sz="1300"/>
          </a:p>
        </p:txBody>
      </p:sp>
      <p:sp>
        <p:nvSpPr>
          <p:cNvPr id="32" name="Shape 32"/>
          <p:cNvSpPr/>
          <p:nvPr/>
        </p:nvSpPr>
        <p:spPr>
          <a:xfrm>
            <a:off x="3143250" y="4819650"/>
            <a:ext cx="5334000" cy="1200150"/>
          </a:xfrm>
          <a:prstGeom prst="roundRect">
            <a:avLst/>
          </a:prstGeom>
          <a:solidFill>
            <a:srgbClr val="F4F6F8"/>
          </a:solidFill>
          <a:ln w="12700">
            <a:solidFill>
              <a:srgbClr val="D9DEE3"/>
            </a:solidFill>
          </a:ln>
        </p:spPr>
      </p:sp>
      <p:sp>
        <p:nvSpPr>
          <p:cNvPr id="33" name="Shape 33"/>
          <p:cNvSpPr/>
          <p:nvPr/>
        </p:nvSpPr>
        <p:spPr>
          <a:xfrm>
            <a:off x="3352800" y="5105400"/>
            <a:ext cx="533400" cy="533400"/>
          </a:xfrm>
          <a:prstGeom prst="roundRect">
            <a:avLst/>
          </a:prstGeom>
          <a:solidFill>
            <a:srgbClr val="FFFFFF"/>
          </a:solidFill>
          <a:ln w="19050">
            <a:solidFill>
              <a:srgbClr val="D71920"/>
            </a:solidFill>
          </a:ln>
        </p:spPr>
      </p:sp>
      <p:pic>
        <p:nvPicPr>
          <p:cNvPr id="34" name="Picture 34"/>
          <p:cNvPicPr>
            <a:picLocks noChangeAspect="1"/>
          </p:cNvPicPr>
          <p:nvPr/>
        </p:nvPicPr>
        <p:blipFill>
          <a:blip r:embed="rId7"/>
          <a:stretch>
            <a:fillRect/>
          </a:stretch>
        </p:blipFill>
        <p:spPr>
          <a:xfrm>
            <a:off x="3486150" y="5238750"/>
            <a:ext cx="266700" cy="266700"/>
          </a:xfrm>
          <a:prstGeom prst="rect">
            <a:avLst/>
          </a:prstGeom>
          <a:ln>
            <a:noFill/>
          </a:ln>
        </p:spPr>
      </p:pic>
      <p:sp>
        <p:nvSpPr>
          <p:cNvPr id="35" name="Text 35"/>
          <p:cNvSpPr txBox="1"/>
          <p:nvPr/>
        </p:nvSpPr>
        <p:spPr>
          <a:xfrm>
            <a:off x="4114800" y="4953000"/>
            <a:ext cx="4000500" cy="247650"/>
          </a:xfrm>
          <a:prstGeom prst="rect">
            <a:avLst/>
          </a:prstGeom>
          <a:noFill/>
          <a:ln>
            <a:noFill/>
          </a:ln>
        </p:spPr>
        <p:txBody>
          <a:bodyPr wrap="square" anchor="t" lIns="0" rIns="0" tIns="0" bIns="0"/>
          <a:lstStyle/>
          <a:p>
            <a:pPr algn="l"/>
            <a:r>
              <a:rPr lang="en-US" sz="1300" b="1">
                <a:solidFill>
                  <a:srgbClr val="17212B"/>
                </a:solidFill>
                <a:latin typeface="Arial"/>
              </a:rPr>
              <a:t>NATIVE WORK GRAPH</a:t>
            </a:r>
            <a:endParaRPr lang="en-US" sz="1300"/>
          </a:p>
        </p:txBody>
      </p:sp>
      <p:sp>
        <p:nvSpPr>
          <p:cNvPr id="36" name="Text 36"/>
          <p:cNvSpPr txBox="1"/>
          <p:nvPr/>
        </p:nvSpPr>
        <p:spPr>
          <a:xfrm>
            <a:off x="4114800" y="5238750"/>
            <a:ext cx="4000500" cy="323850"/>
          </a:xfrm>
          <a:prstGeom prst="rect">
            <a:avLst/>
          </a:prstGeom>
          <a:noFill/>
          <a:ln>
            <a:noFill/>
          </a:ln>
        </p:spPr>
        <p:txBody>
          <a:bodyPr wrap="square" anchor="t" lIns="0" rIns="0" tIns="0" bIns="0"/>
          <a:lstStyle/>
          <a:p>
            <a:pPr algn="l"/>
            <a:r>
              <a:rPr lang="en-US" sz="1400" b="0">
                <a:solidFill>
                  <a:srgbClr val="5D6873"/>
                </a:solidFill>
                <a:latin typeface="Arial"/>
              </a:rPr>
              <a:t>Issues, PRs, relations, milestones and lifecycle</a:t>
            </a:r>
            <a:endParaRPr lang="en-US" sz="1400"/>
          </a:p>
        </p:txBody>
      </p:sp>
      <p:cxnSp>
        <p:nvCxnSpPr>
          <p:cNvPr id="37" name="Connector 37"/>
          <p:cNvCxnSpPr/>
          <p:nvPr/>
        </p:nvCxnSpPr>
        <p:spPr>
          <a:xfrm>
            <a:off x="4114800" y="5657850"/>
            <a:ext cx="4000500" cy="0"/>
          </a:xfrm>
          <a:prstGeom prst="line">
            <a:avLst/>
          </a:prstGeom>
          <a:ln w="12700">
            <a:solidFill>
              <a:srgbClr val="D9DEE3"/>
            </a:solidFill>
          </a:ln>
        </p:spPr>
      </p:cxnSp>
      <p:sp>
        <p:nvSpPr>
          <p:cNvPr id="38" name="Text 38"/>
          <p:cNvSpPr txBox="1"/>
          <p:nvPr/>
        </p:nvSpPr>
        <p:spPr>
          <a:xfrm>
            <a:off x="4114800" y="5734050"/>
            <a:ext cx="4000500" cy="209550"/>
          </a:xfrm>
          <a:prstGeom prst="rect">
            <a:avLst/>
          </a:prstGeom>
          <a:noFill/>
          <a:ln>
            <a:noFill/>
          </a:ln>
        </p:spPr>
        <p:txBody>
          <a:bodyPr wrap="square" anchor="t" lIns="0" rIns="0" tIns="0" bIns="0"/>
          <a:lstStyle/>
          <a:p>
            <a:pPr algn="l"/>
            <a:r>
              <a:rPr lang="en-US" sz="1300" b="1">
                <a:solidFill>
                  <a:srgbClr val="981B1E"/>
                </a:solidFill>
                <a:latin typeface="Arial"/>
              </a:rPr>
              <a:t>Delivery priority · Discovery disposition</a:t>
            </a:r>
            <a:endParaRPr lang="en-US" sz="1300"/>
          </a:p>
        </p:txBody>
      </p:sp>
      <p:sp>
        <p:nvSpPr>
          <p:cNvPr id="39" name="Text 39"/>
          <p:cNvSpPr txBox="1"/>
          <p:nvPr/>
        </p:nvSpPr>
        <p:spPr>
          <a:xfrm>
            <a:off x="8724900" y="4895850"/>
            <a:ext cx="2762250" cy="1066800"/>
          </a:xfrm>
          <a:prstGeom prst="rect">
            <a:avLst/>
          </a:prstGeom>
          <a:noFill/>
          <a:ln>
            <a:noFill/>
          </a:ln>
        </p:spPr>
        <p:txBody>
          <a:bodyPr wrap="square" anchor="ctr" lIns="0" rIns="0" tIns="0" bIns="0"/>
          <a:lstStyle/>
          <a:p>
            <a:pPr algn="ctr"/>
            <a:r>
              <a:rPr lang="en-US" sz="1400" b="0">
                <a:solidFill>
                  <a:srgbClr val="5D6873"/>
                </a:solidFill>
                <a:latin typeface="Arial"/>
              </a:rPr>
              <a:t>The semantics can map to existing enterprise vocabulary. This exercise does not claim enterprise application integration.</a:t>
            </a:r>
            <a:endParaRPr lang="en-US" sz="1400"/>
          </a:p>
        </p:txBody>
      </p:sp>
      <p:cxnSp>
        <p:nvCxnSpPr>
          <p:cNvPr id="40" name="Connector 40"/>
          <p:cNvCxnSpPr/>
          <p:nvPr/>
        </p:nvCxnSpPr>
        <p:spPr>
          <a:xfrm>
            <a:off x="552450" y="6419850"/>
            <a:ext cx="11087100" cy="0"/>
          </a:xfrm>
          <a:prstGeom prst="line">
            <a:avLst/>
          </a:prstGeom>
          <a:ln w="12700">
            <a:solidFill>
              <a:srgbClr val="D9DEE3"/>
            </a:solidFill>
          </a:ln>
        </p:spPr>
      </p:cxnSp>
      <p:sp>
        <p:nvSpPr>
          <p:cNvPr id="41" name="Text 41"/>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CUSTOMER ACTIVITY ANALYTICS</a:t>
            </a:r>
            <a:endParaRPr lang="en-US" sz="1000"/>
          </a:p>
        </p:txBody>
      </p:sp>
      <p:sp>
        <p:nvSpPr>
          <p:cNvPr id="42" name="Text 42"/>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9</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MANAGEMENT PROJECTIONS</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One work graph supports delivery, schedule and scope conversations</a:t>
            </a:r>
            <a:endParaRPr lang="en-US" sz="3000"/>
          </a:p>
        </p:txBody>
      </p:sp>
      <p:sp>
        <p:nvSpPr>
          <p:cNvPr id="4" name="Text 4"/>
          <p:cNvSpPr txBox="1"/>
          <p:nvPr/>
        </p:nvSpPr>
        <p:spPr>
          <a:xfrm>
            <a:off x="8858250" y="1104900"/>
            <a:ext cx="2762250" cy="228600"/>
          </a:xfrm>
          <a:prstGeom prst="rect">
            <a:avLst/>
          </a:prstGeom>
          <a:noFill/>
          <a:ln>
            <a:noFill/>
          </a:ln>
        </p:spPr>
        <p:txBody>
          <a:bodyPr wrap="square" anchor="t" lIns="0" rIns="0" tIns="0" bIns="0"/>
          <a:lstStyle/>
          <a:p>
            <a:pPr algn="r"/>
            <a:r>
              <a:rPr lang="en-US" sz="1000" b="1" spc="120">
                <a:solidFill>
                  <a:srgbClr val="B46B13"/>
                </a:solidFill>
                <a:latin typeface="Arial"/>
              </a:rPr>
              <a:t>SCHEMATIC PREVIEW</a:t>
            </a:r>
            <a:endParaRPr lang="en-US" sz="1000"/>
          </a:p>
        </p:txBody>
      </p:sp>
      <p:sp>
        <p:nvSpPr>
          <p:cNvPr id="5" name="Shape 5"/>
          <p:cNvSpPr/>
          <p:nvPr/>
        </p:nvSpPr>
        <p:spPr>
          <a:xfrm>
            <a:off x="552450" y="1524000"/>
            <a:ext cx="5219700" cy="1981200"/>
          </a:xfrm>
          <a:prstGeom prst="roundRect">
            <a:avLst/>
          </a:prstGeom>
          <a:solidFill>
            <a:srgbClr val="FFFFFF"/>
          </a:solidFill>
          <a:ln w="12700">
            <a:solidFill>
              <a:srgbClr val="D9DEE3"/>
            </a:solidFill>
          </a:ln>
        </p:spPr>
      </p:sp>
      <p:sp>
        <p:nvSpPr>
          <p:cNvPr id="6" name="Shape 6"/>
          <p:cNvSpPr/>
          <p:nvPr/>
        </p:nvSpPr>
        <p:spPr>
          <a:xfrm>
            <a:off x="742950" y="1657350"/>
            <a:ext cx="400050" cy="400050"/>
          </a:xfrm>
          <a:prstGeom prst="roundRect">
            <a:avLst/>
          </a:prstGeom>
          <a:solidFill>
            <a:srgbClr val="FCEBEC"/>
          </a:solidFill>
          <a:ln w="19050">
            <a:solidFill>
              <a:srgbClr val="D71920"/>
            </a:solidFill>
          </a:ln>
        </p:spPr>
      </p:sp>
      <p:pic>
        <p:nvPicPr>
          <p:cNvPr id="7" name="Picture 7"/>
          <p:cNvPicPr>
            <a:picLocks noChangeAspect="1"/>
          </p:cNvPicPr>
          <p:nvPr/>
        </p:nvPicPr>
        <p:blipFill>
          <a:blip r:embed="rId2"/>
          <a:stretch>
            <a:fillRect/>
          </a:stretch>
        </p:blipFill>
        <p:spPr>
          <a:xfrm>
            <a:off x="847725" y="1762125"/>
            <a:ext cx="190500" cy="190500"/>
          </a:xfrm>
          <a:prstGeom prst="rect">
            <a:avLst/>
          </a:prstGeom>
          <a:ln>
            <a:noFill/>
          </a:ln>
        </p:spPr>
      </p:pic>
      <p:sp>
        <p:nvSpPr>
          <p:cNvPr id="8" name="Text 8"/>
          <p:cNvSpPr txBox="1"/>
          <p:nvPr/>
        </p:nvSpPr>
        <p:spPr>
          <a:xfrm>
            <a:off x="1295400" y="1733550"/>
            <a:ext cx="2095500" cy="266700"/>
          </a:xfrm>
          <a:prstGeom prst="rect">
            <a:avLst/>
          </a:prstGeom>
          <a:noFill/>
          <a:ln>
            <a:noFill/>
          </a:ln>
        </p:spPr>
        <p:txBody>
          <a:bodyPr wrap="square" anchor="t" lIns="0" rIns="0" tIns="0" bIns="0"/>
          <a:lstStyle/>
          <a:p>
            <a:pPr algn="l"/>
            <a:r>
              <a:rPr lang="en-US" sz="1600" b="1">
                <a:solidFill>
                  <a:srgbClr val="D71920"/>
                </a:solidFill>
                <a:latin typeface="Arial"/>
              </a:rPr>
              <a:t>WORKGRAPH</a:t>
            </a:r>
            <a:endParaRPr lang="en-US" sz="1600"/>
          </a:p>
        </p:txBody>
      </p:sp>
      <p:cxnSp>
        <p:nvCxnSpPr>
          <p:cNvPr id="9" name="Connector 9"/>
          <p:cNvCxnSpPr/>
          <p:nvPr/>
        </p:nvCxnSpPr>
        <p:spPr>
          <a:xfrm flipV="1">
            <a:off x="1524000" y="2133600"/>
            <a:ext cx="990600" cy="342900"/>
          </a:xfrm>
          <a:prstGeom prst="line">
            <a:avLst/>
          </a:prstGeom>
          <a:ln w="25400">
            <a:solidFill>
              <a:srgbClr val="D9DEE3"/>
            </a:solidFill>
            <a:headEnd type="triangle"/>
            <a:tailEnd type="triangle"/>
          </a:ln>
        </p:spPr>
      </p:cxnSp>
      <p:cxnSp>
        <p:nvCxnSpPr>
          <p:cNvPr id="10" name="Connector 10"/>
          <p:cNvCxnSpPr/>
          <p:nvPr/>
        </p:nvCxnSpPr>
        <p:spPr>
          <a:xfrm>
            <a:off x="2514600" y="2133600"/>
            <a:ext cx="990600" cy="590550"/>
          </a:xfrm>
          <a:prstGeom prst="line">
            <a:avLst/>
          </a:prstGeom>
          <a:ln w="25400">
            <a:solidFill>
              <a:srgbClr val="D9DEE3"/>
            </a:solidFill>
            <a:headEnd type="triangle"/>
            <a:tailEnd type="triangle"/>
          </a:ln>
        </p:spPr>
      </p:cxnSp>
      <p:cxnSp>
        <p:nvCxnSpPr>
          <p:cNvPr id="11" name="Connector 11"/>
          <p:cNvCxnSpPr/>
          <p:nvPr/>
        </p:nvCxnSpPr>
        <p:spPr>
          <a:xfrm>
            <a:off x="2514600" y="2133600"/>
            <a:ext cx="1714500" cy="0"/>
          </a:xfrm>
          <a:prstGeom prst="line">
            <a:avLst/>
          </a:prstGeom>
          <a:ln w="25400">
            <a:solidFill>
              <a:srgbClr val="D9DEE3"/>
            </a:solidFill>
            <a:headEnd type="triangle"/>
            <a:tailEnd type="triangle"/>
          </a:ln>
        </p:spPr>
      </p:cxnSp>
      <p:sp>
        <p:nvSpPr>
          <p:cNvPr id="12" name="Shape 12"/>
          <p:cNvSpPr/>
          <p:nvPr/>
        </p:nvSpPr>
        <p:spPr>
          <a:xfrm>
            <a:off x="1143000" y="2305050"/>
            <a:ext cx="495300" cy="495300"/>
          </a:xfrm>
          <a:prstGeom prst="ellipse">
            <a:avLst/>
          </a:prstGeom>
          <a:solidFill>
            <a:srgbClr val="FCEBEC"/>
          </a:solidFill>
          <a:ln w="25400">
            <a:solidFill>
              <a:srgbClr val="D71920"/>
            </a:solidFill>
          </a:ln>
        </p:spPr>
      </p:sp>
      <p:sp>
        <p:nvSpPr>
          <p:cNvPr id="13" name="Text 13"/>
          <p:cNvSpPr txBox="1"/>
          <p:nvPr/>
        </p:nvSpPr>
        <p:spPr>
          <a:xfrm>
            <a:off x="1143000" y="2447925"/>
            <a:ext cx="495300" cy="209550"/>
          </a:xfrm>
          <a:prstGeom prst="rect">
            <a:avLst/>
          </a:prstGeom>
          <a:noFill/>
          <a:ln>
            <a:noFill/>
          </a:ln>
        </p:spPr>
        <p:txBody>
          <a:bodyPr wrap="square" anchor="t" lIns="0" rIns="0" tIns="0" bIns="0"/>
          <a:lstStyle/>
          <a:p>
            <a:pPr algn="ctr"/>
            <a:r>
              <a:rPr lang="en-US" sz="1000" b="1">
                <a:solidFill>
                  <a:srgbClr val="17212B"/>
                </a:solidFill>
                <a:latin typeface="Arial"/>
              </a:rPr>
              <a:t>ROOT</a:t>
            </a:r>
            <a:endParaRPr lang="en-US" sz="1000"/>
          </a:p>
        </p:txBody>
      </p:sp>
      <p:sp>
        <p:nvSpPr>
          <p:cNvPr id="14" name="Shape 14"/>
          <p:cNvSpPr/>
          <p:nvPr/>
        </p:nvSpPr>
        <p:spPr>
          <a:xfrm>
            <a:off x="2209800" y="1962150"/>
            <a:ext cx="495300" cy="495300"/>
          </a:xfrm>
          <a:prstGeom prst="ellipse">
            <a:avLst/>
          </a:prstGeom>
          <a:solidFill>
            <a:srgbClr val="EAF1F7"/>
          </a:solidFill>
          <a:ln w="25400">
            <a:solidFill>
              <a:srgbClr val="2A5B84"/>
            </a:solidFill>
          </a:ln>
        </p:spPr>
      </p:sp>
      <p:sp>
        <p:nvSpPr>
          <p:cNvPr id="15" name="Text 15"/>
          <p:cNvSpPr txBox="1"/>
          <p:nvPr/>
        </p:nvSpPr>
        <p:spPr>
          <a:xfrm>
            <a:off x="2209800" y="2105025"/>
            <a:ext cx="495300" cy="209550"/>
          </a:xfrm>
          <a:prstGeom prst="rect">
            <a:avLst/>
          </a:prstGeom>
          <a:noFill/>
          <a:ln>
            <a:noFill/>
          </a:ln>
        </p:spPr>
        <p:txBody>
          <a:bodyPr wrap="square" anchor="t" lIns="0" rIns="0" tIns="0" bIns="0"/>
          <a:lstStyle/>
          <a:p>
            <a:pPr algn="ctr"/>
            <a:r>
              <a:rPr lang="en-US" sz="1000" b="1">
                <a:solidFill>
                  <a:srgbClr val="17212B"/>
                </a:solidFill>
                <a:latin typeface="Arial"/>
              </a:rPr>
              <a:t>#121</a:t>
            </a:r>
            <a:endParaRPr lang="en-US" sz="1000"/>
          </a:p>
        </p:txBody>
      </p:sp>
      <p:sp>
        <p:nvSpPr>
          <p:cNvPr id="16" name="Shape 16"/>
          <p:cNvSpPr/>
          <p:nvPr/>
        </p:nvSpPr>
        <p:spPr>
          <a:xfrm>
            <a:off x="3257550" y="2571750"/>
            <a:ext cx="495300" cy="495300"/>
          </a:xfrm>
          <a:prstGeom prst="ellipse">
            <a:avLst/>
          </a:prstGeom>
          <a:solidFill>
            <a:srgbClr val="EAF1F7"/>
          </a:solidFill>
          <a:ln w="25400">
            <a:solidFill>
              <a:srgbClr val="2A5B84"/>
            </a:solidFill>
          </a:ln>
        </p:spPr>
      </p:sp>
      <p:sp>
        <p:nvSpPr>
          <p:cNvPr id="17" name="Text 17"/>
          <p:cNvSpPr txBox="1"/>
          <p:nvPr/>
        </p:nvSpPr>
        <p:spPr>
          <a:xfrm>
            <a:off x="3257550" y="2714625"/>
            <a:ext cx="495300" cy="209550"/>
          </a:xfrm>
          <a:prstGeom prst="rect">
            <a:avLst/>
          </a:prstGeom>
          <a:noFill/>
          <a:ln>
            <a:noFill/>
          </a:ln>
        </p:spPr>
        <p:txBody>
          <a:bodyPr wrap="square" anchor="t" lIns="0" rIns="0" tIns="0" bIns="0"/>
          <a:lstStyle/>
          <a:p>
            <a:pPr algn="ctr"/>
            <a:r>
              <a:rPr lang="en-US" sz="1000" b="1">
                <a:solidFill>
                  <a:srgbClr val="17212B"/>
                </a:solidFill>
                <a:latin typeface="Arial"/>
              </a:rPr>
              <a:t>#122</a:t>
            </a:r>
            <a:endParaRPr lang="en-US" sz="1000"/>
          </a:p>
        </p:txBody>
      </p:sp>
      <p:sp>
        <p:nvSpPr>
          <p:cNvPr id="18" name="Shape 18"/>
          <p:cNvSpPr/>
          <p:nvPr/>
        </p:nvSpPr>
        <p:spPr>
          <a:xfrm>
            <a:off x="4095750" y="1962150"/>
            <a:ext cx="495300" cy="495300"/>
          </a:xfrm>
          <a:prstGeom prst="ellipse">
            <a:avLst/>
          </a:prstGeom>
          <a:solidFill>
            <a:srgbClr val="EAF1F7"/>
          </a:solidFill>
          <a:ln w="25400">
            <a:solidFill>
              <a:srgbClr val="2A5B84"/>
            </a:solidFill>
          </a:ln>
        </p:spPr>
      </p:sp>
      <p:sp>
        <p:nvSpPr>
          <p:cNvPr id="19" name="Text 19"/>
          <p:cNvSpPr txBox="1"/>
          <p:nvPr/>
        </p:nvSpPr>
        <p:spPr>
          <a:xfrm>
            <a:off x="4095750" y="2105025"/>
            <a:ext cx="495300" cy="209550"/>
          </a:xfrm>
          <a:prstGeom prst="rect">
            <a:avLst/>
          </a:prstGeom>
          <a:noFill/>
          <a:ln>
            <a:noFill/>
          </a:ln>
        </p:spPr>
        <p:txBody>
          <a:bodyPr wrap="square" anchor="t" lIns="0" rIns="0" tIns="0" bIns="0"/>
          <a:lstStyle/>
          <a:p>
            <a:pPr algn="ctr"/>
            <a:r>
              <a:rPr lang="en-US" sz="1000" b="1">
                <a:solidFill>
                  <a:srgbClr val="17212B"/>
                </a:solidFill>
                <a:latin typeface="Arial"/>
              </a:rPr>
              <a:t>#123</a:t>
            </a:r>
            <a:endParaRPr lang="en-US" sz="1000"/>
          </a:p>
        </p:txBody>
      </p:sp>
      <p:sp>
        <p:nvSpPr>
          <p:cNvPr id="20" name="Text 20"/>
          <p:cNvSpPr txBox="1"/>
          <p:nvPr/>
        </p:nvSpPr>
        <p:spPr>
          <a:xfrm>
            <a:off x="742950" y="3124200"/>
            <a:ext cx="4743450" cy="228600"/>
          </a:xfrm>
          <a:prstGeom prst="rect">
            <a:avLst/>
          </a:prstGeom>
          <a:noFill/>
          <a:ln>
            <a:noFill/>
          </a:ln>
        </p:spPr>
        <p:txBody>
          <a:bodyPr wrap="square" anchor="t" lIns="0" rIns="0" tIns="0" bIns="0"/>
          <a:lstStyle/>
          <a:p>
            <a:pPr algn="ctr"/>
            <a:r>
              <a:rPr lang="en-US" sz="1300" b="0">
                <a:solidFill>
                  <a:srgbClr val="5D6873"/>
                </a:solidFill>
                <a:latin typeface="Arial"/>
              </a:rPr>
              <a:t>Hierarchy, dependencies and PR ownership</a:t>
            </a:r>
            <a:endParaRPr lang="en-US" sz="1300"/>
          </a:p>
        </p:txBody>
      </p:sp>
      <p:sp>
        <p:nvSpPr>
          <p:cNvPr id="21" name="Shape 21"/>
          <p:cNvSpPr/>
          <p:nvPr/>
        </p:nvSpPr>
        <p:spPr>
          <a:xfrm>
            <a:off x="6419850" y="1524000"/>
            <a:ext cx="5219700" cy="1981200"/>
          </a:xfrm>
          <a:prstGeom prst="roundRect">
            <a:avLst/>
          </a:prstGeom>
          <a:solidFill>
            <a:srgbClr val="FFFFFF"/>
          </a:solidFill>
          <a:ln w="12700">
            <a:solidFill>
              <a:srgbClr val="D9DEE3"/>
            </a:solidFill>
          </a:ln>
        </p:spPr>
      </p:sp>
      <p:sp>
        <p:nvSpPr>
          <p:cNvPr id="22" name="Shape 22"/>
          <p:cNvSpPr/>
          <p:nvPr/>
        </p:nvSpPr>
        <p:spPr>
          <a:xfrm>
            <a:off x="6610350" y="1657350"/>
            <a:ext cx="400050" cy="400050"/>
          </a:xfrm>
          <a:prstGeom prst="roundRect">
            <a:avLst/>
          </a:prstGeom>
          <a:solidFill>
            <a:srgbClr val="EAF1F7"/>
          </a:solidFill>
          <a:ln w="19050">
            <a:solidFill>
              <a:srgbClr val="2A5B84"/>
            </a:solidFill>
          </a:ln>
        </p:spPr>
      </p:sp>
      <p:pic>
        <p:nvPicPr>
          <p:cNvPr id="23" name="Picture 23"/>
          <p:cNvPicPr>
            <a:picLocks noChangeAspect="1"/>
          </p:cNvPicPr>
          <p:nvPr/>
        </p:nvPicPr>
        <p:blipFill>
          <a:blip r:embed="rId3"/>
          <a:stretch>
            <a:fillRect/>
          </a:stretch>
        </p:blipFill>
        <p:spPr>
          <a:xfrm>
            <a:off x="6715125" y="1762125"/>
            <a:ext cx="190500" cy="190500"/>
          </a:xfrm>
          <a:prstGeom prst="rect">
            <a:avLst/>
          </a:prstGeom>
          <a:ln>
            <a:noFill/>
          </a:ln>
        </p:spPr>
      </p:pic>
      <p:sp>
        <p:nvSpPr>
          <p:cNvPr id="24" name="Text 24"/>
          <p:cNvSpPr txBox="1"/>
          <p:nvPr/>
        </p:nvSpPr>
        <p:spPr>
          <a:xfrm>
            <a:off x="7162800" y="1733550"/>
            <a:ext cx="2095500" cy="266700"/>
          </a:xfrm>
          <a:prstGeom prst="rect">
            <a:avLst/>
          </a:prstGeom>
          <a:noFill/>
          <a:ln>
            <a:noFill/>
          </a:ln>
        </p:spPr>
        <p:txBody>
          <a:bodyPr wrap="square" anchor="t" lIns="0" rIns="0" tIns="0" bIns="0"/>
          <a:lstStyle/>
          <a:p>
            <a:pPr algn="l"/>
            <a:r>
              <a:rPr lang="en-US" sz="1600" b="1">
                <a:solidFill>
                  <a:srgbClr val="D71920"/>
                </a:solidFill>
                <a:latin typeface="Arial"/>
              </a:rPr>
              <a:t>DELIVERY</a:t>
            </a:r>
            <a:endParaRPr lang="en-US" sz="1600"/>
          </a:p>
        </p:txBody>
      </p:sp>
      <p:sp>
        <p:nvSpPr>
          <p:cNvPr id="25" name="Text 25"/>
          <p:cNvSpPr txBox="1"/>
          <p:nvPr/>
        </p:nvSpPr>
        <p:spPr>
          <a:xfrm>
            <a:off x="6705600" y="2095500"/>
            <a:ext cx="1238250" cy="190500"/>
          </a:xfrm>
          <a:prstGeom prst="rect">
            <a:avLst/>
          </a:prstGeom>
          <a:noFill/>
          <a:ln>
            <a:noFill/>
          </a:ln>
        </p:spPr>
        <p:txBody>
          <a:bodyPr wrap="square" anchor="t" lIns="0" rIns="0" tIns="0" bIns="0"/>
          <a:lstStyle/>
          <a:p>
            <a:pPr algn="ctr"/>
            <a:r>
              <a:rPr lang="en-US" sz="1100" b="1">
                <a:solidFill>
                  <a:srgbClr val="5D6873"/>
                </a:solidFill>
                <a:latin typeface="Arial"/>
              </a:rPr>
              <a:t>TODO</a:t>
            </a:r>
            <a:endParaRPr lang="en-US" sz="1100"/>
          </a:p>
        </p:txBody>
      </p:sp>
      <p:sp>
        <p:nvSpPr>
          <p:cNvPr id="26" name="Shape 26"/>
          <p:cNvSpPr/>
          <p:nvPr/>
        </p:nvSpPr>
        <p:spPr>
          <a:xfrm>
            <a:off x="6705600" y="2362200"/>
            <a:ext cx="1238250" cy="400050"/>
          </a:xfrm>
          <a:prstGeom prst="roundRect">
            <a:avLst/>
          </a:prstGeom>
          <a:solidFill>
            <a:srgbClr val="F4F6F8"/>
          </a:solidFill>
          <a:ln w="12700">
            <a:solidFill>
              <a:srgbClr val="D9DEE3"/>
            </a:solidFill>
          </a:ln>
        </p:spPr>
      </p:sp>
      <p:sp>
        <p:nvSpPr>
          <p:cNvPr id="27" name="Shape 27"/>
          <p:cNvSpPr/>
          <p:nvPr/>
        </p:nvSpPr>
        <p:spPr>
          <a:xfrm>
            <a:off x="6705600" y="2857500"/>
            <a:ext cx="1238250" cy="285750"/>
          </a:xfrm>
          <a:prstGeom prst="roundRect">
            <a:avLst/>
          </a:prstGeom>
          <a:solidFill>
            <a:srgbClr val="FFFFFF"/>
          </a:solidFill>
          <a:ln w="12700">
            <a:solidFill>
              <a:srgbClr val="D9DEE3"/>
            </a:solidFill>
          </a:ln>
        </p:spPr>
      </p:sp>
      <p:sp>
        <p:nvSpPr>
          <p:cNvPr id="28" name="Text 28"/>
          <p:cNvSpPr txBox="1"/>
          <p:nvPr/>
        </p:nvSpPr>
        <p:spPr>
          <a:xfrm>
            <a:off x="8229600" y="2095500"/>
            <a:ext cx="1524000" cy="190500"/>
          </a:xfrm>
          <a:prstGeom prst="rect">
            <a:avLst/>
          </a:prstGeom>
          <a:noFill/>
          <a:ln>
            <a:noFill/>
          </a:ln>
        </p:spPr>
        <p:txBody>
          <a:bodyPr wrap="square" anchor="t" lIns="0" rIns="0" tIns="0" bIns="0"/>
          <a:lstStyle/>
          <a:p>
            <a:pPr algn="ctr"/>
            <a:r>
              <a:rPr lang="en-US" sz="1100" b="1">
                <a:solidFill>
                  <a:srgbClr val="5D6873"/>
                </a:solidFill>
                <a:latin typeface="Arial"/>
              </a:rPr>
              <a:t>IN PROGRESS</a:t>
            </a:r>
            <a:endParaRPr lang="en-US" sz="1100"/>
          </a:p>
        </p:txBody>
      </p:sp>
      <p:sp>
        <p:nvSpPr>
          <p:cNvPr id="29" name="Shape 29"/>
          <p:cNvSpPr/>
          <p:nvPr/>
        </p:nvSpPr>
        <p:spPr>
          <a:xfrm>
            <a:off x="8229600" y="2362200"/>
            <a:ext cx="1524000" cy="400050"/>
          </a:xfrm>
          <a:prstGeom prst="roundRect">
            <a:avLst/>
          </a:prstGeom>
          <a:solidFill>
            <a:srgbClr val="FCEBEC"/>
          </a:solidFill>
          <a:ln w="12700">
            <a:solidFill>
              <a:srgbClr val="D71920"/>
            </a:solidFill>
          </a:ln>
        </p:spPr>
      </p:sp>
      <p:sp>
        <p:nvSpPr>
          <p:cNvPr id="30" name="Shape 30"/>
          <p:cNvSpPr/>
          <p:nvPr/>
        </p:nvSpPr>
        <p:spPr>
          <a:xfrm>
            <a:off x="8229600" y="2857500"/>
            <a:ext cx="1524000" cy="285750"/>
          </a:xfrm>
          <a:prstGeom prst="roundRect">
            <a:avLst/>
          </a:prstGeom>
          <a:solidFill>
            <a:srgbClr val="FFFFFF"/>
          </a:solidFill>
          <a:ln w="12700">
            <a:solidFill>
              <a:srgbClr val="D9DEE3"/>
            </a:solidFill>
          </a:ln>
        </p:spPr>
      </p:sp>
      <p:sp>
        <p:nvSpPr>
          <p:cNvPr id="31" name="Text 31"/>
          <p:cNvSpPr txBox="1"/>
          <p:nvPr/>
        </p:nvSpPr>
        <p:spPr>
          <a:xfrm>
            <a:off x="9982200" y="2095500"/>
            <a:ext cx="1238250" cy="190500"/>
          </a:xfrm>
          <a:prstGeom prst="rect">
            <a:avLst/>
          </a:prstGeom>
          <a:noFill/>
          <a:ln>
            <a:noFill/>
          </a:ln>
        </p:spPr>
        <p:txBody>
          <a:bodyPr wrap="square" anchor="t" lIns="0" rIns="0" tIns="0" bIns="0"/>
          <a:lstStyle/>
          <a:p>
            <a:pPr algn="ctr"/>
            <a:r>
              <a:rPr lang="en-US" sz="1100" b="1">
                <a:solidFill>
                  <a:srgbClr val="5D6873"/>
                </a:solidFill>
                <a:latin typeface="Arial"/>
              </a:rPr>
              <a:t>DONE</a:t>
            </a:r>
            <a:endParaRPr lang="en-US" sz="1100"/>
          </a:p>
        </p:txBody>
      </p:sp>
      <p:sp>
        <p:nvSpPr>
          <p:cNvPr id="32" name="Shape 32"/>
          <p:cNvSpPr/>
          <p:nvPr/>
        </p:nvSpPr>
        <p:spPr>
          <a:xfrm>
            <a:off x="9982200" y="2362200"/>
            <a:ext cx="1238250" cy="400050"/>
          </a:xfrm>
          <a:prstGeom prst="roundRect">
            <a:avLst/>
          </a:prstGeom>
          <a:solidFill>
            <a:srgbClr val="F4F6F8"/>
          </a:solidFill>
          <a:ln w="12700">
            <a:solidFill>
              <a:srgbClr val="D9DEE3"/>
            </a:solidFill>
          </a:ln>
        </p:spPr>
      </p:sp>
      <p:sp>
        <p:nvSpPr>
          <p:cNvPr id="33" name="Shape 33"/>
          <p:cNvSpPr/>
          <p:nvPr/>
        </p:nvSpPr>
        <p:spPr>
          <a:xfrm>
            <a:off x="9982200" y="2857500"/>
            <a:ext cx="1238250" cy="285750"/>
          </a:xfrm>
          <a:prstGeom prst="roundRect">
            <a:avLst/>
          </a:prstGeom>
          <a:solidFill>
            <a:srgbClr val="FFFFFF"/>
          </a:solidFill>
          <a:ln w="12700">
            <a:solidFill>
              <a:srgbClr val="D9DEE3"/>
            </a:solidFill>
          </a:ln>
        </p:spPr>
      </p:sp>
      <p:sp>
        <p:nvSpPr>
          <p:cNvPr id="34" name="Shape 34"/>
          <p:cNvSpPr/>
          <p:nvPr/>
        </p:nvSpPr>
        <p:spPr>
          <a:xfrm>
            <a:off x="552450" y="3752850"/>
            <a:ext cx="5219700" cy="2152650"/>
          </a:xfrm>
          <a:prstGeom prst="roundRect">
            <a:avLst/>
          </a:prstGeom>
          <a:solidFill>
            <a:srgbClr val="FFFFFF"/>
          </a:solidFill>
          <a:ln w="12700">
            <a:solidFill>
              <a:srgbClr val="D9DEE3"/>
            </a:solidFill>
          </a:ln>
        </p:spPr>
      </p:sp>
      <p:sp>
        <p:nvSpPr>
          <p:cNvPr id="35" name="Shape 35"/>
          <p:cNvSpPr/>
          <p:nvPr/>
        </p:nvSpPr>
        <p:spPr>
          <a:xfrm>
            <a:off x="742950" y="3886200"/>
            <a:ext cx="400050" cy="400050"/>
          </a:xfrm>
          <a:prstGeom prst="roundRect">
            <a:avLst/>
          </a:prstGeom>
          <a:solidFill>
            <a:srgbClr val="FFF7E8"/>
          </a:solidFill>
          <a:ln w="19050">
            <a:solidFill>
              <a:srgbClr val="B46B13"/>
            </a:solidFill>
          </a:ln>
        </p:spPr>
      </p:sp>
      <p:pic>
        <p:nvPicPr>
          <p:cNvPr id="36" name="Picture 36"/>
          <p:cNvPicPr>
            <a:picLocks noChangeAspect="1"/>
          </p:cNvPicPr>
          <p:nvPr/>
        </p:nvPicPr>
        <p:blipFill>
          <a:blip r:embed="rId4"/>
          <a:stretch>
            <a:fillRect/>
          </a:stretch>
        </p:blipFill>
        <p:spPr>
          <a:xfrm>
            <a:off x="847725" y="3990975"/>
            <a:ext cx="190500" cy="190500"/>
          </a:xfrm>
          <a:prstGeom prst="rect">
            <a:avLst/>
          </a:prstGeom>
          <a:ln>
            <a:noFill/>
          </a:ln>
        </p:spPr>
      </p:pic>
      <p:sp>
        <p:nvSpPr>
          <p:cNvPr id="37" name="Text 37"/>
          <p:cNvSpPr txBox="1"/>
          <p:nvPr/>
        </p:nvSpPr>
        <p:spPr>
          <a:xfrm>
            <a:off x="1295400" y="3962400"/>
            <a:ext cx="2476500" cy="266700"/>
          </a:xfrm>
          <a:prstGeom prst="rect">
            <a:avLst/>
          </a:prstGeom>
          <a:noFill/>
          <a:ln>
            <a:noFill/>
          </a:ln>
        </p:spPr>
        <p:txBody>
          <a:bodyPr wrap="square" anchor="t" lIns="0" rIns="0" tIns="0" bIns="0"/>
          <a:lstStyle/>
          <a:p>
            <a:pPr algn="l"/>
            <a:r>
              <a:rPr lang="en-US" sz="1600" b="1">
                <a:solidFill>
                  <a:srgbClr val="D71920"/>
                </a:solidFill>
                <a:latin typeface="Arial"/>
              </a:rPr>
              <a:t>MILESTONES</a:t>
            </a:r>
            <a:endParaRPr lang="en-US" sz="1600"/>
          </a:p>
        </p:txBody>
      </p:sp>
      <p:cxnSp>
        <p:nvCxnSpPr>
          <p:cNvPr id="38" name="Connector 38"/>
          <p:cNvCxnSpPr/>
          <p:nvPr/>
        </p:nvCxnSpPr>
        <p:spPr>
          <a:xfrm>
            <a:off x="990600" y="4476750"/>
            <a:ext cx="4095750" cy="0"/>
          </a:xfrm>
          <a:prstGeom prst="line">
            <a:avLst/>
          </a:prstGeom>
          <a:ln w="25400">
            <a:solidFill>
              <a:srgbClr val="D9DEE3"/>
            </a:solidFill>
          </a:ln>
        </p:spPr>
      </p:cxnSp>
      <p:sp>
        <p:nvSpPr>
          <p:cNvPr id="39" name="Shape 39"/>
          <p:cNvSpPr/>
          <p:nvPr/>
        </p:nvSpPr>
        <p:spPr>
          <a:xfrm>
            <a:off x="1104900" y="4362450"/>
            <a:ext cx="228600" cy="228600"/>
          </a:xfrm>
          <a:prstGeom prst="ellipse">
            <a:avLst/>
          </a:prstGeom>
          <a:solidFill>
            <a:srgbClr val="D71920"/>
          </a:solidFill>
          <a:ln w="25400">
            <a:solidFill>
              <a:srgbClr val="D71920"/>
            </a:solidFill>
          </a:ln>
        </p:spPr>
      </p:sp>
      <p:sp>
        <p:nvSpPr>
          <p:cNvPr id="40" name="Text 40"/>
          <p:cNvSpPr txBox="1"/>
          <p:nvPr/>
        </p:nvSpPr>
        <p:spPr>
          <a:xfrm>
            <a:off x="990600" y="4686300"/>
            <a:ext cx="457200" cy="190500"/>
          </a:xfrm>
          <a:prstGeom prst="rect">
            <a:avLst/>
          </a:prstGeom>
          <a:noFill/>
          <a:ln>
            <a:noFill/>
          </a:ln>
        </p:spPr>
        <p:txBody>
          <a:bodyPr wrap="square" anchor="t" lIns="0" rIns="0" tIns="0" bIns="0"/>
          <a:lstStyle/>
          <a:p>
            <a:pPr algn="ctr"/>
            <a:r>
              <a:rPr lang="en-US" sz="1100" b="1">
                <a:solidFill>
                  <a:srgbClr val="5D6873"/>
                </a:solidFill>
                <a:latin typeface="Arial"/>
              </a:rPr>
              <a:t>J1</a:t>
            </a:r>
            <a:endParaRPr lang="en-US" sz="1100"/>
          </a:p>
        </p:txBody>
      </p:sp>
      <p:sp>
        <p:nvSpPr>
          <p:cNvPr id="41" name="Shape 41"/>
          <p:cNvSpPr/>
          <p:nvPr/>
        </p:nvSpPr>
        <p:spPr>
          <a:xfrm>
            <a:off x="2019300" y="4362450"/>
            <a:ext cx="228600" cy="228600"/>
          </a:xfrm>
          <a:prstGeom prst="ellipse">
            <a:avLst/>
          </a:prstGeom>
          <a:solidFill>
            <a:srgbClr val="D71920"/>
          </a:solidFill>
          <a:ln w="25400">
            <a:solidFill>
              <a:srgbClr val="D71920"/>
            </a:solidFill>
          </a:ln>
        </p:spPr>
      </p:sp>
      <p:sp>
        <p:nvSpPr>
          <p:cNvPr id="42" name="Text 42"/>
          <p:cNvSpPr txBox="1"/>
          <p:nvPr/>
        </p:nvSpPr>
        <p:spPr>
          <a:xfrm>
            <a:off x="1905000" y="4686300"/>
            <a:ext cx="457200" cy="190500"/>
          </a:xfrm>
          <a:prstGeom prst="rect">
            <a:avLst/>
          </a:prstGeom>
          <a:noFill/>
          <a:ln>
            <a:noFill/>
          </a:ln>
        </p:spPr>
        <p:txBody>
          <a:bodyPr wrap="square" anchor="t" lIns="0" rIns="0" tIns="0" bIns="0"/>
          <a:lstStyle/>
          <a:p>
            <a:pPr algn="ctr"/>
            <a:r>
              <a:rPr lang="en-US" sz="1100" b="1">
                <a:solidFill>
                  <a:srgbClr val="5D6873"/>
                </a:solidFill>
                <a:latin typeface="Arial"/>
              </a:rPr>
              <a:t>J2</a:t>
            </a:r>
            <a:endParaRPr lang="en-US" sz="1100"/>
          </a:p>
        </p:txBody>
      </p:sp>
      <p:sp>
        <p:nvSpPr>
          <p:cNvPr id="43" name="Shape 43"/>
          <p:cNvSpPr/>
          <p:nvPr/>
        </p:nvSpPr>
        <p:spPr>
          <a:xfrm>
            <a:off x="2933700" y="4362450"/>
            <a:ext cx="228600" cy="228600"/>
          </a:xfrm>
          <a:prstGeom prst="ellipse">
            <a:avLst/>
          </a:prstGeom>
          <a:solidFill>
            <a:srgbClr val="D71920"/>
          </a:solidFill>
          <a:ln w="25400">
            <a:solidFill>
              <a:srgbClr val="D71920"/>
            </a:solidFill>
          </a:ln>
        </p:spPr>
      </p:sp>
      <p:sp>
        <p:nvSpPr>
          <p:cNvPr id="44" name="Text 44"/>
          <p:cNvSpPr txBox="1"/>
          <p:nvPr/>
        </p:nvSpPr>
        <p:spPr>
          <a:xfrm>
            <a:off x="2819400" y="4686300"/>
            <a:ext cx="457200" cy="190500"/>
          </a:xfrm>
          <a:prstGeom prst="rect">
            <a:avLst/>
          </a:prstGeom>
          <a:noFill/>
          <a:ln>
            <a:noFill/>
          </a:ln>
        </p:spPr>
        <p:txBody>
          <a:bodyPr wrap="square" anchor="t" lIns="0" rIns="0" tIns="0" bIns="0"/>
          <a:lstStyle/>
          <a:p>
            <a:pPr algn="ctr"/>
            <a:r>
              <a:rPr lang="en-US" sz="1100" b="1">
                <a:solidFill>
                  <a:srgbClr val="5D6873"/>
                </a:solidFill>
                <a:latin typeface="Arial"/>
              </a:rPr>
              <a:t>J3</a:t>
            </a:r>
            <a:endParaRPr lang="en-US" sz="1100"/>
          </a:p>
        </p:txBody>
      </p:sp>
      <p:sp>
        <p:nvSpPr>
          <p:cNvPr id="45" name="Shape 45"/>
          <p:cNvSpPr/>
          <p:nvPr/>
        </p:nvSpPr>
        <p:spPr>
          <a:xfrm>
            <a:off x="3848100" y="4362450"/>
            <a:ext cx="228600" cy="228600"/>
          </a:xfrm>
          <a:prstGeom prst="ellipse">
            <a:avLst/>
          </a:prstGeom>
          <a:solidFill>
            <a:srgbClr val="FFFFFF"/>
          </a:solidFill>
          <a:ln w="25400">
            <a:solidFill>
              <a:srgbClr val="D71920"/>
            </a:solidFill>
          </a:ln>
        </p:spPr>
      </p:sp>
      <p:sp>
        <p:nvSpPr>
          <p:cNvPr id="46" name="Text 46"/>
          <p:cNvSpPr txBox="1"/>
          <p:nvPr/>
        </p:nvSpPr>
        <p:spPr>
          <a:xfrm>
            <a:off x="3733800" y="4686300"/>
            <a:ext cx="457200" cy="190500"/>
          </a:xfrm>
          <a:prstGeom prst="rect">
            <a:avLst/>
          </a:prstGeom>
          <a:noFill/>
          <a:ln>
            <a:noFill/>
          </a:ln>
        </p:spPr>
        <p:txBody>
          <a:bodyPr wrap="square" anchor="t" lIns="0" rIns="0" tIns="0" bIns="0"/>
          <a:lstStyle/>
          <a:p>
            <a:pPr algn="ctr"/>
            <a:r>
              <a:rPr lang="en-US" sz="1100" b="1">
                <a:solidFill>
                  <a:srgbClr val="5D6873"/>
                </a:solidFill>
                <a:latin typeface="Arial"/>
              </a:rPr>
              <a:t>J4</a:t>
            </a:r>
            <a:endParaRPr lang="en-US" sz="1100"/>
          </a:p>
        </p:txBody>
      </p:sp>
      <p:sp>
        <p:nvSpPr>
          <p:cNvPr id="47" name="Shape 47"/>
          <p:cNvSpPr/>
          <p:nvPr/>
        </p:nvSpPr>
        <p:spPr>
          <a:xfrm>
            <a:off x="4762500" y="4362450"/>
            <a:ext cx="228600" cy="228600"/>
          </a:xfrm>
          <a:prstGeom prst="ellipse">
            <a:avLst/>
          </a:prstGeom>
          <a:solidFill>
            <a:srgbClr val="FFFFFF"/>
          </a:solidFill>
          <a:ln w="25400">
            <a:solidFill>
              <a:srgbClr val="D71920"/>
            </a:solidFill>
          </a:ln>
        </p:spPr>
      </p:sp>
      <p:sp>
        <p:nvSpPr>
          <p:cNvPr id="48" name="Text 48"/>
          <p:cNvSpPr txBox="1"/>
          <p:nvPr/>
        </p:nvSpPr>
        <p:spPr>
          <a:xfrm>
            <a:off x="4648200" y="4686300"/>
            <a:ext cx="457200" cy="190500"/>
          </a:xfrm>
          <a:prstGeom prst="rect">
            <a:avLst/>
          </a:prstGeom>
          <a:noFill/>
          <a:ln>
            <a:noFill/>
          </a:ln>
        </p:spPr>
        <p:txBody>
          <a:bodyPr wrap="square" anchor="t" lIns="0" rIns="0" tIns="0" bIns="0"/>
          <a:lstStyle/>
          <a:p>
            <a:pPr algn="ctr"/>
            <a:r>
              <a:rPr lang="en-US" sz="1100" b="1">
                <a:solidFill>
                  <a:srgbClr val="5D6873"/>
                </a:solidFill>
                <a:latin typeface="Arial"/>
              </a:rPr>
              <a:t>J5</a:t>
            </a:r>
            <a:endParaRPr lang="en-US" sz="1100"/>
          </a:p>
        </p:txBody>
      </p:sp>
      <p:sp>
        <p:nvSpPr>
          <p:cNvPr id="49" name="Shape 49"/>
          <p:cNvSpPr/>
          <p:nvPr/>
        </p:nvSpPr>
        <p:spPr>
          <a:xfrm>
            <a:off x="1047750" y="5105400"/>
            <a:ext cx="2076450" cy="209550"/>
          </a:xfrm>
          <a:prstGeom prst="roundRect">
            <a:avLst/>
          </a:prstGeom>
          <a:solidFill>
            <a:srgbClr val="EAF1F7"/>
          </a:solidFill>
          <a:ln w="12700">
            <a:solidFill>
              <a:srgbClr val="2A5B84"/>
            </a:solidFill>
          </a:ln>
        </p:spPr>
      </p:sp>
      <p:sp>
        <p:nvSpPr>
          <p:cNvPr id="50" name="Shape 50"/>
          <p:cNvSpPr/>
          <p:nvPr/>
        </p:nvSpPr>
        <p:spPr>
          <a:xfrm>
            <a:off x="2895600" y="5429250"/>
            <a:ext cx="2114550" cy="209550"/>
          </a:xfrm>
          <a:prstGeom prst="roundRect">
            <a:avLst/>
          </a:prstGeom>
          <a:solidFill>
            <a:srgbClr val="FCEBEC"/>
          </a:solidFill>
          <a:ln w="12700">
            <a:solidFill>
              <a:srgbClr val="D71920"/>
            </a:solidFill>
          </a:ln>
        </p:spPr>
      </p:sp>
      <p:sp>
        <p:nvSpPr>
          <p:cNvPr id="51" name="Shape 51"/>
          <p:cNvSpPr/>
          <p:nvPr/>
        </p:nvSpPr>
        <p:spPr>
          <a:xfrm>
            <a:off x="6419850" y="3752850"/>
            <a:ext cx="5219700" cy="2152650"/>
          </a:xfrm>
          <a:prstGeom prst="roundRect">
            <a:avLst/>
          </a:prstGeom>
          <a:solidFill>
            <a:srgbClr val="FFFFFF"/>
          </a:solidFill>
          <a:ln w="12700">
            <a:solidFill>
              <a:srgbClr val="D9DEE3"/>
            </a:solidFill>
          </a:ln>
        </p:spPr>
      </p:sp>
      <p:sp>
        <p:nvSpPr>
          <p:cNvPr id="52" name="Shape 52"/>
          <p:cNvSpPr/>
          <p:nvPr/>
        </p:nvSpPr>
        <p:spPr>
          <a:xfrm>
            <a:off x="6610350" y="3886200"/>
            <a:ext cx="400050" cy="400050"/>
          </a:xfrm>
          <a:prstGeom prst="roundRect">
            <a:avLst/>
          </a:prstGeom>
          <a:solidFill>
            <a:srgbClr val="EAF5F0"/>
          </a:solidFill>
          <a:ln w="19050">
            <a:solidFill>
              <a:srgbClr val="1F7A5A"/>
            </a:solidFill>
          </a:ln>
        </p:spPr>
      </p:sp>
      <p:pic>
        <p:nvPicPr>
          <p:cNvPr id="53" name="Picture 53"/>
          <p:cNvPicPr>
            <a:picLocks noChangeAspect="1"/>
          </p:cNvPicPr>
          <p:nvPr/>
        </p:nvPicPr>
        <p:blipFill>
          <a:blip r:embed="rId5"/>
          <a:stretch>
            <a:fillRect/>
          </a:stretch>
        </p:blipFill>
        <p:spPr>
          <a:xfrm>
            <a:off x="6715125" y="3990975"/>
            <a:ext cx="190500" cy="190500"/>
          </a:xfrm>
          <a:prstGeom prst="rect">
            <a:avLst/>
          </a:prstGeom>
          <a:ln>
            <a:noFill/>
          </a:ln>
        </p:spPr>
      </p:pic>
      <p:sp>
        <p:nvSpPr>
          <p:cNvPr id="54" name="Text 54"/>
          <p:cNvSpPr txBox="1"/>
          <p:nvPr/>
        </p:nvSpPr>
        <p:spPr>
          <a:xfrm>
            <a:off x="7162800" y="3962400"/>
            <a:ext cx="2476500" cy="266700"/>
          </a:xfrm>
          <a:prstGeom prst="rect">
            <a:avLst/>
          </a:prstGeom>
          <a:noFill/>
          <a:ln>
            <a:noFill/>
          </a:ln>
        </p:spPr>
        <p:txBody>
          <a:bodyPr wrap="square" anchor="t" lIns="0" rIns="0" tIns="0" bIns="0"/>
          <a:lstStyle/>
          <a:p>
            <a:pPr algn="l"/>
            <a:r>
              <a:rPr lang="en-US" sz="1600" b="1">
                <a:solidFill>
                  <a:srgbClr val="D71920"/>
                </a:solidFill>
                <a:latin typeface="Arial"/>
              </a:rPr>
              <a:t>BURN-UP</a:t>
            </a:r>
            <a:endParaRPr lang="en-US" sz="1600"/>
          </a:p>
        </p:txBody>
      </p:sp>
      <p:cxnSp>
        <p:nvCxnSpPr>
          <p:cNvPr id="55" name="Connector 55"/>
          <p:cNvCxnSpPr/>
          <p:nvPr/>
        </p:nvCxnSpPr>
        <p:spPr>
          <a:xfrm flipV="1">
            <a:off x="6896100" y="4381500"/>
            <a:ext cx="0" cy="1104900"/>
          </a:xfrm>
          <a:prstGeom prst="line">
            <a:avLst/>
          </a:prstGeom>
          <a:ln w="12700">
            <a:solidFill>
              <a:srgbClr val="5D6873"/>
            </a:solidFill>
          </a:ln>
        </p:spPr>
      </p:cxnSp>
      <p:cxnSp>
        <p:nvCxnSpPr>
          <p:cNvPr id="56" name="Connector 56"/>
          <p:cNvCxnSpPr/>
          <p:nvPr/>
        </p:nvCxnSpPr>
        <p:spPr>
          <a:xfrm>
            <a:off x="6896100" y="5486400"/>
            <a:ext cx="4000500" cy="0"/>
          </a:xfrm>
          <a:prstGeom prst="line">
            <a:avLst/>
          </a:prstGeom>
          <a:ln w="12700">
            <a:solidFill>
              <a:srgbClr val="5D6873"/>
            </a:solidFill>
          </a:ln>
        </p:spPr>
      </p:cxnSp>
      <p:cxnSp>
        <p:nvCxnSpPr>
          <p:cNvPr id="57" name="Connector 57"/>
          <p:cNvCxnSpPr/>
          <p:nvPr/>
        </p:nvCxnSpPr>
        <p:spPr>
          <a:xfrm flipV="1">
            <a:off x="6896100" y="4876800"/>
            <a:ext cx="800100" cy="457200"/>
          </a:xfrm>
          <a:prstGeom prst="line">
            <a:avLst/>
          </a:prstGeom>
          <a:ln w="38100">
            <a:solidFill>
              <a:srgbClr val="2A5B84"/>
            </a:solidFill>
          </a:ln>
        </p:spPr>
      </p:cxnSp>
      <p:cxnSp>
        <p:nvCxnSpPr>
          <p:cNvPr id="58" name="Connector 58"/>
          <p:cNvCxnSpPr/>
          <p:nvPr/>
        </p:nvCxnSpPr>
        <p:spPr>
          <a:xfrm flipV="1">
            <a:off x="7696200" y="4800600"/>
            <a:ext cx="800100" cy="76200"/>
          </a:xfrm>
          <a:prstGeom prst="line">
            <a:avLst/>
          </a:prstGeom>
          <a:ln w="38100">
            <a:solidFill>
              <a:srgbClr val="2A5B84"/>
            </a:solidFill>
          </a:ln>
        </p:spPr>
      </p:cxnSp>
      <p:cxnSp>
        <p:nvCxnSpPr>
          <p:cNvPr id="59" name="Connector 59"/>
          <p:cNvCxnSpPr/>
          <p:nvPr/>
        </p:nvCxnSpPr>
        <p:spPr>
          <a:xfrm flipV="1">
            <a:off x="8496300" y="4229100"/>
            <a:ext cx="800100" cy="571500"/>
          </a:xfrm>
          <a:prstGeom prst="line">
            <a:avLst/>
          </a:prstGeom>
          <a:ln w="38100">
            <a:solidFill>
              <a:srgbClr val="2A5B84"/>
            </a:solidFill>
          </a:ln>
        </p:spPr>
      </p:cxnSp>
      <p:cxnSp>
        <p:nvCxnSpPr>
          <p:cNvPr id="60" name="Connector 60"/>
          <p:cNvCxnSpPr/>
          <p:nvPr/>
        </p:nvCxnSpPr>
        <p:spPr>
          <a:xfrm flipV="1">
            <a:off x="9296400" y="4019550"/>
            <a:ext cx="800100" cy="209550"/>
          </a:xfrm>
          <a:prstGeom prst="line">
            <a:avLst/>
          </a:prstGeom>
          <a:ln w="38100">
            <a:solidFill>
              <a:srgbClr val="2A5B84"/>
            </a:solidFill>
          </a:ln>
        </p:spPr>
      </p:cxnSp>
      <p:cxnSp>
        <p:nvCxnSpPr>
          <p:cNvPr id="61" name="Connector 61"/>
          <p:cNvCxnSpPr/>
          <p:nvPr/>
        </p:nvCxnSpPr>
        <p:spPr>
          <a:xfrm flipV="1">
            <a:off x="6896100" y="4876800"/>
            <a:ext cx="800100" cy="57150"/>
          </a:xfrm>
          <a:prstGeom prst="line">
            <a:avLst/>
          </a:prstGeom>
          <a:ln w="25400">
            <a:solidFill>
              <a:srgbClr val="D71920"/>
            </a:solidFill>
          </a:ln>
        </p:spPr>
      </p:cxnSp>
      <p:cxnSp>
        <p:nvCxnSpPr>
          <p:cNvPr id="62" name="Connector 62"/>
          <p:cNvCxnSpPr/>
          <p:nvPr/>
        </p:nvCxnSpPr>
        <p:spPr>
          <a:xfrm flipV="1">
            <a:off x="7696200" y="4629150"/>
            <a:ext cx="800100" cy="247650"/>
          </a:xfrm>
          <a:prstGeom prst="line">
            <a:avLst/>
          </a:prstGeom>
          <a:ln w="25400">
            <a:solidFill>
              <a:srgbClr val="D71920"/>
            </a:solidFill>
          </a:ln>
        </p:spPr>
      </p:cxnSp>
      <p:cxnSp>
        <p:nvCxnSpPr>
          <p:cNvPr id="63" name="Connector 63"/>
          <p:cNvCxnSpPr/>
          <p:nvPr/>
        </p:nvCxnSpPr>
        <p:spPr>
          <a:xfrm flipV="1">
            <a:off x="8496300" y="4533900"/>
            <a:ext cx="800100" cy="95250"/>
          </a:xfrm>
          <a:prstGeom prst="line">
            <a:avLst/>
          </a:prstGeom>
          <a:ln w="25400">
            <a:solidFill>
              <a:srgbClr val="D71920"/>
            </a:solidFill>
          </a:ln>
        </p:spPr>
      </p:cxnSp>
      <p:cxnSp>
        <p:nvCxnSpPr>
          <p:cNvPr id="64" name="Connector 64"/>
          <p:cNvCxnSpPr/>
          <p:nvPr/>
        </p:nvCxnSpPr>
        <p:spPr>
          <a:xfrm flipV="1">
            <a:off x="9296400" y="4210050"/>
            <a:ext cx="800100" cy="323850"/>
          </a:xfrm>
          <a:prstGeom prst="line">
            <a:avLst/>
          </a:prstGeom>
          <a:ln w="25400">
            <a:solidFill>
              <a:srgbClr val="D71920"/>
            </a:solidFill>
          </a:ln>
        </p:spPr>
      </p:cxnSp>
      <p:sp>
        <p:nvSpPr>
          <p:cNvPr id="65" name="Text 65"/>
          <p:cNvSpPr txBox="1"/>
          <p:nvPr/>
        </p:nvSpPr>
        <p:spPr>
          <a:xfrm>
            <a:off x="6705600" y="5619750"/>
            <a:ext cx="4324350" cy="171450"/>
          </a:xfrm>
          <a:prstGeom prst="rect">
            <a:avLst/>
          </a:prstGeom>
          <a:noFill/>
          <a:ln>
            <a:noFill/>
          </a:ln>
        </p:spPr>
        <p:txBody>
          <a:bodyPr wrap="square" anchor="t" lIns="0" rIns="0" tIns="0" bIns="0"/>
          <a:lstStyle/>
          <a:p>
            <a:pPr algn="ctr"/>
            <a:r>
              <a:rPr lang="en-US" sz="1100" b="0">
                <a:solidFill>
                  <a:srgbClr val="5D6873"/>
                </a:solidFill>
                <a:latin typeface="Arial"/>
              </a:rPr>
              <a:t>completed work and evolving scope</a:t>
            </a:r>
            <a:endParaRPr lang="en-US" sz="1100"/>
          </a:p>
        </p:txBody>
      </p:sp>
      <p:cxnSp>
        <p:nvCxnSpPr>
          <p:cNvPr id="66" name="Connector 66"/>
          <p:cNvCxnSpPr/>
          <p:nvPr/>
        </p:nvCxnSpPr>
        <p:spPr>
          <a:xfrm>
            <a:off x="552450" y="6419850"/>
            <a:ext cx="11087100" cy="0"/>
          </a:xfrm>
          <a:prstGeom prst="line">
            <a:avLst/>
          </a:prstGeom>
          <a:ln w="12700">
            <a:solidFill>
              <a:srgbClr val="D9DEE3"/>
            </a:solidFill>
          </a:ln>
        </p:spPr>
      </p:cxnSp>
      <p:sp>
        <p:nvSpPr>
          <p:cNvPr id="67" name="Text 67"/>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CUSTOMER ACTIVITY ANALYTICS</a:t>
            </a:r>
            <a:endParaRPr lang="en-US" sz="1000"/>
          </a:p>
        </p:txBody>
      </p:sp>
      <p:sp>
        <p:nvSpPr>
          <p:cNvPr id="68" name="Text 68"/>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10</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AGENT QUALITY FEEDBACK</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Fast feedback catches defects early and exact-head CI remains authoritative</a:t>
            </a:r>
            <a:endParaRPr lang="en-US" sz="3000"/>
          </a:p>
        </p:txBody>
      </p:sp>
      <p:cxnSp>
        <p:nvCxnSpPr>
          <p:cNvPr id="4" name="Connector 4"/>
          <p:cNvCxnSpPr/>
          <p:nvPr/>
        </p:nvCxnSpPr>
        <p:spPr>
          <a:xfrm>
            <a:off x="2133600" y="3086100"/>
            <a:ext cx="285750" cy="0"/>
          </a:xfrm>
          <a:prstGeom prst="line">
            <a:avLst/>
          </a:prstGeom>
          <a:ln w="25400">
            <a:solidFill>
              <a:srgbClr val="D71920"/>
            </a:solidFill>
            <a:tailEnd type="triangle"/>
          </a:ln>
        </p:spPr>
      </p:cxnSp>
      <p:cxnSp>
        <p:nvCxnSpPr>
          <p:cNvPr id="5" name="Connector 5"/>
          <p:cNvCxnSpPr/>
          <p:nvPr/>
        </p:nvCxnSpPr>
        <p:spPr>
          <a:xfrm>
            <a:off x="3943350" y="3086100"/>
            <a:ext cx="285750" cy="0"/>
          </a:xfrm>
          <a:prstGeom prst="line">
            <a:avLst/>
          </a:prstGeom>
          <a:ln w="25400">
            <a:solidFill>
              <a:srgbClr val="D71920"/>
            </a:solidFill>
            <a:tailEnd type="triangle"/>
          </a:ln>
        </p:spPr>
      </p:cxnSp>
      <p:cxnSp>
        <p:nvCxnSpPr>
          <p:cNvPr id="6" name="Connector 6"/>
          <p:cNvCxnSpPr/>
          <p:nvPr/>
        </p:nvCxnSpPr>
        <p:spPr>
          <a:xfrm>
            <a:off x="5753100" y="3086100"/>
            <a:ext cx="285750" cy="0"/>
          </a:xfrm>
          <a:prstGeom prst="line">
            <a:avLst/>
          </a:prstGeom>
          <a:ln w="25400">
            <a:solidFill>
              <a:srgbClr val="D71920"/>
            </a:solidFill>
            <a:tailEnd type="triangle"/>
          </a:ln>
        </p:spPr>
      </p:cxnSp>
      <p:cxnSp>
        <p:nvCxnSpPr>
          <p:cNvPr id="7" name="Connector 7"/>
          <p:cNvCxnSpPr/>
          <p:nvPr/>
        </p:nvCxnSpPr>
        <p:spPr>
          <a:xfrm>
            <a:off x="7562850" y="3086100"/>
            <a:ext cx="285750" cy="0"/>
          </a:xfrm>
          <a:prstGeom prst="line">
            <a:avLst/>
          </a:prstGeom>
          <a:ln w="25400">
            <a:solidFill>
              <a:srgbClr val="D71920"/>
            </a:solidFill>
            <a:tailEnd type="triangle"/>
          </a:ln>
        </p:spPr>
      </p:cxnSp>
      <p:cxnSp>
        <p:nvCxnSpPr>
          <p:cNvPr id="8" name="Connector 8"/>
          <p:cNvCxnSpPr/>
          <p:nvPr/>
        </p:nvCxnSpPr>
        <p:spPr>
          <a:xfrm>
            <a:off x="9372600" y="3086100"/>
            <a:ext cx="285750" cy="0"/>
          </a:xfrm>
          <a:prstGeom prst="line">
            <a:avLst/>
          </a:prstGeom>
          <a:ln w="25400">
            <a:solidFill>
              <a:srgbClr val="D71920"/>
            </a:solidFill>
            <a:tailEnd type="triangle"/>
          </a:ln>
        </p:spPr>
      </p:cxnSp>
      <p:sp>
        <p:nvSpPr>
          <p:cNvPr id="9" name="Shape 9"/>
          <p:cNvSpPr/>
          <p:nvPr/>
        </p:nvSpPr>
        <p:spPr>
          <a:xfrm>
            <a:off x="419100" y="2114550"/>
            <a:ext cx="1714500" cy="1905000"/>
          </a:xfrm>
          <a:prstGeom prst="roundRect">
            <a:avLst/>
          </a:prstGeom>
          <a:solidFill>
            <a:srgbClr val="FFFFFF"/>
          </a:solidFill>
          <a:ln w="25400">
            <a:solidFill>
              <a:srgbClr val="17212B"/>
            </a:solidFill>
          </a:ln>
        </p:spPr>
      </p:sp>
      <p:sp>
        <p:nvSpPr>
          <p:cNvPr id="10" name="Text 10"/>
          <p:cNvSpPr txBox="1"/>
          <p:nvPr/>
        </p:nvSpPr>
        <p:spPr>
          <a:xfrm>
            <a:off x="533400" y="2266950"/>
            <a:ext cx="1485900" cy="209550"/>
          </a:xfrm>
          <a:prstGeom prst="rect">
            <a:avLst/>
          </a:prstGeom>
          <a:noFill/>
          <a:ln>
            <a:noFill/>
          </a:ln>
        </p:spPr>
        <p:txBody>
          <a:bodyPr wrap="square" anchor="t" lIns="0" rIns="0" tIns="0" bIns="0"/>
          <a:lstStyle/>
          <a:p>
            <a:pPr algn="ctr"/>
            <a:r>
              <a:rPr lang="en-US" sz="1300" b="1">
                <a:solidFill>
                  <a:srgbClr val="17212B"/>
                </a:solidFill>
                <a:latin typeface="Arial"/>
              </a:rPr>
              <a:t>BEFORE</a:t>
            </a:r>
            <a:endParaRPr lang="en-US" sz="1300"/>
          </a:p>
        </p:txBody>
      </p:sp>
      <p:sp>
        <p:nvSpPr>
          <p:cNvPr id="11" name="Shape 11"/>
          <p:cNvSpPr/>
          <p:nvPr/>
        </p:nvSpPr>
        <p:spPr>
          <a:xfrm>
            <a:off x="1047750" y="2571750"/>
            <a:ext cx="457200" cy="457200"/>
          </a:xfrm>
          <a:prstGeom prst="roundRect">
            <a:avLst/>
          </a:prstGeom>
          <a:solidFill>
            <a:srgbClr val="FFFFFF"/>
          </a:solidFill>
          <a:ln w="19050">
            <a:solidFill>
              <a:srgbClr val="17212B"/>
            </a:solidFill>
          </a:ln>
        </p:spPr>
      </p:sp>
      <p:pic>
        <p:nvPicPr>
          <p:cNvPr id="12" name="Picture 12"/>
          <p:cNvPicPr>
            <a:picLocks noChangeAspect="1"/>
          </p:cNvPicPr>
          <p:nvPr/>
        </p:nvPicPr>
        <p:blipFill>
          <a:blip r:embed="rId2"/>
          <a:stretch>
            <a:fillRect/>
          </a:stretch>
        </p:blipFill>
        <p:spPr>
          <a:xfrm>
            <a:off x="1162050" y="2686050"/>
            <a:ext cx="228600" cy="228600"/>
          </a:xfrm>
          <a:prstGeom prst="rect">
            <a:avLst/>
          </a:prstGeom>
          <a:ln>
            <a:noFill/>
          </a:ln>
        </p:spPr>
      </p:pic>
      <p:sp>
        <p:nvSpPr>
          <p:cNvPr id="13" name="Text 13"/>
          <p:cNvSpPr txBox="1"/>
          <p:nvPr/>
        </p:nvSpPr>
        <p:spPr>
          <a:xfrm>
            <a:off x="533400" y="3143250"/>
            <a:ext cx="1485900" cy="476250"/>
          </a:xfrm>
          <a:prstGeom prst="rect">
            <a:avLst/>
          </a:prstGeom>
          <a:noFill/>
          <a:ln>
            <a:noFill/>
          </a:ln>
        </p:spPr>
        <p:txBody>
          <a:bodyPr wrap="square" anchor="ctr" lIns="0" rIns="0" tIns="0" bIns="0"/>
          <a:lstStyle/>
          <a:p>
            <a:pPr algn="ctr"/>
            <a:r>
              <a:rPr lang="en-US" sz="1300" b="0">
                <a:solidFill>
                  <a:srgbClr val="17212B"/>
                </a:solidFill>
                <a:latin typeface="Arial"/>
              </a:rPr>
              <a:t>AGENTS.md policy</a:t>
            </a:r>
            <a:endParaRPr lang="en-US" sz="1300"/>
          </a:p>
          <a:p>
            <a:pPr algn="ctr"/>
            <a:r>
              <a:rPr lang="en-US" sz="1300" b="0">
                <a:solidFill>
                  <a:srgbClr val="17212B"/>
                </a:solidFill>
                <a:latin typeface="Arial"/>
              </a:rPr>
              <a:t>and bounded context</a:t>
            </a:r>
            <a:endParaRPr lang="en-US" sz="1300"/>
          </a:p>
        </p:txBody>
      </p:sp>
      <p:sp>
        <p:nvSpPr>
          <p:cNvPr id="14" name="Text 14"/>
          <p:cNvSpPr txBox="1"/>
          <p:nvPr/>
        </p:nvSpPr>
        <p:spPr>
          <a:xfrm>
            <a:off x="571500" y="3752850"/>
            <a:ext cx="1409700" cy="171450"/>
          </a:xfrm>
          <a:prstGeom prst="rect">
            <a:avLst/>
          </a:prstGeom>
          <a:noFill/>
          <a:ln>
            <a:noFill/>
          </a:ln>
        </p:spPr>
        <p:txBody>
          <a:bodyPr wrap="square" anchor="t" lIns="0" rIns="0" tIns="0" bIns="0"/>
          <a:lstStyle/>
          <a:p>
            <a:pPr algn="ctr"/>
            <a:r>
              <a:rPr lang="en-US" sz="900" b="1" spc="70">
                <a:solidFill>
                  <a:srgbClr val="1F7A5A"/>
                </a:solidFill>
                <a:latin typeface="Arial"/>
              </a:rPr>
              <a:t>CURRENT</a:t>
            </a:r>
            <a:endParaRPr lang="en-US" sz="900"/>
          </a:p>
        </p:txBody>
      </p:sp>
      <p:sp>
        <p:nvSpPr>
          <p:cNvPr id="15" name="Shape 15"/>
          <p:cNvSpPr/>
          <p:nvPr/>
        </p:nvSpPr>
        <p:spPr>
          <a:xfrm>
            <a:off x="2228850" y="2114550"/>
            <a:ext cx="1714500" cy="1905000"/>
          </a:xfrm>
          <a:prstGeom prst="roundRect">
            <a:avLst/>
          </a:prstGeom>
          <a:solidFill>
            <a:srgbClr val="F4F6F8"/>
          </a:solidFill>
          <a:ln w="12700">
            <a:solidFill>
              <a:srgbClr val="2A5B84"/>
            </a:solidFill>
          </a:ln>
        </p:spPr>
      </p:sp>
      <p:sp>
        <p:nvSpPr>
          <p:cNvPr id="16" name="Text 16"/>
          <p:cNvSpPr txBox="1"/>
          <p:nvPr/>
        </p:nvSpPr>
        <p:spPr>
          <a:xfrm>
            <a:off x="2343150" y="2266950"/>
            <a:ext cx="1485900" cy="209550"/>
          </a:xfrm>
          <a:prstGeom prst="rect">
            <a:avLst/>
          </a:prstGeom>
          <a:noFill/>
          <a:ln>
            <a:noFill/>
          </a:ln>
        </p:spPr>
        <p:txBody>
          <a:bodyPr wrap="square" anchor="t" lIns="0" rIns="0" tIns="0" bIns="0"/>
          <a:lstStyle/>
          <a:p>
            <a:pPr algn="ctr"/>
            <a:r>
              <a:rPr lang="en-US" sz="1300" b="1">
                <a:solidFill>
                  <a:srgbClr val="2A5B84"/>
                </a:solidFill>
                <a:latin typeface="Arial"/>
              </a:rPr>
              <a:t>AFTER EDIT</a:t>
            </a:r>
            <a:endParaRPr lang="en-US" sz="1300"/>
          </a:p>
        </p:txBody>
      </p:sp>
      <p:sp>
        <p:nvSpPr>
          <p:cNvPr id="17" name="Shape 17"/>
          <p:cNvSpPr/>
          <p:nvPr/>
        </p:nvSpPr>
        <p:spPr>
          <a:xfrm>
            <a:off x="2857500" y="2571750"/>
            <a:ext cx="457200" cy="457200"/>
          </a:xfrm>
          <a:prstGeom prst="roundRect">
            <a:avLst/>
          </a:prstGeom>
          <a:solidFill>
            <a:srgbClr val="FFFFFF"/>
          </a:solidFill>
          <a:ln w="19050">
            <a:solidFill>
              <a:srgbClr val="2A5B84"/>
            </a:solidFill>
          </a:ln>
        </p:spPr>
      </p:sp>
      <p:pic>
        <p:nvPicPr>
          <p:cNvPr id="18" name="Picture 18"/>
          <p:cNvPicPr>
            <a:picLocks noChangeAspect="1"/>
          </p:cNvPicPr>
          <p:nvPr/>
        </p:nvPicPr>
        <p:blipFill>
          <a:blip r:embed="rId3"/>
          <a:stretch>
            <a:fillRect/>
          </a:stretch>
        </p:blipFill>
        <p:spPr>
          <a:xfrm>
            <a:off x="2971800" y="2686050"/>
            <a:ext cx="228600" cy="228600"/>
          </a:xfrm>
          <a:prstGeom prst="rect">
            <a:avLst/>
          </a:prstGeom>
          <a:ln>
            <a:noFill/>
          </a:ln>
        </p:spPr>
      </p:pic>
      <p:sp>
        <p:nvSpPr>
          <p:cNvPr id="19" name="Text 19"/>
          <p:cNvSpPr txBox="1"/>
          <p:nvPr/>
        </p:nvSpPr>
        <p:spPr>
          <a:xfrm>
            <a:off x="2343150" y="3143250"/>
            <a:ext cx="1485900" cy="476250"/>
          </a:xfrm>
          <a:prstGeom prst="rect">
            <a:avLst/>
          </a:prstGeom>
          <a:noFill/>
          <a:ln>
            <a:noFill/>
          </a:ln>
        </p:spPr>
        <p:txBody>
          <a:bodyPr wrap="square" anchor="ctr" lIns="0" rIns="0" tIns="0" bIns="0"/>
          <a:lstStyle/>
          <a:p>
            <a:pPr algn="ctr"/>
            <a:r>
              <a:rPr lang="en-US" sz="1300" b="0">
                <a:solidFill>
                  <a:srgbClr val="17212B"/>
                </a:solidFill>
                <a:latin typeface="Arial"/>
              </a:rPr>
              <a:t>Earliest supported</a:t>
            </a:r>
            <a:endParaRPr lang="en-US" sz="1300"/>
          </a:p>
          <a:p>
            <a:pPr algn="ctr"/>
            <a:r>
              <a:rPr lang="en-US" sz="1300" b="0">
                <a:solidFill>
                  <a:srgbClr val="17212B"/>
                </a:solidFill>
                <a:latin typeface="Arial"/>
              </a:rPr>
              <a:t>quality hook</a:t>
            </a:r>
            <a:endParaRPr lang="en-US" sz="1300"/>
          </a:p>
        </p:txBody>
      </p:sp>
      <p:sp>
        <p:nvSpPr>
          <p:cNvPr id="20" name="Text 20"/>
          <p:cNvSpPr txBox="1"/>
          <p:nvPr/>
        </p:nvSpPr>
        <p:spPr>
          <a:xfrm>
            <a:off x="2381250" y="3752850"/>
            <a:ext cx="1409700" cy="171450"/>
          </a:xfrm>
          <a:prstGeom prst="rect">
            <a:avLst/>
          </a:prstGeom>
          <a:noFill/>
          <a:ln>
            <a:noFill/>
          </a:ln>
        </p:spPr>
        <p:txBody>
          <a:bodyPr wrap="square" anchor="t" lIns="0" rIns="0" tIns="0" bIns="0"/>
          <a:lstStyle/>
          <a:p>
            <a:pPr algn="ctr"/>
            <a:r>
              <a:rPr lang="en-US" sz="900" b="1" spc="70">
                <a:solidFill>
                  <a:srgbClr val="5D6873"/>
                </a:solidFill>
                <a:latin typeface="Arial"/>
              </a:rPr>
              <a:t>HARNESS ROADMAP</a:t>
            </a:r>
            <a:endParaRPr lang="en-US" sz="900"/>
          </a:p>
        </p:txBody>
      </p:sp>
      <p:sp>
        <p:nvSpPr>
          <p:cNvPr id="21" name="Shape 21"/>
          <p:cNvSpPr/>
          <p:nvPr/>
        </p:nvSpPr>
        <p:spPr>
          <a:xfrm>
            <a:off x="4038600" y="2114550"/>
            <a:ext cx="1714500" cy="1905000"/>
          </a:xfrm>
          <a:prstGeom prst="roundRect">
            <a:avLst/>
          </a:prstGeom>
          <a:solidFill>
            <a:srgbClr val="F4F6F8"/>
          </a:solidFill>
          <a:ln w="12700">
            <a:solidFill>
              <a:srgbClr val="2A5B84"/>
            </a:solidFill>
          </a:ln>
        </p:spPr>
      </p:sp>
      <p:sp>
        <p:nvSpPr>
          <p:cNvPr id="22" name="Text 22"/>
          <p:cNvSpPr txBox="1"/>
          <p:nvPr/>
        </p:nvSpPr>
        <p:spPr>
          <a:xfrm>
            <a:off x="4152900" y="2266950"/>
            <a:ext cx="1485900" cy="209550"/>
          </a:xfrm>
          <a:prstGeom prst="rect">
            <a:avLst/>
          </a:prstGeom>
          <a:noFill/>
          <a:ln>
            <a:noFill/>
          </a:ln>
        </p:spPr>
        <p:txBody>
          <a:bodyPr wrap="square" anchor="t" lIns="0" rIns="0" tIns="0" bIns="0"/>
          <a:lstStyle/>
          <a:p>
            <a:pPr algn="ctr"/>
            <a:r>
              <a:rPr lang="en-US" sz="1300" b="1">
                <a:solidFill>
                  <a:srgbClr val="2A5B84"/>
                </a:solidFill>
                <a:latin typeface="Arial"/>
              </a:rPr>
              <a:t>PRE-COMMIT</a:t>
            </a:r>
            <a:endParaRPr lang="en-US" sz="1300"/>
          </a:p>
        </p:txBody>
      </p:sp>
      <p:sp>
        <p:nvSpPr>
          <p:cNvPr id="23" name="Shape 23"/>
          <p:cNvSpPr/>
          <p:nvPr/>
        </p:nvSpPr>
        <p:spPr>
          <a:xfrm>
            <a:off x="4667250" y="2571750"/>
            <a:ext cx="457200" cy="457200"/>
          </a:xfrm>
          <a:prstGeom prst="roundRect">
            <a:avLst/>
          </a:prstGeom>
          <a:solidFill>
            <a:srgbClr val="FFFFFF"/>
          </a:solidFill>
          <a:ln w="19050">
            <a:solidFill>
              <a:srgbClr val="2A5B84"/>
            </a:solidFill>
          </a:ln>
        </p:spPr>
      </p:sp>
      <p:pic>
        <p:nvPicPr>
          <p:cNvPr id="24" name="Picture 24"/>
          <p:cNvPicPr>
            <a:picLocks noChangeAspect="1"/>
          </p:cNvPicPr>
          <p:nvPr/>
        </p:nvPicPr>
        <p:blipFill>
          <a:blip r:embed="rId4"/>
          <a:stretch>
            <a:fillRect/>
          </a:stretch>
        </p:blipFill>
        <p:spPr>
          <a:xfrm>
            <a:off x="4781550" y="2686050"/>
            <a:ext cx="228600" cy="228600"/>
          </a:xfrm>
          <a:prstGeom prst="rect">
            <a:avLst/>
          </a:prstGeom>
          <a:ln>
            <a:noFill/>
          </a:ln>
        </p:spPr>
      </p:pic>
      <p:sp>
        <p:nvSpPr>
          <p:cNvPr id="25" name="Text 25"/>
          <p:cNvSpPr txBox="1"/>
          <p:nvPr/>
        </p:nvSpPr>
        <p:spPr>
          <a:xfrm>
            <a:off x="4152900" y="3143250"/>
            <a:ext cx="1485900" cy="476250"/>
          </a:xfrm>
          <a:prstGeom prst="rect">
            <a:avLst/>
          </a:prstGeom>
          <a:noFill/>
          <a:ln>
            <a:noFill/>
          </a:ln>
        </p:spPr>
        <p:txBody>
          <a:bodyPr wrap="square" anchor="ctr" lIns="0" rIns="0" tIns="0" bIns="0"/>
          <a:lstStyle/>
          <a:p>
            <a:pPr algn="ctr"/>
            <a:r>
              <a:rPr lang="en-US" sz="1300" b="0">
                <a:solidFill>
                  <a:srgbClr val="17212B"/>
                </a:solidFill>
                <a:latin typeface="Arial"/>
              </a:rPr>
              <a:t>Shared lint and</a:t>
            </a:r>
            <a:endParaRPr lang="en-US" sz="1300"/>
          </a:p>
          <a:p>
            <a:pPr algn="ctr"/>
            <a:r>
              <a:rPr lang="en-US" sz="1300" b="0">
                <a:solidFill>
                  <a:srgbClr val="17212B"/>
                </a:solidFill>
                <a:latin typeface="Arial"/>
              </a:rPr>
              <a:t>type-check command</a:t>
            </a:r>
            <a:endParaRPr lang="en-US" sz="1300"/>
          </a:p>
        </p:txBody>
      </p:sp>
      <p:sp>
        <p:nvSpPr>
          <p:cNvPr id="26" name="Text 26"/>
          <p:cNvSpPr txBox="1"/>
          <p:nvPr/>
        </p:nvSpPr>
        <p:spPr>
          <a:xfrm>
            <a:off x="4191000" y="3752850"/>
            <a:ext cx="1409700" cy="171450"/>
          </a:xfrm>
          <a:prstGeom prst="rect">
            <a:avLst/>
          </a:prstGeom>
          <a:noFill/>
          <a:ln>
            <a:noFill/>
          </a:ln>
        </p:spPr>
        <p:txBody>
          <a:bodyPr wrap="square" anchor="t" lIns="0" rIns="0" tIns="0" bIns="0"/>
          <a:lstStyle/>
          <a:p>
            <a:pPr algn="ctr"/>
            <a:r>
              <a:rPr lang="en-US" sz="900" b="1" spc="70">
                <a:solidFill>
                  <a:srgbClr val="5D6873"/>
                </a:solidFill>
                <a:latin typeface="Arial"/>
              </a:rPr>
              <a:t>HARNESS ROADMAP</a:t>
            </a:r>
            <a:endParaRPr lang="en-US" sz="900"/>
          </a:p>
        </p:txBody>
      </p:sp>
      <p:sp>
        <p:nvSpPr>
          <p:cNvPr id="27" name="Shape 27"/>
          <p:cNvSpPr/>
          <p:nvPr/>
        </p:nvSpPr>
        <p:spPr>
          <a:xfrm>
            <a:off x="5848350" y="2114550"/>
            <a:ext cx="1714500" cy="1905000"/>
          </a:xfrm>
          <a:prstGeom prst="roundRect">
            <a:avLst/>
          </a:prstGeom>
          <a:solidFill>
            <a:srgbClr val="FFFFFF"/>
          </a:solidFill>
          <a:ln w="25400">
            <a:solidFill>
              <a:srgbClr val="1F7A5A"/>
            </a:solidFill>
          </a:ln>
        </p:spPr>
      </p:sp>
      <p:sp>
        <p:nvSpPr>
          <p:cNvPr id="28" name="Text 28"/>
          <p:cNvSpPr txBox="1"/>
          <p:nvPr/>
        </p:nvSpPr>
        <p:spPr>
          <a:xfrm>
            <a:off x="5962650" y="2266950"/>
            <a:ext cx="1485900" cy="209550"/>
          </a:xfrm>
          <a:prstGeom prst="rect">
            <a:avLst/>
          </a:prstGeom>
          <a:noFill/>
          <a:ln>
            <a:noFill/>
          </a:ln>
        </p:spPr>
        <p:txBody>
          <a:bodyPr wrap="square" anchor="t" lIns="0" rIns="0" tIns="0" bIns="0"/>
          <a:lstStyle/>
          <a:p>
            <a:pPr algn="ctr"/>
            <a:r>
              <a:rPr lang="en-US" sz="1300" b="1">
                <a:solidFill>
                  <a:srgbClr val="1F7A5A"/>
                </a:solidFill>
                <a:latin typeface="Arial"/>
              </a:rPr>
              <a:t>PR CHECKS</a:t>
            </a:r>
            <a:endParaRPr lang="en-US" sz="1300"/>
          </a:p>
        </p:txBody>
      </p:sp>
      <p:sp>
        <p:nvSpPr>
          <p:cNvPr id="29" name="Shape 29"/>
          <p:cNvSpPr/>
          <p:nvPr/>
        </p:nvSpPr>
        <p:spPr>
          <a:xfrm>
            <a:off x="6477000" y="2571750"/>
            <a:ext cx="457200" cy="457200"/>
          </a:xfrm>
          <a:prstGeom prst="roundRect">
            <a:avLst/>
          </a:prstGeom>
          <a:solidFill>
            <a:srgbClr val="FFFFFF"/>
          </a:solidFill>
          <a:ln w="19050">
            <a:solidFill>
              <a:srgbClr val="1F7A5A"/>
            </a:solidFill>
          </a:ln>
        </p:spPr>
      </p:sp>
      <p:pic>
        <p:nvPicPr>
          <p:cNvPr id="30" name="Picture 30"/>
          <p:cNvPicPr>
            <a:picLocks noChangeAspect="1"/>
          </p:cNvPicPr>
          <p:nvPr/>
        </p:nvPicPr>
        <p:blipFill>
          <a:blip r:embed="rId5"/>
          <a:stretch>
            <a:fillRect/>
          </a:stretch>
        </p:blipFill>
        <p:spPr>
          <a:xfrm>
            <a:off x="6591300" y="2686050"/>
            <a:ext cx="228600" cy="228600"/>
          </a:xfrm>
          <a:prstGeom prst="rect">
            <a:avLst/>
          </a:prstGeom>
          <a:ln>
            <a:noFill/>
          </a:ln>
        </p:spPr>
      </p:pic>
      <p:sp>
        <p:nvSpPr>
          <p:cNvPr id="31" name="Text 31"/>
          <p:cNvSpPr txBox="1"/>
          <p:nvPr/>
        </p:nvSpPr>
        <p:spPr>
          <a:xfrm>
            <a:off x="5962650" y="3143250"/>
            <a:ext cx="1485900" cy="476250"/>
          </a:xfrm>
          <a:prstGeom prst="rect">
            <a:avLst/>
          </a:prstGeom>
          <a:noFill/>
          <a:ln>
            <a:noFill/>
          </a:ln>
        </p:spPr>
        <p:txBody>
          <a:bodyPr wrap="square" anchor="ctr" lIns="0" rIns="0" tIns="0" bIns="0"/>
          <a:lstStyle/>
          <a:p>
            <a:pPr algn="ctr"/>
            <a:r>
              <a:rPr lang="en-US" sz="1300" b="0">
                <a:solidFill>
                  <a:srgbClr val="17212B"/>
                </a:solidFill>
                <a:latin typeface="Arial"/>
              </a:rPr>
              <a:t>Design map, tests,</a:t>
            </a:r>
            <a:endParaRPr lang="en-US" sz="1300"/>
          </a:p>
          <a:p>
            <a:pPr algn="ctr"/>
            <a:r>
              <a:rPr lang="en-US" sz="1300" b="0">
                <a:solidFill>
                  <a:srgbClr val="17212B"/>
                </a:solidFill>
                <a:latin typeface="Arial"/>
              </a:rPr>
              <a:t>security and E2E</a:t>
            </a:r>
            <a:endParaRPr lang="en-US" sz="1300"/>
          </a:p>
        </p:txBody>
      </p:sp>
      <p:sp>
        <p:nvSpPr>
          <p:cNvPr id="32" name="Text 32"/>
          <p:cNvSpPr txBox="1"/>
          <p:nvPr/>
        </p:nvSpPr>
        <p:spPr>
          <a:xfrm>
            <a:off x="6000750" y="3752850"/>
            <a:ext cx="1409700" cy="171450"/>
          </a:xfrm>
          <a:prstGeom prst="rect">
            <a:avLst/>
          </a:prstGeom>
          <a:noFill/>
          <a:ln>
            <a:noFill/>
          </a:ln>
        </p:spPr>
        <p:txBody>
          <a:bodyPr wrap="square" anchor="t" lIns="0" rIns="0" tIns="0" bIns="0"/>
          <a:lstStyle/>
          <a:p>
            <a:pPr algn="ctr"/>
            <a:r>
              <a:rPr lang="en-US" sz="900" b="1" spc="70">
                <a:solidFill>
                  <a:srgbClr val="1F7A5A"/>
                </a:solidFill>
                <a:latin typeface="Arial"/>
              </a:rPr>
              <a:t>CURRENT</a:t>
            </a:r>
            <a:endParaRPr lang="en-US" sz="900"/>
          </a:p>
        </p:txBody>
      </p:sp>
      <p:sp>
        <p:nvSpPr>
          <p:cNvPr id="33" name="Shape 33"/>
          <p:cNvSpPr/>
          <p:nvPr/>
        </p:nvSpPr>
        <p:spPr>
          <a:xfrm>
            <a:off x="7658100" y="2114550"/>
            <a:ext cx="1714500" cy="1905000"/>
          </a:xfrm>
          <a:prstGeom prst="roundRect">
            <a:avLst/>
          </a:prstGeom>
          <a:solidFill>
            <a:srgbClr val="FFFFFF"/>
          </a:solidFill>
          <a:ln w="25400">
            <a:solidFill>
              <a:srgbClr val="B46B13"/>
            </a:solidFill>
          </a:ln>
        </p:spPr>
      </p:sp>
      <p:sp>
        <p:nvSpPr>
          <p:cNvPr id="34" name="Text 34"/>
          <p:cNvSpPr txBox="1"/>
          <p:nvPr/>
        </p:nvSpPr>
        <p:spPr>
          <a:xfrm>
            <a:off x="7772400" y="2266950"/>
            <a:ext cx="1485900" cy="209550"/>
          </a:xfrm>
          <a:prstGeom prst="rect">
            <a:avLst/>
          </a:prstGeom>
          <a:noFill/>
          <a:ln>
            <a:noFill/>
          </a:ln>
        </p:spPr>
        <p:txBody>
          <a:bodyPr wrap="square" anchor="t" lIns="0" rIns="0" tIns="0" bIns="0"/>
          <a:lstStyle/>
          <a:p>
            <a:pPr algn="ctr"/>
            <a:r>
              <a:rPr lang="en-US" sz="1300" b="1">
                <a:solidFill>
                  <a:srgbClr val="B46B13"/>
                </a:solidFill>
                <a:latin typeface="Arial"/>
              </a:rPr>
              <a:t>FROZEN HEAD</a:t>
            </a:r>
            <a:endParaRPr lang="en-US" sz="1300"/>
          </a:p>
        </p:txBody>
      </p:sp>
      <p:sp>
        <p:nvSpPr>
          <p:cNvPr id="35" name="Shape 35"/>
          <p:cNvSpPr/>
          <p:nvPr/>
        </p:nvSpPr>
        <p:spPr>
          <a:xfrm>
            <a:off x="8286750" y="2571750"/>
            <a:ext cx="457200" cy="457200"/>
          </a:xfrm>
          <a:prstGeom prst="roundRect">
            <a:avLst/>
          </a:prstGeom>
          <a:solidFill>
            <a:srgbClr val="FFFFFF"/>
          </a:solidFill>
          <a:ln w="19050">
            <a:solidFill>
              <a:srgbClr val="B46B13"/>
            </a:solidFill>
          </a:ln>
        </p:spPr>
      </p:sp>
      <p:pic>
        <p:nvPicPr>
          <p:cNvPr id="36" name="Picture 36"/>
          <p:cNvPicPr>
            <a:picLocks noChangeAspect="1"/>
          </p:cNvPicPr>
          <p:nvPr/>
        </p:nvPicPr>
        <p:blipFill>
          <a:blip r:embed="rId6"/>
          <a:stretch>
            <a:fillRect/>
          </a:stretch>
        </p:blipFill>
        <p:spPr>
          <a:xfrm>
            <a:off x="8401050" y="2686050"/>
            <a:ext cx="228600" cy="228600"/>
          </a:xfrm>
          <a:prstGeom prst="rect">
            <a:avLst/>
          </a:prstGeom>
          <a:ln>
            <a:noFill/>
          </a:ln>
        </p:spPr>
      </p:pic>
      <p:sp>
        <p:nvSpPr>
          <p:cNvPr id="37" name="Text 37"/>
          <p:cNvSpPr txBox="1"/>
          <p:nvPr/>
        </p:nvSpPr>
        <p:spPr>
          <a:xfrm>
            <a:off x="7772400" y="3143250"/>
            <a:ext cx="1485900" cy="476250"/>
          </a:xfrm>
          <a:prstGeom prst="rect">
            <a:avLst/>
          </a:prstGeom>
          <a:noFill/>
          <a:ln>
            <a:noFill/>
          </a:ln>
        </p:spPr>
        <p:txBody>
          <a:bodyPr wrap="square" anchor="ctr" lIns="0" rIns="0" tIns="0" bIns="0"/>
          <a:lstStyle/>
          <a:p>
            <a:pPr algn="ctr"/>
            <a:r>
              <a:rPr lang="en-US" sz="1300" b="0">
                <a:solidFill>
                  <a:srgbClr val="17212B"/>
                </a:solidFill>
                <a:latin typeface="Arial"/>
              </a:rPr>
              <a:t>One current-SHA</a:t>
            </a:r>
            <a:endParaRPr lang="en-US" sz="1300"/>
          </a:p>
          <a:p>
            <a:pPr algn="ctr"/>
            <a:r>
              <a:rPr lang="en-US" sz="1300" b="0">
                <a:solidFill>
                  <a:srgbClr val="17212B"/>
                </a:solidFill>
                <a:latin typeface="Arial"/>
              </a:rPr>
              <a:t>Codex review</a:t>
            </a:r>
            <a:endParaRPr lang="en-US" sz="1300"/>
          </a:p>
        </p:txBody>
      </p:sp>
      <p:sp>
        <p:nvSpPr>
          <p:cNvPr id="38" name="Text 38"/>
          <p:cNvSpPr txBox="1"/>
          <p:nvPr/>
        </p:nvSpPr>
        <p:spPr>
          <a:xfrm>
            <a:off x="7810500" y="3752850"/>
            <a:ext cx="1409700" cy="171450"/>
          </a:xfrm>
          <a:prstGeom prst="rect">
            <a:avLst/>
          </a:prstGeom>
          <a:noFill/>
          <a:ln>
            <a:noFill/>
          </a:ln>
        </p:spPr>
        <p:txBody>
          <a:bodyPr wrap="square" anchor="t" lIns="0" rIns="0" tIns="0" bIns="0"/>
          <a:lstStyle/>
          <a:p>
            <a:pPr algn="ctr"/>
            <a:r>
              <a:rPr lang="en-US" sz="900" b="1" spc="70">
                <a:solidFill>
                  <a:srgbClr val="1F7A5A"/>
                </a:solidFill>
                <a:latin typeface="Arial"/>
              </a:rPr>
              <a:t>CURRENT</a:t>
            </a:r>
            <a:endParaRPr lang="en-US" sz="900"/>
          </a:p>
        </p:txBody>
      </p:sp>
      <p:sp>
        <p:nvSpPr>
          <p:cNvPr id="39" name="Shape 39"/>
          <p:cNvSpPr/>
          <p:nvPr/>
        </p:nvSpPr>
        <p:spPr>
          <a:xfrm>
            <a:off x="9467850" y="2114550"/>
            <a:ext cx="1714500" cy="1905000"/>
          </a:xfrm>
          <a:prstGeom prst="roundRect">
            <a:avLst/>
          </a:prstGeom>
          <a:solidFill>
            <a:srgbClr val="FFFFFF"/>
          </a:solidFill>
          <a:ln w="25400">
            <a:solidFill>
              <a:srgbClr val="D71920"/>
            </a:solidFill>
          </a:ln>
        </p:spPr>
      </p:sp>
      <p:sp>
        <p:nvSpPr>
          <p:cNvPr id="40" name="Text 40"/>
          <p:cNvSpPr txBox="1"/>
          <p:nvPr/>
        </p:nvSpPr>
        <p:spPr>
          <a:xfrm>
            <a:off x="9582150" y="2266950"/>
            <a:ext cx="1485900" cy="209550"/>
          </a:xfrm>
          <a:prstGeom prst="rect">
            <a:avLst/>
          </a:prstGeom>
          <a:noFill/>
          <a:ln>
            <a:noFill/>
          </a:ln>
        </p:spPr>
        <p:txBody>
          <a:bodyPr wrap="square" anchor="t" lIns="0" rIns="0" tIns="0" bIns="0"/>
          <a:lstStyle/>
          <a:p>
            <a:pPr algn="ctr"/>
            <a:r>
              <a:rPr lang="en-US" sz="1300" b="1">
                <a:solidFill>
                  <a:srgbClr val="D71920"/>
                </a:solidFill>
                <a:latin typeface="Arial"/>
              </a:rPr>
              <a:t>ACCEPT</a:t>
            </a:r>
            <a:endParaRPr lang="en-US" sz="1300"/>
          </a:p>
        </p:txBody>
      </p:sp>
      <p:sp>
        <p:nvSpPr>
          <p:cNvPr id="41" name="Shape 41"/>
          <p:cNvSpPr/>
          <p:nvPr/>
        </p:nvSpPr>
        <p:spPr>
          <a:xfrm>
            <a:off x="10096500" y="2571750"/>
            <a:ext cx="457200" cy="457200"/>
          </a:xfrm>
          <a:prstGeom prst="roundRect">
            <a:avLst/>
          </a:prstGeom>
          <a:solidFill>
            <a:srgbClr val="FFFFFF"/>
          </a:solidFill>
          <a:ln w="19050">
            <a:solidFill>
              <a:srgbClr val="D71920"/>
            </a:solidFill>
          </a:ln>
        </p:spPr>
      </p:sp>
      <p:pic>
        <p:nvPicPr>
          <p:cNvPr id="42" name="Picture 42"/>
          <p:cNvPicPr>
            <a:picLocks noChangeAspect="1"/>
          </p:cNvPicPr>
          <p:nvPr/>
        </p:nvPicPr>
        <p:blipFill>
          <a:blip r:embed="rId7"/>
          <a:stretch>
            <a:fillRect/>
          </a:stretch>
        </p:blipFill>
        <p:spPr>
          <a:xfrm>
            <a:off x="10210800" y="2686050"/>
            <a:ext cx="228600" cy="228600"/>
          </a:xfrm>
          <a:prstGeom prst="rect">
            <a:avLst/>
          </a:prstGeom>
          <a:ln>
            <a:noFill/>
          </a:ln>
        </p:spPr>
      </p:pic>
      <p:sp>
        <p:nvSpPr>
          <p:cNvPr id="43" name="Text 43"/>
          <p:cNvSpPr txBox="1"/>
          <p:nvPr/>
        </p:nvSpPr>
        <p:spPr>
          <a:xfrm>
            <a:off x="9582150" y="3143250"/>
            <a:ext cx="1485900" cy="476250"/>
          </a:xfrm>
          <a:prstGeom prst="rect">
            <a:avLst/>
          </a:prstGeom>
          <a:noFill/>
          <a:ln>
            <a:noFill/>
          </a:ln>
        </p:spPr>
        <p:txBody>
          <a:bodyPr wrap="square" anchor="ctr" lIns="0" rIns="0" tIns="0" bIns="0"/>
          <a:lstStyle/>
          <a:p>
            <a:pPr algn="ctr"/>
            <a:r>
              <a:rPr lang="en-US" sz="1300" b="0">
                <a:solidFill>
                  <a:srgbClr val="17212B"/>
                </a:solidFill>
                <a:latin typeface="Arial"/>
              </a:rPr>
              <a:t>Human merge with</a:t>
            </a:r>
            <a:endParaRPr lang="en-US" sz="1300"/>
          </a:p>
          <a:p>
            <a:pPr algn="ctr"/>
            <a:r>
              <a:rPr lang="en-US" sz="1300" b="0">
                <a:solidFill>
                  <a:srgbClr val="17212B"/>
                </a:solidFill>
                <a:latin typeface="Arial"/>
              </a:rPr>
              <a:t>expected head SHA</a:t>
            </a:r>
            <a:endParaRPr lang="en-US" sz="1300"/>
          </a:p>
        </p:txBody>
      </p:sp>
      <p:sp>
        <p:nvSpPr>
          <p:cNvPr id="44" name="Text 44"/>
          <p:cNvSpPr txBox="1"/>
          <p:nvPr/>
        </p:nvSpPr>
        <p:spPr>
          <a:xfrm>
            <a:off x="9620250" y="3752850"/>
            <a:ext cx="1409700" cy="171450"/>
          </a:xfrm>
          <a:prstGeom prst="rect">
            <a:avLst/>
          </a:prstGeom>
          <a:noFill/>
          <a:ln>
            <a:noFill/>
          </a:ln>
        </p:spPr>
        <p:txBody>
          <a:bodyPr wrap="square" anchor="t" lIns="0" rIns="0" tIns="0" bIns="0"/>
          <a:lstStyle/>
          <a:p>
            <a:pPr algn="ctr"/>
            <a:r>
              <a:rPr lang="en-US" sz="900" b="1" spc="70">
                <a:solidFill>
                  <a:srgbClr val="1F7A5A"/>
                </a:solidFill>
                <a:latin typeface="Arial"/>
              </a:rPr>
              <a:t>CURRENT</a:t>
            </a:r>
            <a:endParaRPr lang="en-US" sz="900"/>
          </a:p>
        </p:txBody>
      </p:sp>
      <p:cxnSp>
        <p:nvCxnSpPr>
          <p:cNvPr id="45" name="Connector 45"/>
          <p:cNvCxnSpPr/>
          <p:nvPr/>
        </p:nvCxnSpPr>
        <p:spPr>
          <a:xfrm>
            <a:off x="10325100" y="4171950"/>
            <a:ext cx="0" cy="990600"/>
          </a:xfrm>
          <a:prstGeom prst="line">
            <a:avLst/>
          </a:prstGeom>
          <a:ln w="25400">
            <a:solidFill>
              <a:srgbClr val="5D6873"/>
            </a:solidFill>
          </a:ln>
        </p:spPr>
      </p:cxnSp>
      <p:cxnSp>
        <p:nvCxnSpPr>
          <p:cNvPr id="46" name="Connector 46"/>
          <p:cNvCxnSpPr/>
          <p:nvPr/>
        </p:nvCxnSpPr>
        <p:spPr>
          <a:xfrm flipH="1">
            <a:off x="3086100" y="5162550"/>
            <a:ext cx="7239000" cy="0"/>
          </a:xfrm>
          <a:prstGeom prst="line">
            <a:avLst/>
          </a:prstGeom>
          <a:ln w="25400">
            <a:solidFill>
              <a:srgbClr val="5D6873"/>
            </a:solidFill>
          </a:ln>
        </p:spPr>
      </p:cxnSp>
      <p:cxnSp>
        <p:nvCxnSpPr>
          <p:cNvPr id="47" name="Connector 47"/>
          <p:cNvCxnSpPr/>
          <p:nvPr/>
        </p:nvCxnSpPr>
        <p:spPr>
          <a:xfrm flipV="1">
            <a:off x="3086100" y="4171950"/>
            <a:ext cx="0" cy="990600"/>
          </a:xfrm>
          <a:prstGeom prst="line">
            <a:avLst/>
          </a:prstGeom>
          <a:ln w="25400">
            <a:solidFill>
              <a:srgbClr val="5D6873"/>
            </a:solidFill>
            <a:tailEnd type="triangle"/>
          </a:ln>
        </p:spPr>
      </p:cxnSp>
      <p:sp>
        <p:nvSpPr>
          <p:cNvPr id="48" name="Text 48"/>
          <p:cNvSpPr txBox="1"/>
          <p:nvPr/>
        </p:nvSpPr>
        <p:spPr>
          <a:xfrm>
            <a:off x="4095750" y="4629150"/>
            <a:ext cx="5219700" cy="457200"/>
          </a:xfrm>
          <a:prstGeom prst="rect">
            <a:avLst/>
          </a:prstGeom>
          <a:solidFill>
            <a:srgbClr val="FFFFFF"/>
          </a:solidFill>
          <a:ln>
            <a:noFill/>
          </a:ln>
        </p:spPr>
        <p:txBody>
          <a:bodyPr wrap="square" anchor="ctr" lIns="38100" rIns="38100" tIns="38100" bIns="38100"/>
          <a:lstStyle/>
          <a:p>
            <a:pPr algn="ctr"/>
            <a:r>
              <a:rPr lang="en-US" sz="1300" b="1">
                <a:solidFill>
                  <a:srgbClr val="5D6873"/>
                </a:solidFill>
                <a:latin typeface="Arial"/>
              </a:rPr>
              <a:t>A failure returns the change to the shortest useful correction loop</a:t>
            </a:r>
            <a:endParaRPr lang="en-US" sz="1300"/>
          </a:p>
        </p:txBody>
      </p:sp>
      <p:sp>
        <p:nvSpPr>
          <p:cNvPr id="49" name="Shape 49"/>
          <p:cNvSpPr/>
          <p:nvPr/>
        </p:nvSpPr>
        <p:spPr>
          <a:xfrm>
            <a:off x="1657350" y="5429250"/>
            <a:ext cx="8877300" cy="609600"/>
          </a:xfrm>
          <a:prstGeom prst="roundRect">
            <a:avLst/>
          </a:prstGeom>
          <a:solidFill>
            <a:srgbClr val="F4F6F8"/>
          </a:solidFill>
          <a:ln w="12700">
            <a:solidFill>
              <a:srgbClr val="D9DEE3"/>
            </a:solidFill>
          </a:ln>
        </p:spPr>
      </p:sp>
      <p:sp>
        <p:nvSpPr>
          <p:cNvPr id="50" name="Text 50"/>
          <p:cNvSpPr txBox="1"/>
          <p:nvPr/>
        </p:nvSpPr>
        <p:spPr>
          <a:xfrm>
            <a:off x="1885950" y="5572125"/>
            <a:ext cx="8420100" cy="323850"/>
          </a:xfrm>
          <a:prstGeom prst="rect">
            <a:avLst/>
          </a:prstGeom>
          <a:noFill/>
          <a:ln>
            <a:noFill/>
          </a:ln>
        </p:spPr>
        <p:txBody>
          <a:bodyPr wrap="square" anchor="ctr" lIns="0" rIns="0" tIns="0" bIns="0"/>
          <a:lstStyle/>
          <a:p>
            <a:pPr algn="ctr"/>
            <a:r>
              <a:rPr lang="en-US" sz="1600" b="1">
                <a:solidFill>
                  <a:srgbClr val="17212B"/>
                </a:solidFill>
                <a:latin typeface="Arial"/>
              </a:rPr>
              <a:t>Hooks optimize latency. GitHub checks and the reviewed frozen SHA own merge authority.</a:t>
            </a:r>
            <a:endParaRPr lang="en-US" sz="1600"/>
          </a:p>
        </p:txBody>
      </p:sp>
      <p:cxnSp>
        <p:nvCxnSpPr>
          <p:cNvPr id="51" name="Connector 51"/>
          <p:cNvCxnSpPr/>
          <p:nvPr/>
        </p:nvCxnSpPr>
        <p:spPr>
          <a:xfrm>
            <a:off x="552450" y="6419850"/>
            <a:ext cx="11087100" cy="0"/>
          </a:xfrm>
          <a:prstGeom prst="line">
            <a:avLst/>
          </a:prstGeom>
          <a:ln w="12700">
            <a:solidFill>
              <a:srgbClr val="D9DEE3"/>
            </a:solidFill>
          </a:ln>
        </p:spPr>
      </p:cxnSp>
      <p:sp>
        <p:nvSpPr>
          <p:cNvPr id="52" name="Text 52"/>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CUSTOMER ACTIVITY ANALYTICS</a:t>
            </a:r>
            <a:endParaRPr lang="en-US" sz="1000"/>
          </a:p>
        </p:txBody>
      </p:sp>
      <p:sp>
        <p:nvSpPr>
          <p:cNvPr id="53" name="Text 53"/>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11</a:t>
            </a:r>
            <a:endParaRPr 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MEASURED DELIVERY SCALE</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R5 reached J+7; final hardening delivered 32,281 authored LOC</a:t>
            </a:r>
            <a:endParaRPr lang="en-US" sz="3000"/>
          </a:p>
        </p:txBody>
      </p:sp>
      <p:sp>
        <p:nvSpPr>
          <p:cNvPr id="4" name="Text 4"/>
          <p:cNvSpPr txBox="1"/>
          <p:nvPr/>
        </p:nvSpPr>
        <p:spPr>
          <a:xfrm>
            <a:off x="628650" y="1581150"/>
            <a:ext cx="3714750" cy="1200150"/>
          </a:xfrm>
          <a:prstGeom prst="rect">
            <a:avLst/>
          </a:prstGeom>
          <a:noFill/>
          <a:ln>
            <a:noFill/>
          </a:ln>
        </p:spPr>
        <p:txBody>
          <a:bodyPr wrap="square" anchor="ctr" lIns="0" rIns="0" tIns="0" bIns="0"/>
          <a:lstStyle/>
          <a:p>
            <a:pPr algn="ctr"/>
            <a:r>
              <a:rPr lang="en-US" sz="8800" b="1">
                <a:solidFill>
                  <a:srgbClr val="D71920"/>
                </a:solidFill>
                <a:latin typeface="Arial"/>
              </a:rPr>
              <a:t>22×</a:t>
            </a:r>
            <a:endParaRPr lang="en-US" sz="8800"/>
          </a:p>
        </p:txBody>
      </p:sp>
      <p:sp>
        <p:nvSpPr>
          <p:cNvPr id="5" name="Text 5"/>
          <p:cNvSpPr txBox="1"/>
          <p:nvPr/>
        </p:nvSpPr>
        <p:spPr>
          <a:xfrm>
            <a:off x="819150" y="2724150"/>
            <a:ext cx="3333750" cy="533400"/>
          </a:xfrm>
          <a:prstGeom prst="rect">
            <a:avLst/>
          </a:prstGeom>
          <a:noFill/>
          <a:ln>
            <a:noFill/>
          </a:ln>
        </p:spPr>
        <p:txBody>
          <a:bodyPr wrap="square" anchor="t" lIns="0" rIns="0" tIns="0" bIns="0"/>
          <a:lstStyle/>
          <a:p>
            <a:pPr algn="ctr"/>
            <a:r>
              <a:rPr lang="en-US" sz="2000" b="1">
                <a:solidFill>
                  <a:srgbClr val="17212B"/>
                </a:solidFill>
                <a:latin typeface="Arial"/>
              </a:rPr>
              <a:t>R5 replay compression at J+7</a:t>
            </a:r>
            <a:endParaRPr lang="en-US" sz="2000"/>
          </a:p>
        </p:txBody>
      </p:sp>
      <p:sp>
        <p:nvSpPr>
          <p:cNvPr id="6" name="Text 6"/>
          <p:cNvSpPr txBox="1"/>
          <p:nvPr/>
        </p:nvSpPr>
        <p:spPr>
          <a:xfrm>
            <a:off x="914400" y="3371850"/>
            <a:ext cx="3143250" cy="457200"/>
          </a:xfrm>
          <a:prstGeom prst="rect">
            <a:avLst/>
          </a:prstGeom>
          <a:noFill/>
          <a:ln>
            <a:noFill/>
          </a:ln>
        </p:spPr>
        <p:txBody>
          <a:bodyPr wrap="square" anchor="t" lIns="0" rIns="0" tIns="0" bIns="0"/>
          <a:lstStyle/>
          <a:p>
            <a:pPr algn="ctr"/>
            <a:r>
              <a:rPr lang="en-US" sz="1400" b="0">
                <a:solidFill>
                  <a:srgbClr val="5D6873"/>
                </a:solidFill>
                <a:latin typeface="Arial"/>
              </a:rPr>
              <a:t>155 ÷ 7 = 22.1 · historical R5 milestone</a:t>
            </a:r>
            <a:endParaRPr lang="en-US" sz="1400"/>
          </a:p>
        </p:txBody>
      </p:sp>
      <p:cxnSp>
        <p:nvCxnSpPr>
          <p:cNvPr id="7" name="Connector 7"/>
          <p:cNvCxnSpPr/>
          <p:nvPr/>
        </p:nvCxnSpPr>
        <p:spPr>
          <a:xfrm>
            <a:off x="4762500" y="1790700"/>
            <a:ext cx="0" cy="2514600"/>
          </a:xfrm>
          <a:prstGeom prst="line">
            <a:avLst/>
          </a:prstGeom>
          <a:ln w="25400">
            <a:solidFill>
              <a:srgbClr val="D9DEE3"/>
            </a:solidFill>
          </a:ln>
        </p:spPr>
      </p:cxnSp>
      <p:sp>
        <p:nvSpPr>
          <p:cNvPr id="8" name="Text 8"/>
          <p:cNvSpPr txBox="1"/>
          <p:nvPr/>
        </p:nvSpPr>
        <p:spPr>
          <a:xfrm>
            <a:off x="5238750" y="1562100"/>
            <a:ext cx="5638800" cy="247650"/>
          </a:xfrm>
          <a:prstGeom prst="rect">
            <a:avLst/>
          </a:prstGeom>
          <a:noFill/>
          <a:ln>
            <a:noFill/>
          </a:ln>
        </p:spPr>
        <p:txBody>
          <a:bodyPr wrap="square" anchor="t" lIns="0" rIns="0" tIns="0" bIns="0"/>
          <a:lstStyle/>
          <a:p>
            <a:pPr algn="l"/>
            <a:r>
              <a:rPr lang="en-US" sz="1200" b="1" spc="90">
                <a:solidFill>
                  <a:srgbClr val="2A5B84"/>
                </a:solidFill>
                <a:latin typeface="Arial"/>
              </a:rPr>
              <a:t>HISTORICAL R5 MILESTONE · REPLAY THE OBSERVED EXECUTION</a:t>
            </a:r>
            <a:endParaRPr lang="en-US" sz="1200"/>
          </a:p>
        </p:txBody>
      </p:sp>
      <p:sp>
        <p:nvSpPr>
          <p:cNvPr id="9" name="Text 9"/>
          <p:cNvSpPr txBox="1"/>
          <p:nvPr/>
        </p:nvSpPr>
        <p:spPr>
          <a:xfrm>
            <a:off x="5238750" y="2152650"/>
            <a:ext cx="1619250" cy="266700"/>
          </a:xfrm>
          <a:prstGeom prst="rect">
            <a:avLst/>
          </a:prstGeom>
          <a:noFill/>
          <a:ln>
            <a:noFill/>
          </a:ln>
        </p:spPr>
        <p:txBody>
          <a:bodyPr wrap="square" anchor="t" lIns="0" rIns="0" tIns="0" bIns="0"/>
          <a:lstStyle/>
          <a:p>
            <a:pPr algn="l"/>
            <a:r>
              <a:rPr lang="en-US" sz="1800" b="1">
                <a:solidFill>
                  <a:srgbClr val="17212B"/>
                </a:solidFill>
                <a:latin typeface="Arial"/>
              </a:rPr>
              <a:t>Human alone</a:t>
            </a:r>
            <a:endParaRPr lang="en-US" sz="1800"/>
          </a:p>
        </p:txBody>
      </p:sp>
      <p:sp>
        <p:nvSpPr>
          <p:cNvPr id="10" name="Shape 10"/>
          <p:cNvSpPr/>
          <p:nvPr/>
        </p:nvSpPr>
        <p:spPr>
          <a:xfrm>
            <a:off x="7010400" y="2114550"/>
            <a:ext cx="4095750" cy="381000"/>
          </a:xfrm>
          <a:prstGeom prst="roundRect">
            <a:avLst/>
          </a:prstGeom>
          <a:solidFill>
            <a:srgbClr val="F4F6F8"/>
          </a:solidFill>
          <a:ln w="12700">
            <a:solidFill>
              <a:srgbClr val="D9DEE3"/>
            </a:solidFill>
          </a:ln>
        </p:spPr>
      </p:sp>
      <p:sp>
        <p:nvSpPr>
          <p:cNvPr id="11" name="Shape 11"/>
          <p:cNvSpPr/>
          <p:nvPr/>
        </p:nvSpPr>
        <p:spPr>
          <a:xfrm>
            <a:off x="7010400" y="2114550"/>
            <a:ext cx="4095750" cy="381000"/>
          </a:xfrm>
          <a:prstGeom prst="roundRect">
            <a:avLst/>
          </a:prstGeom>
          <a:solidFill>
            <a:srgbClr val="2A5B84"/>
          </a:solidFill>
          <a:ln w="12700">
            <a:solidFill>
              <a:srgbClr val="2A5B84"/>
            </a:solidFill>
          </a:ln>
        </p:spPr>
      </p:sp>
      <p:sp>
        <p:nvSpPr>
          <p:cNvPr id="12" name="Text 12"/>
          <p:cNvSpPr txBox="1"/>
          <p:nvPr/>
        </p:nvSpPr>
        <p:spPr>
          <a:xfrm>
            <a:off x="7124700" y="2190750"/>
            <a:ext cx="3810000" cy="228600"/>
          </a:xfrm>
          <a:prstGeom prst="rect">
            <a:avLst/>
          </a:prstGeom>
          <a:noFill/>
          <a:ln>
            <a:noFill/>
          </a:ln>
        </p:spPr>
        <p:txBody>
          <a:bodyPr wrap="square" anchor="ctr" lIns="0" rIns="0" tIns="0" bIns="0"/>
          <a:lstStyle/>
          <a:p>
            <a:pPr algn="l"/>
            <a:r>
              <a:rPr lang="en-US" sz="1300" b="1">
                <a:solidFill>
                  <a:srgbClr val="FFFFFF"/>
                </a:solidFill>
                <a:latin typeface="Arial"/>
              </a:rPr>
              <a:t>140–170 workdays · midpoint 155</a:t>
            </a:r>
            <a:endParaRPr lang="en-US" sz="1300"/>
          </a:p>
        </p:txBody>
      </p:sp>
      <p:sp>
        <p:nvSpPr>
          <p:cNvPr id="13" name="Text 13"/>
          <p:cNvSpPr txBox="1"/>
          <p:nvPr/>
        </p:nvSpPr>
        <p:spPr>
          <a:xfrm>
            <a:off x="5238750" y="2914650"/>
            <a:ext cx="1619250" cy="266700"/>
          </a:xfrm>
          <a:prstGeom prst="rect">
            <a:avLst/>
          </a:prstGeom>
          <a:noFill/>
          <a:ln>
            <a:noFill/>
          </a:ln>
        </p:spPr>
        <p:txBody>
          <a:bodyPr wrap="square" anchor="t" lIns="0" rIns="0" tIns="0" bIns="0"/>
          <a:lstStyle/>
          <a:p>
            <a:pPr algn="l"/>
            <a:r>
              <a:rPr lang="en-US" sz="1800" b="1">
                <a:solidFill>
                  <a:srgbClr val="17212B"/>
                </a:solidFill>
                <a:latin typeface="Arial"/>
              </a:rPr>
              <a:t>Human + AI</a:t>
            </a:r>
            <a:endParaRPr lang="en-US" sz="1800"/>
          </a:p>
        </p:txBody>
      </p:sp>
      <p:sp>
        <p:nvSpPr>
          <p:cNvPr id="14" name="Shape 14"/>
          <p:cNvSpPr/>
          <p:nvPr/>
        </p:nvSpPr>
        <p:spPr>
          <a:xfrm>
            <a:off x="7010400" y="2876550"/>
            <a:ext cx="4095750" cy="381000"/>
          </a:xfrm>
          <a:prstGeom prst="roundRect">
            <a:avLst/>
          </a:prstGeom>
          <a:solidFill>
            <a:srgbClr val="F4F6F8"/>
          </a:solidFill>
          <a:ln w="12700">
            <a:solidFill>
              <a:srgbClr val="D9DEE3"/>
            </a:solidFill>
          </a:ln>
        </p:spPr>
      </p:sp>
      <p:sp>
        <p:nvSpPr>
          <p:cNvPr id="15" name="Shape 15"/>
          <p:cNvSpPr/>
          <p:nvPr/>
        </p:nvSpPr>
        <p:spPr>
          <a:xfrm>
            <a:off x="7010400" y="2876550"/>
            <a:ext cx="247650" cy="381000"/>
          </a:xfrm>
          <a:prstGeom prst="roundRect">
            <a:avLst/>
          </a:prstGeom>
          <a:solidFill>
            <a:srgbClr val="D71920"/>
          </a:solidFill>
          <a:ln w="12700">
            <a:solidFill>
              <a:srgbClr val="D71920"/>
            </a:solidFill>
          </a:ln>
        </p:spPr>
      </p:sp>
      <p:sp>
        <p:nvSpPr>
          <p:cNvPr id="16" name="Text 16"/>
          <p:cNvSpPr txBox="1"/>
          <p:nvPr/>
        </p:nvSpPr>
        <p:spPr>
          <a:xfrm>
            <a:off x="7410450" y="2952750"/>
            <a:ext cx="3333750" cy="228600"/>
          </a:xfrm>
          <a:prstGeom prst="rect">
            <a:avLst/>
          </a:prstGeom>
          <a:noFill/>
          <a:ln>
            <a:noFill/>
          </a:ln>
        </p:spPr>
        <p:txBody>
          <a:bodyPr wrap="square" anchor="ctr" lIns="0" rIns="0" tIns="0" bIns="0"/>
          <a:lstStyle/>
          <a:p>
            <a:pPr algn="l"/>
            <a:r>
              <a:rPr lang="en-US" sz="1400" b="1">
                <a:solidFill>
                  <a:srgbClr val="981B1E"/>
                </a:solidFill>
                <a:latin typeface="Arial"/>
              </a:rPr>
              <a:t>7 calendar days to R5</a:t>
            </a:r>
            <a:endParaRPr lang="en-US" sz="1400"/>
          </a:p>
        </p:txBody>
      </p:sp>
      <p:sp>
        <p:nvSpPr>
          <p:cNvPr id="17" name="Shape 17"/>
          <p:cNvSpPr/>
          <p:nvPr/>
        </p:nvSpPr>
        <p:spPr>
          <a:xfrm>
            <a:off x="5143500" y="3543300"/>
            <a:ext cx="6115050" cy="781050"/>
          </a:xfrm>
          <a:prstGeom prst="roundRect">
            <a:avLst/>
          </a:prstGeom>
          <a:solidFill>
            <a:srgbClr val="F4F6F8"/>
          </a:solidFill>
          <a:ln w="12700">
            <a:solidFill>
              <a:srgbClr val="D9DEE3"/>
            </a:solidFill>
          </a:ln>
        </p:spPr>
      </p:sp>
      <p:sp>
        <p:nvSpPr>
          <p:cNvPr id="18" name="Text 18"/>
          <p:cNvSpPr txBox="1"/>
          <p:nvPr/>
        </p:nvSpPr>
        <p:spPr>
          <a:xfrm>
            <a:off x="5276850" y="3638550"/>
            <a:ext cx="5848350" cy="590550"/>
          </a:xfrm>
          <a:prstGeom prst="rect">
            <a:avLst/>
          </a:prstGeom>
          <a:noFill/>
          <a:ln>
            <a:noFill/>
          </a:ln>
        </p:spPr>
        <p:txBody>
          <a:bodyPr wrap="square" anchor="ctr" lIns="0" rIns="0" tIns="0" bIns="0"/>
          <a:lstStyle/>
          <a:p>
            <a:pPr algn="l"/>
            <a:r>
              <a:rPr lang="en-US" sz="1250" b="0">
                <a:solidFill>
                  <a:srgbClr val="5D6873"/>
                </a:solidFill>
                <a:latin typeface="Arial"/>
              </a:rPr>
              <a:t>What 115 meant: reproduce the final scope after the design is known. It excludes discarded paths, repeated reviews, failed-CI recovery and coordination, so it remains a lower bound.</a:t>
            </a:r>
            <a:endParaRPr lang="en-US" sz="1250"/>
          </a:p>
        </p:txBody>
      </p:sp>
      <p:cxnSp>
        <p:nvCxnSpPr>
          <p:cNvPr id="19" name="Connector 19"/>
          <p:cNvCxnSpPr/>
          <p:nvPr/>
        </p:nvCxnSpPr>
        <p:spPr>
          <a:xfrm>
            <a:off x="628650" y="4552950"/>
            <a:ext cx="10934700" cy="0"/>
          </a:xfrm>
          <a:prstGeom prst="line">
            <a:avLst/>
          </a:prstGeom>
          <a:ln w="12700">
            <a:solidFill>
              <a:srgbClr val="D9DEE3"/>
            </a:solidFill>
          </a:ln>
        </p:spPr>
      </p:cxnSp>
      <p:sp>
        <p:nvSpPr>
          <p:cNvPr id="20" name="Text 20"/>
          <p:cNvSpPr txBox="1"/>
          <p:nvPr/>
        </p:nvSpPr>
        <p:spPr>
          <a:xfrm>
            <a:off x="628650" y="4819650"/>
            <a:ext cx="2324100" cy="438150"/>
          </a:xfrm>
          <a:prstGeom prst="rect">
            <a:avLst/>
          </a:prstGeom>
          <a:noFill/>
          <a:ln>
            <a:noFill/>
          </a:ln>
        </p:spPr>
        <p:txBody>
          <a:bodyPr wrap="square" anchor="t" lIns="0" rIns="0" tIns="0" bIns="0"/>
          <a:lstStyle/>
          <a:p>
            <a:pPr algn="ctr"/>
            <a:r>
              <a:rPr lang="en-US" sz="2800" b="1">
                <a:solidFill>
                  <a:srgbClr val="D71920"/>
                </a:solidFill>
                <a:latin typeface="Arial"/>
              </a:rPr>
              <a:t>49,992</a:t>
            </a:r>
            <a:endParaRPr lang="en-US" sz="2800"/>
          </a:p>
        </p:txBody>
      </p:sp>
      <p:sp>
        <p:nvSpPr>
          <p:cNvPr id="21" name="Text 21"/>
          <p:cNvSpPr txBox="1"/>
          <p:nvPr/>
        </p:nvSpPr>
        <p:spPr>
          <a:xfrm>
            <a:off x="628650" y="5314950"/>
            <a:ext cx="2324100" cy="457200"/>
          </a:xfrm>
          <a:prstGeom prst="rect">
            <a:avLst/>
          </a:prstGeom>
          <a:noFill/>
          <a:ln>
            <a:noFill/>
          </a:ln>
        </p:spPr>
        <p:txBody>
          <a:bodyPr wrap="square" anchor="ctr" lIns="0" rIns="0" tIns="0" bIns="0"/>
          <a:lstStyle/>
          <a:p>
            <a:pPr algn="ctr"/>
            <a:r>
              <a:rPr lang="en-US" sz="1300" b="0">
                <a:solidFill>
                  <a:srgbClr val="5D6873"/>
                </a:solidFill>
                <a:latin typeface="Arial"/>
              </a:rPr>
              <a:t>changed lines in the complete corpus</a:t>
            </a:r>
            <a:endParaRPr lang="en-US" sz="1300"/>
          </a:p>
        </p:txBody>
      </p:sp>
      <p:cxnSp>
        <p:nvCxnSpPr>
          <p:cNvPr id="22" name="Connector 22"/>
          <p:cNvCxnSpPr/>
          <p:nvPr/>
        </p:nvCxnSpPr>
        <p:spPr>
          <a:xfrm>
            <a:off x="3162300" y="4857750"/>
            <a:ext cx="0" cy="914400"/>
          </a:xfrm>
          <a:prstGeom prst="line">
            <a:avLst/>
          </a:prstGeom>
          <a:ln w="12700">
            <a:solidFill>
              <a:srgbClr val="D9DEE3"/>
            </a:solidFill>
          </a:ln>
        </p:spPr>
      </p:cxnSp>
      <p:sp>
        <p:nvSpPr>
          <p:cNvPr id="23" name="Text 23"/>
          <p:cNvSpPr txBox="1"/>
          <p:nvPr/>
        </p:nvSpPr>
        <p:spPr>
          <a:xfrm>
            <a:off x="3371850" y="4819650"/>
            <a:ext cx="2324100" cy="438150"/>
          </a:xfrm>
          <a:prstGeom prst="rect">
            <a:avLst/>
          </a:prstGeom>
          <a:noFill/>
          <a:ln>
            <a:noFill/>
          </a:ln>
        </p:spPr>
        <p:txBody>
          <a:bodyPr wrap="square" anchor="t" lIns="0" rIns="0" tIns="0" bIns="0"/>
          <a:lstStyle/>
          <a:p>
            <a:pPr algn="ctr"/>
            <a:r>
              <a:rPr lang="en-US" sz="2800" b="1">
                <a:solidFill>
                  <a:srgbClr val="17212B"/>
                </a:solidFill>
                <a:latin typeface="Arial"/>
              </a:rPr>
              <a:t>328</a:t>
            </a:r>
            <a:endParaRPr lang="en-US" sz="2800"/>
          </a:p>
        </p:txBody>
      </p:sp>
      <p:sp>
        <p:nvSpPr>
          <p:cNvPr id="24" name="Text 24"/>
          <p:cNvSpPr txBox="1"/>
          <p:nvPr/>
        </p:nvSpPr>
        <p:spPr>
          <a:xfrm>
            <a:off x="3371850" y="5314950"/>
            <a:ext cx="2324100" cy="457200"/>
          </a:xfrm>
          <a:prstGeom prst="rect">
            <a:avLst/>
          </a:prstGeom>
          <a:noFill/>
          <a:ln>
            <a:noFill/>
          </a:ln>
        </p:spPr>
        <p:txBody>
          <a:bodyPr wrap="square" anchor="ctr" lIns="0" rIns="0" tIns="0" bIns="0"/>
          <a:lstStyle/>
          <a:p>
            <a:pPr algn="ctr"/>
            <a:r>
              <a:rPr lang="en-US" sz="1300" b="0">
                <a:solidFill>
                  <a:srgbClr val="5D6873"/>
                </a:solidFill>
                <a:latin typeface="Arial"/>
              </a:rPr>
              <a:t>files changed on main</a:t>
            </a:r>
            <a:endParaRPr lang="en-US" sz="1300"/>
          </a:p>
        </p:txBody>
      </p:sp>
      <p:cxnSp>
        <p:nvCxnSpPr>
          <p:cNvPr id="25" name="Connector 25"/>
          <p:cNvCxnSpPr/>
          <p:nvPr/>
        </p:nvCxnSpPr>
        <p:spPr>
          <a:xfrm>
            <a:off x="5905500" y="4857750"/>
            <a:ext cx="0" cy="914400"/>
          </a:xfrm>
          <a:prstGeom prst="line">
            <a:avLst/>
          </a:prstGeom>
          <a:ln w="12700">
            <a:solidFill>
              <a:srgbClr val="D9DEE3"/>
            </a:solidFill>
          </a:ln>
        </p:spPr>
      </p:cxnSp>
      <p:sp>
        <p:nvSpPr>
          <p:cNvPr id="26" name="Text 26"/>
          <p:cNvSpPr txBox="1"/>
          <p:nvPr/>
        </p:nvSpPr>
        <p:spPr>
          <a:xfrm>
            <a:off x="6115050" y="4819650"/>
            <a:ext cx="2324100" cy="438150"/>
          </a:xfrm>
          <a:prstGeom prst="rect">
            <a:avLst/>
          </a:prstGeom>
          <a:noFill/>
          <a:ln>
            <a:noFill/>
          </a:ln>
        </p:spPr>
        <p:txBody>
          <a:bodyPr wrap="square" anchor="t" lIns="0" rIns="0" tIns="0" bIns="0"/>
          <a:lstStyle/>
          <a:p>
            <a:pPr algn="ctr"/>
            <a:r>
              <a:rPr lang="en-US" sz="2800" b="1">
                <a:solidFill>
                  <a:srgbClr val="17212B"/>
                </a:solidFill>
                <a:latin typeface="Arial"/>
              </a:rPr>
              <a:t>29,414</a:t>
            </a:r>
            <a:endParaRPr lang="en-US" sz="2800"/>
          </a:p>
        </p:txBody>
      </p:sp>
      <p:sp>
        <p:nvSpPr>
          <p:cNvPr id="27" name="Text 27"/>
          <p:cNvSpPr txBox="1"/>
          <p:nvPr/>
        </p:nvSpPr>
        <p:spPr>
          <a:xfrm>
            <a:off x="6115050" y="5314950"/>
            <a:ext cx="2324100" cy="457200"/>
          </a:xfrm>
          <a:prstGeom prst="rect">
            <a:avLst/>
          </a:prstGeom>
          <a:noFill/>
          <a:ln>
            <a:noFill/>
          </a:ln>
        </p:spPr>
        <p:txBody>
          <a:bodyPr wrap="square" anchor="ctr" lIns="0" rIns="0" tIns="0" bIns="0"/>
          <a:lstStyle/>
          <a:p>
            <a:pPr algn="ctr"/>
            <a:r>
              <a:rPr lang="en-US" sz="1300" b="0">
                <a:solidFill>
                  <a:srgbClr val="5D6873"/>
                </a:solidFill>
                <a:latin typeface="Arial"/>
              </a:rPr>
              <a:t>net lines added on cited range</a:t>
            </a:r>
            <a:endParaRPr lang="en-US" sz="1300"/>
          </a:p>
        </p:txBody>
      </p:sp>
      <p:cxnSp>
        <p:nvCxnSpPr>
          <p:cNvPr id="28" name="Connector 28"/>
          <p:cNvCxnSpPr/>
          <p:nvPr/>
        </p:nvCxnSpPr>
        <p:spPr>
          <a:xfrm>
            <a:off x="8648700" y="4857750"/>
            <a:ext cx="0" cy="914400"/>
          </a:xfrm>
          <a:prstGeom prst="line">
            <a:avLst/>
          </a:prstGeom>
          <a:ln w="12700">
            <a:solidFill>
              <a:srgbClr val="D9DEE3"/>
            </a:solidFill>
          </a:ln>
        </p:spPr>
      </p:cxnSp>
      <p:sp>
        <p:nvSpPr>
          <p:cNvPr id="29" name="Text 29"/>
          <p:cNvSpPr txBox="1"/>
          <p:nvPr/>
        </p:nvSpPr>
        <p:spPr>
          <a:xfrm>
            <a:off x="8858250" y="4819650"/>
            <a:ext cx="2324100" cy="438150"/>
          </a:xfrm>
          <a:prstGeom prst="rect">
            <a:avLst/>
          </a:prstGeom>
          <a:noFill/>
          <a:ln>
            <a:noFill/>
          </a:ln>
        </p:spPr>
        <p:txBody>
          <a:bodyPr wrap="square" anchor="t" lIns="0" rIns="0" tIns="0" bIns="0"/>
          <a:lstStyle/>
          <a:p>
            <a:pPr algn="ctr"/>
            <a:r>
              <a:rPr lang="en-US" sz="2800" b="1">
                <a:solidFill>
                  <a:srgbClr val="17212B"/>
                </a:solidFill>
                <a:latin typeface="Arial"/>
              </a:rPr>
              <a:t>62,578</a:t>
            </a:r>
            <a:endParaRPr lang="en-US" sz="2800"/>
          </a:p>
        </p:txBody>
      </p:sp>
      <p:sp>
        <p:nvSpPr>
          <p:cNvPr id="30" name="Text 30"/>
          <p:cNvSpPr txBox="1"/>
          <p:nvPr/>
        </p:nvSpPr>
        <p:spPr>
          <a:xfrm>
            <a:off x="8858250" y="5314950"/>
            <a:ext cx="2324100" cy="457200"/>
          </a:xfrm>
          <a:prstGeom prst="rect">
            <a:avLst/>
          </a:prstGeom>
          <a:noFill/>
          <a:ln>
            <a:noFill/>
          </a:ln>
        </p:spPr>
        <p:txBody>
          <a:bodyPr wrap="square" anchor="ctr" lIns="0" rIns="0" tIns="0" bIns="0"/>
          <a:lstStyle/>
          <a:p>
            <a:pPr algn="ctr"/>
            <a:r>
              <a:rPr lang="en-US" sz="1300" b="0">
                <a:solidFill>
                  <a:srgbClr val="5D6873"/>
                </a:solidFill>
                <a:latin typeface="Arial"/>
              </a:rPr>
              <a:t>lines of cumulative PR churn</a:t>
            </a:r>
            <a:endParaRPr lang="en-US" sz="1300"/>
          </a:p>
        </p:txBody>
      </p:sp>
      <p:sp>
        <p:nvSpPr>
          <p:cNvPr id="31" name="Shape 31"/>
          <p:cNvSpPr/>
          <p:nvPr/>
        </p:nvSpPr>
        <p:spPr>
          <a:xfrm>
            <a:off x="1581150" y="5905500"/>
            <a:ext cx="9029700" cy="323850"/>
          </a:xfrm>
          <a:prstGeom prst="roundRect">
            <a:avLst/>
          </a:prstGeom>
          <a:solidFill>
            <a:srgbClr val="F4F6F8"/>
          </a:solidFill>
          <a:ln w="12700">
            <a:solidFill>
              <a:srgbClr val="D9DEE3"/>
            </a:solidFill>
          </a:ln>
        </p:spPr>
      </p:sp>
      <p:sp>
        <p:nvSpPr>
          <p:cNvPr id="32" name="Text 32"/>
          <p:cNvSpPr txBox="1"/>
          <p:nvPr/>
        </p:nvSpPr>
        <p:spPr>
          <a:xfrm>
            <a:off x="1714500" y="5962650"/>
            <a:ext cx="8763000" cy="209550"/>
          </a:xfrm>
          <a:prstGeom prst="rect">
            <a:avLst/>
          </a:prstGeom>
          <a:noFill/>
          <a:ln>
            <a:noFill/>
          </a:ln>
        </p:spPr>
        <p:txBody>
          <a:bodyPr wrap="square" anchor="t" lIns="0" rIns="0" tIns="0" bIns="0"/>
          <a:lstStyle/>
          <a:p>
            <a:pPr algn="ctr"/>
            <a:r>
              <a:rPr lang="en-US" sz="1300" b="1">
                <a:solidFill>
                  <a:srgbClr val="17212B"/>
                </a:solidFill>
                <a:latin typeface="Arial"/>
              </a:rPr>
              <a:t>R5 @ J+7: 22× replay · final: 32,281 authored LOC / 15 languages</a:t>
            </a:r>
            <a:endParaRPr lang="en-US" sz="1300"/>
          </a:p>
        </p:txBody>
      </p:sp>
      <p:cxnSp>
        <p:nvCxnSpPr>
          <p:cNvPr id="33" name="Connector 33"/>
          <p:cNvCxnSpPr/>
          <p:nvPr/>
        </p:nvCxnSpPr>
        <p:spPr>
          <a:xfrm>
            <a:off x="552450" y="6419850"/>
            <a:ext cx="11087100" cy="0"/>
          </a:xfrm>
          <a:prstGeom prst="line">
            <a:avLst/>
          </a:prstGeom>
          <a:ln w="12700">
            <a:solidFill>
              <a:srgbClr val="D9DEE3"/>
            </a:solidFill>
          </a:ln>
        </p:spPr>
      </p:cxnSp>
      <p:sp>
        <p:nvSpPr>
          <p:cNvPr id="34" name="Text 34"/>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CUSTOMER ACTIVITY ANALYTICS</a:t>
            </a:r>
            <a:endParaRPr lang="en-US" sz="1000"/>
          </a:p>
        </p:txBody>
      </p:sp>
      <p:sp>
        <p:nvSpPr>
          <p:cNvPr id="35" name="Text 35"/>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12</a:t>
            </a:r>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FEEDBACK-LOOP VELOCITY</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AI assistance shortened reaction time between machine checks</a:t>
            </a:r>
            <a:endParaRPr lang="en-US" sz="3000"/>
          </a:p>
        </p:txBody>
      </p:sp>
      <p:sp>
        <p:nvSpPr>
          <p:cNvPr id="4" name="Text 4"/>
          <p:cNvSpPr txBox="1"/>
          <p:nvPr/>
        </p:nvSpPr>
        <p:spPr>
          <a:xfrm>
            <a:off x="628650" y="1466850"/>
            <a:ext cx="4857750" cy="266700"/>
          </a:xfrm>
          <a:prstGeom prst="rect">
            <a:avLst/>
          </a:prstGeom>
          <a:noFill/>
          <a:ln>
            <a:noFill/>
          </a:ln>
        </p:spPr>
        <p:txBody>
          <a:bodyPr wrap="square" anchor="t" lIns="0" rIns="0" tIns="0" bIns="0"/>
          <a:lstStyle/>
          <a:p>
            <a:pPr algn="l"/>
            <a:r>
              <a:rPr lang="en-US" sz="1200" b="1" spc="120">
                <a:solidFill>
                  <a:srgbClr val="D71920"/>
                </a:solidFill>
                <a:latin typeface="Arial"/>
              </a:rPr>
              <a:t>OBSERVED WITH AI ASSISTANCE</a:t>
            </a:r>
            <a:endParaRPr lang="en-US" sz="1200"/>
          </a:p>
        </p:txBody>
      </p:sp>
      <p:sp>
        <p:nvSpPr>
          <p:cNvPr id="5" name="Text 5"/>
          <p:cNvSpPr txBox="1"/>
          <p:nvPr/>
        </p:nvSpPr>
        <p:spPr>
          <a:xfrm>
            <a:off x="6705600" y="1466850"/>
            <a:ext cx="4857750" cy="266700"/>
          </a:xfrm>
          <a:prstGeom prst="rect">
            <a:avLst/>
          </a:prstGeom>
          <a:noFill/>
          <a:ln>
            <a:noFill/>
          </a:ln>
        </p:spPr>
        <p:txBody>
          <a:bodyPr wrap="square" anchor="t" lIns="0" rIns="0" tIns="0" bIns="0"/>
          <a:lstStyle/>
          <a:p>
            <a:pPr algn="l"/>
            <a:r>
              <a:rPr lang="en-US" sz="1200" b="1" spc="90">
                <a:solidFill>
                  <a:srgbClr val="2A5B84"/>
                </a:solidFill>
                <a:latin typeface="Arial"/>
              </a:rPr>
              <a:t>HUMAN ALONE, PARAMETRIC ESTIMATE</a:t>
            </a:r>
            <a:endParaRPr lang="en-US" sz="1200"/>
          </a:p>
        </p:txBody>
      </p:sp>
      <p:cxnSp>
        <p:nvCxnSpPr>
          <p:cNvPr id="6" name="Connector 6"/>
          <p:cNvCxnSpPr/>
          <p:nvPr/>
        </p:nvCxnSpPr>
        <p:spPr>
          <a:xfrm>
            <a:off x="6096000" y="1619250"/>
            <a:ext cx="0" cy="3905250"/>
          </a:xfrm>
          <a:prstGeom prst="line">
            <a:avLst/>
          </a:prstGeom>
          <a:ln w="25400">
            <a:solidFill>
              <a:srgbClr val="D9DEE3"/>
            </a:solidFill>
          </a:ln>
        </p:spPr>
      </p:cxnSp>
      <p:sp>
        <p:nvSpPr>
          <p:cNvPr id="7" name="Shape 7"/>
          <p:cNvSpPr/>
          <p:nvPr/>
        </p:nvSpPr>
        <p:spPr>
          <a:xfrm>
            <a:off x="666750" y="1809750"/>
            <a:ext cx="514350" cy="514350"/>
          </a:xfrm>
          <a:prstGeom prst="roundRect">
            <a:avLst/>
          </a:prstGeom>
          <a:solidFill>
            <a:srgbClr val="FFFFFF"/>
          </a:solidFill>
          <a:ln w="19050">
            <a:solidFill>
              <a:srgbClr val="D71920"/>
            </a:solidFill>
          </a:ln>
        </p:spPr>
      </p:sp>
      <p:pic>
        <p:nvPicPr>
          <p:cNvPr id="8" name="Picture 8"/>
          <p:cNvPicPr>
            <a:picLocks noChangeAspect="1"/>
          </p:cNvPicPr>
          <p:nvPr/>
        </p:nvPicPr>
        <p:blipFill>
          <a:blip r:embed="rId2"/>
          <a:stretch>
            <a:fillRect/>
          </a:stretch>
        </p:blipFill>
        <p:spPr>
          <a:xfrm>
            <a:off x="800100" y="1943100"/>
            <a:ext cx="247650" cy="247650"/>
          </a:xfrm>
          <a:prstGeom prst="rect">
            <a:avLst/>
          </a:prstGeom>
          <a:ln>
            <a:noFill/>
          </a:ln>
        </p:spPr>
      </p:pic>
      <p:sp>
        <p:nvSpPr>
          <p:cNvPr id="9" name="Text 9"/>
          <p:cNvSpPr txBox="1"/>
          <p:nvPr/>
        </p:nvSpPr>
        <p:spPr>
          <a:xfrm>
            <a:off x="1371600" y="1790700"/>
            <a:ext cx="2247900" cy="228600"/>
          </a:xfrm>
          <a:prstGeom prst="rect">
            <a:avLst/>
          </a:prstGeom>
          <a:noFill/>
          <a:ln>
            <a:noFill/>
          </a:ln>
        </p:spPr>
        <p:txBody>
          <a:bodyPr wrap="square" anchor="t" lIns="0" rIns="0" tIns="0" bIns="0"/>
          <a:lstStyle/>
          <a:p>
            <a:pPr algn="l"/>
            <a:r>
              <a:rPr lang="en-US" sz="1500" b="1">
                <a:solidFill>
                  <a:srgbClr val="17212B"/>
                </a:solidFill>
                <a:latin typeface="Arial"/>
              </a:rPr>
              <a:t>PR opened to merged</a:t>
            </a:r>
            <a:endParaRPr lang="en-US" sz="1500"/>
          </a:p>
        </p:txBody>
      </p:sp>
      <p:sp>
        <p:nvSpPr>
          <p:cNvPr id="10" name="Text 10"/>
          <p:cNvSpPr txBox="1"/>
          <p:nvPr/>
        </p:nvSpPr>
        <p:spPr>
          <a:xfrm>
            <a:off x="3771900" y="1771650"/>
            <a:ext cx="1809750" cy="285750"/>
          </a:xfrm>
          <a:prstGeom prst="rect">
            <a:avLst/>
          </a:prstGeom>
          <a:noFill/>
          <a:ln>
            <a:noFill/>
          </a:ln>
        </p:spPr>
        <p:txBody>
          <a:bodyPr wrap="square" anchor="t" lIns="0" rIns="0" tIns="0" bIns="0"/>
          <a:lstStyle/>
          <a:p>
            <a:pPr algn="r"/>
            <a:r>
              <a:rPr lang="en-US" sz="2000" b="1">
                <a:solidFill>
                  <a:srgbClr val="D71920"/>
                </a:solidFill>
                <a:latin typeface="Arial"/>
              </a:rPr>
              <a:t>1.0 h</a:t>
            </a:r>
            <a:endParaRPr lang="en-US" sz="2000"/>
          </a:p>
        </p:txBody>
      </p:sp>
      <p:sp>
        <p:nvSpPr>
          <p:cNvPr id="11" name="Text 11"/>
          <p:cNvSpPr txBox="1"/>
          <p:nvPr/>
        </p:nvSpPr>
        <p:spPr>
          <a:xfrm>
            <a:off x="1371600" y="2105025"/>
            <a:ext cx="4210050" cy="209550"/>
          </a:xfrm>
          <a:prstGeom prst="rect">
            <a:avLst/>
          </a:prstGeom>
          <a:noFill/>
          <a:ln>
            <a:noFill/>
          </a:ln>
        </p:spPr>
        <p:txBody>
          <a:bodyPr wrap="square" anchor="t" lIns="0" rIns="0" tIns="0" bIns="0"/>
          <a:lstStyle/>
          <a:p>
            <a:pPr algn="r"/>
            <a:r>
              <a:rPr lang="en-US" sz="1100" b="0">
                <a:solidFill>
                  <a:srgbClr val="5D6873"/>
                </a:solidFill>
                <a:latin typeface="Arial"/>
              </a:rPr>
              <a:t>Median   P75 7.5 h   P95 15.9 h</a:t>
            </a:r>
            <a:endParaRPr lang="en-US" sz="1100"/>
          </a:p>
        </p:txBody>
      </p:sp>
      <p:sp>
        <p:nvSpPr>
          <p:cNvPr id="12" name="Shape 12"/>
          <p:cNvSpPr/>
          <p:nvPr/>
        </p:nvSpPr>
        <p:spPr>
          <a:xfrm>
            <a:off x="666750" y="2724150"/>
            <a:ext cx="514350" cy="514350"/>
          </a:xfrm>
          <a:prstGeom prst="roundRect">
            <a:avLst/>
          </a:prstGeom>
          <a:solidFill>
            <a:srgbClr val="FFFFFF"/>
          </a:solidFill>
          <a:ln w="19050">
            <a:solidFill>
              <a:srgbClr val="B46B13"/>
            </a:solidFill>
          </a:ln>
        </p:spPr>
      </p:sp>
      <p:pic>
        <p:nvPicPr>
          <p:cNvPr id="13" name="Picture 13"/>
          <p:cNvPicPr>
            <a:picLocks noChangeAspect="1"/>
          </p:cNvPicPr>
          <p:nvPr/>
        </p:nvPicPr>
        <p:blipFill>
          <a:blip r:embed="rId3"/>
          <a:stretch>
            <a:fillRect/>
          </a:stretch>
        </p:blipFill>
        <p:spPr>
          <a:xfrm>
            <a:off x="800100" y="2857500"/>
            <a:ext cx="247650" cy="247650"/>
          </a:xfrm>
          <a:prstGeom prst="rect">
            <a:avLst/>
          </a:prstGeom>
          <a:ln>
            <a:noFill/>
          </a:ln>
        </p:spPr>
      </p:pic>
      <p:sp>
        <p:nvSpPr>
          <p:cNvPr id="14" name="Text 14"/>
          <p:cNvSpPr txBox="1"/>
          <p:nvPr/>
        </p:nvSpPr>
        <p:spPr>
          <a:xfrm>
            <a:off x="1371600" y="2705100"/>
            <a:ext cx="2247900" cy="228600"/>
          </a:xfrm>
          <a:prstGeom prst="rect">
            <a:avLst/>
          </a:prstGeom>
          <a:noFill/>
          <a:ln>
            <a:noFill/>
          </a:ln>
        </p:spPr>
        <p:txBody>
          <a:bodyPr wrap="square" anchor="t" lIns="0" rIns="0" tIns="0" bIns="0"/>
          <a:lstStyle/>
          <a:p>
            <a:pPr algn="l"/>
            <a:r>
              <a:rPr lang="en-US" sz="1500" b="1">
                <a:solidFill>
                  <a:srgbClr val="17212B"/>
                </a:solidFill>
                <a:latin typeface="Arial"/>
              </a:rPr>
              <a:t>Failed CI to next attempt</a:t>
            </a:r>
            <a:endParaRPr lang="en-US" sz="1500"/>
          </a:p>
        </p:txBody>
      </p:sp>
      <p:sp>
        <p:nvSpPr>
          <p:cNvPr id="15" name="Text 15"/>
          <p:cNvSpPr txBox="1"/>
          <p:nvPr/>
        </p:nvSpPr>
        <p:spPr>
          <a:xfrm>
            <a:off x="3771900" y="2686050"/>
            <a:ext cx="1809750" cy="285750"/>
          </a:xfrm>
          <a:prstGeom prst="rect">
            <a:avLst/>
          </a:prstGeom>
          <a:noFill/>
          <a:ln>
            <a:noFill/>
          </a:ln>
        </p:spPr>
        <p:txBody>
          <a:bodyPr wrap="square" anchor="t" lIns="0" rIns="0" tIns="0" bIns="0"/>
          <a:lstStyle/>
          <a:p>
            <a:pPr algn="r"/>
            <a:r>
              <a:rPr lang="en-US" sz="2000" b="1">
                <a:solidFill>
                  <a:srgbClr val="B46B13"/>
                </a:solidFill>
                <a:latin typeface="Arial"/>
              </a:rPr>
              <a:t>5.6 min</a:t>
            </a:r>
            <a:endParaRPr lang="en-US" sz="2000"/>
          </a:p>
        </p:txBody>
      </p:sp>
      <p:sp>
        <p:nvSpPr>
          <p:cNvPr id="16" name="Text 16"/>
          <p:cNvSpPr txBox="1"/>
          <p:nvPr/>
        </p:nvSpPr>
        <p:spPr>
          <a:xfrm>
            <a:off x="1371600" y="3019425"/>
            <a:ext cx="4210050" cy="209550"/>
          </a:xfrm>
          <a:prstGeom prst="rect">
            <a:avLst/>
          </a:prstGeom>
          <a:noFill/>
          <a:ln>
            <a:noFill/>
          </a:ln>
        </p:spPr>
        <p:txBody>
          <a:bodyPr wrap="square" anchor="t" lIns="0" rIns="0" tIns="0" bIns="0"/>
          <a:lstStyle/>
          <a:p>
            <a:pPr algn="r"/>
            <a:r>
              <a:rPr lang="en-US" sz="1100" b="0">
                <a:solidFill>
                  <a:srgbClr val="5D6873"/>
                </a:solidFill>
                <a:latin typeface="Arial"/>
              </a:rPr>
              <a:t>Median   P75 13.5 min   P95 33.2 min</a:t>
            </a:r>
            <a:endParaRPr lang="en-US" sz="1100"/>
          </a:p>
        </p:txBody>
      </p:sp>
      <p:sp>
        <p:nvSpPr>
          <p:cNvPr id="17" name="Shape 17"/>
          <p:cNvSpPr/>
          <p:nvPr/>
        </p:nvSpPr>
        <p:spPr>
          <a:xfrm>
            <a:off x="666750" y="3638550"/>
            <a:ext cx="514350" cy="514350"/>
          </a:xfrm>
          <a:prstGeom prst="roundRect">
            <a:avLst/>
          </a:prstGeom>
          <a:solidFill>
            <a:srgbClr val="FFFFFF"/>
          </a:solidFill>
          <a:ln w="19050">
            <a:solidFill>
              <a:srgbClr val="1F7A5A"/>
            </a:solidFill>
          </a:ln>
        </p:spPr>
      </p:sp>
      <p:pic>
        <p:nvPicPr>
          <p:cNvPr id="18" name="Picture 18"/>
          <p:cNvPicPr>
            <a:picLocks noChangeAspect="1"/>
          </p:cNvPicPr>
          <p:nvPr/>
        </p:nvPicPr>
        <p:blipFill>
          <a:blip r:embed="rId4"/>
          <a:stretch>
            <a:fillRect/>
          </a:stretch>
        </p:blipFill>
        <p:spPr>
          <a:xfrm>
            <a:off x="800100" y="3771900"/>
            <a:ext cx="247650" cy="247650"/>
          </a:xfrm>
          <a:prstGeom prst="rect">
            <a:avLst/>
          </a:prstGeom>
          <a:ln>
            <a:noFill/>
          </a:ln>
        </p:spPr>
      </p:pic>
      <p:sp>
        <p:nvSpPr>
          <p:cNvPr id="19" name="Text 19"/>
          <p:cNvSpPr txBox="1"/>
          <p:nvPr/>
        </p:nvSpPr>
        <p:spPr>
          <a:xfrm>
            <a:off x="1371600" y="3619500"/>
            <a:ext cx="2247900" cy="228600"/>
          </a:xfrm>
          <a:prstGeom prst="rect">
            <a:avLst/>
          </a:prstGeom>
          <a:noFill/>
          <a:ln>
            <a:noFill/>
          </a:ln>
        </p:spPr>
        <p:txBody>
          <a:bodyPr wrap="square" anchor="t" lIns="0" rIns="0" tIns="0" bIns="0"/>
          <a:lstStyle/>
          <a:p>
            <a:pPr algn="l"/>
            <a:r>
              <a:rPr lang="en-US" sz="1500" b="1">
                <a:solidFill>
                  <a:srgbClr val="17212B"/>
                </a:solidFill>
                <a:latin typeface="Arial"/>
              </a:rPr>
              <a:t>Workflow execution</a:t>
            </a:r>
            <a:endParaRPr lang="en-US" sz="1500"/>
          </a:p>
        </p:txBody>
      </p:sp>
      <p:sp>
        <p:nvSpPr>
          <p:cNvPr id="20" name="Text 20"/>
          <p:cNvSpPr txBox="1"/>
          <p:nvPr/>
        </p:nvSpPr>
        <p:spPr>
          <a:xfrm>
            <a:off x="3771900" y="3600450"/>
            <a:ext cx="1809750" cy="285750"/>
          </a:xfrm>
          <a:prstGeom prst="rect">
            <a:avLst/>
          </a:prstGeom>
          <a:noFill/>
          <a:ln>
            <a:noFill/>
          </a:ln>
        </p:spPr>
        <p:txBody>
          <a:bodyPr wrap="square" anchor="t" lIns="0" rIns="0" tIns="0" bIns="0"/>
          <a:lstStyle/>
          <a:p>
            <a:pPr algn="r"/>
            <a:r>
              <a:rPr lang="en-US" sz="2000" b="1">
                <a:solidFill>
                  <a:srgbClr val="1F7A5A"/>
                </a:solidFill>
                <a:latin typeface="Arial"/>
              </a:rPr>
              <a:t>1.25 min</a:t>
            </a:r>
            <a:endParaRPr lang="en-US" sz="2000"/>
          </a:p>
        </p:txBody>
      </p:sp>
      <p:sp>
        <p:nvSpPr>
          <p:cNvPr id="21" name="Text 21"/>
          <p:cNvSpPr txBox="1"/>
          <p:nvPr/>
        </p:nvSpPr>
        <p:spPr>
          <a:xfrm>
            <a:off x="1371600" y="3933825"/>
            <a:ext cx="4210050" cy="209550"/>
          </a:xfrm>
          <a:prstGeom prst="rect">
            <a:avLst/>
          </a:prstGeom>
          <a:noFill/>
          <a:ln>
            <a:noFill/>
          </a:ln>
        </p:spPr>
        <p:txBody>
          <a:bodyPr wrap="square" anchor="t" lIns="0" rIns="0" tIns="0" bIns="0"/>
          <a:lstStyle/>
          <a:p>
            <a:pPr algn="r"/>
            <a:r>
              <a:rPr lang="en-US" sz="1100" b="0">
                <a:solidFill>
                  <a:srgbClr val="5D6873"/>
                </a:solidFill>
                <a:latin typeface="Arial"/>
              </a:rPr>
              <a:t>Median   success 4.0 min   failure 2.1 min</a:t>
            </a:r>
            <a:endParaRPr lang="en-US" sz="1100"/>
          </a:p>
        </p:txBody>
      </p:sp>
      <p:sp>
        <p:nvSpPr>
          <p:cNvPr id="22" name="Shape 22"/>
          <p:cNvSpPr/>
          <p:nvPr/>
        </p:nvSpPr>
        <p:spPr>
          <a:xfrm>
            <a:off x="666750" y="4552950"/>
            <a:ext cx="514350" cy="514350"/>
          </a:xfrm>
          <a:prstGeom prst="roundRect">
            <a:avLst/>
          </a:prstGeom>
          <a:solidFill>
            <a:srgbClr val="FFFFFF"/>
          </a:solidFill>
          <a:ln w="19050">
            <a:solidFill>
              <a:srgbClr val="2A5B84"/>
            </a:solidFill>
          </a:ln>
        </p:spPr>
      </p:sp>
      <p:pic>
        <p:nvPicPr>
          <p:cNvPr id="23" name="Picture 23"/>
          <p:cNvPicPr>
            <a:picLocks noChangeAspect="1"/>
          </p:cNvPicPr>
          <p:nvPr/>
        </p:nvPicPr>
        <p:blipFill>
          <a:blip r:embed="rId5"/>
          <a:stretch>
            <a:fillRect/>
          </a:stretch>
        </p:blipFill>
        <p:spPr>
          <a:xfrm>
            <a:off x="800100" y="4686300"/>
            <a:ext cx="247650" cy="247650"/>
          </a:xfrm>
          <a:prstGeom prst="rect">
            <a:avLst/>
          </a:prstGeom>
          <a:ln>
            <a:noFill/>
          </a:ln>
        </p:spPr>
      </p:pic>
      <p:sp>
        <p:nvSpPr>
          <p:cNvPr id="24" name="Text 24"/>
          <p:cNvSpPr txBox="1"/>
          <p:nvPr/>
        </p:nvSpPr>
        <p:spPr>
          <a:xfrm>
            <a:off x="1371600" y="4533900"/>
            <a:ext cx="2247900" cy="228600"/>
          </a:xfrm>
          <a:prstGeom prst="rect">
            <a:avLst/>
          </a:prstGeom>
          <a:noFill/>
          <a:ln>
            <a:noFill/>
          </a:ln>
        </p:spPr>
        <p:txBody>
          <a:bodyPr wrap="square" anchor="t" lIns="0" rIns="0" tIns="0" bIns="0"/>
          <a:lstStyle/>
          <a:p>
            <a:pPr algn="l"/>
            <a:r>
              <a:rPr lang="en-US" sz="1500" b="1">
                <a:solidFill>
                  <a:srgbClr val="17212B"/>
                </a:solidFill>
                <a:latin typeface="Arial"/>
              </a:rPr>
              <a:t>Issue opened to closed</a:t>
            </a:r>
            <a:endParaRPr lang="en-US" sz="1500"/>
          </a:p>
        </p:txBody>
      </p:sp>
      <p:sp>
        <p:nvSpPr>
          <p:cNvPr id="25" name="Text 25"/>
          <p:cNvSpPr txBox="1"/>
          <p:nvPr/>
        </p:nvSpPr>
        <p:spPr>
          <a:xfrm>
            <a:off x="3771900" y="4514850"/>
            <a:ext cx="1809750" cy="285750"/>
          </a:xfrm>
          <a:prstGeom prst="rect">
            <a:avLst/>
          </a:prstGeom>
          <a:noFill/>
          <a:ln>
            <a:noFill/>
          </a:ln>
        </p:spPr>
        <p:txBody>
          <a:bodyPr wrap="square" anchor="t" lIns="0" rIns="0" tIns="0" bIns="0"/>
          <a:lstStyle/>
          <a:p>
            <a:pPr algn="r"/>
            <a:r>
              <a:rPr lang="en-US" sz="2000" b="1">
                <a:solidFill>
                  <a:srgbClr val="2A5B84"/>
                </a:solidFill>
                <a:latin typeface="Arial"/>
              </a:rPr>
              <a:t>3.0 h</a:t>
            </a:r>
            <a:endParaRPr lang="en-US" sz="2000"/>
          </a:p>
        </p:txBody>
      </p:sp>
      <p:sp>
        <p:nvSpPr>
          <p:cNvPr id="26" name="Text 26"/>
          <p:cNvSpPr txBox="1"/>
          <p:nvPr/>
        </p:nvSpPr>
        <p:spPr>
          <a:xfrm>
            <a:off x="1371600" y="4848225"/>
            <a:ext cx="4210050" cy="209550"/>
          </a:xfrm>
          <a:prstGeom prst="rect">
            <a:avLst/>
          </a:prstGeom>
          <a:noFill/>
          <a:ln>
            <a:noFill/>
          </a:ln>
        </p:spPr>
        <p:txBody>
          <a:bodyPr wrap="square" anchor="t" lIns="0" rIns="0" tIns="0" bIns="0"/>
          <a:lstStyle/>
          <a:p>
            <a:pPr algn="r"/>
            <a:r>
              <a:rPr lang="en-US" sz="1100" b="0">
                <a:solidFill>
                  <a:srgbClr val="5D6873"/>
                </a:solidFill>
                <a:latin typeface="Arial"/>
              </a:rPr>
              <a:t>Median   P75 11.3 h   P95 85.7 h</a:t>
            </a:r>
            <a:endParaRPr lang="en-US" sz="1100"/>
          </a:p>
        </p:txBody>
      </p:sp>
      <p:sp>
        <p:nvSpPr>
          <p:cNvPr id="27" name="Text 27"/>
          <p:cNvSpPr txBox="1"/>
          <p:nvPr/>
        </p:nvSpPr>
        <p:spPr>
          <a:xfrm>
            <a:off x="6724650" y="1924050"/>
            <a:ext cx="4191000" cy="247650"/>
          </a:xfrm>
          <a:prstGeom prst="rect">
            <a:avLst/>
          </a:prstGeom>
          <a:noFill/>
          <a:ln>
            <a:noFill/>
          </a:ln>
        </p:spPr>
        <p:txBody>
          <a:bodyPr wrap="square" anchor="t" lIns="0" rIns="0" tIns="0" bIns="0"/>
          <a:lstStyle/>
          <a:p>
            <a:pPr algn="l"/>
            <a:r>
              <a:rPr lang="en-US" sz="1700" b="1">
                <a:solidFill>
                  <a:srgbClr val="17212B"/>
                </a:solidFill>
                <a:latin typeface="Arial"/>
              </a:rPr>
              <a:t>Exact workflow replay</a:t>
            </a:r>
            <a:endParaRPr lang="en-US" sz="1700"/>
          </a:p>
        </p:txBody>
      </p:sp>
      <p:sp>
        <p:nvSpPr>
          <p:cNvPr id="28" name="Text 28"/>
          <p:cNvSpPr txBox="1"/>
          <p:nvPr/>
        </p:nvSpPr>
        <p:spPr>
          <a:xfrm>
            <a:off x="6724650" y="2266950"/>
            <a:ext cx="4191000" cy="609600"/>
          </a:xfrm>
          <a:prstGeom prst="rect">
            <a:avLst/>
          </a:prstGeom>
          <a:noFill/>
          <a:ln>
            <a:noFill/>
          </a:ln>
        </p:spPr>
        <p:txBody>
          <a:bodyPr wrap="square" anchor="t" lIns="0" rIns="0" tIns="0" bIns="0"/>
          <a:lstStyle/>
          <a:p>
            <a:pPr algn="l"/>
            <a:r>
              <a:rPr lang="en-US" sz="2000" b="1">
                <a:solidFill>
                  <a:srgbClr val="2A5B84"/>
                </a:solidFill>
                <a:latin typeface="Arial"/>
              </a:rPr>
              <a:t>140 to 170 workdays</a:t>
            </a:r>
            <a:endParaRPr lang="en-US" sz="2000"/>
          </a:p>
          <a:p>
            <a:pPr algn="l"/>
            <a:r>
              <a:rPr lang="en-US" sz="2000" b="1">
                <a:solidFill>
                  <a:srgbClr val="2A5B84"/>
                </a:solidFill>
                <a:latin typeface="Arial"/>
              </a:rPr>
              <a:t>Central estimate: 155</a:t>
            </a:r>
            <a:endParaRPr lang="en-US" sz="2000"/>
          </a:p>
        </p:txBody>
      </p:sp>
      <p:cxnSp>
        <p:nvCxnSpPr>
          <p:cNvPr id="29" name="Connector 29"/>
          <p:cNvCxnSpPr/>
          <p:nvPr/>
        </p:nvCxnSpPr>
        <p:spPr>
          <a:xfrm>
            <a:off x="6724650" y="3009900"/>
            <a:ext cx="4171950" cy="0"/>
          </a:xfrm>
          <a:prstGeom prst="line">
            <a:avLst/>
          </a:prstGeom>
          <a:ln w="12700">
            <a:solidFill>
              <a:srgbClr val="D9DEE3"/>
            </a:solidFill>
          </a:ln>
        </p:spPr>
      </p:cxnSp>
      <p:sp>
        <p:nvSpPr>
          <p:cNvPr id="30" name="Text 30"/>
          <p:cNvSpPr txBox="1"/>
          <p:nvPr/>
        </p:nvSpPr>
        <p:spPr>
          <a:xfrm>
            <a:off x="6724650" y="3181350"/>
            <a:ext cx="4191000" cy="247650"/>
          </a:xfrm>
          <a:prstGeom prst="rect">
            <a:avLst/>
          </a:prstGeom>
          <a:noFill/>
          <a:ln>
            <a:noFill/>
          </a:ln>
        </p:spPr>
        <p:txBody>
          <a:bodyPr wrap="square" anchor="t" lIns="0" rIns="0" tIns="0" bIns="0"/>
          <a:lstStyle/>
          <a:p>
            <a:pPr algn="l"/>
            <a:r>
              <a:rPr lang="en-US" sz="1700" b="1">
                <a:solidFill>
                  <a:srgbClr val="17212B"/>
                </a:solidFill>
                <a:latin typeface="Arial"/>
              </a:rPr>
              <a:t>Normalized output rate</a:t>
            </a:r>
            <a:endParaRPr lang="en-US" sz="1700"/>
          </a:p>
        </p:txBody>
      </p:sp>
      <p:sp>
        <p:nvSpPr>
          <p:cNvPr id="31" name="Text 31"/>
          <p:cNvSpPr txBox="1"/>
          <p:nvPr/>
        </p:nvSpPr>
        <p:spPr>
          <a:xfrm>
            <a:off x="6724650" y="3486150"/>
            <a:ext cx="4191000" cy="323850"/>
          </a:xfrm>
          <a:prstGeom prst="rect">
            <a:avLst/>
          </a:prstGeom>
          <a:noFill/>
          <a:ln>
            <a:noFill/>
          </a:ln>
        </p:spPr>
        <p:txBody>
          <a:bodyPr wrap="square" anchor="t" lIns="0" rIns="0" tIns="0" bIns="0"/>
          <a:lstStyle/>
          <a:p>
            <a:pPr algn="l"/>
            <a:r>
              <a:rPr lang="en-US" sz="1900" b="1">
                <a:solidFill>
                  <a:srgbClr val="2A5B84"/>
                </a:solidFill>
                <a:latin typeface="Arial"/>
              </a:rPr>
              <a:t>323 lines per workday</a:t>
            </a:r>
            <a:endParaRPr lang="en-US" sz="1900"/>
          </a:p>
        </p:txBody>
      </p:sp>
      <p:sp>
        <p:nvSpPr>
          <p:cNvPr id="32" name="Text 32"/>
          <p:cNvSpPr txBox="1"/>
          <p:nvPr/>
        </p:nvSpPr>
        <p:spPr>
          <a:xfrm>
            <a:off x="6724650" y="3905250"/>
            <a:ext cx="4191000" cy="361950"/>
          </a:xfrm>
          <a:prstGeom prst="rect">
            <a:avLst/>
          </a:prstGeom>
          <a:noFill/>
          <a:ln>
            <a:noFill/>
          </a:ln>
        </p:spPr>
        <p:txBody>
          <a:bodyPr wrap="square" anchor="t" lIns="0" rIns="0" tIns="0" bIns="0"/>
          <a:lstStyle/>
          <a:p>
            <a:pPr algn="l"/>
            <a:r>
              <a:rPr lang="en-US" sz="1300" b="1">
                <a:solidFill>
                  <a:srgbClr val="981B1E"/>
                </a:solidFill>
                <a:latin typeface="Arial"/>
              </a:rPr>
              <a:t>Observed: 7,142 lines per calendar day</a:t>
            </a:r>
            <a:endParaRPr lang="en-US" sz="1300"/>
          </a:p>
        </p:txBody>
      </p:sp>
      <p:cxnSp>
        <p:nvCxnSpPr>
          <p:cNvPr id="33" name="Connector 33"/>
          <p:cNvCxnSpPr/>
          <p:nvPr/>
        </p:nvCxnSpPr>
        <p:spPr>
          <a:xfrm>
            <a:off x="6724650" y="4400550"/>
            <a:ext cx="4171950" cy="0"/>
          </a:xfrm>
          <a:prstGeom prst="line">
            <a:avLst/>
          </a:prstGeom>
          <a:ln w="12700">
            <a:solidFill>
              <a:srgbClr val="D9DEE3"/>
            </a:solidFill>
          </a:ln>
        </p:spPr>
      </p:cxnSp>
      <p:sp>
        <p:nvSpPr>
          <p:cNvPr id="34" name="Text 34"/>
          <p:cNvSpPr txBox="1"/>
          <p:nvPr/>
        </p:nvSpPr>
        <p:spPr>
          <a:xfrm>
            <a:off x="6724650" y="4572000"/>
            <a:ext cx="4191000" cy="247650"/>
          </a:xfrm>
          <a:prstGeom prst="rect">
            <a:avLst/>
          </a:prstGeom>
          <a:noFill/>
          <a:ln>
            <a:noFill/>
          </a:ln>
        </p:spPr>
        <p:txBody>
          <a:bodyPr wrap="square" anchor="t" lIns="0" rIns="0" tIns="0" bIns="0"/>
          <a:lstStyle/>
          <a:p>
            <a:pPr algn="l"/>
            <a:r>
              <a:rPr lang="en-US" sz="1700" b="1">
                <a:solidFill>
                  <a:srgbClr val="17212B"/>
                </a:solidFill>
                <a:latin typeface="Arial"/>
              </a:rPr>
              <a:t>Failure recovery estimate</a:t>
            </a:r>
            <a:endParaRPr lang="en-US" sz="1700"/>
          </a:p>
        </p:txBody>
      </p:sp>
      <p:sp>
        <p:nvSpPr>
          <p:cNvPr id="35" name="Text 35"/>
          <p:cNvSpPr txBox="1"/>
          <p:nvPr/>
        </p:nvSpPr>
        <p:spPr>
          <a:xfrm>
            <a:off x="6724650" y="4895850"/>
            <a:ext cx="4191000" cy="628650"/>
          </a:xfrm>
          <a:prstGeom prst="rect">
            <a:avLst/>
          </a:prstGeom>
          <a:noFill/>
          <a:ln>
            <a:noFill/>
          </a:ln>
        </p:spPr>
        <p:txBody>
          <a:bodyPr wrap="square" anchor="t" lIns="0" rIns="0" tIns="0" bIns="0"/>
          <a:lstStyle/>
          <a:p>
            <a:pPr algn="l"/>
            <a:r>
              <a:rPr lang="en-US" sz="1800" b="1">
                <a:solidFill>
                  <a:srgbClr val="2A5B84"/>
                </a:solidFill>
                <a:latin typeface="Arial"/>
              </a:rPr>
              <a:t>Human alone: 60 to 120 min</a:t>
            </a:r>
            <a:endParaRPr lang="en-US" sz="1800"/>
          </a:p>
          <a:p>
            <a:pPr algn="l"/>
            <a:r>
              <a:rPr lang="en-US" sz="1800" b="1">
                <a:solidFill>
                  <a:srgbClr val="2A5B84"/>
                </a:solidFill>
                <a:latin typeface="Arial"/>
              </a:rPr>
              <a:t>Observed: 5.6 min</a:t>
            </a:r>
            <a:endParaRPr lang="en-US" sz="1800"/>
          </a:p>
        </p:txBody>
      </p:sp>
      <p:sp>
        <p:nvSpPr>
          <p:cNvPr id="36" name="Shape 36"/>
          <p:cNvSpPr/>
          <p:nvPr/>
        </p:nvSpPr>
        <p:spPr>
          <a:xfrm>
            <a:off x="1295400" y="5772150"/>
            <a:ext cx="9601200" cy="457200"/>
          </a:xfrm>
          <a:prstGeom prst="roundRect">
            <a:avLst/>
          </a:prstGeom>
          <a:solidFill>
            <a:srgbClr val="17212B"/>
          </a:solidFill>
          <a:ln w="12700">
            <a:solidFill>
              <a:srgbClr val="17212B"/>
            </a:solidFill>
          </a:ln>
        </p:spPr>
      </p:sp>
      <p:sp>
        <p:nvSpPr>
          <p:cNvPr id="37" name="Text 37"/>
          <p:cNvSpPr txBox="1"/>
          <p:nvPr/>
        </p:nvSpPr>
        <p:spPr>
          <a:xfrm>
            <a:off x="1504950" y="5876925"/>
            <a:ext cx="9182100" cy="247650"/>
          </a:xfrm>
          <a:prstGeom prst="rect">
            <a:avLst/>
          </a:prstGeom>
          <a:noFill/>
          <a:ln>
            <a:noFill/>
          </a:ln>
        </p:spPr>
        <p:txBody>
          <a:bodyPr wrap="square" anchor="ctr" lIns="0" rIns="0" tIns="0" bIns="0"/>
          <a:lstStyle/>
          <a:p>
            <a:pPr algn="ctr"/>
            <a:r>
              <a:rPr lang="en-US" sz="1300" b="1">
                <a:solidFill>
                  <a:srgbClr val="FFFFFF"/>
                </a:solidFill>
                <a:latin typeface="Arial"/>
              </a:rPr>
              <a:t>Acceleration occurred between checks: diagnosis, correction, next SHA</a:t>
            </a:r>
            <a:endParaRPr lang="en-US" sz="1300"/>
          </a:p>
        </p:txBody>
      </p:sp>
      <p:cxnSp>
        <p:nvCxnSpPr>
          <p:cNvPr id="38" name="Connector 38"/>
          <p:cNvCxnSpPr/>
          <p:nvPr/>
        </p:nvCxnSpPr>
        <p:spPr>
          <a:xfrm>
            <a:off x="552450" y="6419850"/>
            <a:ext cx="11087100" cy="0"/>
          </a:xfrm>
          <a:prstGeom prst="line">
            <a:avLst/>
          </a:prstGeom>
          <a:ln w="12700">
            <a:solidFill>
              <a:srgbClr val="D9DEE3"/>
            </a:solidFill>
          </a:ln>
        </p:spPr>
      </p:cxnSp>
      <p:sp>
        <p:nvSpPr>
          <p:cNvPr id="39" name="Text 39"/>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CUSTOMER ACTIVITY ANALYTICS</a:t>
            </a:r>
            <a:endParaRPr lang="en-US" sz="1000"/>
          </a:p>
        </p:txBody>
      </p:sp>
      <p:sp>
        <p:nvSpPr>
          <p:cNvPr id="40" name="Text 40"/>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13</a:t>
            </a:r>
            <a:endParaRPr 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CONCLUSION</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The pilot validates a delivery cell while production scale remains the next test</a:t>
            </a:r>
            <a:endParaRPr lang="en-US" sz="3000"/>
          </a:p>
        </p:txBody>
      </p:sp>
      <p:sp>
        <p:nvSpPr>
          <p:cNvPr id="4" name="Text 4"/>
          <p:cNvSpPr txBox="1"/>
          <p:nvPr/>
        </p:nvSpPr>
        <p:spPr>
          <a:xfrm>
            <a:off x="685800" y="1619250"/>
            <a:ext cx="3143250" cy="228600"/>
          </a:xfrm>
          <a:prstGeom prst="rect">
            <a:avLst/>
          </a:prstGeom>
          <a:noFill/>
          <a:ln>
            <a:noFill/>
          </a:ln>
        </p:spPr>
        <p:txBody>
          <a:bodyPr wrap="square" anchor="t" lIns="0" rIns="0" tIns="0" bIns="0"/>
          <a:lstStyle/>
          <a:p>
            <a:pPr algn="l"/>
            <a:r>
              <a:rPr lang="en-US" sz="1200" b="1" spc="140">
                <a:solidFill>
                  <a:srgbClr val="D71920"/>
                </a:solidFill>
                <a:latin typeface="Arial"/>
              </a:rPr>
              <a:t>CURRENTLY DEMONSTRATED</a:t>
            </a:r>
            <a:endParaRPr lang="en-US" sz="1200"/>
          </a:p>
        </p:txBody>
      </p:sp>
      <p:sp>
        <p:nvSpPr>
          <p:cNvPr id="5" name="Shape 5"/>
          <p:cNvSpPr/>
          <p:nvPr/>
        </p:nvSpPr>
        <p:spPr>
          <a:xfrm>
            <a:off x="666750" y="2000250"/>
            <a:ext cx="4000500" cy="3143250"/>
          </a:xfrm>
          <a:prstGeom prst="roundRect">
            <a:avLst/>
          </a:prstGeom>
          <a:solidFill>
            <a:srgbClr val="FFFFFF"/>
          </a:solidFill>
          <a:ln w="38100">
            <a:solidFill>
              <a:srgbClr val="D71920"/>
            </a:solidFill>
          </a:ln>
        </p:spPr>
      </p:sp>
      <p:sp>
        <p:nvSpPr>
          <p:cNvPr id="6" name="Shape 6"/>
          <p:cNvSpPr/>
          <p:nvPr/>
        </p:nvSpPr>
        <p:spPr>
          <a:xfrm>
            <a:off x="1047750" y="2457450"/>
            <a:ext cx="876300" cy="876300"/>
          </a:xfrm>
          <a:prstGeom prst="ellipse">
            <a:avLst/>
          </a:prstGeom>
          <a:solidFill>
            <a:srgbClr val="FCEBEC"/>
          </a:solidFill>
          <a:ln w="25400">
            <a:solidFill>
              <a:srgbClr val="D71920"/>
            </a:solidFill>
          </a:ln>
        </p:spPr>
      </p:sp>
      <p:pic>
        <p:nvPicPr>
          <p:cNvPr id="7" name="Picture 7"/>
          <p:cNvPicPr>
            <a:picLocks noChangeAspect="1"/>
          </p:cNvPicPr>
          <p:nvPr/>
        </p:nvPicPr>
        <p:blipFill>
          <a:blip r:embed="rId2"/>
          <a:stretch>
            <a:fillRect/>
          </a:stretch>
        </p:blipFill>
        <p:spPr>
          <a:xfrm>
            <a:off x="1276350" y="2628900"/>
            <a:ext cx="419100" cy="419100"/>
          </a:xfrm>
          <a:prstGeom prst="rect">
            <a:avLst/>
          </a:prstGeom>
          <a:ln>
            <a:noFill/>
          </a:ln>
        </p:spPr>
      </p:pic>
      <p:sp>
        <p:nvSpPr>
          <p:cNvPr id="8" name="Text 8"/>
          <p:cNvSpPr txBox="1"/>
          <p:nvPr/>
        </p:nvSpPr>
        <p:spPr>
          <a:xfrm>
            <a:off x="1047750" y="3371850"/>
            <a:ext cx="876300" cy="209550"/>
          </a:xfrm>
          <a:prstGeom prst="rect">
            <a:avLst/>
          </a:prstGeom>
          <a:noFill/>
          <a:ln>
            <a:noFill/>
          </a:ln>
        </p:spPr>
        <p:txBody>
          <a:bodyPr wrap="square" anchor="t" lIns="0" rIns="0" tIns="0" bIns="0"/>
          <a:lstStyle/>
          <a:p>
            <a:pPr algn="ctr"/>
            <a:r>
              <a:rPr lang="en-US" sz="1200" b="1">
                <a:solidFill>
                  <a:srgbClr val="981B1E"/>
                </a:solidFill>
                <a:latin typeface="Arial"/>
              </a:rPr>
              <a:t>HUMAN</a:t>
            </a:r>
            <a:endParaRPr lang="en-US" sz="1200"/>
          </a:p>
        </p:txBody>
      </p:sp>
      <p:sp>
        <p:nvSpPr>
          <p:cNvPr id="9" name="Shape 9"/>
          <p:cNvSpPr/>
          <p:nvPr/>
        </p:nvSpPr>
        <p:spPr>
          <a:xfrm>
            <a:off x="2305050" y="2457450"/>
            <a:ext cx="876300" cy="876300"/>
          </a:xfrm>
          <a:prstGeom prst="ellipse">
            <a:avLst/>
          </a:prstGeom>
          <a:solidFill>
            <a:srgbClr val="17212B"/>
          </a:solidFill>
          <a:ln w="12700">
            <a:solidFill>
              <a:srgbClr val="17212B"/>
            </a:solidFill>
          </a:ln>
        </p:spPr>
      </p:sp>
      <p:pic>
        <p:nvPicPr>
          <p:cNvPr id="10" name="Picture 10"/>
          <p:cNvPicPr>
            <a:picLocks noChangeAspect="1"/>
          </p:cNvPicPr>
          <p:nvPr/>
        </p:nvPicPr>
        <p:blipFill>
          <a:blip r:embed="rId3"/>
          <a:stretch>
            <a:fillRect/>
          </a:stretch>
        </p:blipFill>
        <p:spPr>
          <a:xfrm>
            <a:off x="2533650" y="2628900"/>
            <a:ext cx="419100" cy="419100"/>
          </a:xfrm>
          <a:prstGeom prst="rect">
            <a:avLst/>
          </a:prstGeom>
          <a:ln>
            <a:noFill/>
          </a:ln>
        </p:spPr>
      </p:pic>
      <p:sp>
        <p:nvSpPr>
          <p:cNvPr id="11" name="Text 11"/>
          <p:cNvSpPr txBox="1"/>
          <p:nvPr/>
        </p:nvSpPr>
        <p:spPr>
          <a:xfrm>
            <a:off x="2305050" y="3371850"/>
            <a:ext cx="876300" cy="209550"/>
          </a:xfrm>
          <a:prstGeom prst="rect">
            <a:avLst/>
          </a:prstGeom>
          <a:noFill/>
          <a:ln>
            <a:noFill/>
          </a:ln>
        </p:spPr>
        <p:txBody>
          <a:bodyPr wrap="square" anchor="t" lIns="0" rIns="0" tIns="0" bIns="0"/>
          <a:lstStyle/>
          <a:p>
            <a:pPr algn="ctr"/>
            <a:r>
              <a:rPr lang="en-US" sz="1200" b="1">
                <a:solidFill>
                  <a:srgbClr val="17212B"/>
                </a:solidFill>
                <a:latin typeface="Arial"/>
              </a:rPr>
              <a:t>GITHUB</a:t>
            </a:r>
            <a:endParaRPr lang="en-US" sz="1200"/>
          </a:p>
        </p:txBody>
      </p:sp>
      <p:sp>
        <p:nvSpPr>
          <p:cNvPr id="12" name="Shape 12"/>
          <p:cNvSpPr/>
          <p:nvPr/>
        </p:nvSpPr>
        <p:spPr>
          <a:xfrm>
            <a:off x="3562350" y="2457450"/>
            <a:ext cx="742950" cy="742950"/>
          </a:xfrm>
          <a:prstGeom prst="ellipse">
            <a:avLst/>
          </a:prstGeom>
          <a:solidFill>
            <a:srgbClr val="EAF1F7"/>
          </a:solidFill>
          <a:ln w="25400">
            <a:solidFill>
              <a:srgbClr val="2A5B84"/>
            </a:solidFill>
          </a:ln>
        </p:spPr>
      </p:sp>
      <p:pic>
        <p:nvPicPr>
          <p:cNvPr id="13" name="Picture 13"/>
          <p:cNvPicPr>
            <a:picLocks noChangeAspect="1"/>
          </p:cNvPicPr>
          <p:nvPr/>
        </p:nvPicPr>
        <p:blipFill>
          <a:blip r:embed="rId4"/>
          <a:stretch>
            <a:fillRect/>
          </a:stretch>
        </p:blipFill>
        <p:spPr>
          <a:xfrm>
            <a:off x="3752850" y="2628900"/>
            <a:ext cx="361950" cy="361950"/>
          </a:xfrm>
          <a:prstGeom prst="rect">
            <a:avLst/>
          </a:prstGeom>
          <a:ln>
            <a:noFill/>
          </a:ln>
        </p:spPr>
      </p:pic>
      <p:sp>
        <p:nvSpPr>
          <p:cNvPr id="14" name="Text 14"/>
          <p:cNvSpPr txBox="1"/>
          <p:nvPr/>
        </p:nvSpPr>
        <p:spPr>
          <a:xfrm>
            <a:off x="3562350" y="3371850"/>
            <a:ext cx="742950" cy="209550"/>
          </a:xfrm>
          <a:prstGeom prst="rect">
            <a:avLst/>
          </a:prstGeom>
          <a:noFill/>
          <a:ln>
            <a:noFill/>
          </a:ln>
        </p:spPr>
        <p:txBody>
          <a:bodyPr wrap="square" anchor="t" lIns="0" rIns="0" tIns="0" bIns="0"/>
          <a:lstStyle/>
          <a:p>
            <a:pPr algn="ctr"/>
            <a:r>
              <a:rPr lang="en-US" sz="1200" b="1">
                <a:solidFill>
                  <a:srgbClr val="2A5B84"/>
                </a:solidFill>
                <a:latin typeface="Arial"/>
              </a:rPr>
              <a:t>AGENTS</a:t>
            </a:r>
            <a:endParaRPr lang="en-US" sz="1200"/>
          </a:p>
        </p:txBody>
      </p:sp>
      <p:cxnSp>
        <p:nvCxnSpPr>
          <p:cNvPr id="15" name="Connector 15"/>
          <p:cNvCxnSpPr/>
          <p:nvPr/>
        </p:nvCxnSpPr>
        <p:spPr>
          <a:xfrm>
            <a:off x="1924050" y="2895600"/>
            <a:ext cx="381000" cy="0"/>
          </a:xfrm>
          <a:prstGeom prst="line">
            <a:avLst/>
          </a:prstGeom>
          <a:ln w="25400">
            <a:solidFill>
              <a:srgbClr val="D71920"/>
            </a:solidFill>
            <a:headEnd type="triangle"/>
            <a:tailEnd type="triangle"/>
          </a:ln>
        </p:spPr>
      </p:cxnSp>
      <p:cxnSp>
        <p:nvCxnSpPr>
          <p:cNvPr id="16" name="Connector 16"/>
          <p:cNvCxnSpPr/>
          <p:nvPr/>
        </p:nvCxnSpPr>
        <p:spPr>
          <a:xfrm>
            <a:off x="3181350" y="2895600"/>
            <a:ext cx="381000" cy="0"/>
          </a:xfrm>
          <a:prstGeom prst="line">
            <a:avLst/>
          </a:prstGeom>
          <a:ln w="25400">
            <a:solidFill>
              <a:srgbClr val="2A5B84"/>
            </a:solidFill>
            <a:headEnd type="triangle"/>
            <a:tailEnd type="triangle"/>
          </a:ln>
        </p:spPr>
      </p:cxnSp>
      <p:sp>
        <p:nvSpPr>
          <p:cNvPr id="17" name="Text 17"/>
          <p:cNvSpPr txBox="1"/>
          <p:nvPr/>
        </p:nvSpPr>
        <p:spPr>
          <a:xfrm>
            <a:off x="990600" y="3562350"/>
            <a:ext cx="3352800" cy="876300"/>
          </a:xfrm>
          <a:prstGeom prst="rect">
            <a:avLst/>
          </a:prstGeom>
          <a:noFill/>
          <a:ln>
            <a:noFill/>
          </a:ln>
        </p:spPr>
        <p:txBody>
          <a:bodyPr wrap="square" anchor="ctr" lIns="0" rIns="0" tIns="0" bIns="0"/>
          <a:lstStyle/>
          <a:p>
            <a:pPr algn="ctr"/>
            <a:r>
              <a:rPr lang="en-US" sz="1600" b="1">
                <a:solidFill>
                  <a:srgbClr val="17212B"/>
                </a:solidFill>
                <a:latin typeface="Arial"/>
              </a:rPr>
              <a:t>One accountable engineer coordinates bounded work and accepts evidence-backed change</a:t>
            </a:r>
            <a:endParaRPr lang="en-US" sz="1600"/>
          </a:p>
        </p:txBody>
      </p:sp>
      <p:sp>
        <p:nvSpPr>
          <p:cNvPr id="18" name="Text 18"/>
          <p:cNvSpPr txBox="1"/>
          <p:nvPr/>
        </p:nvSpPr>
        <p:spPr>
          <a:xfrm>
            <a:off x="990600" y="4591050"/>
            <a:ext cx="3352800" cy="323850"/>
          </a:xfrm>
          <a:prstGeom prst="rect">
            <a:avLst/>
          </a:prstGeom>
          <a:noFill/>
          <a:ln>
            <a:noFill/>
          </a:ln>
        </p:spPr>
        <p:txBody>
          <a:bodyPr wrap="square" anchor="t" lIns="0" rIns="0" tIns="0" bIns="0"/>
          <a:lstStyle/>
          <a:p>
            <a:pPr algn="ctr"/>
            <a:r>
              <a:rPr lang="en-US" sz="1400" b="0">
                <a:solidFill>
                  <a:srgbClr val="5D6873"/>
                </a:solidFill>
                <a:latin typeface="Arial"/>
              </a:rPr>
              <a:t>One operator retains the final review decision</a:t>
            </a:r>
            <a:endParaRPr lang="en-US" sz="1400"/>
          </a:p>
        </p:txBody>
      </p:sp>
      <p:cxnSp>
        <p:nvCxnSpPr>
          <p:cNvPr id="19" name="Connector 19"/>
          <p:cNvCxnSpPr/>
          <p:nvPr/>
        </p:nvCxnSpPr>
        <p:spPr>
          <a:xfrm>
            <a:off x="5200650" y="3543300"/>
            <a:ext cx="1181100" cy="0"/>
          </a:xfrm>
          <a:prstGeom prst="line">
            <a:avLst/>
          </a:prstGeom>
          <a:ln w="50800">
            <a:solidFill>
              <a:srgbClr val="D71920"/>
            </a:solidFill>
            <a:tailEnd type="triangle"/>
          </a:ln>
        </p:spPr>
      </p:cxnSp>
      <p:sp>
        <p:nvSpPr>
          <p:cNvPr id="20" name="Text 20"/>
          <p:cNvSpPr txBox="1"/>
          <p:nvPr/>
        </p:nvSpPr>
        <p:spPr>
          <a:xfrm>
            <a:off x="6572250" y="1619250"/>
            <a:ext cx="4476750" cy="228600"/>
          </a:xfrm>
          <a:prstGeom prst="rect">
            <a:avLst/>
          </a:prstGeom>
          <a:noFill/>
          <a:ln>
            <a:noFill/>
          </a:ln>
        </p:spPr>
        <p:txBody>
          <a:bodyPr wrap="square" anchor="t" lIns="0" rIns="0" tIns="0" bIns="0"/>
          <a:lstStyle/>
          <a:p>
            <a:pPr algn="l"/>
            <a:r>
              <a:rPr lang="en-US" sz="1200" b="1" spc="140">
                <a:solidFill>
                  <a:srgbClr val="2A5B84"/>
                </a:solidFill>
                <a:latin typeface="Arial"/>
              </a:rPr>
              <a:t>NEXT PILOT HYPOTHESIS</a:t>
            </a:r>
            <a:endParaRPr lang="en-US" sz="1200"/>
          </a:p>
        </p:txBody>
      </p:sp>
      <p:sp>
        <p:nvSpPr>
          <p:cNvPr id="21" name="Shape 21"/>
          <p:cNvSpPr/>
          <p:nvPr/>
        </p:nvSpPr>
        <p:spPr>
          <a:xfrm>
            <a:off x="6572250" y="2076450"/>
            <a:ext cx="2190750" cy="723900"/>
          </a:xfrm>
          <a:prstGeom prst="roundRect">
            <a:avLst/>
          </a:prstGeom>
          <a:solidFill>
            <a:srgbClr val="EAF1F7"/>
          </a:solidFill>
          <a:ln w="25400">
            <a:solidFill>
              <a:srgbClr val="2A5B84"/>
            </a:solidFill>
          </a:ln>
        </p:spPr>
      </p:sp>
      <p:sp>
        <p:nvSpPr>
          <p:cNvPr id="22" name="Shape 22"/>
          <p:cNvSpPr/>
          <p:nvPr/>
        </p:nvSpPr>
        <p:spPr>
          <a:xfrm>
            <a:off x="6705600" y="2209800"/>
            <a:ext cx="457200" cy="457200"/>
          </a:xfrm>
          <a:prstGeom prst="roundRect">
            <a:avLst/>
          </a:prstGeom>
          <a:solidFill>
            <a:srgbClr val="FFFFFF"/>
          </a:solidFill>
          <a:ln w="19050">
            <a:solidFill>
              <a:srgbClr val="2A5B84"/>
            </a:solidFill>
          </a:ln>
        </p:spPr>
      </p:sp>
      <p:pic>
        <p:nvPicPr>
          <p:cNvPr id="23" name="Picture 23"/>
          <p:cNvPicPr>
            <a:picLocks noChangeAspect="1"/>
          </p:cNvPicPr>
          <p:nvPr/>
        </p:nvPicPr>
        <p:blipFill>
          <a:blip r:embed="rId5"/>
          <a:stretch>
            <a:fillRect/>
          </a:stretch>
        </p:blipFill>
        <p:spPr>
          <a:xfrm>
            <a:off x="6819900" y="2324100"/>
            <a:ext cx="228600" cy="228600"/>
          </a:xfrm>
          <a:prstGeom prst="rect">
            <a:avLst/>
          </a:prstGeom>
          <a:ln>
            <a:noFill/>
          </a:ln>
        </p:spPr>
      </p:pic>
      <p:sp>
        <p:nvSpPr>
          <p:cNvPr id="24" name="Text 24"/>
          <p:cNvSpPr txBox="1"/>
          <p:nvPr/>
        </p:nvSpPr>
        <p:spPr>
          <a:xfrm>
            <a:off x="7258050" y="2171700"/>
            <a:ext cx="1371600" cy="209550"/>
          </a:xfrm>
          <a:prstGeom prst="rect">
            <a:avLst/>
          </a:prstGeom>
          <a:noFill/>
          <a:ln>
            <a:noFill/>
          </a:ln>
        </p:spPr>
        <p:txBody>
          <a:bodyPr wrap="square" anchor="t" lIns="0" rIns="0" tIns="0" bIns="0"/>
          <a:lstStyle/>
          <a:p>
            <a:pPr algn="l"/>
            <a:r>
              <a:rPr lang="en-US" sz="1300" b="1">
                <a:solidFill>
                  <a:srgbClr val="2A5B84"/>
                </a:solidFill>
                <a:latin typeface="Arial"/>
              </a:rPr>
              <a:t>CELL A</a:t>
            </a:r>
            <a:endParaRPr lang="en-US" sz="1300"/>
          </a:p>
        </p:txBody>
      </p:sp>
      <p:sp>
        <p:nvSpPr>
          <p:cNvPr id="25" name="Text 25"/>
          <p:cNvSpPr txBox="1"/>
          <p:nvPr/>
        </p:nvSpPr>
        <p:spPr>
          <a:xfrm>
            <a:off x="7258050" y="2438400"/>
            <a:ext cx="1371600" cy="266700"/>
          </a:xfrm>
          <a:prstGeom prst="rect">
            <a:avLst/>
          </a:prstGeom>
          <a:noFill/>
          <a:ln>
            <a:noFill/>
          </a:ln>
        </p:spPr>
        <p:txBody>
          <a:bodyPr wrap="square" anchor="t" lIns="0" rIns="0" tIns="0" bIns="0"/>
          <a:lstStyle/>
          <a:p>
            <a:pPr algn="l"/>
            <a:r>
              <a:rPr lang="en-US" sz="1200" b="0">
                <a:solidFill>
                  <a:srgbClr val="17212B"/>
                </a:solidFill>
                <a:latin typeface="Arial"/>
              </a:rPr>
              <a:t>Customer Care</a:t>
            </a:r>
            <a:endParaRPr lang="en-US" sz="1200"/>
          </a:p>
        </p:txBody>
      </p:sp>
      <p:cxnSp>
        <p:nvCxnSpPr>
          <p:cNvPr id="26" name="Connector 26"/>
          <p:cNvCxnSpPr/>
          <p:nvPr/>
        </p:nvCxnSpPr>
        <p:spPr>
          <a:xfrm>
            <a:off x="8763000" y="2438400"/>
            <a:ext cx="666750" cy="0"/>
          </a:xfrm>
          <a:prstGeom prst="line">
            <a:avLst/>
          </a:prstGeom>
          <a:ln w="25400">
            <a:solidFill>
              <a:srgbClr val="2A5B84"/>
            </a:solidFill>
            <a:headEnd type="triangle"/>
            <a:tailEnd type="triangle"/>
          </a:ln>
        </p:spPr>
      </p:cxnSp>
      <p:sp>
        <p:nvSpPr>
          <p:cNvPr id="27" name="Shape 27"/>
          <p:cNvSpPr/>
          <p:nvPr/>
        </p:nvSpPr>
        <p:spPr>
          <a:xfrm>
            <a:off x="6572250" y="3009900"/>
            <a:ext cx="2190750" cy="723900"/>
          </a:xfrm>
          <a:prstGeom prst="roundRect">
            <a:avLst/>
          </a:prstGeom>
          <a:solidFill>
            <a:srgbClr val="EAF1F7"/>
          </a:solidFill>
          <a:ln w="25400">
            <a:solidFill>
              <a:srgbClr val="2A5B84"/>
            </a:solidFill>
          </a:ln>
        </p:spPr>
      </p:sp>
      <p:sp>
        <p:nvSpPr>
          <p:cNvPr id="28" name="Shape 28"/>
          <p:cNvSpPr/>
          <p:nvPr/>
        </p:nvSpPr>
        <p:spPr>
          <a:xfrm>
            <a:off x="6705600" y="3143250"/>
            <a:ext cx="457200" cy="457200"/>
          </a:xfrm>
          <a:prstGeom prst="roundRect">
            <a:avLst/>
          </a:prstGeom>
          <a:solidFill>
            <a:srgbClr val="FFFFFF"/>
          </a:solidFill>
          <a:ln w="19050">
            <a:solidFill>
              <a:srgbClr val="2A5B84"/>
            </a:solidFill>
          </a:ln>
        </p:spPr>
      </p:sp>
      <p:pic>
        <p:nvPicPr>
          <p:cNvPr id="29" name="Picture 29"/>
          <p:cNvPicPr>
            <a:picLocks noChangeAspect="1"/>
          </p:cNvPicPr>
          <p:nvPr/>
        </p:nvPicPr>
        <p:blipFill>
          <a:blip r:embed="rId6"/>
          <a:stretch>
            <a:fillRect/>
          </a:stretch>
        </p:blipFill>
        <p:spPr>
          <a:xfrm>
            <a:off x="6819900" y="3257550"/>
            <a:ext cx="228600" cy="228600"/>
          </a:xfrm>
          <a:prstGeom prst="rect">
            <a:avLst/>
          </a:prstGeom>
          <a:ln>
            <a:noFill/>
          </a:ln>
        </p:spPr>
      </p:pic>
      <p:sp>
        <p:nvSpPr>
          <p:cNvPr id="30" name="Text 30"/>
          <p:cNvSpPr txBox="1"/>
          <p:nvPr/>
        </p:nvSpPr>
        <p:spPr>
          <a:xfrm>
            <a:off x="7258050" y="3105150"/>
            <a:ext cx="1371600" cy="209550"/>
          </a:xfrm>
          <a:prstGeom prst="rect">
            <a:avLst/>
          </a:prstGeom>
          <a:noFill/>
          <a:ln>
            <a:noFill/>
          </a:ln>
        </p:spPr>
        <p:txBody>
          <a:bodyPr wrap="square" anchor="t" lIns="0" rIns="0" tIns="0" bIns="0"/>
          <a:lstStyle/>
          <a:p>
            <a:pPr algn="l"/>
            <a:r>
              <a:rPr lang="en-US" sz="1300" b="1">
                <a:solidFill>
                  <a:srgbClr val="2A5B84"/>
                </a:solidFill>
                <a:latin typeface="Arial"/>
              </a:rPr>
              <a:t>CELL B</a:t>
            </a:r>
            <a:endParaRPr lang="en-US" sz="1300"/>
          </a:p>
        </p:txBody>
      </p:sp>
      <p:sp>
        <p:nvSpPr>
          <p:cNvPr id="31" name="Text 31"/>
          <p:cNvSpPr txBox="1"/>
          <p:nvPr/>
        </p:nvSpPr>
        <p:spPr>
          <a:xfrm>
            <a:off x="7258050" y="3371850"/>
            <a:ext cx="1371600" cy="266700"/>
          </a:xfrm>
          <a:prstGeom prst="rect">
            <a:avLst/>
          </a:prstGeom>
          <a:noFill/>
          <a:ln>
            <a:noFill/>
          </a:ln>
        </p:spPr>
        <p:txBody>
          <a:bodyPr wrap="square" anchor="t" lIns="0" rIns="0" tIns="0" bIns="0"/>
          <a:lstStyle/>
          <a:p>
            <a:pPr algn="l"/>
            <a:r>
              <a:rPr lang="en-US" sz="1200" b="0">
                <a:solidFill>
                  <a:srgbClr val="17212B"/>
                </a:solidFill>
                <a:latin typeface="Arial"/>
              </a:rPr>
              <a:t>Another product team</a:t>
            </a:r>
            <a:endParaRPr lang="en-US" sz="1200"/>
          </a:p>
        </p:txBody>
      </p:sp>
      <p:cxnSp>
        <p:nvCxnSpPr>
          <p:cNvPr id="32" name="Connector 32"/>
          <p:cNvCxnSpPr/>
          <p:nvPr/>
        </p:nvCxnSpPr>
        <p:spPr>
          <a:xfrm>
            <a:off x="8763000" y="3371850"/>
            <a:ext cx="666750" cy="0"/>
          </a:xfrm>
          <a:prstGeom prst="line">
            <a:avLst/>
          </a:prstGeom>
          <a:ln w="25400">
            <a:solidFill>
              <a:srgbClr val="2A5B84"/>
            </a:solidFill>
            <a:headEnd type="triangle"/>
            <a:tailEnd type="triangle"/>
          </a:ln>
        </p:spPr>
      </p:cxnSp>
      <p:sp>
        <p:nvSpPr>
          <p:cNvPr id="33" name="Shape 33"/>
          <p:cNvSpPr/>
          <p:nvPr/>
        </p:nvSpPr>
        <p:spPr>
          <a:xfrm>
            <a:off x="6572250" y="3943350"/>
            <a:ext cx="2190750" cy="723900"/>
          </a:xfrm>
          <a:prstGeom prst="roundRect">
            <a:avLst/>
          </a:prstGeom>
          <a:solidFill>
            <a:srgbClr val="EAF1F7"/>
          </a:solidFill>
          <a:ln w="25400">
            <a:solidFill>
              <a:srgbClr val="2A5B84"/>
            </a:solidFill>
          </a:ln>
        </p:spPr>
      </p:sp>
      <p:sp>
        <p:nvSpPr>
          <p:cNvPr id="34" name="Shape 34"/>
          <p:cNvSpPr/>
          <p:nvPr/>
        </p:nvSpPr>
        <p:spPr>
          <a:xfrm>
            <a:off x="6705600" y="4076700"/>
            <a:ext cx="457200" cy="457200"/>
          </a:xfrm>
          <a:prstGeom prst="roundRect">
            <a:avLst/>
          </a:prstGeom>
          <a:solidFill>
            <a:srgbClr val="FFFFFF"/>
          </a:solidFill>
          <a:ln w="19050">
            <a:solidFill>
              <a:srgbClr val="2A5B84"/>
            </a:solidFill>
          </a:ln>
        </p:spPr>
      </p:sp>
      <p:pic>
        <p:nvPicPr>
          <p:cNvPr id="35" name="Picture 35"/>
          <p:cNvPicPr>
            <a:picLocks noChangeAspect="1"/>
          </p:cNvPicPr>
          <p:nvPr/>
        </p:nvPicPr>
        <p:blipFill>
          <a:blip r:embed="rId7"/>
          <a:stretch>
            <a:fillRect/>
          </a:stretch>
        </p:blipFill>
        <p:spPr>
          <a:xfrm>
            <a:off x="6819900" y="4191000"/>
            <a:ext cx="228600" cy="228600"/>
          </a:xfrm>
          <a:prstGeom prst="rect">
            <a:avLst/>
          </a:prstGeom>
          <a:ln>
            <a:noFill/>
          </a:ln>
        </p:spPr>
      </p:pic>
      <p:sp>
        <p:nvSpPr>
          <p:cNvPr id="36" name="Text 36"/>
          <p:cNvSpPr txBox="1"/>
          <p:nvPr/>
        </p:nvSpPr>
        <p:spPr>
          <a:xfrm>
            <a:off x="7258050" y="4038600"/>
            <a:ext cx="1371600" cy="209550"/>
          </a:xfrm>
          <a:prstGeom prst="rect">
            <a:avLst/>
          </a:prstGeom>
          <a:noFill/>
          <a:ln>
            <a:noFill/>
          </a:ln>
        </p:spPr>
        <p:txBody>
          <a:bodyPr wrap="square" anchor="t" lIns="0" rIns="0" tIns="0" bIns="0"/>
          <a:lstStyle/>
          <a:p>
            <a:pPr algn="l"/>
            <a:r>
              <a:rPr lang="en-US" sz="1300" b="1">
                <a:solidFill>
                  <a:srgbClr val="2A5B84"/>
                </a:solidFill>
                <a:latin typeface="Arial"/>
              </a:rPr>
              <a:t>CELL C</a:t>
            </a:r>
            <a:endParaRPr lang="en-US" sz="1300"/>
          </a:p>
        </p:txBody>
      </p:sp>
      <p:sp>
        <p:nvSpPr>
          <p:cNvPr id="37" name="Text 37"/>
          <p:cNvSpPr txBox="1"/>
          <p:nvPr/>
        </p:nvSpPr>
        <p:spPr>
          <a:xfrm>
            <a:off x="7258050" y="4305300"/>
            <a:ext cx="1371600" cy="266700"/>
          </a:xfrm>
          <a:prstGeom prst="rect">
            <a:avLst/>
          </a:prstGeom>
          <a:noFill/>
          <a:ln>
            <a:noFill/>
          </a:ln>
        </p:spPr>
        <p:txBody>
          <a:bodyPr wrap="square" anchor="t" lIns="0" rIns="0" tIns="0" bIns="0"/>
          <a:lstStyle/>
          <a:p>
            <a:pPr algn="l"/>
            <a:r>
              <a:rPr lang="en-US" sz="1200" b="0">
                <a:solidFill>
                  <a:srgbClr val="17212B"/>
                </a:solidFill>
                <a:latin typeface="Arial"/>
              </a:rPr>
              <a:t>Another engineer</a:t>
            </a:r>
            <a:endParaRPr lang="en-US" sz="1200"/>
          </a:p>
        </p:txBody>
      </p:sp>
      <p:cxnSp>
        <p:nvCxnSpPr>
          <p:cNvPr id="38" name="Connector 38"/>
          <p:cNvCxnSpPr/>
          <p:nvPr/>
        </p:nvCxnSpPr>
        <p:spPr>
          <a:xfrm>
            <a:off x="8763000" y="4305300"/>
            <a:ext cx="666750" cy="0"/>
          </a:xfrm>
          <a:prstGeom prst="line">
            <a:avLst/>
          </a:prstGeom>
          <a:ln w="25400">
            <a:solidFill>
              <a:srgbClr val="2A5B84"/>
            </a:solidFill>
            <a:headEnd type="triangle"/>
            <a:tailEnd type="triangle"/>
          </a:ln>
        </p:spPr>
      </p:cxnSp>
      <p:sp>
        <p:nvSpPr>
          <p:cNvPr id="39" name="Shape 39"/>
          <p:cNvSpPr/>
          <p:nvPr/>
        </p:nvSpPr>
        <p:spPr>
          <a:xfrm>
            <a:off x="9429750" y="2190750"/>
            <a:ext cx="2057400" cy="2381250"/>
          </a:xfrm>
          <a:prstGeom prst="roundRect">
            <a:avLst/>
          </a:prstGeom>
          <a:solidFill>
            <a:srgbClr val="17212B"/>
          </a:solidFill>
          <a:ln w="12700">
            <a:solidFill>
              <a:srgbClr val="17212B"/>
            </a:solidFill>
          </a:ln>
        </p:spPr>
      </p:sp>
      <p:pic>
        <p:nvPicPr>
          <p:cNvPr id="40" name="Picture 40"/>
          <p:cNvPicPr>
            <a:picLocks noChangeAspect="1"/>
          </p:cNvPicPr>
          <p:nvPr/>
        </p:nvPicPr>
        <p:blipFill>
          <a:blip r:embed="rId8"/>
          <a:stretch>
            <a:fillRect/>
          </a:stretch>
        </p:blipFill>
        <p:spPr>
          <a:xfrm>
            <a:off x="10115550" y="2362200"/>
            <a:ext cx="685800" cy="685800"/>
          </a:xfrm>
          <a:prstGeom prst="rect">
            <a:avLst/>
          </a:prstGeom>
          <a:ln>
            <a:noFill/>
          </a:ln>
        </p:spPr>
      </p:pic>
      <p:sp>
        <p:nvSpPr>
          <p:cNvPr id="41" name="Text 41"/>
          <p:cNvSpPr txBox="1"/>
          <p:nvPr/>
        </p:nvSpPr>
        <p:spPr>
          <a:xfrm>
            <a:off x="9525000" y="3067050"/>
            <a:ext cx="1866900" cy="228600"/>
          </a:xfrm>
          <a:prstGeom prst="rect">
            <a:avLst/>
          </a:prstGeom>
          <a:noFill/>
          <a:ln>
            <a:noFill/>
          </a:ln>
        </p:spPr>
        <p:txBody>
          <a:bodyPr wrap="square" anchor="t" lIns="0" rIns="0" tIns="0" bIns="0"/>
          <a:lstStyle/>
          <a:p>
            <a:pPr algn="ctr"/>
            <a:r>
              <a:rPr lang="en-US" sz="1600" b="1">
                <a:solidFill>
                  <a:srgbClr val="FFFFFF"/>
                </a:solidFill>
                <a:latin typeface="Arial"/>
              </a:rPr>
              <a:t>SHARED</a:t>
            </a:r>
            <a:endParaRPr lang="en-US" sz="1600"/>
          </a:p>
        </p:txBody>
      </p:sp>
      <p:sp>
        <p:nvSpPr>
          <p:cNvPr id="42" name="Text 42"/>
          <p:cNvSpPr txBox="1"/>
          <p:nvPr/>
        </p:nvSpPr>
        <p:spPr>
          <a:xfrm>
            <a:off x="9525000" y="3333750"/>
            <a:ext cx="1866900" cy="266700"/>
          </a:xfrm>
          <a:prstGeom prst="rect">
            <a:avLst/>
          </a:prstGeom>
          <a:noFill/>
          <a:ln>
            <a:noFill/>
          </a:ln>
        </p:spPr>
        <p:txBody>
          <a:bodyPr wrap="square" anchor="t" lIns="0" rIns="0" tIns="0" bIns="0"/>
          <a:lstStyle/>
          <a:p>
            <a:pPr algn="ctr"/>
            <a:r>
              <a:rPr lang="en-US" sz="1600" b="1">
                <a:solidFill>
                  <a:srgbClr val="FFFFFF"/>
                </a:solidFill>
                <a:latin typeface="Arial"/>
              </a:rPr>
              <a:t>CONTROL PLANE</a:t>
            </a:r>
            <a:endParaRPr lang="en-US" sz="1600"/>
          </a:p>
        </p:txBody>
      </p:sp>
      <p:cxnSp>
        <p:nvCxnSpPr>
          <p:cNvPr id="43" name="Connector 43"/>
          <p:cNvCxnSpPr/>
          <p:nvPr/>
        </p:nvCxnSpPr>
        <p:spPr>
          <a:xfrm>
            <a:off x="9696450" y="3714750"/>
            <a:ext cx="1524000" cy="0"/>
          </a:xfrm>
          <a:prstGeom prst="line">
            <a:avLst/>
          </a:prstGeom>
          <a:ln w="12700">
            <a:solidFill>
              <a:srgbClr val="667984"/>
            </a:solidFill>
          </a:ln>
        </p:spPr>
      </p:cxnSp>
      <p:sp>
        <p:nvSpPr>
          <p:cNvPr id="44" name="Text 44"/>
          <p:cNvSpPr txBox="1"/>
          <p:nvPr/>
        </p:nvSpPr>
        <p:spPr>
          <a:xfrm>
            <a:off x="9525000" y="3810000"/>
            <a:ext cx="1866900" cy="190500"/>
          </a:xfrm>
          <a:prstGeom prst="rect">
            <a:avLst/>
          </a:prstGeom>
          <a:noFill/>
          <a:ln>
            <a:noFill/>
          </a:ln>
        </p:spPr>
        <p:txBody>
          <a:bodyPr wrap="square" anchor="t" lIns="0" rIns="0" tIns="0" bIns="0"/>
          <a:lstStyle/>
          <a:p>
            <a:pPr algn="ctr"/>
            <a:r>
              <a:rPr lang="en-US" sz="1000" b="0">
                <a:solidFill>
                  <a:srgbClr val="DDE3E8"/>
                </a:solidFill>
                <a:latin typeface="Arial"/>
              </a:rPr>
              <a:t>Enterprise process fit</a:t>
            </a:r>
            <a:endParaRPr lang="en-US" sz="1000"/>
          </a:p>
        </p:txBody>
      </p:sp>
      <p:sp>
        <p:nvSpPr>
          <p:cNvPr id="45" name="Text 45"/>
          <p:cNvSpPr txBox="1"/>
          <p:nvPr/>
        </p:nvSpPr>
        <p:spPr>
          <a:xfrm>
            <a:off x="9525000" y="4076700"/>
            <a:ext cx="1866900" cy="190500"/>
          </a:xfrm>
          <a:prstGeom prst="rect">
            <a:avLst/>
          </a:prstGeom>
          <a:noFill/>
          <a:ln>
            <a:noFill/>
          </a:ln>
        </p:spPr>
        <p:txBody>
          <a:bodyPr wrap="square" anchor="t" lIns="0" rIns="0" tIns="0" bIns="0"/>
          <a:lstStyle/>
          <a:p>
            <a:pPr algn="ctr"/>
            <a:r>
              <a:rPr lang="en-US" sz="1000" b="0">
                <a:solidFill>
                  <a:srgbClr val="DDE3E8"/>
                </a:solidFill>
                <a:latin typeface="Arial"/>
              </a:rPr>
              <a:t>Operational scale and HA</a:t>
            </a:r>
            <a:endParaRPr lang="en-US" sz="1000"/>
          </a:p>
        </p:txBody>
      </p:sp>
      <p:sp>
        <p:nvSpPr>
          <p:cNvPr id="46" name="Text 46"/>
          <p:cNvSpPr txBox="1"/>
          <p:nvPr/>
        </p:nvSpPr>
        <p:spPr>
          <a:xfrm>
            <a:off x="9525000" y="4343400"/>
            <a:ext cx="1866900" cy="171450"/>
          </a:xfrm>
          <a:prstGeom prst="rect">
            <a:avLst/>
          </a:prstGeom>
          <a:noFill/>
          <a:ln>
            <a:noFill/>
          </a:ln>
        </p:spPr>
        <p:txBody>
          <a:bodyPr wrap="square" anchor="t" lIns="0" rIns="0" tIns="0" bIns="0"/>
          <a:lstStyle/>
          <a:p>
            <a:pPr algn="ctr"/>
            <a:r>
              <a:rPr lang="en-US" sz="1000" b="0">
                <a:solidFill>
                  <a:srgbClr val="DDE3E8"/>
                </a:solidFill>
                <a:latin typeface="Arial"/>
              </a:rPr>
              <a:t>Measured model quality</a:t>
            </a:r>
            <a:endParaRPr lang="en-US" sz="1000"/>
          </a:p>
        </p:txBody>
      </p:sp>
      <p:sp>
        <p:nvSpPr>
          <p:cNvPr id="47" name="Shape 47"/>
          <p:cNvSpPr/>
          <p:nvPr/>
        </p:nvSpPr>
        <p:spPr>
          <a:xfrm>
            <a:off x="1562100" y="5543550"/>
            <a:ext cx="9067800" cy="552450"/>
          </a:xfrm>
          <a:prstGeom prst="roundRect">
            <a:avLst/>
          </a:prstGeom>
          <a:solidFill>
            <a:srgbClr val="F4F6F8"/>
          </a:solidFill>
          <a:ln w="12700">
            <a:solidFill>
              <a:srgbClr val="D9DEE3"/>
            </a:solidFill>
          </a:ln>
        </p:spPr>
      </p:sp>
      <p:sp>
        <p:nvSpPr>
          <p:cNvPr id="48" name="Text 48"/>
          <p:cNvSpPr txBox="1"/>
          <p:nvPr/>
        </p:nvSpPr>
        <p:spPr>
          <a:xfrm>
            <a:off x="1790700" y="5676900"/>
            <a:ext cx="8610600" cy="304800"/>
          </a:xfrm>
          <a:prstGeom prst="rect">
            <a:avLst/>
          </a:prstGeom>
          <a:noFill/>
          <a:ln>
            <a:noFill/>
          </a:ln>
        </p:spPr>
        <p:txBody>
          <a:bodyPr wrap="square" anchor="ctr" lIns="0" rIns="0" tIns="0" bIns="0"/>
          <a:lstStyle/>
          <a:p>
            <a:pPr algn="ctr"/>
            <a:r>
              <a:rPr lang="en-US" sz="1500" b="1">
                <a:solidFill>
                  <a:srgbClr val="17212B"/>
                </a:solidFill>
                <a:latin typeface="Arial"/>
              </a:rPr>
              <a:t>The next decision should be based on measured reuse, quality and operating cost across several real delivery cells</a:t>
            </a:r>
            <a:endParaRPr lang="en-US" sz="1500"/>
          </a:p>
        </p:txBody>
      </p:sp>
      <p:cxnSp>
        <p:nvCxnSpPr>
          <p:cNvPr id="49" name="Connector 49"/>
          <p:cNvCxnSpPr/>
          <p:nvPr/>
        </p:nvCxnSpPr>
        <p:spPr>
          <a:xfrm>
            <a:off x="552450" y="6419850"/>
            <a:ext cx="11087100" cy="0"/>
          </a:xfrm>
          <a:prstGeom prst="line">
            <a:avLst/>
          </a:prstGeom>
          <a:ln w="12700">
            <a:solidFill>
              <a:srgbClr val="D9DEE3"/>
            </a:solidFill>
          </a:ln>
        </p:spPr>
      </p:cxnSp>
      <p:sp>
        <p:nvSpPr>
          <p:cNvPr id="50" name="Text 50"/>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CUSTOMER ACTIVITY ANALYTICS</a:t>
            </a:r>
            <a:endParaRPr lang="en-US" sz="1000"/>
          </a:p>
        </p:txBody>
      </p:sp>
      <p:sp>
        <p:nvSpPr>
          <p:cNvPr id="51" name="Text 51"/>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14</a:t>
            </a:r>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APPENDIX A · BROWSER EVIDENCE</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Authentic Playwright captures document the capability growth from R1 to R5</a:t>
            </a:r>
            <a:endParaRPr lang="en-US" sz="3000"/>
          </a:p>
        </p:txBody>
      </p:sp>
      <p:sp>
        <p:nvSpPr>
          <p:cNvPr id="4" name="Shape 4"/>
          <p:cNvSpPr/>
          <p:nvPr/>
        </p:nvSpPr>
        <p:spPr>
          <a:xfrm>
            <a:off x="571500" y="1581150"/>
            <a:ext cx="2628900" cy="1657350"/>
          </a:xfrm>
          <a:prstGeom prst="rect">
            <a:avLst/>
          </a:prstGeom>
          <a:solidFill>
            <a:srgbClr val="FFFFFF"/>
          </a:solidFill>
          <a:ln w="12700">
            <a:solidFill>
              <a:srgbClr val="D9DEE3"/>
            </a:solidFill>
          </a:ln>
        </p:spPr>
      </p:sp>
      <p:pic>
        <p:nvPicPr>
          <p:cNvPr id="5" name="Picture 5"/>
          <p:cNvPicPr>
            <a:picLocks noChangeAspect="1"/>
          </p:cNvPicPr>
          <p:nvPr/>
        </p:nvPicPr>
        <p:blipFill>
          <a:blip r:embed="rId2"/>
          <a:stretch>
            <a:fillRect/>
          </a:stretch>
        </p:blipFill>
        <p:spPr>
          <a:xfrm>
            <a:off x="628650" y="1874490"/>
            <a:ext cx="2514600" cy="1070670"/>
          </a:xfrm>
          <a:prstGeom prst="rect">
            <a:avLst/>
          </a:prstGeom>
          <a:ln>
            <a:noFill/>
          </a:ln>
        </p:spPr>
      </p:pic>
      <p:sp>
        <p:nvSpPr>
          <p:cNvPr id="6" name="Text 6"/>
          <p:cNvSpPr txBox="1"/>
          <p:nvPr/>
        </p:nvSpPr>
        <p:spPr>
          <a:xfrm>
            <a:off x="685800" y="1695450"/>
            <a:ext cx="419100" cy="247650"/>
          </a:xfrm>
          <a:prstGeom prst="rect">
            <a:avLst/>
          </a:prstGeom>
          <a:solidFill>
            <a:srgbClr val="17212B"/>
          </a:solidFill>
          <a:ln>
            <a:noFill/>
          </a:ln>
        </p:spPr>
        <p:txBody>
          <a:bodyPr wrap="square" anchor="ctr" lIns="0" rIns="0" tIns="0" bIns="0"/>
          <a:lstStyle/>
          <a:p>
            <a:pPr algn="ctr"/>
            <a:r>
              <a:rPr lang="en-US" sz="1200" b="1">
                <a:solidFill>
                  <a:srgbClr val="FFFFFF"/>
                </a:solidFill>
                <a:latin typeface="Arial"/>
              </a:rPr>
              <a:t>R1</a:t>
            </a:r>
            <a:endParaRPr lang="en-US" sz="1200"/>
          </a:p>
        </p:txBody>
      </p:sp>
      <p:sp>
        <p:nvSpPr>
          <p:cNvPr id="7" name="Text 7"/>
          <p:cNvSpPr txBox="1"/>
          <p:nvPr/>
        </p:nvSpPr>
        <p:spPr>
          <a:xfrm>
            <a:off x="1162050" y="1695450"/>
            <a:ext cx="1866900" cy="247650"/>
          </a:xfrm>
          <a:prstGeom prst="rect">
            <a:avLst/>
          </a:prstGeom>
          <a:solidFill>
            <a:srgbClr val="17212B"/>
          </a:solidFill>
          <a:ln>
            <a:noFill/>
          </a:ln>
        </p:spPr>
        <p:txBody>
          <a:bodyPr wrap="square" anchor="ctr" lIns="47625" rIns="47625" tIns="47625" bIns="47625"/>
          <a:lstStyle/>
          <a:p>
            <a:pPr algn="l"/>
            <a:r>
              <a:rPr lang="en-US" sz="1100" b="1">
                <a:solidFill>
                  <a:srgbClr val="FFFFFF"/>
                </a:solidFill>
                <a:latin typeface="Arial"/>
              </a:rPr>
              <a:t>Synthetic review</a:t>
            </a:r>
            <a:endParaRPr lang="en-US" sz="1100"/>
          </a:p>
        </p:txBody>
      </p:sp>
      <p:sp>
        <p:nvSpPr>
          <p:cNvPr id="8" name="Shape 8"/>
          <p:cNvSpPr/>
          <p:nvPr/>
        </p:nvSpPr>
        <p:spPr>
          <a:xfrm>
            <a:off x="3333750" y="1581150"/>
            <a:ext cx="2628900" cy="1657350"/>
          </a:xfrm>
          <a:prstGeom prst="rect">
            <a:avLst/>
          </a:prstGeom>
          <a:solidFill>
            <a:srgbClr val="FFFFFF"/>
          </a:solidFill>
          <a:ln w="12700">
            <a:solidFill>
              <a:srgbClr val="D9DEE3"/>
            </a:solidFill>
          </a:ln>
        </p:spPr>
      </p:sp>
      <p:pic>
        <p:nvPicPr>
          <p:cNvPr id="9" name="Picture 9"/>
          <p:cNvPicPr>
            <a:picLocks noChangeAspect="1"/>
          </p:cNvPicPr>
          <p:nvPr/>
        </p:nvPicPr>
        <p:blipFill>
          <a:blip r:embed="rId3"/>
          <a:stretch>
            <a:fillRect/>
          </a:stretch>
        </p:blipFill>
        <p:spPr>
          <a:xfrm>
            <a:off x="3390900" y="1874490"/>
            <a:ext cx="2514600" cy="1070670"/>
          </a:xfrm>
          <a:prstGeom prst="rect">
            <a:avLst/>
          </a:prstGeom>
          <a:ln>
            <a:noFill/>
          </a:ln>
        </p:spPr>
      </p:pic>
      <p:sp>
        <p:nvSpPr>
          <p:cNvPr id="10" name="Text 10"/>
          <p:cNvSpPr txBox="1"/>
          <p:nvPr/>
        </p:nvSpPr>
        <p:spPr>
          <a:xfrm>
            <a:off x="3448050" y="1695450"/>
            <a:ext cx="419100" cy="247650"/>
          </a:xfrm>
          <a:prstGeom prst="rect">
            <a:avLst/>
          </a:prstGeom>
          <a:solidFill>
            <a:srgbClr val="2A5B84"/>
          </a:solidFill>
          <a:ln>
            <a:noFill/>
          </a:ln>
        </p:spPr>
        <p:txBody>
          <a:bodyPr wrap="square" anchor="ctr" lIns="0" rIns="0" tIns="0" bIns="0"/>
          <a:lstStyle/>
          <a:p>
            <a:pPr algn="ctr"/>
            <a:r>
              <a:rPr lang="en-US" sz="1200" b="1">
                <a:solidFill>
                  <a:srgbClr val="FFFFFF"/>
                </a:solidFill>
                <a:latin typeface="Arial"/>
              </a:rPr>
              <a:t>R2</a:t>
            </a:r>
            <a:endParaRPr lang="en-US" sz="1200"/>
          </a:p>
        </p:txBody>
      </p:sp>
      <p:sp>
        <p:nvSpPr>
          <p:cNvPr id="11" name="Text 11"/>
          <p:cNvSpPr txBox="1"/>
          <p:nvPr/>
        </p:nvSpPr>
        <p:spPr>
          <a:xfrm>
            <a:off x="3924300" y="1695450"/>
            <a:ext cx="1866900" cy="247650"/>
          </a:xfrm>
          <a:prstGeom prst="rect">
            <a:avLst/>
          </a:prstGeom>
          <a:solidFill>
            <a:srgbClr val="2A5B84"/>
          </a:solidFill>
          <a:ln>
            <a:noFill/>
          </a:ln>
        </p:spPr>
        <p:txBody>
          <a:bodyPr wrap="square" anchor="ctr" lIns="47625" rIns="47625" tIns="47625" bIns="47625"/>
          <a:lstStyle/>
          <a:p>
            <a:pPr algn="l"/>
            <a:r>
              <a:rPr lang="en-US" sz="1100" b="1">
                <a:solidFill>
                  <a:srgbClr val="FFFFFF"/>
                </a:solidFill>
                <a:latin typeface="Arial"/>
              </a:rPr>
              <a:t>PostgreSQL</a:t>
            </a:r>
            <a:endParaRPr lang="en-US" sz="1100"/>
          </a:p>
        </p:txBody>
      </p:sp>
      <p:sp>
        <p:nvSpPr>
          <p:cNvPr id="12" name="Shape 12"/>
          <p:cNvSpPr/>
          <p:nvPr/>
        </p:nvSpPr>
        <p:spPr>
          <a:xfrm>
            <a:off x="6096000" y="1581150"/>
            <a:ext cx="2628900" cy="1657350"/>
          </a:xfrm>
          <a:prstGeom prst="rect">
            <a:avLst/>
          </a:prstGeom>
          <a:solidFill>
            <a:srgbClr val="FFFFFF"/>
          </a:solidFill>
          <a:ln w="12700">
            <a:solidFill>
              <a:srgbClr val="D9DEE3"/>
            </a:solidFill>
          </a:ln>
        </p:spPr>
      </p:sp>
      <p:pic>
        <p:nvPicPr>
          <p:cNvPr id="13" name="Picture 13"/>
          <p:cNvPicPr>
            <a:picLocks noChangeAspect="1"/>
          </p:cNvPicPr>
          <p:nvPr/>
        </p:nvPicPr>
        <p:blipFill>
          <a:blip r:embed="rId4"/>
          <a:stretch>
            <a:fillRect/>
          </a:stretch>
        </p:blipFill>
        <p:spPr>
          <a:xfrm>
            <a:off x="6153150" y="1874490"/>
            <a:ext cx="2514600" cy="1070670"/>
          </a:xfrm>
          <a:prstGeom prst="rect">
            <a:avLst/>
          </a:prstGeom>
          <a:ln>
            <a:noFill/>
          </a:ln>
        </p:spPr>
      </p:pic>
      <p:sp>
        <p:nvSpPr>
          <p:cNvPr id="14" name="Text 14"/>
          <p:cNvSpPr txBox="1"/>
          <p:nvPr/>
        </p:nvSpPr>
        <p:spPr>
          <a:xfrm>
            <a:off x="6210300" y="1695450"/>
            <a:ext cx="419100" cy="247650"/>
          </a:xfrm>
          <a:prstGeom prst="rect">
            <a:avLst/>
          </a:prstGeom>
          <a:solidFill>
            <a:srgbClr val="1F7A5A"/>
          </a:solidFill>
          <a:ln>
            <a:noFill/>
          </a:ln>
        </p:spPr>
        <p:txBody>
          <a:bodyPr wrap="square" anchor="ctr" lIns="0" rIns="0" tIns="0" bIns="0"/>
          <a:lstStyle/>
          <a:p>
            <a:pPr algn="ctr"/>
            <a:r>
              <a:rPr lang="en-US" sz="1200" b="1">
                <a:solidFill>
                  <a:srgbClr val="FFFFFF"/>
                </a:solidFill>
                <a:latin typeface="Arial"/>
              </a:rPr>
              <a:t>R3</a:t>
            </a:r>
            <a:endParaRPr lang="en-US" sz="1200"/>
          </a:p>
        </p:txBody>
      </p:sp>
      <p:sp>
        <p:nvSpPr>
          <p:cNvPr id="15" name="Text 15"/>
          <p:cNvSpPr txBox="1"/>
          <p:nvPr/>
        </p:nvSpPr>
        <p:spPr>
          <a:xfrm>
            <a:off x="6686550" y="1695450"/>
            <a:ext cx="1866900" cy="247650"/>
          </a:xfrm>
          <a:prstGeom prst="rect">
            <a:avLst/>
          </a:prstGeom>
          <a:solidFill>
            <a:srgbClr val="1F7A5A"/>
          </a:solidFill>
          <a:ln>
            <a:noFill/>
          </a:ln>
        </p:spPr>
        <p:txBody>
          <a:bodyPr wrap="square" anchor="ctr" lIns="47625" rIns="47625" tIns="47625" bIns="47625"/>
          <a:lstStyle/>
          <a:p>
            <a:pPr algn="l"/>
            <a:r>
              <a:rPr lang="en-US" sz="1100" b="1">
                <a:solidFill>
                  <a:srgbClr val="FFFFFF"/>
                </a:solidFill>
                <a:latin typeface="Arial"/>
              </a:rPr>
              <a:t>Analysis + history</a:t>
            </a:r>
            <a:endParaRPr lang="en-US" sz="1100"/>
          </a:p>
        </p:txBody>
      </p:sp>
      <p:sp>
        <p:nvSpPr>
          <p:cNvPr id="16" name="Shape 16"/>
          <p:cNvSpPr/>
          <p:nvPr/>
        </p:nvSpPr>
        <p:spPr>
          <a:xfrm>
            <a:off x="8858250" y="1581150"/>
            <a:ext cx="2628900" cy="1657350"/>
          </a:xfrm>
          <a:prstGeom prst="rect">
            <a:avLst/>
          </a:prstGeom>
          <a:solidFill>
            <a:srgbClr val="FFFFFF"/>
          </a:solidFill>
          <a:ln w="12700">
            <a:solidFill>
              <a:srgbClr val="D9DEE3"/>
            </a:solidFill>
          </a:ln>
        </p:spPr>
      </p:sp>
      <p:pic>
        <p:nvPicPr>
          <p:cNvPr id="17" name="Picture 17"/>
          <p:cNvPicPr>
            <a:picLocks noChangeAspect="1"/>
          </p:cNvPicPr>
          <p:nvPr/>
        </p:nvPicPr>
        <p:blipFill>
          <a:blip r:embed="rId5"/>
          <a:stretch>
            <a:fillRect/>
          </a:stretch>
        </p:blipFill>
        <p:spPr>
          <a:xfrm>
            <a:off x="8915400" y="1874490"/>
            <a:ext cx="2514600" cy="1070670"/>
          </a:xfrm>
          <a:prstGeom prst="rect">
            <a:avLst/>
          </a:prstGeom>
          <a:ln>
            <a:noFill/>
          </a:ln>
        </p:spPr>
      </p:pic>
      <p:sp>
        <p:nvSpPr>
          <p:cNvPr id="18" name="Text 18"/>
          <p:cNvSpPr txBox="1"/>
          <p:nvPr/>
        </p:nvSpPr>
        <p:spPr>
          <a:xfrm>
            <a:off x="8972550" y="1695450"/>
            <a:ext cx="419100" cy="247650"/>
          </a:xfrm>
          <a:prstGeom prst="rect">
            <a:avLst/>
          </a:prstGeom>
          <a:solidFill>
            <a:srgbClr val="D71920"/>
          </a:solidFill>
          <a:ln>
            <a:noFill/>
          </a:ln>
        </p:spPr>
        <p:txBody>
          <a:bodyPr wrap="square" anchor="ctr" lIns="0" rIns="0" tIns="0" bIns="0"/>
          <a:lstStyle/>
          <a:p>
            <a:pPr algn="ctr"/>
            <a:r>
              <a:rPr lang="en-US" sz="1200" b="1">
                <a:solidFill>
                  <a:srgbClr val="FFFFFF"/>
                </a:solidFill>
                <a:latin typeface="Arial"/>
              </a:rPr>
              <a:t>R4</a:t>
            </a:r>
            <a:endParaRPr lang="en-US" sz="1200"/>
          </a:p>
        </p:txBody>
      </p:sp>
      <p:sp>
        <p:nvSpPr>
          <p:cNvPr id="19" name="Text 19"/>
          <p:cNvSpPr txBox="1"/>
          <p:nvPr/>
        </p:nvSpPr>
        <p:spPr>
          <a:xfrm>
            <a:off x="9448800" y="1695450"/>
            <a:ext cx="1866900" cy="247650"/>
          </a:xfrm>
          <a:prstGeom prst="rect">
            <a:avLst/>
          </a:prstGeom>
          <a:solidFill>
            <a:srgbClr val="D71920"/>
          </a:solidFill>
          <a:ln>
            <a:noFill/>
          </a:ln>
        </p:spPr>
        <p:txBody>
          <a:bodyPr wrap="square" anchor="ctr" lIns="47625" rIns="47625" tIns="47625" bIns="47625"/>
          <a:lstStyle/>
          <a:p>
            <a:pPr algn="l"/>
            <a:r>
              <a:rPr lang="en-US" sz="1100" b="1">
                <a:solidFill>
                  <a:srgbClr val="FFFFFF"/>
                </a:solidFill>
                <a:latin typeface="Arial"/>
              </a:rPr>
              <a:t>Auth + retrieval</a:t>
            </a:r>
            <a:endParaRPr lang="en-US" sz="1100"/>
          </a:p>
        </p:txBody>
      </p:sp>
      <p:sp>
        <p:nvSpPr>
          <p:cNvPr id="20" name="Shape 20"/>
          <p:cNvSpPr/>
          <p:nvPr/>
        </p:nvSpPr>
        <p:spPr>
          <a:xfrm>
            <a:off x="571500" y="3486150"/>
            <a:ext cx="11049000" cy="2571750"/>
          </a:xfrm>
          <a:prstGeom prst="rect">
            <a:avLst/>
          </a:prstGeom>
          <a:solidFill>
            <a:srgbClr val="FFFFFF"/>
          </a:solidFill>
          <a:ln w="25400">
            <a:solidFill>
              <a:srgbClr val="D71920"/>
            </a:solidFill>
          </a:ln>
        </p:spPr>
      </p:sp>
      <p:pic>
        <p:nvPicPr>
          <p:cNvPr id="21" name="Picture 21"/>
          <p:cNvPicPr>
            <a:picLocks noChangeAspect="1"/>
          </p:cNvPicPr>
          <p:nvPr/>
        </p:nvPicPr>
        <p:blipFill>
          <a:blip r:embed="rId6"/>
          <a:stretch>
            <a:fillRect/>
          </a:stretch>
        </p:blipFill>
        <p:spPr>
          <a:xfrm>
            <a:off x="1622848" y="3562350"/>
            <a:ext cx="3440853" cy="2419350"/>
          </a:xfrm>
          <a:prstGeom prst="rect">
            <a:avLst/>
          </a:prstGeom>
          <a:ln>
            <a:noFill/>
          </a:ln>
        </p:spPr>
      </p:pic>
      <p:pic>
        <p:nvPicPr>
          <p:cNvPr id="22" name="Picture 22"/>
          <p:cNvPicPr>
            <a:picLocks noChangeAspect="1"/>
          </p:cNvPicPr>
          <p:nvPr/>
        </p:nvPicPr>
        <p:blipFill>
          <a:blip r:embed="rId7"/>
          <a:stretch>
            <a:fillRect/>
          </a:stretch>
        </p:blipFill>
        <p:spPr>
          <a:xfrm>
            <a:off x="7128298" y="3562350"/>
            <a:ext cx="3440853" cy="2419350"/>
          </a:xfrm>
          <a:prstGeom prst="rect">
            <a:avLst/>
          </a:prstGeom>
          <a:ln>
            <a:noFill/>
          </a:ln>
        </p:spPr>
      </p:pic>
      <p:sp>
        <p:nvSpPr>
          <p:cNvPr id="23" name="Text 23"/>
          <p:cNvSpPr txBox="1"/>
          <p:nvPr/>
        </p:nvSpPr>
        <p:spPr>
          <a:xfrm>
            <a:off x="723900" y="3657600"/>
            <a:ext cx="495300" cy="285750"/>
          </a:xfrm>
          <a:prstGeom prst="rect">
            <a:avLst/>
          </a:prstGeom>
          <a:solidFill>
            <a:srgbClr val="D71920"/>
          </a:solidFill>
          <a:ln>
            <a:noFill/>
          </a:ln>
        </p:spPr>
        <p:txBody>
          <a:bodyPr wrap="square" anchor="ctr" lIns="0" rIns="0" tIns="0" bIns="0"/>
          <a:lstStyle/>
          <a:p>
            <a:pPr algn="ctr"/>
            <a:r>
              <a:rPr lang="en-US" sz="1400" b="1">
                <a:solidFill>
                  <a:srgbClr val="FFFFFF"/>
                </a:solidFill>
                <a:latin typeface="Arial"/>
              </a:rPr>
              <a:t>R5</a:t>
            </a:r>
            <a:endParaRPr lang="en-US" sz="1400"/>
          </a:p>
        </p:txBody>
      </p:sp>
      <p:sp>
        <p:nvSpPr>
          <p:cNvPr id="24" name="Text 24"/>
          <p:cNvSpPr txBox="1"/>
          <p:nvPr/>
        </p:nvSpPr>
        <p:spPr>
          <a:xfrm>
            <a:off x="1295400" y="3657600"/>
            <a:ext cx="2990850" cy="285750"/>
          </a:xfrm>
          <a:prstGeom prst="rect">
            <a:avLst/>
          </a:prstGeom>
          <a:solidFill>
            <a:srgbClr val="D71920"/>
          </a:solidFill>
          <a:ln>
            <a:noFill/>
          </a:ln>
        </p:spPr>
        <p:txBody>
          <a:bodyPr wrap="square" anchor="ctr" lIns="57150" rIns="57150" tIns="57150" bIns="57150"/>
          <a:lstStyle/>
          <a:p>
            <a:pPr algn="l"/>
            <a:r>
              <a:rPr lang="en-US" sz="1100" b="1">
                <a:solidFill>
                  <a:srgbClr val="FFFFFF"/>
                </a:solidFill>
                <a:latin typeface="Arial"/>
              </a:rPr>
              <a:t>FULL LM STUDIO DEMONSTRATOR</a:t>
            </a:r>
            <a:endParaRPr lang="en-US" sz="1100"/>
          </a:p>
        </p:txBody>
      </p:sp>
      <p:sp>
        <p:nvSpPr>
          <p:cNvPr id="25" name="Text 25"/>
          <p:cNvSpPr txBox="1"/>
          <p:nvPr/>
        </p:nvSpPr>
        <p:spPr>
          <a:xfrm>
            <a:off x="9639300" y="3657600"/>
            <a:ext cx="1790700" cy="285750"/>
          </a:xfrm>
          <a:prstGeom prst="rect">
            <a:avLst/>
          </a:prstGeom>
          <a:solidFill>
            <a:srgbClr val="1F7A5A"/>
          </a:solidFill>
          <a:ln>
            <a:noFill/>
          </a:ln>
        </p:spPr>
        <p:txBody>
          <a:bodyPr wrap="square" anchor="ctr" lIns="0" rIns="0" tIns="0" bIns="0"/>
          <a:lstStyle/>
          <a:p>
            <a:pPr algn="ctr"/>
            <a:r>
              <a:rPr lang="en-US" sz="1100" b="1">
                <a:solidFill>
                  <a:srgbClr val="FFFFFF"/>
                </a:solidFill>
                <a:latin typeface="Arial"/>
              </a:rPr>
              <a:t>DELIVERED</a:t>
            </a:r>
            <a:endParaRPr lang="en-US" sz="1100"/>
          </a:p>
        </p:txBody>
      </p:sp>
      <p:cxnSp>
        <p:nvCxnSpPr>
          <p:cNvPr id="26" name="Connector 26"/>
          <p:cNvCxnSpPr/>
          <p:nvPr/>
        </p:nvCxnSpPr>
        <p:spPr>
          <a:xfrm>
            <a:off x="552450" y="6419850"/>
            <a:ext cx="11087100" cy="0"/>
          </a:xfrm>
          <a:prstGeom prst="line">
            <a:avLst/>
          </a:prstGeom>
          <a:ln w="12700">
            <a:solidFill>
              <a:srgbClr val="BFC5CB"/>
            </a:solidFill>
          </a:ln>
        </p:spPr>
      </p:cxnSp>
      <p:sp>
        <p:nvSpPr>
          <p:cNvPr id="27" name="Text 27"/>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TECHNICAL APPENDIX</a:t>
            </a:r>
            <a:endParaRPr lang="en-US" sz="1000"/>
          </a:p>
        </p:txBody>
      </p:sp>
      <p:sp>
        <p:nvSpPr>
          <p:cNvPr id="28" name="Text 28"/>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A</a:t>
            </a:r>
            <a:endParaRPr 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APPENDIX B · DECISION RECORD</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Eight ADRs concentrate the durable choices and their trade-offs</a:t>
            </a:r>
            <a:endParaRPr lang="en-US" sz="3000"/>
          </a:p>
        </p:txBody>
      </p:sp>
      <p:sp>
        <p:nvSpPr>
          <p:cNvPr id="4" name="Text 4"/>
          <p:cNvSpPr txBox="1"/>
          <p:nvPr/>
        </p:nvSpPr>
        <p:spPr>
          <a:xfrm>
            <a:off x="571500" y="1562100"/>
            <a:ext cx="1066800" cy="304800"/>
          </a:xfrm>
          <a:prstGeom prst="rect">
            <a:avLst/>
          </a:prstGeom>
          <a:noFill/>
          <a:ln>
            <a:noFill/>
          </a:ln>
        </p:spPr>
        <p:txBody>
          <a:bodyPr wrap="square" anchor="t" lIns="0" rIns="0" tIns="0" bIns="0"/>
          <a:lstStyle/>
          <a:p>
            <a:pPr algn="l"/>
            <a:r>
              <a:rPr lang="en-US" sz="1500" b="1" u="sng">
                <a:solidFill>
                  <a:srgbClr val="D71920"/>
                </a:solidFill>
                <a:latin typeface="Arial"/>
                <a:hlinkClick r:id="rId2"/>
              </a:rPr>
              <a:t>ADR-001</a:t>
            </a:r>
            <a:endParaRPr lang="en-US" sz="1500"/>
          </a:p>
        </p:txBody>
      </p:sp>
      <p:sp>
        <p:nvSpPr>
          <p:cNvPr id="5" name="Text 5"/>
          <p:cNvSpPr txBox="1"/>
          <p:nvPr/>
        </p:nvSpPr>
        <p:spPr>
          <a:xfrm>
            <a:off x="1714500" y="1562100"/>
            <a:ext cx="4381500" cy="514350"/>
          </a:xfrm>
          <a:prstGeom prst="rect">
            <a:avLst/>
          </a:prstGeom>
          <a:noFill/>
          <a:ln>
            <a:noFill/>
          </a:ln>
        </p:spPr>
        <p:txBody>
          <a:bodyPr wrap="square" anchor="t" lIns="0" rIns="0" tIns="0" bIns="0"/>
          <a:lstStyle/>
          <a:p>
            <a:pPr algn="l"/>
            <a:r>
              <a:rPr lang="en-US" sz="1600" b="1">
                <a:solidFill>
                  <a:srgbClr val="17212B"/>
                </a:solidFill>
                <a:latin typeface="Arial"/>
              </a:rPr>
              <a:t>Modular monolith and strict hexagonal boundaries</a:t>
            </a:r>
            <a:endParaRPr lang="en-US" sz="1600"/>
          </a:p>
        </p:txBody>
      </p:sp>
      <p:cxnSp>
        <p:nvCxnSpPr>
          <p:cNvPr id="6" name="Connector 6"/>
          <p:cNvCxnSpPr/>
          <p:nvPr/>
        </p:nvCxnSpPr>
        <p:spPr>
          <a:xfrm>
            <a:off x="571500" y="2190750"/>
            <a:ext cx="5219700" cy="0"/>
          </a:xfrm>
          <a:prstGeom prst="line">
            <a:avLst/>
          </a:prstGeom>
          <a:ln w="12700">
            <a:solidFill>
              <a:srgbClr val="D9DEE3"/>
            </a:solidFill>
          </a:ln>
        </p:spPr>
      </p:cxnSp>
      <p:sp>
        <p:nvSpPr>
          <p:cNvPr id="7" name="Text 7"/>
          <p:cNvSpPr txBox="1"/>
          <p:nvPr/>
        </p:nvSpPr>
        <p:spPr>
          <a:xfrm>
            <a:off x="571500" y="2419350"/>
            <a:ext cx="1066800" cy="304800"/>
          </a:xfrm>
          <a:prstGeom prst="rect">
            <a:avLst/>
          </a:prstGeom>
          <a:noFill/>
          <a:ln>
            <a:noFill/>
          </a:ln>
        </p:spPr>
        <p:txBody>
          <a:bodyPr wrap="square" anchor="t" lIns="0" rIns="0" tIns="0" bIns="0"/>
          <a:lstStyle/>
          <a:p>
            <a:pPr algn="l"/>
            <a:r>
              <a:rPr lang="en-US" sz="1500" b="1" u="sng">
                <a:solidFill>
                  <a:srgbClr val="D71920"/>
                </a:solidFill>
                <a:latin typeface="Arial"/>
                <a:hlinkClick r:id="rId3"/>
              </a:rPr>
              <a:t>ADR-002</a:t>
            </a:r>
            <a:endParaRPr lang="en-US" sz="1500"/>
          </a:p>
        </p:txBody>
      </p:sp>
      <p:sp>
        <p:nvSpPr>
          <p:cNvPr id="8" name="Text 8"/>
          <p:cNvSpPr txBox="1"/>
          <p:nvPr/>
        </p:nvSpPr>
        <p:spPr>
          <a:xfrm>
            <a:off x="1714500" y="2419350"/>
            <a:ext cx="4381500" cy="514350"/>
          </a:xfrm>
          <a:prstGeom prst="rect">
            <a:avLst/>
          </a:prstGeom>
          <a:noFill/>
          <a:ln>
            <a:noFill/>
          </a:ln>
        </p:spPr>
        <p:txBody>
          <a:bodyPr wrap="square" anchor="t" lIns="0" rIns="0" tIns="0" bIns="0"/>
          <a:lstStyle/>
          <a:p>
            <a:pPr algn="l"/>
            <a:r>
              <a:rPr lang="en-US" sz="1600" b="1">
                <a:solidFill>
                  <a:srgbClr val="17212B"/>
                </a:solidFill>
                <a:latin typeface="Arial"/>
              </a:rPr>
              <a:t>Provider-neutral analysis and trust boundary</a:t>
            </a:r>
            <a:endParaRPr lang="en-US" sz="1600"/>
          </a:p>
        </p:txBody>
      </p:sp>
      <p:cxnSp>
        <p:nvCxnSpPr>
          <p:cNvPr id="9" name="Connector 9"/>
          <p:cNvCxnSpPr/>
          <p:nvPr/>
        </p:nvCxnSpPr>
        <p:spPr>
          <a:xfrm>
            <a:off x="571500" y="3048000"/>
            <a:ext cx="5219700" cy="0"/>
          </a:xfrm>
          <a:prstGeom prst="line">
            <a:avLst/>
          </a:prstGeom>
          <a:ln w="12700">
            <a:solidFill>
              <a:srgbClr val="D9DEE3"/>
            </a:solidFill>
          </a:ln>
        </p:spPr>
      </p:cxnSp>
      <p:sp>
        <p:nvSpPr>
          <p:cNvPr id="10" name="Text 10"/>
          <p:cNvSpPr txBox="1"/>
          <p:nvPr/>
        </p:nvSpPr>
        <p:spPr>
          <a:xfrm>
            <a:off x="571500" y="3276600"/>
            <a:ext cx="1066800" cy="304800"/>
          </a:xfrm>
          <a:prstGeom prst="rect">
            <a:avLst/>
          </a:prstGeom>
          <a:noFill/>
          <a:ln>
            <a:noFill/>
          </a:ln>
        </p:spPr>
        <p:txBody>
          <a:bodyPr wrap="square" anchor="t" lIns="0" rIns="0" tIns="0" bIns="0"/>
          <a:lstStyle/>
          <a:p>
            <a:pPr algn="l"/>
            <a:r>
              <a:rPr lang="en-US" sz="1500" b="1" u="sng">
                <a:solidFill>
                  <a:srgbClr val="D71920"/>
                </a:solidFill>
                <a:latin typeface="Arial"/>
                <a:hlinkClick r:id="rId4"/>
              </a:rPr>
              <a:t>ADR-003</a:t>
            </a:r>
            <a:endParaRPr lang="en-US" sz="1500"/>
          </a:p>
        </p:txBody>
      </p:sp>
      <p:sp>
        <p:nvSpPr>
          <p:cNvPr id="11" name="Text 11"/>
          <p:cNvSpPr txBox="1"/>
          <p:nvPr/>
        </p:nvSpPr>
        <p:spPr>
          <a:xfrm>
            <a:off x="1714500" y="3276600"/>
            <a:ext cx="4381500" cy="514350"/>
          </a:xfrm>
          <a:prstGeom prst="rect">
            <a:avLst/>
          </a:prstGeom>
          <a:noFill/>
          <a:ln>
            <a:noFill/>
          </a:ln>
        </p:spPr>
        <p:txBody>
          <a:bodyPr wrap="square" anchor="t" lIns="0" rIns="0" tIns="0" bIns="0"/>
          <a:lstStyle/>
          <a:p>
            <a:pPr algn="l"/>
            <a:r>
              <a:rPr lang="en-US" sz="1600" b="1">
                <a:solidFill>
                  <a:srgbClr val="17212B"/>
                </a:solidFill>
                <a:latin typeface="Arial"/>
              </a:rPr>
              <a:t>PostgreSQL and pgvector as one persistent store</a:t>
            </a:r>
            <a:endParaRPr lang="en-US" sz="1600"/>
          </a:p>
        </p:txBody>
      </p:sp>
      <p:cxnSp>
        <p:nvCxnSpPr>
          <p:cNvPr id="12" name="Connector 12"/>
          <p:cNvCxnSpPr/>
          <p:nvPr/>
        </p:nvCxnSpPr>
        <p:spPr>
          <a:xfrm>
            <a:off x="571500" y="3905250"/>
            <a:ext cx="5219700" cy="0"/>
          </a:xfrm>
          <a:prstGeom prst="line">
            <a:avLst/>
          </a:prstGeom>
          <a:ln w="12700">
            <a:solidFill>
              <a:srgbClr val="D9DEE3"/>
            </a:solidFill>
          </a:ln>
        </p:spPr>
      </p:cxnSp>
      <p:sp>
        <p:nvSpPr>
          <p:cNvPr id="13" name="Text 13"/>
          <p:cNvSpPr txBox="1"/>
          <p:nvPr/>
        </p:nvSpPr>
        <p:spPr>
          <a:xfrm>
            <a:off x="571500" y="4133850"/>
            <a:ext cx="1066800" cy="304800"/>
          </a:xfrm>
          <a:prstGeom prst="rect">
            <a:avLst/>
          </a:prstGeom>
          <a:noFill/>
          <a:ln>
            <a:noFill/>
          </a:ln>
        </p:spPr>
        <p:txBody>
          <a:bodyPr wrap="square" anchor="t" lIns="0" rIns="0" tIns="0" bIns="0"/>
          <a:lstStyle/>
          <a:p>
            <a:pPr algn="l"/>
            <a:r>
              <a:rPr lang="en-US" sz="1500" b="1" u="sng">
                <a:solidFill>
                  <a:srgbClr val="D71920"/>
                </a:solidFill>
                <a:latin typeface="Arial"/>
                <a:hlinkClick r:id="rId5"/>
              </a:rPr>
              <a:t>ADR-004</a:t>
            </a:r>
            <a:endParaRPr lang="en-US" sz="1500"/>
          </a:p>
        </p:txBody>
      </p:sp>
      <p:sp>
        <p:nvSpPr>
          <p:cNvPr id="14" name="Text 14"/>
          <p:cNvSpPr txBox="1"/>
          <p:nvPr/>
        </p:nvSpPr>
        <p:spPr>
          <a:xfrm>
            <a:off x="1714500" y="4133850"/>
            <a:ext cx="4381500" cy="514350"/>
          </a:xfrm>
          <a:prstGeom prst="rect">
            <a:avLst/>
          </a:prstGeom>
          <a:noFill/>
          <a:ln>
            <a:noFill/>
          </a:ln>
        </p:spPr>
        <p:txBody>
          <a:bodyPr wrap="square" anchor="t" lIns="0" rIns="0" tIns="0" bIns="0"/>
          <a:lstStyle/>
          <a:p>
            <a:pPr algn="l"/>
            <a:r>
              <a:rPr lang="en-US" sz="1600" b="1">
                <a:solidFill>
                  <a:srgbClr val="17212B"/>
                </a:solidFill>
                <a:latin typeface="Arial"/>
              </a:rPr>
              <a:t>Preferred Java, Spring and React stack</a:t>
            </a:r>
            <a:endParaRPr lang="en-US" sz="1600"/>
          </a:p>
        </p:txBody>
      </p:sp>
      <p:cxnSp>
        <p:nvCxnSpPr>
          <p:cNvPr id="15" name="Connector 15"/>
          <p:cNvCxnSpPr/>
          <p:nvPr/>
        </p:nvCxnSpPr>
        <p:spPr>
          <a:xfrm>
            <a:off x="571500" y="4762500"/>
            <a:ext cx="5219700" cy="0"/>
          </a:xfrm>
          <a:prstGeom prst="line">
            <a:avLst/>
          </a:prstGeom>
          <a:ln w="12700">
            <a:solidFill>
              <a:srgbClr val="D9DEE3"/>
            </a:solidFill>
          </a:ln>
        </p:spPr>
      </p:cxnSp>
      <p:sp>
        <p:nvSpPr>
          <p:cNvPr id="16" name="Text 16"/>
          <p:cNvSpPr txBox="1"/>
          <p:nvPr/>
        </p:nvSpPr>
        <p:spPr>
          <a:xfrm>
            <a:off x="6286500" y="1562100"/>
            <a:ext cx="1066800" cy="304800"/>
          </a:xfrm>
          <a:prstGeom prst="rect">
            <a:avLst/>
          </a:prstGeom>
          <a:noFill/>
          <a:ln>
            <a:noFill/>
          </a:ln>
        </p:spPr>
        <p:txBody>
          <a:bodyPr wrap="square" anchor="t" lIns="0" rIns="0" tIns="0" bIns="0"/>
          <a:lstStyle/>
          <a:p>
            <a:pPr algn="l"/>
            <a:r>
              <a:rPr lang="en-US" sz="1500" b="1" u="sng">
                <a:solidFill>
                  <a:srgbClr val="D71920"/>
                </a:solidFill>
                <a:latin typeface="Arial"/>
                <a:hlinkClick r:id="rId6"/>
              </a:rPr>
              <a:t>ADR-005</a:t>
            </a:r>
            <a:endParaRPr lang="en-US" sz="1500"/>
          </a:p>
        </p:txBody>
      </p:sp>
      <p:sp>
        <p:nvSpPr>
          <p:cNvPr id="17" name="Text 17"/>
          <p:cNvSpPr txBox="1"/>
          <p:nvPr/>
        </p:nvSpPr>
        <p:spPr>
          <a:xfrm>
            <a:off x="7429500" y="1562100"/>
            <a:ext cx="4381500" cy="514350"/>
          </a:xfrm>
          <a:prstGeom prst="rect">
            <a:avLst/>
          </a:prstGeom>
          <a:noFill/>
          <a:ln>
            <a:noFill/>
          </a:ln>
        </p:spPr>
        <p:txBody>
          <a:bodyPr wrap="square" anchor="t" lIns="0" rIns="0" tIns="0" bIns="0"/>
          <a:lstStyle/>
          <a:p>
            <a:pPr algn="l"/>
            <a:r>
              <a:rPr lang="en-US" sz="1600" b="1">
                <a:solidFill>
                  <a:srgbClr val="17212B"/>
                </a:solidFill>
                <a:latin typeface="Arial"/>
              </a:rPr>
              <a:t>One prebuilt application image per checkpoint</a:t>
            </a:r>
            <a:endParaRPr lang="en-US" sz="1600"/>
          </a:p>
        </p:txBody>
      </p:sp>
      <p:cxnSp>
        <p:nvCxnSpPr>
          <p:cNvPr id="18" name="Connector 18"/>
          <p:cNvCxnSpPr/>
          <p:nvPr/>
        </p:nvCxnSpPr>
        <p:spPr>
          <a:xfrm>
            <a:off x="6286500" y="2190750"/>
            <a:ext cx="5219700" cy="0"/>
          </a:xfrm>
          <a:prstGeom prst="line">
            <a:avLst/>
          </a:prstGeom>
          <a:ln w="12700">
            <a:solidFill>
              <a:srgbClr val="D9DEE3"/>
            </a:solidFill>
          </a:ln>
        </p:spPr>
      </p:cxnSp>
      <p:sp>
        <p:nvSpPr>
          <p:cNvPr id="19" name="Text 19"/>
          <p:cNvSpPr txBox="1"/>
          <p:nvPr/>
        </p:nvSpPr>
        <p:spPr>
          <a:xfrm>
            <a:off x="6286500" y="2419350"/>
            <a:ext cx="1066800" cy="304800"/>
          </a:xfrm>
          <a:prstGeom prst="rect">
            <a:avLst/>
          </a:prstGeom>
          <a:noFill/>
          <a:ln>
            <a:noFill/>
          </a:ln>
        </p:spPr>
        <p:txBody>
          <a:bodyPr wrap="square" anchor="t" lIns="0" rIns="0" tIns="0" bIns="0"/>
          <a:lstStyle/>
          <a:p>
            <a:pPr algn="l"/>
            <a:r>
              <a:rPr lang="en-US" sz="1500" b="1" u="sng">
                <a:solidFill>
                  <a:srgbClr val="D71920"/>
                </a:solidFill>
                <a:latin typeface="Arial"/>
                <a:hlinkClick r:id="rId7"/>
              </a:rPr>
              <a:t>ADR-006</a:t>
            </a:r>
            <a:endParaRPr lang="en-US" sz="1500"/>
          </a:p>
        </p:txBody>
      </p:sp>
      <p:sp>
        <p:nvSpPr>
          <p:cNvPr id="20" name="Text 20"/>
          <p:cNvSpPr txBox="1"/>
          <p:nvPr/>
        </p:nvSpPr>
        <p:spPr>
          <a:xfrm>
            <a:off x="7429500" y="2419350"/>
            <a:ext cx="4381500" cy="514350"/>
          </a:xfrm>
          <a:prstGeom prst="rect">
            <a:avLst/>
          </a:prstGeom>
          <a:noFill/>
          <a:ln>
            <a:noFill/>
          </a:ln>
        </p:spPr>
        <p:txBody>
          <a:bodyPr wrap="square" anchor="t" lIns="0" rIns="0" tIns="0" bIns="0"/>
          <a:lstStyle/>
          <a:p>
            <a:pPr algn="l"/>
            <a:r>
              <a:rPr lang="en-US" sz="1600" b="1">
                <a:solidFill>
                  <a:srgbClr val="17212B"/>
                </a:solidFill>
                <a:latin typeface="Arial"/>
              </a:rPr>
              <a:t>Compose OCI and multi-platform distribution</a:t>
            </a:r>
            <a:endParaRPr lang="en-US" sz="1600"/>
          </a:p>
        </p:txBody>
      </p:sp>
      <p:cxnSp>
        <p:nvCxnSpPr>
          <p:cNvPr id="21" name="Connector 21"/>
          <p:cNvCxnSpPr/>
          <p:nvPr/>
        </p:nvCxnSpPr>
        <p:spPr>
          <a:xfrm>
            <a:off x="6286500" y="3048000"/>
            <a:ext cx="5219700" cy="0"/>
          </a:xfrm>
          <a:prstGeom prst="line">
            <a:avLst/>
          </a:prstGeom>
          <a:ln w="12700">
            <a:solidFill>
              <a:srgbClr val="D9DEE3"/>
            </a:solidFill>
          </a:ln>
        </p:spPr>
      </p:cxnSp>
      <p:sp>
        <p:nvSpPr>
          <p:cNvPr id="22" name="Text 22"/>
          <p:cNvSpPr txBox="1"/>
          <p:nvPr/>
        </p:nvSpPr>
        <p:spPr>
          <a:xfrm>
            <a:off x="6286500" y="3276600"/>
            <a:ext cx="1066800" cy="304800"/>
          </a:xfrm>
          <a:prstGeom prst="rect">
            <a:avLst/>
          </a:prstGeom>
          <a:noFill/>
          <a:ln>
            <a:noFill/>
          </a:ln>
        </p:spPr>
        <p:txBody>
          <a:bodyPr wrap="square" anchor="t" lIns="0" rIns="0" tIns="0" bIns="0"/>
          <a:lstStyle/>
          <a:p>
            <a:pPr algn="l"/>
            <a:r>
              <a:rPr lang="en-US" sz="1500" b="1" u="sng">
                <a:solidFill>
                  <a:srgbClr val="D71920"/>
                </a:solidFill>
                <a:latin typeface="Arial"/>
                <a:hlinkClick r:id="rId8"/>
              </a:rPr>
              <a:t>ADR-007</a:t>
            </a:r>
            <a:endParaRPr lang="en-US" sz="1500"/>
          </a:p>
        </p:txBody>
      </p:sp>
      <p:sp>
        <p:nvSpPr>
          <p:cNvPr id="23" name="Text 23"/>
          <p:cNvSpPr txBox="1"/>
          <p:nvPr/>
        </p:nvSpPr>
        <p:spPr>
          <a:xfrm>
            <a:off x="7429500" y="3276600"/>
            <a:ext cx="4381500" cy="514350"/>
          </a:xfrm>
          <a:prstGeom prst="rect">
            <a:avLst/>
          </a:prstGeom>
          <a:noFill/>
          <a:ln>
            <a:noFill/>
          </a:ln>
        </p:spPr>
        <p:txBody>
          <a:bodyPr wrap="square" anchor="t" lIns="0" rIns="0" tIns="0" bIns="0"/>
          <a:lstStyle/>
          <a:p>
            <a:pPr algn="l"/>
            <a:r>
              <a:rPr lang="en-US" sz="1600" b="1">
                <a:solidFill>
                  <a:srgbClr val="17212B"/>
                </a:solidFill>
                <a:latin typeface="Arial"/>
              </a:rPr>
              <a:t>Explicit relational adapters with Spring JDBC</a:t>
            </a:r>
            <a:endParaRPr lang="en-US" sz="1600"/>
          </a:p>
        </p:txBody>
      </p:sp>
      <p:cxnSp>
        <p:nvCxnSpPr>
          <p:cNvPr id="24" name="Connector 24"/>
          <p:cNvCxnSpPr/>
          <p:nvPr/>
        </p:nvCxnSpPr>
        <p:spPr>
          <a:xfrm>
            <a:off x="6286500" y="3905250"/>
            <a:ext cx="5219700" cy="0"/>
          </a:xfrm>
          <a:prstGeom prst="line">
            <a:avLst/>
          </a:prstGeom>
          <a:ln w="12700">
            <a:solidFill>
              <a:srgbClr val="D9DEE3"/>
            </a:solidFill>
          </a:ln>
        </p:spPr>
      </p:cxnSp>
      <p:sp>
        <p:nvSpPr>
          <p:cNvPr id="25" name="Text 25"/>
          <p:cNvSpPr txBox="1"/>
          <p:nvPr/>
        </p:nvSpPr>
        <p:spPr>
          <a:xfrm>
            <a:off x="6286500" y="4133850"/>
            <a:ext cx="1066800" cy="304800"/>
          </a:xfrm>
          <a:prstGeom prst="rect">
            <a:avLst/>
          </a:prstGeom>
          <a:noFill/>
          <a:ln>
            <a:noFill/>
          </a:ln>
        </p:spPr>
        <p:txBody>
          <a:bodyPr wrap="square" anchor="t" lIns="0" rIns="0" tIns="0" bIns="0"/>
          <a:lstStyle/>
          <a:p>
            <a:pPr algn="l"/>
            <a:r>
              <a:rPr lang="en-US" sz="1500" b="1" u="sng">
                <a:solidFill>
                  <a:srgbClr val="D71920"/>
                </a:solidFill>
                <a:latin typeface="Arial"/>
                <a:hlinkClick r:id="rId9"/>
              </a:rPr>
              <a:t>ADR-008</a:t>
            </a:r>
            <a:endParaRPr lang="en-US" sz="1500"/>
          </a:p>
        </p:txBody>
      </p:sp>
      <p:sp>
        <p:nvSpPr>
          <p:cNvPr id="26" name="Text 26"/>
          <p:cNvSpPr txBox="1"/>
          <p:nvPr/>
        </p:nvSpPr>
        <p:spPr>
          <a:xfrm>
            <a:off x="7429500" y="4133850"/>
            <a:ext cx="4381500" cy="514350"/>
          </a:xfrm>
          <a:prstGeom prst="rect">
            <a:avLst/>
          </a:prstGeom>
          <a:noFill/>
          <a:ln>
            <a:noFill/>
          </a:ln>
        </p:spPr>
        <p:txBody>
          <a:bodyPr wrap="square" anchor="t" lIns="0" rIns="0" tIns="0" bIns="0"/>
          <a:lstStyle/>
          <a:p>
            <a:pPr algn="l"/>
            <a:r>
              <a:rPr lang="en-US" sz="1600" b="1">
                <a:solidFill>
                  <a:srgbClr val="17212B"/>
                </a:solidFill>
                <a:latin typeface="Arial"/>
              </a:rPr>
              <a:t>Customer Activity Analytics product identity</a:t>
            </a:r>
            <a:endParaRPr lang="en-US" sz="1600"/>
          </a:p>
        </p:txBody>
      </p:sp>
      <p:cxnSp>
        <p:nvCxnSpPr>
          <p:cNvPr id="27" name="Connector 27"/>
          <p:cNvCxnSpPr/>
          <p:nvPr/>
        </p:nvCxnSpPr>
        <p:spPr>
          <a:xfrm>
            <a:off x="6286500" y="4762500"/>
            <a:ext cx="5219700" cy="0"/>
          </a:xfrm>
          <a:prstGeom prst="line">
            <a:avLst/>
          </a:prstGeom>
          <a:ln w="12700">
            <a:solidFill>
              <a:srgbClr val="D9DEE3"/>
            </a:solidFill>
          </a:ln>
        </p:spPr>
      </p:cxnSp>
      <p:sp>
        <p:nvSpPr>
          <p:cNvPr id="28" name="Shape 28"/>
          <p:cNvSpPr/>
          <p:nvPr/>
        </p:nvSpPr>
        <p:spPr>
          <a:xfrm>
            <a:off x="876300" y="5219700"/>
            <a:ext cx="10439400" cy="723900"/>
          </a:xfrm>
          <a:prstGeom prst="roundRect">
            <a:avLst/>
          </a:prstGeom>
          <a:solidFill>
            <a:srgbClr val="F4F6F8"/>
          </a:solidFill>
          <a:ln w="12700">
            <a:solidFill>
              <a:srgbClr val="D9DEE3"/>
            </a:solidFill>
          </a:ln>
        </p:spPr>
      </p:sp>
      <p:sp>
        <p:nvSpPr>
          <p:cNvPr id="29" name="Text 29"/>
          <p:cNvSpPr txBox="1"/>
          <p:nvPr/>
        </p:nvSpPr>
        <p:spPr>
          <a:xfrm>
            <a:off x="1066800" y="5353050"/>
            <a:ext cx="10058400" cy="438150"/>
          </a:xfrm>
          <a:prstGeom prst="rect">
            <a:avLst/>
          </a:prstGeom>
          <a:noFill/>
          <a:ln>
            <a:noFill/>
          </a:ln>
        </p:spPr>
        <p:txBody>
          <a:bodyPr wrap="square" anchor="ctr" lIns="0" rIns="0" tIns="0" bIns="0"/>
          <a:lstStyle/>
          <a:p>
            <a:pPr algn="ctr"/>
            <a:r>
              <a:rPr lang="en-US" sz="1300" b="1" u="sng">
                <a:solidFill>
                  <a:srgbClr val="2A5B84"/>
                </a:solidFill>
                <a:latin typeface="Arial"/>
                <a:hlinkClick r:id="rId10"/>
              </a:rPr>
              <a:t>https://github.com/jdoe-dev-159753/specgraph-reference-app/tree/main/docs/assignment/ADR</a:t>
            </a:r>
            <a:endParaRPr lang="en-US" sz="1300"/>
          </a:p>
        </p:txBody>
      </p:sp>
      <p:cxnSp>
        <p:nvCxnSpPr>
          <p:cNvPr id="30" name="Connector 30"/>
          <p:cNvCxnSpPr/>
          <p:nvPr/>
        </p:nvCxnSpPr>
        <p:spPr>
          <a:xfrm>
            <a:off x="552450" y="6419850"/>
            <a:ext cx="11087100" cy="0"/>
          </a:xfrm>
          <a:prstGeom prst="line">
            <a:avLst/>
          </a:prstGeom>
          <a:ln w="12700">
            <a:solidFill>
              <a:srgbClr val="BFC5CB"/>
            </a:solidFill>
          </a:ln>
        </p:spPr>
      </p:cxnSp>
      <p:sp>
        <p:nvSpPr>
          <p:cNvPr id="31" name="Text 31"/>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TECHNICAL APPENDIX</a:t>
            </a:r>
            <a:endParaRPr lang="en-US" sz="1000"/>
          </a:p>
        </p:txBody>
      </p:sp>
      <p:sp>
        <p:nvSpPr>
          <p:cNvPr id="32" name="Text 32"/>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B</a:t>
            </a:r>
            <a:endParaRPr lang="en-US"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APPENDIX C · BETA-BINOMIAL DETECTOR</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Three elevated observations shift the posterior toward higher review rates</a:t>
            </a:r>
            <a:endParaRPr lang="en-US" sz="3000"/>
          </a:p>
        </p:txBody>
      </p:sp>
      <p:sp>
        <p:nvSpPr>
          <p:cNvPr id="4" name="Text 4"/>
          <p:cNvSpPr txBox="1"/>
          <p:nvPr/>
        </p:nvSpPr>
        <p:spPr>
          <a:xfrm>
            <a:off x="704850" y="1409700"/>
            <a:ext cx="4762500" cy="228600"/>
          </a:xfrm>
          <a:prstGeom prst="rect">
            <a:avLst/>
          </a:prstGeom>
          <a:noFill/>
          <a:ln>
            <a:noFill/>
          </a:ln>
        </p:spPr>
        <p:txBody>
          <a:bodyPr wrap="square" anchor="t" lIns="0" rIns="0" tIns="0" bIns="0"/>
          <a:lstStyle/>
          <a:p>
            <a:pPr algn="l"/>
            <a:r>
              <a:rPr lang="en-US" sz="1300" b="1">
                <a:solidFill>
                  <a:srgbClr val="17212B"/>
                </a:solidFill>
                <a:latin typeface="Arial"/>
              </a:rPr>
              <a:t>Illustrative test case: 3 elevated observations out of 4</a:t>
            </a:r>
            <a:endParaRPr lang="en-US" sz="1300"/>
          </a:p>
        </p:txBody>
      </p:sp>
      <p:sp>
        <p:nvSpPr>
          <p:cNvPr id="5" name="Text 5"/>
          <p:cNvSpPr txBox="1"/>
          <p:nvPr/>
        </p:nvSpPr>
        <p:spPr>
          <a:xfrm>
            <a:off x="6896100" y="1409700"/>
            <a:ext cx="4591050" cy="228600"/>
          </a:xfrm>
          <a:prstGeom prst="rect">
            <a:avLst/>
          </a:prstGeom>
          <a:noFill/>
          <a:ln>
            <a:noFill/>
          </a:ln>
        </p:spPr>
        <p:txBody>
          <a:bodyPr wrap="square" anchor="t" lIns="0" rIns="0" tIns="0" bIns="0"/>
          <a:lstStyle/>
          <a:p>
            <a:pPr algn="r"/>
            <a:r>
              <a:rPr lang="en-US" sz="1300" b="1">
                <a:solidFill>
                  <a:srgbClr val="981B1E"/>
                </a:solidFill>
                <a:latin typeface="Arial"/>
              </a:rPr>
              <a:t>Beta(1, 4) updated to Beta(4, 5)</a:t>
            </a:r>
            <a:endParaRPr lang="en-US" sz="1300"/>
          </a:p>
        </p:txBody>
      </p:sp>
      <p:cxnSp>
        <p:nvCxnSpPr>
          <p:cNvPr id="6" name="Connector 6"/>
          <p:cNvCxnSpPr/>
          <p:nvPr/>
        </p:nvCxnSpPr>
        <p:spPr>
          <a:xfrm>
            <a:off x="1181100" y="4056743"/>
            <a:ext cx="10210800" cy="0"/>
          </a:xfrm>
          <a:prstGeom prst="line">
            <a:avLst/>
          </a:prstGeom>
          <a:ln w="12700">
            <a:solidFill>
              <a:srgbClr val="E8EBEE"/>
            </a:solidFill>
          </a:ln>
        </p:spPr>
      </p:cxnSp>
      <p:sp>
        <p:nvSpPr>
          <p:cNvPr id="7" name="Text 7"/>
          <p:cNvSpPr txBox="1"/>
          <p:nvPr/>
        </p:nvSpPr>
        <p:spPr>
          <a:xfrm>
            <a:off x="819150" y="3980543"/>
            <a:ext cx="285750" cy="171450"/>
          </a:xfrm>
          <a:prstGeom prst="rect">
            <a:avLst/>
          </a:prstGeom>
          <a:noFill/>
          <a:ln>
            <a:noFill/>
          </a:ln>
        </p:spPr>
        <p:txBody>
          <a:bodyPr wrap="square" anchor="t" lIns="0" rIns="0" tIns="0" bIns="0"/>
          <a:lstStyle/>
          <a:p>
            <a:pPr algn="r"/>
            <a:r>
              <a:rPr lang="en-US" sz="1000" b="0">
                <a:solidFill>
                  <a:srgbClr val="5D6873"/>
                </a:solidFill>
                <a:latin typeface="Arial"/>
              </a:rPr>
              <a:t>1</a:t>
            </a:r>
            <a:endParaRPr lang="en-US" sz="1000"/>
          </a:p>
        </p:txBody>
      </p:sp>
      <p:cxnSp>
        <p:nvCxnSpPr>
          <p:cNvPr id="8" name="Connector 8"/>
          <p:cNvCxnSpPr/>
          <p:nvPr/>
        </p:nvCxnSpPr>
        <p:spPr>
          <a:xfrm>
            <a:off x="1181100" y="3408136"/>
            <a:ext cx="10210800" cy="0"/>
          </a:xfrm>
          <a:prstGeom prst="line">
            <a:avLst/>
          </a:prstGeom>
          <a:ln w="12700">
            <a:solidFill>
              <a:srgbClr val="E8EBEE"/>
            </a:solidFill>
          </a:ln>
        </p:spPr>
      </p:cxnSp>
      <p:sp>
        <p:nvSpPr>
          <p:cNvPr id="9" name="Text 9"/>
          <p:cNvSpPr txBox="1"/>
          <p:nvPr/>
        </p:nvSpPr>
        <p:spPr>
          <a:xfrm>
            <a:off x="819150" y="3331936"/>
            <a:ext cx="285750" cy="171450"/>
          </a:xfrm>
          <a:prstGeom prst="rect">
            <a:avLst/>
          </a:prstGeom>
          <a:noFill/>
          <a:ln>
            <a:noFill/>
          </a:ln>
        </p:spPr>
        <p:txBody>
          <a:bodyPr wrap="square" anchor="t" lIns="0" rIns="0" tIns="0" bIns="0"/>
          <a:lstStyle/>
          <a:p>
            <a:pPr algn="r"/>
            <a:r>
              <a:rPr lang="en-US" sz="1000" b="0">
                <a:solidFill>
                  <a:srgbClr val="5D6873"/>
                </a:solidFill>
                <a:latin typeface="Arial"/>
              </a:rPr>
              <a:t>2</a:t>
            </a:r>
            <a:endParaRPr lang="en-US" sz="1000"/>
          </a:p>
        </p:txBody>
      </p:sp>
      <p:cxnSp>
        <p:nvCxnSpPr>
          <p:cNvPr id="10" name="Connector 10"/>
          <p:cNvCxnSpPr/>
          <p:nvPr/>
        </p:nvCxnSpPr>
        <p:spPr>
          <a:xfrm>
            <a:off x="1181100" y="2759529"/>
            <a:ext cx="10210800" cy="0"/>
          </a:xfrm>
          <a:prstGeom prst="line">
            <a:avLst/>
          </a:prstGeom>
          <a:ln w="12700">
            <a:solidFill>
              <a:srgbClr val="E8EBEE"/>
            </a:solidFill>
          </a:ln>
        </p:spPr>
      </p:cxnSp>
      <p:sp>
        <p:nvSpPr>
          <p:cNvPr id="11" name="Text 11"/>
          <p:cNvSpPr txBox="1"/>
          <p:nvPr/>
        </p:nvSpPr>
        <p:spPr>
          <a:xfrm>
            <a:off x="819150" y="2683329"/>
            <a:ext cx="285750" cy="171450"/>
          </a:xfrm>
          <a:prstGeom prst="rect">
            <a:avLst/>
          </a:prstGeom>
          <a:noFill/>
          <a:ln>
            <a:noFill/>
          </a:ln>
        </p:spPr>
        <p:txBody>
          <a:bodyPr wrap="square" anchor="t" lIns="0" rIns="0" tIns="0" bIns="0"/>
          <a:lstStyle/>
          <a:p>
            <a:pPr algn="r"/>
            <a:r>
              <a:rPr lang="en-US" sz="1000" b="0">
                <a:solidFill>
                  <a:srgbClr val="5D6873"/>
                </a:solidFill>
                <a:latin typeface="Arial"/>
              </a:rPr>
              <a:t>3</a:t>
            </a:r>
            <a:endParaRPr lang="en-US" sz="1000"/>
          </a:p>
        </p:txBody>
      </p:sp>
      <p:cxnSp>
        <p:nvCxnSpPr>
          <p:cNvPr id="12" name="Connector 12"/>
          <p:cNvCxnSpPr/>
          <p:nvPr/>
        </p:nvCxnSpPr>
        <p:spPr>
          <a:xfrm>
            <a:off x="1181100" y="2110921"/>
            <a:ext cx="10210800" cy="0"/>
          </a:xfrm>
          <a:prstGeom prst="line">
            <a:avLst/>
          </a:prstGeom>
          <a:ln w="12700">
            <a:solidFill>
              <a:srgbClr val="E8EBEE"/>
            </a:solidFill>
          </a:ln>
        </p:spPr>
      </p:cxnSp>
      <p:sp>
        <p:nvSpPr>
          <p:cNvPr id="13" name="Text 13"/>
          <p:cNvSpPr txBox="1"/>
          <p:nvPr/>
        </p:nvSpPr>
        <p:spPr>
          <a:xfrm>
            <a:off x="819150" y="2034721"/>
            <a:ext cx="285750" cy="171450"/>
          </a:xfrm>
          <a:prstGeom prst="rect">
            <a:avLst/>
          </a:prstGeom>
          <a:noFill/>
          <a:ln>
            <a:noFill/>
          </a:ln>
        </p:spPr>
        <p:txBody>
          <a:bodyPr wrap="square" anchor="t" lIns="0" rIns="0" tIns="0" bIns="0"/>
          <a:lstStyle/>
          <a:p>
            <a:pPr algn="r"/>
            <a:r>
              <a:rPr lang="en-US" sz="1000" b="0">
                <a:solidFill>
                  <a:srgbClr val="5D6873"/>
                </a:solidFill>
                <a:latin typeface="Arial"/>
              </a:rPr>
              <a:t>4</a:t>
            </a:r>
            <a:endParaRPr lang="en-US" sz="1000"/>
          </a:p>
        </p:txBody>
      </p:sp>
      <p:cxnSp>
        <p:nvCxnSpPr>
          <p:cNvPr id="14" name="Connector 14"/>
          <p:cNvCxnSpPr/>
          <p:nvPr/>
        </p:nvCxnSpPr>
        <p:spPr>
          <a:xfrm>
            <a:off x="5265420" y="3199004"/>
            <a:ext cx="0" cy="1506346"/>
          </a:xfrm>
          <a:prstGeom prst="line">
            <a:avLst/>
          </a:prstGeom>
          <a:ln w="88900">
            <a:solidFill>
              <a:srgbClr val="FCEBEC"/>
            </a:solidFill>
          </a:ln>
        </p:spPr>
      </p:cxnSp>
      <p:cxnSp>
        <p:nvCxnSpPr>
          <p:cNvPr id="15" name="Connector 15"/>
          <p:cNvCxnSpPr/>
          <p:nvPr/>
        </p:nvCxnSpPr>
        <p:spPr>
          <a:xfrm>
            <a:off x="5469636" y="3182702"/>
            <a:ext cx="0" cy="1522648"/>
          </a:xfrm>
          <a:prstGeom prst="line">
            <a:avLst/>
          </a:prstGeom>
          <a:ln w="88900">
            <a:solidFill>
              <a:srgbClr val="FCEBEC"/>
            </a:solidFill>
          </a:ln>
        </p:spPr>
      </p:cxnSp>
      <p:cxnSp>
        <p:nvCxnSpPr>
          <p:cNvPr id="16" name="Connector 16"/>
          <p:cNvCxnSpPr/>
          <p:nvPr/>
        </p:nvCxnSpPr>
        <p:spPr>
          <a:xfrm>
            <a:off x="5673852" y="3183927"/>
            <a:ext cx="0" cy="1521423"/>
          </a:xfrm>
          <a:prstGeom prst="line">
            <a:avLst/>
          </a:prstGeom>
          <a:ln w="88900">
            <a:solidFill>
              <a:srgbClr val="FCEBEC"/>
            </a:solidFill>
          </a:ln>
        </p:spPr>
      </p:cxnSp>
      <p:cxnSp>
        <p:nvCxnSpPr>
          <p:cNvPr id="17" name="Connector 17"/>
          <p:cNvCxnSpPr/>
          <p:nvPr/>
        </p:nvCxnSpPr>
        <p:spPr>
          <a:xfrm>
            <a:off x="5878068" y="3202249"/>
            <a:ext cx="0" cy="1503101"/>
          </a:xfrm>
          <a:prstGeom prst="line">
            <a:avLst/>
          </a:prstGeom>
          <a:ln w="88900">
            <a:solidFill>
              <a:srgbClr val="FCEBEC"/>
            </a:solidFill>
          </a:ln>
        </p:spPr>
      </p:cxnSp>
      <p:cxnSp>
        <p:nvCxnSpPr>
          <p:cNvPr id="18" name="Connector 18"/>
          <p:cNvCxnSpPr/>
          <p:nvPr/>
        </p:nvCxnSpPr>
        <p:spPr>
          <a:xfrm>
            <a:off x="6082284" y="3236840"/>
            <a:ext cx="0" cy="1468510"/>
          </a:xfrm>
          <a:prstGeom prst="line">
            <a:avLst/>
          </a:prstGeom>
          <a:ln w="88900">
            <a:solidFill>
              <a:srgbClr val="FCEBEC"/>
            </a:solidFill>
          </a:ln>
        </p:spPr>
      </p:cxnSp>
      <p:cxnSp>
        <p:nvCxnSpPr>
          <p:cNvPr id="19" name="Connector 19"/>
          <p:cNvCxnSpPr/>
          <p:nvPr/>
        </p:nvCxnSpPr>
        <p:spPr>
          <a:xfrm>
            <a:off x="6286500" y="3286522"/>
            <a:ext cx="0" cy="1418828"/>
          </a:xfrm>
          <a:prstGeom prst="line">
            <a:avLst/>
          </a:prstGeom>
          <a:ln w="88900">
            <a:solidFill>
              <a:srgbClr val="FCEBEC"/>
            </a:solidFill>
          </a:ln>
        </p:spPr>
      </p:cxnSp>
      <p:cxnSp>
        <p:nvCxnSpPr>
          <p:cNvPr id="20" name="Connector 20"/>
          <p:cNvCxnSpPr/>
          <p:nvPr/>
        </p:nvCxnSpPr>
        <p:spPr>
          <a:xfrm>
            <a:off x="6490716" y="3349803"/>
            <a:ext cx="0" cy="1355547"/>
          </a:xfrm>
          <a:prstGeom prst="line">
            <a:avLst/>
          </a:prstGeom>
          <a:ln w="88900">
            <a:solidFill>
              <a:srgbClr val="FCEBEC"/>
            </a:solidFill>
          </a:ln>
        </p:spPr>
      </p:cxnSp>
      <p:cxnSp>
        <p:nvCxnSpPr>
          <p:cNvPr id="21" name="Connector 21"/>
          <p:cNvCxnSpPr/>
          <p:nvPr/>
        </p:nvCxnSpPr>
        <p:spPr>
          <a:xfrm>
            <a:off x="6694932" y="3424930"/>
            <a:ext cx="0" cy="1280420"/>
          </a:xfrm>
          <a:prstGeom prst="line">
            <a:avLst/>
          </a:prstGeom>
          <a:ln w="88900">
            <a:solidFill>
              <a:srgbClr val="FCEBEC"/>
            </a:solidFill>
          </a:ln>
        </p:spPr>
      </p:cxnSp>
      <p:cxnSp>
        <p:nvCxnSpPr>
          <p:cNvPr id="22" name="Connector 22"/>
          <p:cNvCxnSpPr/>
          <p:nvPr/>
        </p:nvCxnSpPr>
        <p:spPr>
          <a:xfrm>
            <a:off x="6899148" y="3509946"/>
            <a:ext cx="0" cy="1195404"/>
          </a:xfrm>
          <a:prstGeom prst="line">
            <a:avLst/>
          </a:prstGeom>
          <a:ln w="88900">
            <a:solidFill>
              <a:srgbClr val="FCEBEC"/>
            </a:solidFill>
          </a:ln>
        </p:spPr>
      </p:cxnSp>
      <p:cxnSp>
        <p:nvCxnSpPr>
          <p:cNvPr id="23" name="Connector 23"/>
          <p:cNvCxnSpPr/>
          <p:nvPr/>
        </p:nvCxnSpPr>
        <p:spPr>
          <a:xfrm>
            <a:off x="7103364" y="3602743"/>
            <a:ext cx="0" cy="1102607"/>
          </a:xfrm>
          <a:prstGeom prst="line">
            <a:avLst/>
          </a:prstGeom>
          <a:ln w="88900">
            <a:solidFill>
              <a:srgbClr val="FCEBEC"/>
            </a:solidFill>
          </a:ln>
        </p:spPr>
      </p:cxnSp>
      <p:cxnSp>
        <p:nvCxnSpPr>
          <p:cNvPr id="24" name="Connector 24"/>
          <p:cNvCxnSpPr/>
          <p:nvPr/>
        </p:nvCxnSpPr>
        <p:spPr>
          <a:xfrm>
            <a:off x="7307580" y="3701119"/>
            <a:ext cx="0" cy="1004231"/>
          </a:xfrm>
          <a:prstGeom prst="line">
            <a:avLst/>
          </a:prstGeom>
          <a:ln w="88900">
            <a:solidFill>
              <a:srgbClr val="FCEBEC"/>
            </a:solidFill>
          </a:ln>
        </p:spPr>
      </p:cxnSp>
      <p:cxnSp>
        <p:nvCxnSpPr>
          <p:cNvPr id="25" name="Connector 25"/>
          <p:cNvCxnSpPr/>
          <p:nvPr/>
        </p:nvCxnSpPr>
        <p:spPr>
          <a:xfrm>
            <a:off x="7511796" y="3802846"/>
            <a:ext cx="0" cy="902504"/>
          </a:xfrm>
          <a:prstGeom prst="line">
            <a:avLst/>
          </a:prstGeom>
          <a:ln w="88900">
            <a:solidFill>
              <a:srgbClr val="FCEBEC"/>
            </a:solidFill>
          </a:ln>
        </p:spPr>
      </p:cxnSp>
      <p:cxnSp>
        <p:nvCxnSpPr>
          <p:cNvPr id="26" name="Connector 26"/>
          <p:cNvCxnSpPr/>
          <p:nvPr/>
        </p:nvCxnSpPr>
        <p:spPr>
          <a:xfrm>
            <a:off x="7716012" y="3905719"/>
            <a:ext cx="0" cy="799631"/>
          </a:xfrm>
          <a:prstGeom prst="line">
            <a:avLst/>
          </a:prstGeom>
          <a:ln w="88900">
            <a:solidFill>
              <a:srgbClr val="FCEBEC"/>
            </a:solidFill>
          </a:ln>
        </p:spPr>
      </p:cxnSp>
      <p:cxnSp>
        <p:nvCxnSpPr>
          <p:cNvPr id="27" name="Connector 27"/>
          <p:cNvCxnSpPr/>
          <p:nvPr/>
        </p:nvCxnSpPr>
        <p:spPr>
          <a:xfrm>
            <a:off x="7920228" y="4007620"/>
            <a:ext cx="0" cy="697730"/>
          </a:xfrm>
          <a:prstGeom prst="line">
            <a:avLst/>
          </a:prstGeom>
          <a:ln w="88900">
            <a:solidFill>
              <a:srgbClr val="FCEBEC"/>
            </a:solidFill>
          </a:ln>
        </p:spPr>
      </p:cxnSp>
      <p:cxnSp>
        <p:nvCxnSpPr>
          <p:cNvPr id="28" name="Connector 28"/>
          <p:cNvCxnSpPr/>
          <p:nvPr/>
        </p:nvCxnSpPr>
        <p:spPr>
          <a:xfrm>
            <a:off x="8124444" y="4106571"/>
            <a:ext cx="0" cy="598779"/>
          </a:xfrm>
          <a:prstGeom prst="line">
            <a:avLst/>
          </a:prstGeom>
          <a:ln w="88900">
            <a:solidFill>
              <a:srgbClr val="FCEBEC"/>
            </a:solidFill>
          </a:ln>
        </p:spPr>
      </p:cxnSp>
      <p:cxnSp>
        <p:nvCxnSpPr>
          <p:cNvPr id="29" name="Connector 29"/>
          <p:cNvCxnSpPr/>
          <p:nvPr/>
        </p:nvCxnSpPr>
        <p:spPr>
          <a:xfrm>
            <a:off x="8328660" y="4200783"/>
            <a:ext cx="0" cy="504567"/>
          </a:xfrm>
          <a:prstGeom prst="line">
            <a:avLst/>
          </a:prstGeom>
          <a:ln w="88900">
            <a:solidFill>
              <a:srgbClr val="FCEBEC"/>
            </a:solidFill>
          </a:ln>
        </p:spPr>
      </p:cxnSp>
      <p:cxnSp>
        <p:nvCxnSpPr>
          <p:cNvPr id="30" name="Connector 30"/>
          <p:cNvCxnSpPr/>
          <p:nvPr/>
        </p:nvCxnSpPr>
        <p:spPr>
          <a:xfrm>
            <a:off x="8532876" y="4288702"/>
            <a:ext cx="0" cy="416648"/>
          </a:xfrm>
          <a:prstGeom prst="line">
            <a:avLst/>
          </a:prstGeom>
          <a:ln w="88900">
            <a:solidFill>
              <a:srgbClr val="FCEBEC"/>
            </a:solidFill>
          </a:ln>
        </p:spPr>
      </p:cxnSp>
      <p:cxnSp>
        <p:nvCxnSpPr>
          <p:cNvPr id="31" name="Connector 31"/>
          <p:cNvCxnSpPr/>
          <p:nvPr/>
        </p:nvCxnSpPr>
        <p:spPr>
          <a:xfrm>
            <a:off x="8737092" y="4369049"/>
            <a:ext cx="0" cy="336301"/>
          </a:xfrm>
          <a:prstGeom prst="line">
            <a:avLst/>
          </a:prstGeom>
          <a:ln w="88900">
            <a:solidFill>
              <a:srgbClr val="FCEBEC"/>
            </a:solidFill>
          </a:ln>
        </p:spPr>
      </p:cxnSp>
      <p:cxnSp>
        <p:nvCxnSpPr>
          <p:cNvPr id="32" name="Connector 32"/>
          <p:cNvCxnSpPr/>
          <p:nvPr/>
        </p:nvCxnSpPr>
        <p:spPr>
          <a:xfrm>
            <a:off x="8941308" y="4440850"/>
            <a:ext cx="0" cy="264500"/>
          </a:xfrm>
          <a:prstGeom prst="line">
            <a:avLst/>
          </a:prstGeom>
          <a:ln w="88900">
            <a:solidFill>
              <a:srgbClr val="FCEBEC"/>
            </a:solidFill>
          </a:ln>
        </p:spPr>
      </p:cxnSp>
      <p:cxnSp>
        <p:nvCxnSpPr>
          <p:cNvPr id="33" name="Connector 33"/>
          <p:cNvCxnSpPr/>
          <p:nvPr/>
        </p:nvCxnSpPr>
        <p:spPr>
          <a:xfrm>
            <a:off x="9145524" y="4503460"/>
            <a:ext cx="0" cy="201890"/>
          </a:xfrm>
          <a:prstGeom prst="line">
            <a:avLst/>
          </a:prstGeom>
          <a:ln w="88900">
            <a:solidFill>
              <a:srgbClr val="FCEBEC"/>
            </a:solidFill>
          </a:ln>
        </p:spPr>
      </p:cxnSp>
      <p:cxnSp>
        <p:nvCxnSpPr>
          <p:cNvPr id="34" name="Connector 34"/>
          <p:cNvCxnSpPr/>
          <p:nvPr/>
        </p:nvCxnSpPr>
        <p:spPr>
          <a:xfrm>
            <a:off x="9349740" y="4556575"/>
            <a:ext cx="0" cy="148775"/>
          </a:xfrm>
          <a:prstGeom prst="line">
            <a:avLst/>
          </a:prstGeom>
          <a:ln w="88900">
            <a:solidFill>
              <a:srgbClr val="FCEBEC"/>
            </a:solidFill>
          </a:ln>
        </p:spPr>
      </p:cxnSp>
      <p:cxnSp>
        <p:nvCxnSpPr>
          <p:cNvPr id="35" name="Connector 35"/>
          <p:cNvCxnSpPr/>
          <p:nvPr/>
        </p:nvCxnSpPr>
        <p:spPr>
          <a:xfrm>
            <a:off x="9553956" y="4600233"/>
            <a:ext cx="0" cy="105117"/>
          </a:xfrm>
          <a:prstGeom prst="line">
            <a:avLst/>
          </a:prstGeom>
          <a:ln w="88900">
            <a:solidFill>
              <a:srgbClr val="FCEBEC"/>
            </a:solidFill>
          </a:ln>
        </p:spPr>
      </p:cxnSp>
      <p:cxnSp>
        <p:nvCxnSpPr>
          <p:cNvPr id="36" name="Connector 36"/>
          <p:cNvCxnSpPr/>
          <p:nvPr/>
        </p:nvCxnSpPr>
        <p:spPr>
          <a:xfrm>
            <a:off x="9758172" y="4634806"/>
            <a:ext cx="0" cy="70544"/>
          </a:xfrm>
          <a:prstGeom prst="line">
            <a:avLst/>
          </a:prstGeom>
          <a:ln w="88900">
            <a:solidFill>
              <a:srgbClr val="FCEBEC"/>
            </a:solidFill>
          </a:ln>
        </p:spPr>
      </p:cxnSp>
      <p:cxnSp>
        <p:nvCxnSpPr>
          <p:cNvPr id="37" name="Connector 37"/>
          <p:cNvCxnSpPr/>
          <p:nvPr/>
        </p:nvCxnSpPr>
        <p:spPr>
          <a:xfrm>
            <a:off x="9962388" y="4660974"/>
            <a:ext cx="0" cy="44376"/>
          </a:xfrm>
          <a:prstGeom prst="line">
            <a:avLst/>
          </a:prstGeom>
          <a:ln w="88900">
            <a:solidFill>
              <a:srgbClr val="FCEBEC"/>
            </a:solidFill>
          </a:ln>
        </p:spPr>
      </p:cxnSp>
      <p:cxnSp>
        <p:nvCxnSpPr>
          <p:cNvPr id="38" name="Connector 38"/>
          <p:cNvCxnSpPr/>
          <p:nvPr/>
        </p:nvCxnSpPr>
        <p:spPr>
          <a:xfrm>
            <a:off x="10166604" y="4679687"/>
            <a:ext cx="0" cy="25663"/>
          </a:xfrm>
          <a:prstGeom prst="line">
            <a:avLst/>
          </a:prstGeom>
          <a:ln w="88900">
            <a:solidFill>
              <a:srgbClr val="FCEBEC"/>
            </a:solidFill>
          </a:ln>
        </p:spPr>
      </p:cxnSp>
      <p:cxnSp>
        <p:nvCxnSpPr>
          <p:cNvPr id="39" name="Connector 39"/>
          <p:cNvCxnSpPr/>
          <p:nvPr/>
        </p:nvCxnSpPr>
        <p:spPr>
          <a:xfrm>
            <a:off x="10370820" y="4692111"/>
            <a:ext cx="0" cy="13239"/>
          </a:xfrm>
          <a:prstGeom prst="line">
            <a:avLst/>
          </a:prstGeom>
          <a:ln w="88900">
            <a:solidFill>
              <a:srgbClr val="FCEBEC"/>
            </a:solidFill>
          </a:ln>
        </p:spPr>
      </p:cxnSp>
      <p:cxnSp>
        <p:nvCxnSpPr>
          <p:cNvPr id="40" name="Connector 40"/>
          <p:cNvCxnSpPr/>
          <p:nvPr/>
        </p:nvCxnSpPr>
        <p:spPr>
          <a:xfrm>
            <a:off x="10575036" y="4699558"/>
            <a:ext cx="0" cy="5792"/>
          </a:xfrm>
          <a:prstGeom prst="line">
            <a:avLst/>
          </a:prstGeom>
          <a:ln w="88900">
            <a:solidFill>
              <a:srgbClr val="FCEBEC"/>
            </a:solidFill>
          </a:ln>
        </p:spPr>
      </p:cxnSp>
      <p:cxnSp>
        <p:nvCxnSpPr>
          <p:cNvPr id="41" name="Connector 41"/>
          <p:cNvCxnSpPr/>
          <p:nvPr/>
        </p:nvCxnSpPr>
        <p:spPr>
          <a:xfrm>
            <a:off x="10779252" y="4703395"/>
            <a:ext cx="0" cy="1955"/>
          </a:xfrm>
          <a:prstGeom prst="line">
            <a:avLst/>
          </a:prstGeom>
          <a:ln w="88900">
            <a:solidFill>
              <a:srgbClr val="FCEBEC"/>
            </a:solidFill>
          </a:ln>
        </p:spPr>
      </p:cxnSp>
      <p:cxnSp>
        <p:nvCxnSpPr>
          <p:cNvPr id="42" name="Connector 42"/>
          <p:cNvCxnSpPr/>
          <p:nvPr/>
        </p:nvCxnSpPr>
        <p:spPr>
          <a:xfrm>
            <a:off x="10983468" y="4704939"/>
            <a:ext cx="0" cy="411"/>
          </a:xfrm>
          <a:prstGeom prst="line">
            <a:avLst/>
          </a:prstGeom>
          <a:ln w="88900">
            <a:solidFill>
              <a:srgbClr val="FCEBEC"/>
            </a:solidFill>
          </a:ln>
        </p:spPr>
      </p:cxnSp>
      <p:cxnSp>
        <p:nvCxnSpPr>
          <p:cNvPr id="43" name="Connector 43"/>
          <p:cNvCxnSpPr/>
          <p:nvPr/>
        </p:nvCxnSpPr>
        <p:spPr>
          <a:xfrm>
            <a:off x="11187684" y="4705323"/>
            <a:ext cx="0" cy="27"/>
          </a:xfrm>
          <a:prstGeom prst="line">
            <a:avLst/>
          </a:prstGeom>
          <a:ln w="88900">
            <a:solidFill>
              <a:srgbClr val="FCEBEC"/>
            </a:solidFill>
          </a:ln>
        </p:spPr>
      </p:cxnSp>
      <p:cxnSp>
        <p:nvCxnSpPr>
          <p:cNvPr id="44" name="Connector 44"/>
          <p:cNvCxnSpPr/>
          <p:nvPr/>
        </p:nvCxnSpPr>
        <p:spPr>
          <a:xfrm>
            <a:off x="11391900" y="4705350"/>
            <a:ext cx="0" cy="0"/>
          </a:xfrm>
          <a:prstGeom prst="line">
            <a:avLst/>
          </a:prstGeom>
          <a:ln w="88900">
            <a:solidFill>
              <a:srgbClr val="FCEBEC"/>
            </a:solidFill>
          </a:ln>
        </p:spPr>
      </p:cxnSp>
      <p:cxnSp>
        <p:nvCxnSpPr>
          <p:cNvPr id="45" name="Connector 45"/>
          <p:cNvCxnSpPr/>
          <p:nvPr/>
        </p:nvCxnSpPr>
        <p:spPr>
          <a:xfrm>
            <a:off x="1181100" y="1981200"/>
            <a:ext cx="0" cy="2724150"/>
          </a:xfrm>
          <a:prstGeom prst="line">
            <a:avLst/>
          </a:prstGeom>
          <a:ln w="19050">
            <a:solidFill>
              <a:srgbClr val="384754"/>
            </a:solidFill>
          </a:ln>
        </p:spPr>
      </p:cxnSp>
      <p:cxnSp>
        <p:nvCxnSpPr>
          <p:cNvPr id="46" name="Connector 46"/>
          <p:cNvCxnSpPr/>
          <p:nvPr/>
        </p:nvCxnSpPr>
        <p:spPr>
          <a:xfrm>
            <a:off x="1181100" y="4705350"/>
            <a:ext cx="10210800" cy="0"/>
          </a:xfrm>
          <a:prstGeom prst="line">
            <a:avLst/>
          </a:prstGeom>
          <a:ln w="19050">
            <a:solidFill>
              <a:srgbClr val="384754"/>
            </a:solidFill>
          </a:ln>
        </p:spPr>
      </p:cxnSp>
      <p:cxnSp>
        <p:nvCxnSpPr>
          <p:cNvPr id="47" name="Connector 47"/>
          <p:cNvCxnSpPr/>
          <p:nvPr/>
        </p:nvCxnSpPr>
        <p:spPr>
          <a:xfrm>
            <a:off x="1181100" y="4705350"/>
            <a:ext cx="0" cy="66675"/>
          </a:xfrm>
          <a:prstGeom prst="line">
            <a:avLst/>
          </a:prstGeom>
          <a:ln w="12700">
            <a:solidFill>
              <a:srgbClr val="384754"/>
            </a:solidFill>
          </a:ln>
        </p:spPr>
      </p:cxnSp>
      <p:sp>
        <p:nvSpPr>
          <p:cNvPr id="48" name="Text 48"/>
          <p:cNvSpPr txBox="1"/>
          <p:nvPr/>
        </p:nvSpPr>
        <p:spPr>
          <a:xfrm>
            <a:off x="952500" y="4800600"/>
            <a:ext cx="457200" cy="171450"/>
          </a:xfrm>
          <a:prstGeom prst="rect">
            <a:avLst/>
          </a:prstGeom>
          <a:noFill/>
          <a:ln>
            <a:noFill/>
          </a:ln>
        </p:spPr>
        <p:txBody>
          <a:bodyPr wrap="square" anchor="t" lIns="0" rIns="0" tIns="0" bIns="0"/>
          <a:lstStyle/>
          <a:p>
            <a:pPr algn="ctr"/>
            <a:r>
              <a:rPr lang="en-US" sz="1000" b="0">
                <a:solidFill>
                  <a:srgbClr val="5D6873"/>
                </a:solidFill>
                <a:latin typeface="Arial"/>
              </a:rPr>
              <a:t>0.0</a:t>
            </a:r>
            <a:endParaRPr lang="en-US" sz="1000"/>
          </a:p>
        </p:txBody>
      </p:sp>
      <p:cxnSp>
        <p:nvCxnSpPr>
          <p:cNvPr id="49" name="Connector 49"/>
          <p:cNvCxnSpPr/>
          <p:nvPr/>
        </p:nvCxnSpPr>
        <p:spPr>
          <a:xfrm>
            <a:off x="3223260" y="4705350"/>
            <a:ext cx="0" cy="66675"/>
          </a:xfrm>
          <a:prstGeom prst="line">
            <a:avLst/>
          </a:prstGeom>
          <a:ln w="12700">
            <a:solidFill>
              <a:srgbClr val="384754"/>
            </a:solidFill>
          </a:ln>
        </p:spPr>
      </p:cxnSp>
      <p:sp>
        <p:nvSpPr>
          <p:cNvPr id="50" name="Text 50"/>
          <p:cNvSpPr txBox="1"/>
          <p:nvPr/>
        </p:nvSpPr>
        <p:spPr>
          <a:xfrm>
            <a:off x="2994660" y="4800600"/>
            <a:ext cx="457200" cy="171450"/>
          </a:xfrm>
          <a:prstGeom prst="rect">
            <a:avLst/>
          </a:prstGeom>
          <a:noFill/>
          <a:ln>
            <a:noFill/>
          </a:ln>
        </p:spPr>
        <p:txBody>
          <a:bodyPr wrap="square" anchor="t" lIns="0" rIns="0" tIns="0" bIns="0"/>
          <a:lstStyle/>
          <a:p>
            <a:pPr algn="ctr"/>
            <a:r>
              <a:rPr lang="en-US" sz="1000" b="0">
                <a:solidFill>
                  <a:srgbClr val="5D6873"/>
                </a:solidFill>
                <a:latin typeface="Arial"/>
              </a:rPr>
              <a:t>0.2</a:t>
            </a:r>
            <a:endParaRPr lang="en-US" sz="1000"/>
          </a:p>
        </p:txBody>
      </p:sp>
      <p:cxnSp>
        <p:nvCxnSpPr>
          <p:cNvPr id="51" name="Connector 51"/>
          <p:cNvCxnSpPr/>
          <p:nvPr/>
        </p:nvCxnSpPr>
        <p:spPr>
          <a:xfrm>
            <a:off x="5265420" y="4705350"/>
            <a:ext cx="0" cy="66675"/>
          </a:xfrm>
          <a:prstGeom prst="line">
            <a:avLst/>
          </a:prstGeom>
          <a:ln w="12700">
            <a:solidFill>
              <a:srgbClr val="384754"/>
            </a:solidFill>
          </a:ln>
        </p:spPr>
      </p:cxnSp>
      <p:sp>
        <p:nvSpPr>
          <p:cNvPr id="52" name="Text 52"/>
          <p:cNvSpPr txBox="1"/>
          <p:nvPr/>
        </p:nvSpPr>
        <p:spPr>
          <a:xfrm>
            <a:off x="5036820" y="4800600"/>
            <a:ext cx="457200" cy="171450"/>
          </a:xfrm>
          <a:prstGeom prst="rect">
            <a:avLst/>
          </a:prstGeom>
          <a:noFill/>
          <a:ln>
            <a:noFill/>
          </a:ln>
        </p:spPr>
        <p:txBody>
          <a:bodyPr wrap="square" anchor="t" lIns="0" rIns="0" tIns="0" bIns="0"/>
          <a:lstStyle/>
          <a:p>
            <a:pPr algn="ctr"/>
            <a:r>
              <a:rPr lang="en-US" sz="1000" b="0">
                <a:solidFill>
                  <a:srgbClr val="5D6873"/>
                </a:solidFill>
                <a:latin typeface="Arial"/>
              </a:rPr>
              <a:t>0.4</a:t>
            </a:r>
            <a:endParaRPr lang="en-US" sz="1000"/>
          </a:p>
        </p:txBody>
      </p:sp>
      <p:cxnSp>
        <p:nvCxnSpPr>
          <p:cNvPr id="53" name="Connector 53"/>
          <p:cNvCxnSpPr/>
          <p:nvPr/>
        </p:nvCxnSpPr>
        <p:spPr>
          <a:xfrm>
            <a:off x="7307580" y="4705350"/>
            <a:ext cx="0" cy="66675"/>
          </a:xfrm>
          <a:prstGeom prst="line">
            <a:avLst/>
          </a:prstGeom>
          <a:ln w="12700">
            <a:solidFill>
              <a:srgbClr val="384754"/>
            </a:solidFill>
          </a:ln>
        </p:spPr>
      </p:cxnSp>
      <p:sp>
        <p:nvSpPr>
          <p:cNvPr id="54" name="Text 54"/>
          <p:cNvSpPr txBox="1"/>
          <p:nvPr/>
        </p:nvSpPr>
        <p:spPr>
          <a:xfrm>
            <a:off x="7078980" y="4800600"/>
            <a:ext cx="457200" cy="171450"/>
          </a:xfrm>
          <a:prstGeom prst="rect">
            <a:avLst/>
          </a:prstGeom>
          <a:noFill/>
          <a:ln>
            <a:noFill/>
          </a:ln>
        </p:spPr>
        <p:txBody>
          <a:bodyPr wrap="square" anchor="t" lIns="0" rIns="0" tIns="0" bIns="0"/>
          <a:lstStyle/>
          <a:p>
            <a:pPr algn="ctr"/>
            <a:r>
              <a:rPr lang="en-US" sz="1000" b="0">
                <a:solidFill>
                  <a:srgbClr val="5D6873"/>
                </a:solidFill>
                <a:latin typeface="Arial"/>
              </a:rPr>
              <a:t>0.6</a:t>
            </a:r>
            <a:endParaRPr lang="en-US" sz="1000"/>
          </a:p>
        </p:txBody>
      </p:sp>
      <p:cxnSp>
        <p:nvCxnSpPr>
          <p:cNvPr id="55" name="Connector 55"/>
          <p:cNvCxnSpPr/>
          <p:nvPr/>
        </p:nvCxnSpPr>
        <p:spPr>
          <a:xfrm>
            <a:off x="9349740" y="4705350"/>
            <a:ext cx="0" cy="66675"/>
          </a:xfrm>
          <a:prstGeom prst="line">
            <a:avLst/>
          </a:prstGeom>
          <a:ln w="12700">
            <a:solidFill>
              <a:srgbClr val="384754"/>
            </a:solidFill>
          </a:ln>
        </p:spPr>
      </p:cxnSp>
      <p:sp>
        <p:nvSpPr>
          <p:cNvPr id="56" name="Text 56"/>
          <p:cNvSpPr txBox="1"/>
          <p:nvPr/>
        </p:nvSpPr>
        <p:spPr>
          <a:xfrm>
            <a:off x="9121140" y="4800600"/>
            <a:ext cx="457200" cy="171450"/>
          </a:xfrm>
          <a:prstGeom prst="rect">
            <a:avLst/>
          </a:prstGeom>
          <a:noFill/>
          <a:ln>
            <a:noFill/>
          </a:ln>
        </p:spPr>
        <p:txBody>
          <a:bodyPr wrap="square" anchor="t" lIns="0" rIns="0" tIns="0" bIns="0"/>
          <a:lstStyle/>
          <a:p>
            <a:pPr algn="ctr"/>
            <a:r>
              <a:rPr lang="en-US" sz="1000" b="0">
                <a:solidFill>
                  <a:srgbClr val="5D6873"/>
                </a:solidFill>
                <a:latin typeface="Arial"/>
              </a:rPr>
              <a:t>0.8</a:t>
            </a:r>
            <a:endParaRPr lang="en-US" sz="1000"/>
          </a:p>
        </p:txBody>
      </p:sp>
      <p:cxnSp>
        <p:nvCxnSpPr>
          <p:cNvPr id="57" name="Connector 57"/>
          <p:cNvCxnSpPr/>
          <p:nvPr/>
        </p:nvCxnSpPr>
        <p:spPr>
          <a:xfrm>
            <a:off x="11391900" y="4705350"/>
            <a:ext cx="0" cy="66675"/>
          </a:xfrm>
          <a:prstGeom prst="line">
            <a:avLst/>
          </a:prstGeom>
          <a:ln w="12700">
            <a:solidFill>
              <a:srgbClr val="384754"/>
            </a:solidFill>
          </a:ln>
        </p:spPr>
      </p:cxnSp>
      <p:sp>
        <p:nvSpPr>
          <p:cNvPr id="58" name="Text 58"/>
          <p:cNvSpPr txBox="1"/>
          <p:nvPr/>
        </p:nvSpPr>
        <p:spPr>
          <a:xfrm>
            <a:off x="11163300" y="4800600"/>
            <a:ext cx="457200" cy="171450"/>
          </a:xfrm>
          <a:prstGeom prst="rect">
            <a:avLst/>
          </a:prstGeom>
          <a:noFill/>
          <a:ln>
            <a:noFill/>
          </a:ln>
        </p:spPr>
        <p:txBody>
          <a:bodyPr wrap="square" anchor="t" lIns="0" rIns="0" tIns="0" bIns="0"/>
          <a:lstStyle/>
          <a:p>
            <a:pPr algn="ctr"/>
            <a:r>
              <a:rPr lang="en-US" sz="1000" b="0">
                <a:solidFill>
                  <a:srgbClr val="5D6873"/>
                </a:solidFill>
                <a:latin typeface="Arial"/>
              </a:rPr>
              <a:t>1.0</a:t>
            </a:r>
            <a:endParaRPr lang="en-US" sz="1000"/>
          </a:p>
        </p:txBody>
      </p:sp>
      <p:cxnSp>
        <p:nvCxnSpPr>
          <p:cNvPr id="59" name="Connector 59"/>
          <p:cNvCxnSpPr/>
          <p:nvPr/>
        </p:nvCxnSpPr>
        <p:spPr>
          <a:xfrm>
            <a:off x="1181100" y="2110921"/>
            <a:ext cx="127635" cy="96080"/>
          </a:xfrm>
          <a:prstGeom prst="line">
            <a:avLst/>
          </a:prstGeom>
          <a:ln w="38100">
            <a:solidFill>
              <a:srgbClr val="2A5B84"/>
            </a:solidFill>
          </a:ln>
        </p:spPr>
      </p:cxnSp>
      <p:cxnSp>
        <p:nvCxnSpPr>
          <p:cNvPr id="60" name="Connector 60"/>
          <p:cNvCxnSpPr/>
          <p:nvPr/>
        </p:nvCxnSpPr>
        <p:spPr>
          <a:xfrm>
            <a:off x="1308735" y="2207001"/>
            <a:ext cx="127635" cy="93678"/>
          </a:xfrm>
          <a:prstGeom prst="line">
            <a:avLst/>
          </a:prstGeom>
          <a:ln w="38100">
            <a:solidFill>
              <a:srgbClr val="2A5B84"/>
            </a:solidFill>
          </a:ln>
        </p:spPr>
      </p:cxnSp>
      <p:cxnSp>
        <p:nvCxnSpPr>
          <p:cNvPr id="61" name="Connector 61"/>
          <p:cNvCxnSpPr/>
          <p:nvPr/>
        </p:nvCxnSpPr>
        <p:spPr>
          <a:xfrm>
            <a:off x="1436370" y="2300680"/>
            <a:ext cx="127635" cy="91307"/>
          </a:xfrm>
          <a:prstGeom prst="line">
            <a:avLst/>
          </a:prstGeom>
          <a:ln w="38100">
            <a:solidFill>
              <a:srgbClr val="2A5B84"/>
            </a:solidFill>
          </a:ln>
        </p:spPr>
      </p:cxnSp>
      <p:cxnSp>
        <p:nvCxnSpPr>
          <p:cNvPr id="62" name="Connector 62"/>
          <p:cNvCxnSpPr/>
          <p:nvPr/>
        </p:nvCxnSpPr>
        <p:spPr>
          <a:xfrm>
            <a:off x="1564005" y="2391986"/>
            <a:ext cx="127635" cy="88966"/>
          </a:xfrm>
          <a:prstGeom prst="line">
            <a:avLst/>
          </a:prstGeom>
          <a:ln w="38100">
            <a:solidFill>
              <a:srgbClr val="2A5B84"/>
            </a:solidFill>
          </a:ln>
        </p:spPr>
      </p:cxnSp>
      <p:cxnSp>
        <p:nvCxnSpPr>
          <p:cNvPr id="63" name="Connector 63"/>
          <p:cNvCxnSpPr/>
          <p:nvPr/>
        </p:nvCxnSpPr>
        <p:spPr>
          <a:xfrm>
            <a:off x="1691640" y="2480952"/>
            <a:ext cx="127635" cy="86655"/>
          </a:xfrm>
          <a:prstGeom prst="line">
            <a:avLst/>
          </a:prstGeom>
          <a:ln w="38100">
            <a:solidFill>
              <a:srgbClr val="2A5B84"/>
            </a:solidFill>
          </a:ln>
        </p:spPr>
      </p:cxnSp>
      <p:cxnSp>
        <p:nvCxnSpPr>
          <p:cNvPr id="64" name="Connector 64"/>
          <p:cNvCxnSpPr/>
          <p:nvPr/>
        </p:nvCxnSpPr>
        <p:spPr>
          <a:xfrm>
            <a:off x="1819275" y="2567607"/>
            <a:ext cx="127635" cy="84375"/>
          </a:xfrm>
          <a:prstGeom prst="line">
            <a:avLst/>
          </a:prstGeom>
          <a:ln w="38100">
            <a:solidFill>
              <a:srgbClr val="2A5B84"/>
            </a:solidFill>
          </a:ln>
        </p:spPr>
      </p:cxnSp>
      <p:cxnSp>
        <p:nvCxnSpPr>
          <p:cNvPr id="65" name="Connector 65"/>
          <p:cNvCxnSpPr/>
          <p:nvPr/>
        </p:nvCxnSpPr>
        <p:spPr>
          <a:xfrm>
            <a:off x="1946910" y="2651981"/>
            <a:ext cx="127635" cy="82125"/>
          </a:xfrm>
          <a:prstGeom prst="line">
            <a:avLst/>
          </a:prstGeom>
          <a:ln w="38100">
            <a:solidFill>
              <a:srgbClr val="2A5B84"/>
            </a:solidFill>
          </a:ln>
        </p:spPr>
      </p:cxnSp>
      <p:cxnSp>
        <p:nvCxnSpPr>
          <p:cNvPr id="66" name="Connector 66"/>
          <p:cNvCxnSpPr/>
          <p:nvPr/>
        </p:nvCxnSpPr>
        <p:spPr>
          <a:xfrm>
            <a:off x="2074545" y="2734106"/>
            <a:ext cx="127635" cy="79905"/>
          </a:xfrm>
          <a:prstGeom prst="line">
            <a:avLst/>
          </a:prstGeom>
          <a:ln w="38100">
            <a:solidFill>
              <a:srgbClr val="2A5B84"/>
            </a:solidFill>
          </a:ln>
        </p:spPr>
      </p:cxnSp>
      <p:cxnSp>
        <p:nvCxnSpPr>
          <p:cNvPr id="67" name="Connector 67"/>
          <p:cNvCxnSpPr/>
          <p:nvPr/>
        </p:nvCxnSpPr>
        <p:spPr>
          <a:xfrm>
            <a:off x="2202180" y="2814012"/>
            <a:ext cx="127635" cy="77716"/>
          </a:xfrm>
          <a:prstGeom prst="line">
            <a:avLst/>
          </a:prstGeom>
          <a:ln w="38100">
            <a:solidFill>
              <a:srgbClr val="2A5B84"/>
            </a:solidFill>
          </a:ln>
        </p:spPr>
      </p:cxnSp>
      <p:cxnSp>
        <p:nvCxnSpPr>
          <p:cNvPr id="68" name="Connector 68"/>
          <p:cNvCxnSpPr/>
          <p:nvPr/>
        </p:nvCxnSpPr>
        <p:spPr>
          <a:xfrm>
            <a:off x="2329815" y="2891728"/>
            <a:ext cx="127635" cy="75558"/>
          </a:xfrm>
          <a:prstGeom prst="line">
            <a:avLst/>
          </a:prstGeom>
          <a:ln w="38100">
            <a:solidFill>
              <a:srgbClr val="2A5B84"/>
            </a:solidFill>
          </a:ln>
        </p:spPr>
      </p:cxnSp>
      <p:cxnSp>
        <p:nvCxnSpPr>
          <p:cNvPr id="69" name="Connector 69"/>
          <p:cNvCxnSpPr/>
          <p:nvPr/>
        </p:nvCxnSpPr>
        <p:spPr>
          <a:xfrm>
            <a:off x="2457450" y="2967286"/>
            <a:ext cx="127635" cy="73429"/>
          </a:xfrm>
          <a:prstGeom prst="line">
            <a:avLst/>
          </a:prstGeom>
          <a:ln w="38100">
            <a:solidFill>
              <a:srgbClr val="2A5B84"/>
            </a:solidFill>
          </a:ln>
        </p:spPr>
      </p:cxnSp>
      <p:cxnSp>
        <p:nvCxnSpPr>
          <p:cNvPr id="70" name="Connector 70"/>
          <p:cNvCxnSpPr/>
          <p:nvPr/>
        </p:nvCxnSpPr>
        <p:spPr>
          <a:xfrm>
            <a:off x="2585085" y="3040715"/>
            <a:ext cx="127635" cy="71332"/>
          </a:xfrm>
          <a:prstGeom prst="line">
            <a:avLst/>
          </a:prstGeom>
          <a:ln w="38100">
            <a:solidFill>
              <a:srgbClr val="2A5B84"/>
            </a:solidFill>
          </a:ln>
        </p:spPr>
      </p:cxnSp>
      <p:cxnSp>
        <p:nvCxnSpPr>
          <p:cNvPr id="71" name="Connector 71"/>
          <p:cNvCxnSpPr/>
          <p:nvPr/>
        </p:nvCxnSpPr>
        <p:spPr>
          <a:xfrm>
            <a:off x="2712720" y="3112047"/>
            <a:ext cx="127635" cy="69264"/>
          </a:xfrm>
          <a:prstGeom prst="line">
            <a:avLst/>
          </a:prstGeom>
          <a:ln w="38100">
            <a:solidFill>
              <a:srgbClr val="2A5B84"/>
            </a:solidFill>
          </a:ln>
        </p:spPr>
      </p:cxnSp>
      <p:cxnSp>
        <p:nvCxnSpPr>
          <p:cNvPr id="72" name="Connector 72"/>
          <p:cNvCxnSpPr/>
          <p:nvPr/>
        </p:nvCxnSpPr>
        <p:spPr>
          <a:xfrm>
            <a:off x="2840355" y="3181311"/>
            <a:ext cx="127635" cy="67227"/>
          </a:xfrm>
          <a:prstGeom prst="line">
            <a:avLst/>
          </a:prstGeom>
          <a:ln w="38100">
            <a:solidFill>
              <a:srgbClr val="2A5B84"/>
            </a:solidFill>
          </a:ln>
        </p:spPr>
      </p:cxnSp>
      <p:cxnSp>
        <p:nvCxnSpPr>
          <p:cNvPr id="73" name="Connector 73"/>
          <p:cNvCxnSpPr/>
          <p:nvPr/>
        </p:nvCxnSpPr>
        <p:spPr>
          <a:xfrm>
            <a:off x="2967990" y="3248538"/>
            <a:ext cx="127635" cy="65220"/>
          </a:xfrm>
          <a:prstGeom prst="line">
            <a:avLst/>
          </a:prstGeom>
          <a:ln w="38100">
            <a:solidFill>
              <a:srgbClr val="2A5B84"/>
            </a:solidFill>
          </a:ln>
        </p:spPr>
      </p:cxnSp>
      <p:cxnSp>
        <p:nvCxnSpPr>
          <p:cNvPr id="74" name="Connector 74"/>
          <p:cNvCxnSpPr/>
          <p:nvPr/>
        </p:nvCxnSpPr>
        <p:spPr>
          <a:xfrm>
            <a:off x="3095625" y="3313758"/>
            <a:ext cx="127635" cy="63244"/>
          </a:xfrm>
          <a:prstGeom prst="line">
            <a:avLst/>
          </a:prstGeom>
          <a:ln w="38100">
            <a:solidFill>
              <a:srgbClr val="2A5B84"/>
            </a:solidFill>
          </a:ln>
        </p:spPr>
      </p:cxnSp>
      <p:cxnSp>
        <p:nvCxnSpPr>
          <p:cNvPr id="75" name="Connector 75"/>
          <p:cNvCxnSpPr/>
          <p:nvPr/>
        </p:nvCxnSpPr>
        <p:spPr>
          <a:xfrm>
            <a:off x="3223260" y="3377003"/>
            <a:ext cx="127635" cy="61298"/>
          </a:xfrm>
          <a:prstGeom prst="line">
            <a:avLst/>
          </a:prstGeom>
          <a:ln w="38100">
            <a:solidFill>
              <a:srgbClr val="2A5B84"/>
            </a:solidFill>
          </a:ln>
        </p:spPr>
      </p:cxnSp>
      <p:cxnSp>
        <p:nvCxnSpPr>
          <p:cNvPr id="76" name="Connector 76"/>
          <p:cNvCxnSpPr/>
          <p:nvPr/>
        </p:nvCxnSpPr>
        <p:spPr>
          <a:xfrm>
            <a:off x="3350895" y="3438301"/>
            <a:ext cx="127635" cy="59383"/>
          </a:xfrm>
          <a:prstGeom prst="line">
            <a:avLst/>
          </a:prstGeom>
          <a:ln w="38100">
            <a:solidFill>
              <a:srgbClr val="2A5B84"/>
            </a:solidFill>
          </a:ln>
        </p:spPr>
      </p:cxnSp>
      <p:cxnSp>
        <p:nvCxnSpPr>
          <p:cNvPr id="77" name="Connector 77"/>
          <p:cNvCxnSpPr/>
          <p:nvPr/>
        </p:nvCxnSpPr>
        <p:spPr>
          <a:xfrm>
            <a:off x="3478530" y="3497684"/>
            <a:ext cx="127635" cy="57498"/>
          </a:xfrm>
          <a:prstGeom prst="line">
            <a:avLst/>
          </a:prstGeom>
          <a:ln w="38100">
            <a:solidFill>
              <a:srgbClr val="2A5B84"/>
            </a:solidFill>
          </a:ln>
        </p:spPr>
      </p:cxnSp>
      <p:cxnSp>
        <p:nvCxnSpPr>
          <p:cNvPr id="78" name="Connector 78"/>
          <p:cNvCxnSpPr/>
          <p:nvPr/>
        </p:nvCxnSpPr>
        <p:spPr>
          <a:xfrm>
            <a:off x="3606165" y="3555182"/>
            <a:ext cx="127635" cy="55643"/>
          </a:xfrm>
          <a:prstGeom prst="line">
            <a:avLst/>
          </a:prstGeom>
          <a:ln w="38100">
            <a:solidFill>
              <a:srgbClr val="2A5B84"/>
            </a:solidFill>
          </a:ln>
        </p:spPr>
      </p:cxnSp>
      <p:cxnSp>
        <p:nvCxnSpPr>
          <p:cNvPr id="79" name="Connector 79"/>
          <p:cNvCxnSpPr/>
          <p:nvPr/>
        </p:nvCxnSpPr>
        <p:spPr>
          <a:xfrm>
            <a:off x="3733800" y="3610825"/>
            <a:ext cx="127635" cy="53819"/>
          </a:xfrm>
          <a:prstGeom prst="line">
            <a:avLst/>
          </a:prstGeom>
          <a:ln w="38100">
            <a:solidFill>
              <a:srgbClr val="2A5B84"/>
            </a:solidFill>
          </a:ln>
        </p:spPr>
      </p:cxnSp>
      <p:cxnSp>
        <p:nvCxnSpPr>
          <p:cNvPr id="80" name="Connector 80"/>
          <p:cNvCxnSpPr/>
          <p:nvPr/>
        </p:nvCxnSpPr>
        <p:spPr>
          <a:xfrm>
            <a:off x="3861435" y="3664645"/>
            <a:ext cx="127635" cy="52025"/>
          </a:xfrm>
          <a:prstGeom prst="line">
            <a:avLst/>
          </a:prstGeom>
          <a:ln w="38100">
            <a:solidFill>
              <a:srgbClr val="2A5B84"/>
            </a:solidFill>
          </a:ln>
        </p:spPr>
      </p:cxnSp>
      <p:cxnSp>
        <p:nvCxnSpPr>
          <p:cNvPr id="81" name="Connector 81"/>
          <p:cNvCxnSpPr/>
          <p:nvPr/>
        </p:nvCxnSpPr>
        <p:spPr>
          <a:xfrm>
            <a:off x="3989070" y="3716670"/>
            <a:ext cx="127635" cy="50262"/>
          </a:xfrm>
          <a:prstGeom prst="line">
            <a:avLst/>
          </a:prstGeom>
          <a:ln w="38100">
            <a:solidFill>
              <a:srgbClr val="2A5B84"/>
            </a:solidFill>
          </a:ln>
        </p:spPr>
      </p:cxnSp>
      <p:cxnSp>
        <p:nvCxnSpPr>
          <p:cNvPr id="82" name="Connector 82"/>
          <p:cNvCxnSpPr/>
          <p:nvPr/>
        </p:nvCxnSpPr>
        <p:spPr>
          <a:xfrm>
            <a:off x="4116705" y="3766932"/>
            <a:ext cx="127635" cy="48529"/>
          </a:xfrm>
          <a:prstGeom prst="line">
            <a:avLst/>
          </a:prstGeom>
          <a:ln w="38100">
            <a:solidFill>
              <a:srgbClr val="2A5B84"/>
            </a:solidFill>
          </a:ln>
        </p:spPr>
      </p:cxnSp>
      <p:cxnSp>
        <p:nvCxnSpPr>
          <p:cNvPr id="83" name="Connector 83"/>
          <p:cNvCxnSpPr/>
          <p:nvPr/>
        </p:nvCxnSpPr>
        <p:spPr>
          <a:xfrm>
            <a:off x="4244340" y="3815461"/>
            <a:ext cx="127635" cy="46826"/>
          </a:xfrm>
          <a:prstGeom prst="line">
            <a:avLst/>
          </a:prstGeom>
          <a:ln w="38100">
            <a:solidFill>
              <a:srgbClr val="2A5B84"/>
            </a:solidFill>
          </a:ln>
        </p:spPr>
      </p:cxnSp>
      <p:cxnSp>
        <p:nvCxnSpPr>
          <p:cNvPr id="84" name="Connector 84"/>
          <p:cNvCxnSpPr/>
          <p:nvPr/>
        </p:nvCxnSpPr>
        <p:spPr>
          <a:xfrm>
            <a:off x="4371975" y="3862287"/>
            <a:ext cx="127635" cy="45154"/>
          </a:xfrm>
          <a:prstGeom prst="line">
            <a:avLst/>
          </a:prstGeom>
          <a:ln w="38100">
            <a:solidFill>
              <a:srgbClr val="2A5B84"/>
            </a:solidFill>
          </a:ln>
        </p:spPr>
      </p:cxnSp>
      <p:cxnSp>
        <p:nvCxnSpPr>
          <p:cNvPr id="85" name="Connector 85"/>
          <p:cNvCxnSpPr/>
          <p:nvPr/>
        </p:nvCxnSpPr>
        <p:spPr>
          <a:xfrm>
            <a:off x="4499610" y="3907442"/>
            <a:ext cx="127635" cy="43512"/>
          </a:xfrm>
          <a:prstGeom prst="line">
            <a:avLst/>
          </a:prstGeom>
          <a:ln w="38100">
            <a:solidFill>
              <a:srgbClr val="2A5B84"/>
            </a:solidFill>
          </a:ln>
        </p:spPr>
      </p:cxnSp>
      <p:cxnSp>
        <p:nvCxnSpPr>
          <p:cNvPr id="86" name="Connector 86"/>
          <p:cNvCxnSpPr/>
          <p:nvPr/>
        </p:nvCxnSpPr>
        <p:spPr>
          <a:xfrm>
            <a:off x="4627245" y="3950954"/>
            <a:ext cx="127635" cy="41901"/>
          </a:xfrm>
          <a:prstGeom prst="line">
            <a:avLst/>
          </a:prstGeom>
          <a:ln w="38100">
            <a:solidFill>
              <a:srgbClr val="2A5B84"/>
            </a:solidFill>
          </a:ln>
        </p:spPr>
      </p:cxnSp>
      <p:cxnSp>
        <p:nvCxnSpPr>
          <p:cNvPr id="87" name="Connector 87"/>
          <p:cNvCxnSpPr/>
          <p:nvPr/>
        </p:nvCxnSpPr>
        <p:spPr>
          <a:xfrm>
            <a:off x="4754880" y="3992855"/>
            <a:ext cx="127635" cy="40320"/>
          </a:xfrm>
          <a:prstGeom prst="line">
            <a:avLst/>
          </a:prstGeom>
          <a:ln w="38100">
            <a:solidFill>
              <a:srgbClr val="2A5B84"/>
            </a:solidFill>
          </a:ln>
        </p:spPr>
      </p:cxnSp>
      <p:cxnSp>
        <p:nvCxnSpPr>
          <p:cNvPr id="88" name="Connector 88"/>
          <p:cNvCxnSpPr/>
          <p:nvPr/>
        </p:nvCxnSpPr>
        <p:spPr>
          <a:xfrm>
            <a:off x="4882515" y="4033175"/>
            <a:ext cx="127635" cy="38769"/>
          </a:xfrm>
          <a:prstGeom prst="line">
            <a:avLst/>
          </a:prstGeom>
          <a:ln w="38100">
            <a:solidFill>
              <a:srgbClr val="2A5B84"/>
            </a:solidFill>
          </a:ln>
        </p:spPr>
      </p:cxnSp>
      <p:cxnSp>
        <p:nvCxnSpPr>
          <p:cNvPr id="89" name="Connector 89"/>
          <p:cNvCxnSpPr/>
          <p:nvPr/>
        </p:nvCxnSpPr>
        <p:spPr>
          <a:xfrm>
            <a:off x="5010150" y="4071945"/>
            <a:ext cx="127635" cy="37249"/>
          </a:xfrm>
          <a:prstGeom prst="line">
            <a:avLst/>
          </a:prstGeom>
          <a:ln w="38100">
            <a:solidFill>
              <a:srgbClr val="2A5B84"/>
            </a:solidFill>
          </a:ln>
        </p:spPr>
      </p:cxnSp>
      <p:cxnSp>
        <p:nvCxnSpPr>
          <p:cNvPr id="90" name="Connector 90"/>
          <p:cNvCxnSpPr/>
          <p:nvPr/>
        </p:nvCxnSpPr>
        <p:spPr>
          <a:xfrm>
            <a:off x="5137785" y="4109194"/>
            <a:ext cx="127635" cy="35760"/>
          </a:xfrm>
          <a:prstGeom prst="line">
            <a:avLst/>
          </a:prstGeom>
          <a:ln w="38100">
            <a:solidFill>
              <a:srgbClr val="2A5B84"/>
            </a:solidFill>
          </a:ln>
        </p:spPr>
      </p:cxnSp>
      <p:cxnSp>
        <p:nvCxnSpPr>
          <p:cNvPr id="91" name="Connector 91"/>
          <p:cNvCxnSpPr/>
          <p:nvPr/>
        </p:nvCxnSpPr>
        <p:spPr>
          <a:xfrm>
            <a:off x="5265420" y="4144953"/>
            <a:ext cx="127635" cy="34300"/>
          </a:xfrm>
          <a:prstGeom prst="line">
            <a:avLst/>
          </a:prstGeom>
          <a:ln w="38100">
            <a:solidFill>
              <a:srgbClr val="2A5B84"/>
            </a:solidFill>
          </a:ln>
        </p:spPr>
      </p:cxnSp>
      <p:cxnSp>
        <p:nvCxnSpPr>
          <p:cNvPr id="92" name="Connector 92"/>
          <p:cNvCxnSpPr/>
          <p:nvPr/>
        </p:nvCxnSpPr>
        <p:spPr>
          <a:xfrm>
            <a:off x="5393055" y="4179254"/>
            <a:ext cx="127635" cy="32871"/>
          </a:xfrm>
          <a:prstGeom prst="line">
            <a:avLst/>
          </a:prstGeom>
          <a:ln w="38100">
            <a:solidFill>
              <a:srgbClr val="2A5B84"/>
            </a:solidFill>
          </a:ln>
        </p:spPr>
      </p:cxnSp>
      <p:cxnSp>
        <p:nvCxnSpPr>
          <p:cNvPr id="93" name="Connector 93"/>
          <p:cNvCxnSpPr/>
          <p:nvPr/>
        </p:nvCxnSpPr>
        <p:spPr>
          <a:xfrm>
            <a:off x="5520690" y="4212125"/>
            <a:ext cx="127635" cy="31473"/>
          </a:xfrm>
          <a:prstGeom prst="line">
            <a:avLst/>
          </a:prstGeom>
          <a:ln w="38100">
            <a:solidFill>
              <a:srgbClr val="2A5B84"/>
            </a:solidFill>
          </a:ln>
        </p:spPr>
      </p:cxnSp>
      <p:cxnSp>
        <p:nvCxnSpPr>
          <p:cNvPr id="94" name="Connector 94"/>
          <p:cNvCxnSpPr/>
          <p:nvPr/>
        </p:nvCxnSpPr>
        <p:spPr>
          <a:xfrm>
            <a:off x="5648325" y="4243597"/>
            <a:ext cx="127635" cy="30104"/>
          </a:xfrm>
          <a:prstGeom prst="line">
            <a:avLst/>
          </a:prstGeom>
          <a:ln w="38100">
            <a:solidFill>
              <a:srgbClr val="2A5B84"/>
            </a:solidFill>
          </a:ln>
        </p:spPr>
      </p:cxnSp>
      <p:cxnSp>
        <p:nvCxnSpPr>
          <p:cNvPr id="95" name="Connector 95"/>
          <p:cNvCxnSpPr/>
          <p:nvPr/>
        </p:nvCxnSpPr>
        <p:spPr>
          <a:xfrm>
            <a:off x="5775960" y="4273702"/>
            <a:ext cx="127635" cy="28767"/>
          </a:xfrm>
          <a:prstGeom prst="line">
            <a:avLst/>
          </a:prstGeom>
          <a:ln w="38100">
            <a:solidFill>
              <a:srgbClr val="2A5B84"/>
            </a:solidFill>
          </a:ln>
        </p:spPr>
      </p:cxnSp>
      <p:cxnSp>
        <p:nvCxnSpPr>
          <p:cNvPr id="96" name="Connector 96"/>
          <p:cNvCxnSpPr/>
          <p:nvPr/>
        </p:nvCxnSpPr>
        <p:spPr>
          <a:xfrm>
            <a:off x="5903595" y="4302469"/>
            <a:ext cx="127635" cy="27459"/>
          </a:xfrm>
          <a:prstGeom prst="line">
            <a:avLst/>
          </a:prstGeom>
          <a:ln w="38100">
            <a:solidFill>
              <a:srgbClr val="2A5B84"/>
            </a:solidFill>
          </a:ln>
        </p:spPr>
      </p:cxnSp>
      <p:cxnSp>
        <p:nvCxnSpPr>
          <p:cNvPr id="97" name="Connector 97"/>
          <p:cNvCxnSpPr/>
          <p:nvPr/>
        </p:nvCxnSpPr>
        <p:spPr>
          <a:xfrm>
            <a:off x="6031230" y="4329928"/>
            <a:ext cx="127635" cy="26182"/>
          </a:xfrm>
          <a:prstGeom prst="line">
            <a:avLst/>
          </a:prstGeom>
          <a:ln w="38100">
            <a:solidFill>
              <a:srgbClr val="2A5B84"/>
            </a:solidFill>
          </a:ln>
        </p:spPr>
      </p:cxnSp>
      <p:cxnSp>
        <p:nvCxnSpPr>
          <p:cNvPr id="98" name="Connector 98"/>
          <p:cNvCxnSpPr/>
          <p:nvPr/>
        </p:nvCxnSpPr>
        <p:spPr>
          <a:xfrm>
            <a:off x="6158865" y="4356111"/>
            <a:ext cx="127635" cy="24936"/>
          </a:xfrm>
          <a:prstGeom prst="line">
            <a:avLst/>
          </a:prstGeom>
          <a:ln w="38100">
            <a:solidFill>
              <a:srgbClr val="2A5B84"/>
            </a:solidFill>
          </a:ln>
        </p:spPr>
      </p:cxnSp>
      <p:cxnSp>
        <p:nvCxnSpPr>
          <p:cNvPr id="99" name="Connector 99"/>
          <p:cNvCxnSpPr/>
          <p:nvPr/>
        </p:nvCxnSpPr>
        <p:spPr>
          <a:xfrm>
            <a:off x="6286500" y="4381046"/>
            <a:ext cx="127635" cy="23720"/>
          </a:xfrm>
          <a:prstGeom prst="line">
            <a:avLst/>
          </a:prstGeom>
          <a:ln w="38100">
            <a:solidFill>
              <a:srgbClr val="2A5B84"/>
            </a:solidFill>
          </a:ln>
        </p:spPr>
      </p:cxnSp>
      <p:cxnSp>
        <p:nvCxnSpPr>
          <p:cNvPr id="100" name="Connector 100"/>
          <p:cNvCxnSpPr/>
          <p:nvPr/>
        </p:nvCxnSpPr>
        <p:spPr>
          <a:xfrm>
            <a:off x="6414135" y="4404766"/>
            <a:ext cx="127635" cy="22534"/>
          </a:xfrm>
          <a:prstGeom prst="line">
            <a:avLst/>
          </a:prstGeom>
          <a:ln w="38100">
            <a:solidFill>
              <a:srgbClr val="2A5B84"/>
            </a:solidFill>
          </a:ln>
        </p:spPr>
      </p:cxnSp>
      <p:cxnSp>
        <p:nvCxnSpPr>
          <p:cNvPr id="101" name="Connector 101"/>
          <p:cNvCxnSpPr/>
          <p:nvPr/>
        </p:nvCxnSpPr>
        <p:spPr>
          <a:xfrm>
            <a:off x="6541770" y="4427300"/>
            <a:ext cx="127635" cy="21379"/>
          </a:xfrm>
          <a:prstGeom prst="line">
            <a:avLst/>
          </a:prstGeom>
          <a:ln w="38100">
            <a:solidFill>
              <a:srgbClr val="2A5B84"/>
            </a:solidFill>
          </a:ln>
        </p:spPr>
      </p:cxnSp>
      <p:cxnSp>
        <p:nvCxnSpPr>
          <p:cNvPr id="102" name="Connector 102"/>
          <p:cNvCxnSpPr/>
          <p:nvPr/>
        </p:nvCxnSpPr>
        <p:spPr>
          <a:xfrm>
            <a:off x="6669405" y="4448679"/>
            <a:ext cx="127635" cy="20254"/>
          </a:xfrm>
          <a:prstGeom prst="line">
            <a:avLst/>
          </a:prstGeom>
          <a:ln w="38100">
            <a:solidFill>
              <a:srgbClr val="2A5B84"/>
            </a:solidFill>
          </a:ln>
        </p:spPr>
      </p:cxnSp>
      <p:cxnSp>
        <p:nvCxnSpPr>
          <p:cNvPr id="103" name="Connector 103"/>
          <p:cNvCxnSpPr/>
          <p:nvPr/>
        </p:nvCxnSpPr>
        <p:spPr>
          <a:xfrm>
            <a:off x="6797040" y="4468933"/>
            <a:ext cx="127635" cy="19159"/>
          </a:xfrm>
          <a:prstGeom prst="line">
            <a:avLst/>
          </a:prstGeom>
          <a:ln w="38100">
            <a:solidFill>
              <a:srgbClr val="2A5B84"/>
            </a:solidFill>
          </a:ln>
        </p:spPr>
      </p:cxnSp>
      <p:cxnSp>
        <p:nvCxnSpPr>
          <p:cNvPr id="104" name="Connector 104"/>
          <p:cNvCxnSpPr/>
          <p:nvPr/>
        </p:nvCxnSpPr>
        <p:spPr>
          <a:xfrm>
            <a:off x="6924675" y="4488092"/>
            <a:ext cx="127635" cy="18095"/>
          </a:xfrm>
          <a:prstGeom prst="line">
            <a:avLst/>
          </a:prstGeom>
          <a:ln w="38100">
            <a:solidFill>
              <a:srgbClr val="2A5B84"/>
            </a:solidFill>
          </a:ln>
        </p:spPr>
      </p:cxnSp>
      <p:cxnSp>
        <p:nvCxnSpPr>
          <p:cNvPr id="105" name="Connector 105"/>
          <p:cNvCxnSpPr/>
          <p:nvPr/>
        </p:nvCxnSpPr>
        <p:spPr>
          <a:xfrm>
            <a:off x="7052310" y="4506187"/>
            <a:ext cx="127635" cy="17061"/>
          </a:xfrm>
          <a:prstGeom prst="line">
            <a:avLst/>
          </a:prstGeom>
          <a:ln w="38100">
            <a:solidFill>
              <a:srgbClr val="2A5B84"/>
            </a:solidFill>
          </a:ln>
        </p:spPr>
      </p:cxnSp>
      <p:cxnSp>
        <p:nvCxnSpPr>
          <p:cNvPr id="106" name="Connector 106"/>
          <p:cNvCxnSpPr/>
          <p:nvPr/>
        </p:nvCxnSpPr>
        <p:spPr>
          <a:xfrm>
            <a:off x="7179945" y="4523248"/>
            <a:ext cx="127635" cy="16058"/>
          </a:xfrm>
          <a:prstGeom prst="line">
            <a:avLst/>
          </a:prstGeom>
          <a:ln w="38100">
            <a:solidFill>
              <a:srgbClr val="2A5B84"/>
            </a:solidFill>
          </a:ln>
        </p:spPr>
      </p:cxnSp>
      <p:cxnSp>
        <p:nvCxnSpPr>
          <p:cNvPr id="107" name="Connector 107"/>
          <p:cNvCxnSpPr/>
          <p:nvPr/>
        </p:nvCxnSpPr>
        <p:spPr>
          <a:xfrm>
            <a:off x="7307580" y="4539307"/>
            <a:ext cx="127635" cy="15085"/>
          </a:xfrm>
          <a:prstGeom prst="line">
            <a:avLst/>
          </a:prstGeom>
          <a:ln w="38100">
            <a:solidFill>
              <a:srgbClr val="2A5B84"/>
            </a:solidFill>
          </a:ln>
        </p:spPr>
      </p:cxnSp>
      <p:cxnSp>
        <p:nvCxnSpPr>
          <p:cNvPr id="108" name="Connector 108"/>
          <p:cNvCxnSpPr/>
          <p:nvPr/>
        </p:nvCxnSpPr>
        <p:spPr>
          <a:xfrm>
            <a:off x="7435215" y="4554392"/>
            <a:ext cx="127635" cy="14143"/>
          </a:xfrm>
          <a:prstGeom prst="line">
            <a:avLst/>
          </a:prstGeom>
          <a:ln w="38100">
            <a:solidFill>
              <a:srgbClr val="2A5B84"/>
            </a:solidFill>
          </a:ln>
        </p:spPr>
      </p:cxnSp>
      <p:cxnSp>
        <p:nvCxnSpPr>
          <p:cNvPr id="109" name="Connector 109"/>
          <p:cNvCxnSpPr/>
          <p:nvPr/>
        </p:nvCxnSpPr>
        <p:spPr>
          <a:xfrm>
            <a:off x="7562850" y="4568534"/>
            <a:ext cx="127635" cy="13231"/>
          </a:xfrm>
          <a:prstGeom prst="line">
            <a:avLst/>
          </a:prstGeom>
          <a:ln w="38100">
            <a:solidFill>
              <a:srgbClr val="2A5B84"/>
            </a:solidFill>
          </a:ln>
        </p:spPr>
      </p:cxnSp>
      <p:cxnSp>
        <p:nvCxnSpPr>
          <p:cNvPr id="110" name="Connector 110"/>
          <p:cNvCxnSpPr/>
          <p:nvPr/>
        </p:nvCxnSpPr>
        <p:spPr>
          <a:xfrm>
            <a:off x="7690485" y="4581765"/>
            <a:ext cx="127635" cy="12349"/>
          </a:xfrm>
          <a:prstGeom prst="line">
            <a:avLst/>
          </a:prstGeom>
          <a:ln w="38100">
            <a:solidFill>
              <a:srgbClr val="2A5B84"/>
            </a:solidFill>
          </a:ln>
        </p:spPr>
      </p:cxnSp>
      <p:cxnSp>
        <p:nvCxnSpPr>
          <p:cNvPr id="111" name="Connector 111"/>
          <p:cNvCxnSpPr/>
          <p:nvPr/>
        </p:nvCxnSpPr>
        <p:spPr>
          <a:xfrm>
            <a:off x="7818120" y="4594114"/>
            <a:ext cx="127635" cy="11498"/>
          </a:xfrm>
          <a:prstGeom prst="line">
            <a:avLst/>
          </a:prstGeom>
          <a:ln w="38100">
            <a:solidFill>
              <a:srgbClr val="2A5B84"/>
            </a:solidFill>
          </a:ln>
        </p:spPr>
      </p:cxnSp>
      <p:cxnSp>
        <p:nvCxnSpPr>
          <p:cNvPr id="112" name="Connector 112"/>
          <p:cNvCxnSpPr/>
          <p:nvPr/>
        </p:nvCxnSpPr>
        <p:spPr>
          <a:xfrm>
            <a:off x="7945755" y="4605611"/>
            <a:ext cx="127635" cy="10677"/>
          </a:xfrm>
          <a:prstGeom prst="line">
            <a:avLst/>
          </a:prstGeom>
          <a:ln w="38100">
            <a:solidFill>
              <a:srgbClr val="2A5B84"/>
            </a:solidFill>
          </a:ln>
        </p:spPr>
      </p:cxnSp>
      <p:cxnSp>
        <p:nvCxnSpPr>
          <p:cNvPr id="113" name="Connector 113"/>
          <p:cNvCxnSpPr/>
          <p:nvPr/>
        </p:nvCxnSpPr>
        <p:spPr>
          <a:xfrm>
            <a:off x="8073390" y="4616288"/>
            <a:ext cx="127635" cy="9886"/>
          </a:xfrm>
          <a:prstGeom prst="line">
            <a:avLst/>
          </a:prstGeom>
          <a:ln w="38100">
            <a:solidFill>
              <a:srgbClr val="2A5B84"/>
            </a:solidFill>
          </a:ln>
        </p:spPr>
      </p:cxnSp>
      <p:cxnSp>
        <p:nvCxnSpPr>
          <p:cNvPr id="114" name="Connector 114"/>
          <p:cNvCxnSpPr/>
          <p:nvPr/>
        </p:nvCxnSpPr>
        <p:spPr>
          <a:xfrm>
            <a:off x="8201025" y="4626174"/>
            <a:ext cx="127635" cy="9126"/>
          </a:xfrm>
          <a:prstGeom prst="line">
            <a:avLst/>
          </a:prstGeom>
          <a:ln w="38100">
            <a:solidFill>
              <a:srgbClr val="2A5B84"/>
            </a:solidFill>
          </a:ln>
        </p:spPr>
      </p:cxnSp>
      <p:cxnSp>
        <p:nvCxnSpPr>
          <p:cNvPr id="115" name="Connector 115"/>
          <p:cNvCxnSpPr/>
          <p:nvPr/>
        </p:nvCxnSpPr>
        <p:spPr>
          <a:xfrm>
            <a:off x="8328660" y="4635300"/>
            <a:ext cx="127635" cy="8396"/>
          </a:xfrm>
          <a:prstGeom prst="line">
            <a:avLst/>
          </a:prstGeom>
          <a:ln w="38100">
            <a:solidFill>
              <a:srgbClr val="2A5B84"/>
            </a:solidFill>
          </a:ln>
        </p:spPr>
      </p:cxnSp>
      <p:cxnSp>
        <p:nvCxnSpPr>
          <p:cNvPr id="116" name="Connector 116"/>
          <p:cNvCxnSpPr/>
          <p:nvPr/>
        </p:nvCxnSpPr>
        <p:spPr>
          <a:xfrm>
            <a:off x="8456295" y="4643697"/>
            <a:ext cx="127635" cy="7697"/>
          </a:xfrm>
          <a:prstGeom prst="line">
            <a:avLst/>
          </a:prstGeom>
          <a:ln w="38100">
            <a:solidFill>
              <a:srgbClr val="2A5B84"/>
            </a:solidFill>
          </a:ln>
        </p:spPr>
      </p:cxnSp>
      <p:cxnSp>
        <p:nvCxnSpPr>
          <p:cNvPr id="117" name="Connector 117"/>
          <p:cNvCxnSpPr/>
          <p:nvPr/>
        </p:nvCxnSpPr>
        <p:spPr>
          <a:xfrm>
            <a:off x="8583930" y="4651394"/>
            <a:ext cx="127635" cy="7028"/>
          </a:xfrm>
          <a:prstGeom prst="line">
            <a:avLst/>
          </a:prstGeom>
          <a:ln w="38100">
            <a:solidFill>
              <a:srgbClr val="2A5B84"/>
            </a:solidFill>
          </a:ln>
        </p:spPr>
      </p:cxnSp>
      <p:cxnSp>
        <p:nvCxnSpPr>
          <p:cNvPr id="118" name="Connector 118"/>
          <p:cNvCxnSpPr/>
          <p:nvPr/>
        </p:nvCxnSpPr>
        <p:spPr>
          <a:xfrm>
            <a:off x="8711565" y="4658422"/>
            <a:ext cx="127635" cy="6390"/>
          </a:xfrm>
          <a:prstGeom prst="line">
            <a:avLst/>
          </a:prstGeom>
          <a:ln w="38100">
            <a:solidFill>
              <a:srgbClr val="2A5B84"/>
            </a:solidFill>
          </a:ln>
        </p:spPr>
      </p:cxnSp>
      <p:cxnSp>
        <p:nvCxnSpPr>
          <p:cNvPr id="119" name="Connector 119"/>
          <p:cNvCxnSpPr/>
          <p:nvPr/>
        </p:nvCxnSpPr>
        <p:spPr>
          <a:xfrm>
            <a:off x="8839200" y="4664812"/>
            <a:ext cx="127635" cy="5782"/>
          </a:xfrm>
          <a:prstGeom prst="line">
            <a:avLst/>
          </a:prstGeom>
          <a:ln w="38100">
            <a:solidFill>
              <a:srgbClr val="2A5B84"/>
            </a:solidFill>
          </a:ln>
        </p:spPr>
      </p:cxnSp>
      <p:cxnSp>
        <p:nvCxnSpPr>
          <p:cNvPr id="120" name="Connector 120"/>
          <p:cNvCxnSpPr/>
          <p:nvPr/>
        </p:nvCxnSpPr>
        <p:spPr>
          <a:xfrm>
            <a:off x="8966835" y="4670594"/>
            <a:ext cx="127635" cy="5204"/>
          </a:xfrm>
          <a:prstGeom prst="line">
            <a:avLst/>
          </a:prstGeom>
          <a:ln w="38100">
            <a:solidFill>
              <a:srgbClr val="2A5B84"/>
            </a:solidFill>
          </a:ln>
        </p:spPr>
      </p:cxnSp>
      <p:cxnSp>
        <p:nvCxnSpPr>
          <p:cNvPr id="121" name="Connector 121"/>
          <p:cNvCxnSpPr/>
          <p:nvPr/>
        </p:nvCxnSpPr>
        <p:spPr>
          <a:xfrm>
            <a:off x="9094470" y="4675798"/>
            <a:ext cx="127635" cy="4657"/>
          </a:xfrm>
          <a:prstGeom prst="line">
            <a:avLst/>
          </a:prstGeom>
          <a:ln w="38100">
            <a:solidFill>
              <a:srgbClr val="2A5B84"/>
            </a:solidFill>
          </a:ln>
        </p:spPr>
      </p:cxnSp>
      <p:cxnSp>
        <p:nvCxnSpPr>
          <p:cNvPr id="122" name="Connector 122"/>
          <p:cNvCxnSpPr/>
          <p:nvPr/>
        </p:nvCxnSpPr>
        <p:spPr>
          <a:xfrm>
            <a:off x="9222105" y="4680455"/>
            <a:ext cx="127635" cy="4140"/>
          </a:xfrm>
          <a:prstGeom prst="line">
            <a:avLst/>
          </a:prstGeom>
          <a:ln w="38100">
            <a:solidFill>
              <a:srgbClr val="2A5B84"/>
            </a:solidFill>
          </a:ln>
        </p:spPr>
      </p:cxnSp>
      <p:cxnSp>
        <p:nvCxnSpPr>
          <p:cNvPr id="123" name="Connector 123"/>
          <p:cNvCxnSpPr/>
          <p:nvPr/>
        </p:nvCxnSpPr>
        <p:spPr>
          <a:xfrm>
            <a:off x="9349740" y="4684595"/>
            <a:ext cx="127635" cy="3653"/>
          </a:xfrm>
          <a:prstGeom prst="line">
            <a:avLst/>
          </a:prstGeom>
          <a:ln w="38100">
            <a:solidFill>
              <a:srgbClr val="2A5B84"/>
            </a:solidFill>
          </a:ln>
        </p:spPr>
      </p:cxnSp>
      <p:cxnSp>
        <p:nvCxnSpPr>
          <p:cNvPr id="124" name="Connector 124"/>
          <p:cNvCxnSpPr/>
          <p:nvPr/>
        </p:nvCxnSpPr>
        <p:spPr>
          <a:xfrm>
            <a:off x="9477375" y="4688248"/>
            <a:ext cx="127635" cy="3197"/>
          </a:xfrm>
          <a:prstGeom prst="line">
            <a:avLst/>
          </a:prstGeom>
          <a:ln w="38100">
            <a:solidFill>
              <a:srgbClr val="2A5B84"/>
            </a:solidFill>
          </a:ln>
        </p:spPr>
      </p:cxnSp>
      <p:cxnSp>
        <p:nvCxnSpPr>
          <p:cNvPr id="125" name="Connector 125"/>
          <p:cNvCxnSpPr/>
          <p:nvPr/>
        </p:nvCxnSpPr>
        <p:spPr>
          <a:xfrm>
            <a:off x="9605010" y="4691445"/>
            <a:ext cx="127635" cy="2772"/>
          </a:xfrm>
          <a:prstGeom prst="line">
            <a:avLst/>
          </a:prstGeom>
          <a:ln w="38100">
            <a:solidFill>
              <a:srgbClr val="2A5B84"/>
            </a:solidFill>
          </a:ln>
        </p:spPr>
      </p:cxnSp>
      <p:cxnSp>
        <p:nvCxnSpPr>
          <p:cNvPr id="126" name="Connector 126"/>
          <p:cNvCxnSpPr/>
          <p:nvPr/>
        </p:nvCxnSpPr>
        <p:spPr>
          <a:xfrm>
            <a:off x="9732645" y="4694217"/>
            <a:ext cx="127635" cy="2377"/>
          </a:xfrm>
          <a:prstGeom prst="line">
            <a:avLst/>
          </a:prstGeom>
          <a:ln w="38100">
            <a:solidFill>
              <a:srgbClr val="2A5B84"/>
            </a:solidFill>
          </a:ln>
        </p:spPr>
      </p:cxnSp>
      <p:cxnSp>
        <p:nvCxnSpPr>
          <p:cNvPr id="127" name="Connector 127"/>
          <p:cNvCxnSpPr/>
          <p:nvPr/>
        </p:nvCxnSpPr>
        <p:spPr>
          <a:xfrm>
            <a:off x="9860280" y="4696594"/>
            <a:ext cx="127635" cy="2012"/>
          </a:xfrm>
          <a:prstGeom prst="line">
            <a:avLst/>
          </a:prstGeom>
          <a:ln w="38100">
            <a:solidFill>
              <a:srgbClr val="2A5B84"/>
            </a:solidFill>
          </a:ln>
        </p:spPr>
      </p:cxnSp>
      <p:cxnSp>
        <p:nvCxnSpPr>
          <p:cNvPr id="128" name="Connector 128"/>
          <p:cNvCxnSpPr/>
          <p:nvPr/>
        </p:nvCxnSpPr>
        <p:spPr>
          <a:xfrm>
            <a:off x="9987915" y="4698605"/>
            <a:ext cx="127635" cy="1677"/>
          </a:xfrm>
          <a:prstGeom prst="line">
            <a:avLst/>
          </a:prstGeom>
          <a:ln w="38100">
            <a:solidFill>
              <a:srgbClr val="2A5B84"/>
            </a:solidFill>
          </a:ln>
        </p:spPr>
      </p:cxnSp>
      <p:cxnSp>
        <p:nvCxnSpPr>
          <p:cNvPr id="129" name="Connector 129"/>
          <p:cNvCxnSpPr/>
          <p:nvPr/>
        </p:nvCxnSpPr>
        <p:spPr>
          <a:xfrm>
            <a:off x="10115550" y="4700283"/>
            <a:ext cx="127635" cy="1373"/>
          </a:xfrm>
          <a:prstGeom prst="line">
            <a:avLst/>
          </a:prstGeom>
          <a:ln w="38100">
            <a:solidFill>
              <a:srgbClr val="2A5B84"/>
            </a:solidFill>
          </a:ln>
        </p:spPr>
      </p:cxnSp>
      <p:cxnSp>
        <p:nvCxnSpPr>
          <p:cNvPr id="130" name="Connector 130"/>
          <p:cNvCxnSpPr/>
          <p:nvPr/>
        </p:nvCxnSpPr>
        <p:spPr>
          <a:xfrm>
            <a:off x="10243185" y="4701656"/>
            <a:ext cx="127635" cy="1100"/>
          </a:xfrm>
          <a:prstGeom prst="line">
            <a:avLst/>
          </a:prstGeom>
          <a:ln w="38100">
            <a:solidFill>
              <a:srgbClr val="2A5B84"/>
            </a:solidFill>
          </a:ln>
        </p:spPr>
      </p:cxnSp>
      <p:cxnSp>
        <p:nvCxnSpPr>
          <p:cNvPr id="131" name="Connector 131"/>
          <p:cNvCxnSpPr/>
          <p:nvPr/>
        </p:nvCxnSpPr>
        <p:spPr>
          <a:xfrm>
            <a:off x="10370820" y="4702756"/>
            <a:ext cx="127635" cy="856"/>
          </a:xfrm>
          <a:prstGeom prst="line">
            <a:avLst/>
          </a:prstGeom>
          <a:ln w="38100">
            <a:solidFill>
              <a:srgbClr val="2A5B84"/>
            </a:solidFill>
          </a:ln>
        </p:spPr>
      </p:cxnSp>
      <p:cxnSp>
        <p:nvCxnSpPr>
          <p:cNvPr id="132" name="Connector 132"/>
          <p:cNvCxnSpPr/>
          <p:nvPr/>
        </p:nvCxnSpPr>
        <p:spPr>
          <a:xfrm>
            <a:off x="10498455" y="4703612"/>
            <a:ext cx="127635" cy="644"/>
          </a:xfrm>
          <a:prstGeom prst="line">
            <a:avLst/>
          </a:prstGeom>
          <a:ln w="38100">
            <a:solidFill>
              <a:srgbClr val="2A5B84"/>
            </a:solidFill>
          </a:ln>
        </p:spPr>
      </p:cxnSp>
      <p:cxnSp>
        <p:nvCxnSpPr>
          <p:cNvPr id="133" name="Connector 133"/>
          <p:cNvCxnSpPr/>
          <p:nvPr/>
        </p:nvCxnSpPr>
        <p:spPr>
          <a:xfrm>
            <a:off x="10626090" y="4704255"/>
            <a:ext cx="127635" cy="461"/>
          </a:xfrm>
          <a:prstGeom prst="line">
            <a:avLst/>
          </a:prstGeom>
          <a:ln w="38100">
            <a:solidFill>
              <a:srgbClr val="2A5B84"/>
            </a:solidFill>
          </a:ln>
        </p:spPr>
      </p:cxnSp>
      <p:cxnSp>
        <p:nvCxnSpPr>
          <p:cNvPr id="134" name="Connector 134"/>
          <p:cNvCxnSpPr/>
          <p:nvPr/>
        </p:nvCxnSpPr>
        <p:spPr>
          <a:xfrm>
            <a:off x="10753725" y="4704717"/>
            <a:ext cx="127635" cy="309"/>
          </a:xfrm>
          <a:prstGeom prst="line">
            <a:avLst/>
          </a:prstGeom>
          <a:ln w="38100">
            <a:solidFill>
              <a:srgbClr val="2A5B84"/>
            </a:solidFill>
          </a:ln>
        </p:spPr>
      </p:cxnSp>
      <p:cxnSp>
        <p:nvCxnSpPr>
          <p:cNvPr id="135" name="Connector 135"/>
          <p:cNvCxnSpPr/>
          <p:nvPr/>
        </p:nvCxnSpPr>
        <p:spPr>
          <a:xfrm>
            <a:off x="10881360" y="4705026"/>
            <a:ext cx="127635" cy="187"/>
          </a:xfrm>
          <a:prstGeom prst="line">
            <a:avLst/>
          </a:prstGeom>
          <a:ln w="38100">
            <a:solidFill>
              <a:srgbClr val="2A5B84"/>
            </a:solidFill>
          </a:ln>
        </p:spPr>
      </p:cxnSp>
      <p:cxnSp>
        <p:nvCxnSpPr>
          <p:cNvPr id="136" name="Connector 136"/>
          <p:cNvCxnSpPr/>
          <p:nvPr/>
        </p:nvCxnSpPr>
        <p:spPr>
          <a:xfrm>
            <a:off x="11008995" y="4705213"/>
            <a:ext cx="127635" cy="96"/>
          </a:xfrm>
          <a:prstGeom prst="line">
            <a:avLst/>
          </a:prstGeom>
          <a:ln w="38100">
            <a:solidFill>
              <a:srgbClr val="2A5B84"/>
            </a:solidFill>
          </a:ln>
        </p:spPr>
      </p:cxnSp>
      <p:cxnSp>
        <p:nvCxnSpPr>
          <p:cNvPr id="137" name="Connector 137"/>
          <p:cNvCxnSpPr/>
          <p:nvPr/>
        </p:nvCxnSpPr>
        <p:spPr>
          <a:xfrm>
            <a:off x="11136630" y="4705309"/>
            <a:ext cx="127635" cy="35"/>
          </a:xfrm>
          <a:prstGeom prst="line">
            <a:avLst/>
          </a:prstGeom>
          <a:ln w="38100">
            <a:solidFill>
              <a:srgbClr val="2A5B84"/>
            </a:solidFill>
          </a:ln>
        </p:spPr>
      </p:cxnSp>
      <p:cxnSp>
        <p:nvCxnSpPr>
          <p:cNvPr id="138" name="Connector 138"/>
          <p:cNvCxnSpPr/>
          <p:nvPr/>
        </p:nvCxnSpPr>
        <p:spPr>
          <a:xfrm>
            <a:off x="11264265" y="4705345"/>
            <a:ext cx="127635" cy="5"/>
          </a:xfrm>
          <a:prstGeom prst="line">
            <a:avLst/>
          </a:prstGeom>
          <a:ln w="38100">
            <a:solidFill>
              <a:srgbClr val="2A5B84"/>
            </a:solidFill>
          </a:ln>
        </p:spPr>
      </p:cxnSp>
      <p:cxnSp>
        <p:nvCxnSpPr>
          <p:cNvPr id="139" name="Connector 139"/>
          <p:cNvCxnSpPr/>
          <p:nvPr/>
        </p:nvCxnSpPr>
        <p:spPr>
          <a:xfrm flipV="1">
            <a:off x="1181100" y="4705013"/>
            <a:ext cx="127635" cy="337"/>
          </a:xfrm>
          <a:prstGeom prst="line">
            <a:avLst/>
          </a:prstGeom>
          <a:ln w="50800">
            <a:solidFill>
              <a:srgbClr val="D71920"/>
            </a:solidFill>
          </a:ln>
        </p:spPr>
      </p:cxnSp>
      <p:cxnSp>
        <p:nvCxnSpPr>
          <p:cNvPr id="140" name="Connector 140"/>
          <p:cNvCxnSpPr/>
          <p:nvPr/>
        </p:nvCxnSpPr>
        <p:spPr>
          <a:xfrm flipV="1">
            <a:off x="1308735" y="4702786"/>
            <a:ext cx="127635" cy="2227"/>
          </a:xfrm>
          <a:prstGeom prst="line">
            <a:avLst/>
          </a:prstGeom>
          <a:ln w="50800">
            <a:solidFill>
              <a:srgbClr val="D71920"/>
            </a:solidFill>
          </a:ln>
        </p:spPr>
      </p:cxnSp>
      <p:cxnSp>
        <p:nvCxnSpPr>
          <p:cNvPr id="141" name="Connector 141"/>
          <p:cNvCxnSpPr/>
          <p:nvPr/>
        </p:nvCxnSpPr>
        <p:spPr>
          <a:xfrm flipV="1">
            <a:off x="1436370" y="4697131"/>
            <a:ext cx="127635" cy="5655"/>
          </a:xfrm>
          <a:prstGeom prst="line">
            <a:avLst/>
          </a:prstGeom>
          <a:ln w="50800">
            <a:solidFill>
              <a:srgbClr val="D71920"/>
            </a:solidFill>
          </a:ln>
        </p:spPr>
      </p:cxnSp>
      <p:cxnSp>
        <p:nvCxnSpPr>
          <p:cNvPr id="142" name="Connector 142"/>
          <p:cNvCxnSpPr/>
          <p:nvPr/>
        </p:nvCxnSpPr>
        <p:spPr>
          <a:xfrm flipV="1">
            <a:off x="1564005" y="4686860"/>
            <a:ext cx="127635" cy="10271"/>
          </a:xfrm>
          <a:prstGeom prst="line">
            <a:avLst/>
          </a:prstGeom>
          <a:ln w="50800">
            <a:solidFill>
              <a:srgbClr val="D71920"/>
            </a:solidFill>
          </a:ln>
        </p:spPr>
      </p:cxnSp>
      <p:cxnSp>
        <p:nvCxnSpPr>
          <p:cNvPr id="143" name="Connector 143"/>
          <p:cNvCxnSpPr/>
          <p:nvPr/>
        </p:nvCxnSpPr>
        <p:spPr>
          <a:xfrm flipV="1">
            <a:off x="1691640" y="4671100"/>
            <a:ext cx="127635" cy="15760"/>
          </a:xfrm>
          <a:prstGeom prst="line">
            <a:avLst/>
          </a:prstGeom>
          <a:ln w="50800">
            <a:solidFill>
              <a:srgbClr val="D71920"/>
            </a:solidFill>
          </a:ln>
        </p:spPr>
      </p:cxnSp>
      <p:cxnSp>
        <p:nvCxnSpPr>
          <p:cNvPr id="144" name="Connector 144"/>
          <p:cNvCxnSpPr/>
          <p:nvPr/>
        </p:nvCxnSpPr>
        <p:spPr>
          <a:xfrm flipV="1">
            <a:off x="1819275" y="4649259"/>
            <a:ext cx="127635" cy="21840"/>
          </a:xfrm>
          <a:prstGeom prst="line">
            <a:avLst/>
          </a:prstGeom>
          <a:ln w="50800">
            <a:solidFill>
              <a:srgbClr val="D71920"/>
            </a:solidFill>
          </a:ln>
        </p:spPr>
      </p:cxnSp>
      <p:cxnSp>
        <p:nvCxnSpPr>
          <p:cNvPr id="145" name="Connector 145"/>
          <p:cNvCxnSpPr/>
          <p:nvPr/>
        </p:nvCxnSpPr>
        <p:spPr>
          <a:xfrm flipV="1">
            <a:off x="1946910" y="4620998"/>
            <a:ext cx="127635" cy="28261"/>
          </a:xfrm>
          <a:prstGeom prst="line">
            <a:avLst/>
          </a:prstGeom>
          <a:ln w="50800">
            <a:solidFill>
              <a:srgbClr val="D71920"/>
            </a:solidFill>
          </a:ln>
        </p:spPr>
      </p:cxnSp>
      <p:cxnSp>
        <p:nvCxnSpPr>
          <p:cNvPr id="146" name="Connector 146"/>
          <p:cNvCxnSpPr/>
          <p:nvPr/>
        </p:nvCxnSpPr>
        <p:spPr>
          <a:xfrm flipV="1">
            <a:off x="2074545" y="4586196"/>
            <a:ext cx="127635" cy="34802"/>
          </a:xfrm>
          <a:prstGeom prst="line">
            <a:avLst/>
          </a:prstGeom>
          <a:ln w="50800">
            <a:solidFill>
              <a:srgbClr val="D71920"/>
            </a:solidFill>
          </a:ln>
        </p:spPr>
      </p:cxnSp>
      <p:cxnSp>
        <p:nvCxnSpPr>
          <p:cNvPr id="147" name="Connector 147"/>
          <p:cNvCxnSpPr/>
          <p:nvPr/>
        </p:nvCxnSpPr>
        <p:spPr>
          <a:xfrm flipV="1">
            <a:off x="2202180" y="4544925"/>
            <a:ext cx="127635" cy="41270"/>
          </a:xfrm>
          <a:prstGeom prst="line">
            <a:avLst/>
          </a:prstGeom>
          <a:ln w="50800">
            <a:solidFill>
              <a:srgbClr val="D71920"/>
            </a:solidFill>
          </a:ln>
        </p:spPr>
      </p:cxnSp>
      <p:cxnSp>
        <p:nvCxnSpPr>
          <p:cNvPr id="148" name="Connector 148"/>
          <p:cNvCxnSpPr/>
          <p:nvPr/>
        </p:nvCxnSpPr>
        <p:spPr>
          <a:xfrm flipV="1">
            <a:off x="2329815" y="4497427"/>
            <a:ext cx="127635" cy="47498"/>
          </a:xfrm>
          <a:prstGeom prst="line">
            <a:avLst/>
          </a:prstGeom>
          <a:ln w="50800">
            <a:solidFill>
              <a:srgbClr val="D71920"/>
            </a:solidFill>
          </a:ln>
        </p:spPr>
      </p:cxnSp>
      <p:cxnSp>
        <p:nvCxnSpPr>
          <p:cNvPr id="149" name="Connector 149"/>
          <p:cNvCxnSpPr/>
          <p:nvPr/>
        </p:nvCxnSpPr>
        <p:spPr>
          <a:xfrm flipV="1">
            <a:off x="2457450" y="4444083"/>
            <a:ext cx="127635" cy="53344"/>
          </a:xfrm>
          <a:prstGeom prst="line">
            <a:avLst/>
          </a:prstGeom>
          <a:ln w="50800">
            <a:solidFill>
              <a:srgbClr val="D71920"/>
            </a:solidFill>
          </a:ln>
        </p:spPr>
      </p:cxnSp>
      <p:cxnSp>
        <p:nvCxnSpPr>
          <p:cNvPr id="150" name="Connector 150"/>
          <p:cNvCxnSpPr/>
          <p:nvPr/>
        </p:nvCxnSpPr>
        <p:spPr>
          <a:xfrm flipV="1">
            <a:off x="2585085" y="4385395"/>
            <a:ext cx="127635" cy="58688"/>
          </a:xfrm>
          <a:prstGeom prst="line">
            <a:avLst/>
          </a:prstGeom>
          <a:ln w="50800">
            <a:solidFill>
              <a:srgbClr val="D71920"/>
            </a:solidFill>
          </a:ln>
        </p:spPr>
      </p:cxnSp>
      <p:cxnSp>
        <p:nvCxnSpPr>
          <p:cNvPr id="151" name="Connector 151"/>
          <p:cNvCxnSpPr/>
          <p:nvPr/>
        </p:nvCxnSpPr>
        <p:spPr>
          <a:xfrm flipV="1">
            <a:off x="2712720" y="4321961"/>
            <a:ext cx="127635" cy="63433"/>
          </a:xfrm>
          <a:prstGeom prst="line">
            <a:avLst/>
          </a:prstGeom>
          <a:ln w="50800">
            <a:solidFill>
              <a:srgbClr val="D71920"/>
            </a:solidFill>
          </a:ln>
        </p:spPr>
      </p:cxnSp>
      <p:cxnSp>
        <p:nvCxnSpPr>
          <p:cNvPr id="152" name="Connector 152"/>
          <p:cNvCxnSpPr/>
          <p:nvPr/>
        </p:nvCxnSpPr>
        <p:spPr>
          <a:xfrm flipV="1">
            <a:off x="2840355" y="4254461"/>
            <a:ext cx="127635" cy="67501"/>
          </a:xfrm>
          <a:prstGeom prst="line">
            <a:avLst/>
          </a:prstGeom>
          <a:ln w="50800">
            <a:solidFill>
              <a:srgbClr val="D71920"/>
            </a:solidFill>
          </a:ln>
        </p:spPr>
      </p:cxnSp>
      <p:cxnSp>
        <p:nvCxnSpPr>
          <p:cNvPr id="153" name="Connector 153"/>
          <p:cNvCxnSpPr/>
          <p:nvPr/>
        </p:nvCxnSpPr>
        <p:spPr>
          <a:xfrm flipV="1">
            <a:off x="2967990" y="4183631"/>
            <a:ext cx="127635" cy="70830"/>
          </a:xfrm>
          <a:prstGeom prst="line">
            <a:avLst/>
          </a:prstGeom>
          <a:ln w="50800">
            <a:solidFill>
              <a:srgbClr val="D71920"/>
            </a:solidFill>
          </a:ln>
        </p:spPr>
      </p:cxnSp>
      <p:cxnSp>
        <p:nvCxnSpPr>
          <p:cNvPr id="154" name="Connector 154"/>
          <p:cNvCxnSpPr/>
          <p:nvPr/>
        </p:nvCxnSpPr>
        <p:spPr>
          <a:xfrm flipV="1">
            <a:off x="3095625" y="4110250"/>
            <a:ext cx="127635" cy="73380"/>
          </a:xfrm>
          <a:prstGeom prst="line">
            <a:avLst/>
          </a:prstGeom>
          <a:ln w="50800">
            <a:solidFill>
              <a:srgbClr val="D71920"/>
            </a:solidFill>
          </a:ln>
        </p:spPr>
      </p:cxnSp>
      <p:cxnSp>
        <p:nvCxnSpPr>
          <p:cNvPr id="155" name="Connector 155"/>
          <p:cNvCxnSpPr/>
          <p:nvPr/>
        </p:nvCxnSpPr>
        <p:spPr>
          <a:xfrm flipV="1">
            <a:off x="3223260" y="4035128"/>
            <a:ext cx="127635" cy="75123"/>
          </a:xfrm>
          <a:prstGeom prst="line">
            <a:avLst/>
          </a:prstGeom>
          <a:ln w="50800">
            <a:solidFill>
              <a:srgbClr val="D71920"/>
            </a:solidFill>
          </a:ln>
        </p:spPr>
      </p:cxnSp>
      <p:cxnSp>
        <p:nvCxnSpPr>
          <p:cNvPr id="156" name="Connector 156"/>
          <p:cNvCxnSpPr/>
          <p:nvPr/>
        </p:nvCxnSpPr>
        <p:spPr>
          <a:xfrm flipV="1">
            <a:off x="3350895" y="3959083"/>
            <a:ext cx="127635" cy="76045"/>
          </a:xfrm>
          <a:prstGeom prst="line">
            <a:avLst/>
          </a:prstGeom>
          <a:ln w="50800">
            <a:solidFill>
              <a:srgbClr val="D71920"/>
            </a:solidFill>
          </a:ln>
        </p:spPr>
      </p:cxnSp>
      <p:cxnSp>
        <p:nvCxnSpPr>
          <p:cNvPr id="157" name="Connector 157"/>
          <p:cNvCxnSpPr/>
          <p:nvPr/>
        </p:nvCxnSpPr>
        <p:spPr>
          <a:xfrm flipV="1">
            <a:off x="3478530" y="3882937"/>
            <a:ext cx="127635" cy="76146"/>
          </a:xfrm>
          <a:prstGeom prst="line">
            <a:avLst/>
          </a:prstGeom>
          <a:ln w="50800">
            <a:solidFill>
              <a:srgbClr val="D71920"/>
            </a:solidFill>
          </a:ln>
        </p:spPr>
      </p:cxnSp>
      <p:cxnSp>
        <p:nvCxnSpPr>
          <p:cNvPr id="158" name="Connector 158"/>
          <p:cNvCxnSpPr/>
          <p:nvPr/>
        </p:nvCxnSpPr>
        <p:spPr>
          <a:xfrm flipV="1">
            <a:off x="3606165" y="3807498"/>
            <a:ext cx="127635" cy="75439"/>
          </a:xfrm>
          <a:prstGeom prst="line">
            <a:avLst/>
          </a:prstGeom>
          <a:ln w="50800">
            <a:solidFill>
              <a:srgbClr val="D71920"/>
            </a:solidFill>
          </a:ln>
        </p:spPr>
      </p:cxnSp>
      <p:cxnSp>
        <p:nvCxnSpPr>
          <p:cNvPr id="159" name="Connector 159"/>
          <p:cNvCxnSpPr/>
          <p:nvPr/>
        </p:nvCxnSpPr>
        <p:spPr>
          <a:xfrm flipV="1">
            <a:off x="3733800" y="3733552"/>
            <a:ext cx="127635" cy="73945"/>
          </a:xfrm>
          <a:prstGeom prst="line">
            <a:avLst/>
          </a:prstGeom>
          <a:ln w="50800">
            <a:solidFill>
              <a:srgbClr val="D71920"/>
            </a:solidFill>
          </a:ln>
        </p:spPr>
      </p:cxnSp>
      <p:cxnSp>
        <p:nvCxnSpPr>
          <p:cNvPr id="160" name="Connector 160"/>
          <p:cNvCxnSpPr/>
          <p:nvPr/>
        </p:nvCxnSpPr>
        <p:spPr>
          <a:xfrm flipV="1">
            <a:off x="3861435" y="3661856"/>
            <a:ext cx="127635" cy="71696"/>
          </a:xfrm>
          <a:prstGeom prst="line">
            <a:avLst/>
          </a:prstGeom>
          <a:ln w="50800">
            <a:solidFill>
              <a:srgbClr val="D71920"/>
            </a:solidFill>
          </a:ln>
        </p:spPr>
      </p:cxnSp>
      <p:cxnSp>
        <p:nvCxnSpPr>
          <p:cNvPr id="161" name="Connector 161"/>
          <p:cNvCxnSpPr/>
          <p:nvPr/>
        </p:nvCxnSpPr>
        <p:spPr>
          <a:xfrm flipV="1">
            <a:off x="3989070" y="3593125"/>
            <a:ext cx="127635" cy="68732"/>
          </a:xfrm>
          <a:prstGeom prst="line">
            <a:avLst/>
          </a:prstGeom>
          <a:ln w="50800">
            <a:solidFill>
              <a:srgbClr val="D71920"/>
            </a:solidFill>
          </a:ln>
        </p:spPr>
      </p:cxnSp>
      <p:cxnSp>
        <p:nvCxnSpPr>
          <p:cNvPr id="162" name="Connector 162"/>
          <p:cNvCxnSpPr/>
          <p:nvPr/>
        </p:nvCxnSpPr>
        <p:spPr>
          <a:xfrm flipV="1">
            <a:off x="4116705" y="3528027"/>
            <a:ext cx="127635" cy="65098"/>
          </a:xfrm>
          <a:prstGeom prst="line">
            <a:avLst/>
          </a:prstGeom>
          <a:ln w="50800">
            <a:solidFill>
              <a:srgbClr val="D71920"/>
            </a:solidFill>
          </a:ln>
        </p:spPr>
      </p:cxnSp>
      <p:cxnSp>
        <p:nvCxnSpPr>
          <p:cNvPr id="163" name="Connector 163"/>
          <p:cNvCxnSpPr/>
          <p:nvPr/>
        </p:nvCxnSpPr>
        <p:spPr>
          <a:xfrm flipV="1">
            <a:off x="4244340" y="3467179"/>
            <a:ext cx="127635" cy="60848"/>
          </a:xfrm>
          <a:prstGeom prst="line">
            <a:avLst/>
          </a:prstGeom>
          <a:ln w="50800">
            <a:solidFill>
              <a:srgbClr val="D71920"/>
            </a:solidFill>
          </a:ln>
        </p:spPr>
      </p:cxnSp>
      <p:cxnSp>
        <p:nvCxnSpPr>
          <p:cNvPr id="164" name="Connector 164"/>
          <p:cNvCxnSpPr/>
          <p:nvPr/>
        </p:nvCxnSpPr>
        <p:spPr>
          <a:xfrm flipV="1">
            <a:off x="4371975" y="3411139"/>
            <a:ext cx="127635" cy="56040"/>
          </a:xfrm>
          <a:prstGeom prst="line">
            <a:avLst/>
          </a:prstGeom>
          <a:ln w="50800">
            <a:solidFill>
              <a:srgbClr val="D71920"/>
            </a:solidFill>
          </a:ln>
        </p:spPr>
      </p:cxnSp>
      <p:cxnSp>
        <p:nvCxnSpPr>
          <p:cNvPr id="165" name="Connector 165"/>
          <p:cNvCxnSpPr/>
          <p:nvPr/>
        </p:nvCxnSpPr>
        <p:spPr>
          <a:xfrm flipV="1">
            <a:off x="4499610" y="3360405"/>
            <a:ext cx="127635" cy="50735"/>
          </a:xfrm>
          <a:prstGeom prst="line">
            <a:avLst/>
          </a:prstGeom>
          <a:ln w="50800">
            <a:solidFill>
              <a:srgbClr val="D71920"/>
            </a:solidFill>
          </a:ln>
        </p:spPr>
      </p:cxnSp>
      <p:cxnSp>
        <p:nvCxnSpPr>
          <p:cNvPr id="166" name="Connector 166"/>
          <p:cNvCxnSpPr/>
          <p:nvPr/>
        </p:nvCxnSpPr>
        <p:spPr>
          <a:xfrm flipV="1">
            <a:off x="4627245" y="3315406"/>
            <a:ext cx="127635" cy="44999"/>
          </a:xfrm>
          <a:prstGeom prst="line">
            <a:avLst/>
          </a:prstGeom>
          <a:ln w="50800">
            <a:solidFill>
              <a:srgbClr val="D71920"/>
            </a:solidFill>
          </a:ln>
        </p:spPr>
      </p:cxnSp>
      <p:cxnSp>
        <p:nvCxnSpPr>
          <p:cNvPr id="167" name="Connector 167"/>
          <p:cNvCxnSpPr/>
          <p:nvPr/>
        </p:nvCxnSpPr>
        <p:spPr>
          <a:xfrm flipV="1">
            <a:off x="4754880" y="3276507"/>
            <a:ext cx="127635" cy="38899"/>
          </a:xfrm>
          <a:prstGeom prst="line">
            <a:avLst/>
          </a:prstGeom>
          <a:ln w="50800">
            <a:solidFill>
              <a:srgbClr val="D71920"/>
            </a:solidFill>
          </a:ln>
        </p:spPr>
      </p:cxnSp>
      <p:cxnSp>
        <p:nvCxnSpPr>
          <p:cNvPr id="168" name="Connector 168"/>
          <p:cNvCxnSpPr/>
          <p:nvPr/>
        </p:nvCxnSpPr>
        <p:spPr>
          <a:xfrm flipV="1">
            <a:off x="4882515" y="3244002"/>
            <a:ext cx="127635" cy="32505"/>
          </a:xfrm>
          <a:prstGeom prst="line">
            <a:avLst/>
          </a:prstGeom>
          <a:ln w="50800">
            <a:solidFill>
              <a:srgbClr val="D71920"/>
            </a:solidFill>
          </a:ln>
        </p:spPr>
      </p:cxnSp>
      <p:cxnSp>
        <p:nvCxnSpPr>
          <p:cNvPr id="169" name="Connector 169"/>
          <p:cNvCxnSpPr/>
          <p:nvPr/>
        </p:nvCxnSpPr>
        <p:spPr>
          <a:xfrm flipV="1">
            <a:off x="5010150" y="3218116"/>
            <a:ext cx="127635" cy="25886"/>
          </a:xfrm>
          <a:prstGeom prst="line">
            <a:avLst/>
          </a:prstGeom>
          <a:ln w="50800">
            <a:solidFill>
              <a:srgbClr val="D71920"/>
            </a:solidFill>
          </a:ln>
        </p:spPr>
      </p:cxnSp>
      <p:cxnSp>
        <p:nvCxnSpPr>
          <p:cNvPr id="170" name="Connector 170"/>
          <p:cNvCxnSpPr/>
          <p:nvPr/>
        </p:nvCxnSpPr>
        <p:spPr>
          <a:xfrm flipV="1">
            <a:off x="5137785" y="3199004"/>
            <a:ext cx="127635" cy="19112"/>
          </a:xfrm>
          <a:prstGeom prst="line">
            <a:avLst/>
          </a:prstGeom>
          <a:ln w="50800">
            <a:solidFill>
              <a:srgbClr val="D71920"/>
            </a:solidFill>
          </a:ln>
        </p:spPr>
      </p:cxnSp>
      <p:cxnSp>
        <p:nvCxnSpPr>
          <p:cNvPr id="171" name="Connector 171"/>
          <p:cNvCxnSpPr/>
          <p:nvPr/>
        </p:nvCxnSpPr>
        <p:spPr>
          <a:xfrm flipV="1">
            <a:off x="5265420" y="3186751"/>
            <a:ext cx="127635" cy="12253"/>
          </a:xfrm>
          <a:prstGeom prst="line">
            <a:avLst/>
          </a:prstGeom>
          <a:ln w="50800">
            <a:solidFill>
              <a:srgbClr val="D71920"/>
            </a:solidFill>
          </a:ln>
        </p:spPr>
      </p:cxnSp>
      <p:cxnSp>
        <p:nvCxnSpPr>
          <p:cNvPr id="172" name="Connector 172"/>
          <p:cNvCxnSpPr/>
          <p:nvPr/>
        </p:nvCxnSpPr>
        <p:spPr>
          <a:xfrm flipV="1">
            <a:off x="5393055" y="3181375"/>
            <a:ext cx="127635" cy="5376"/>
          </a:xfrm>
          <a:prstGeom prst="line">
            <a:avLst/>
          </a:prstGeom>
          <a:ln w="50800">
            <a:solidFill>
              <a:srgbClr val="D71920"/>
            </a:solidFill>
          </a:ln>
        </p:spPr>
      </p:cxnSp>
      <p:cxnSp>
        <p:nvCxnSpPr>
          <p:cNvPr id="173" name="Connector 173"/>
          <p:cNvCxnSpPr/>
          <p:nvPr/>
        </p:nvCxnSpPr>
        <p:spPr>
          <a:xfrm>
            <a:off x="5520690" y="3181375"/>
            <a:ext cx="127635" cy="1452"/>
          </a:xfrm>
          <a:prstGeom prst="line">
            <a:avLst/>
          </a:prstGeom>
          <a:ln w="50800">
            <a:solidFill>
              <a:srgbClr val="D71920"/>
            </a:solidFill>
          </a:ln>
        </p:spPr>
      </p:cxnSp>
      <p:cxnSp>
        <p:nvCxnSpPr>
          <p:cNvPr id="174" name="Connector 174"/>
          <p:cNvCxnSpPr/>
          <p:nvPr/>
        </p:nvCxnSpPr>
        <p:spPr>
          <a:xfrm>
            <a:off x="5648325" y="3182826"/>
            <a:ext cx="127635" cy="8167"/>
          </a:xfrm>
          <a:prstGeom prst="line">
            <a:avLst/>
          </a:prstGeom>
          <a:ln w="50800">
            <a:solidFill>
              <a:srgbClr val="D71920"/>
            </a:solidFill>
          </a:ln>
        </p:spPr>
      </p:cxnSp>
      <p:cxnSp>
        <p:nvCxnSpPr>
          <p:cNvPr id="175" name="Connector 175"/>
          <p:cNvCxnSpPr/>
          <p:nvPr/>
        </p:nvCxnSpPr>
        <p:spPr>
          <a:xfrm>
            <a:off x="5775960" y="3190994"/>
            <a:ext cx="127635" cy="14710"/>
          </a:xfrm>
          <a:prstGeom prst="line">
            <a:avLst/>
          </a:prstGeom>
          <a:ln w="50800">
            <a:solidFill>
              <a:srgbClr val="D71920"/>
            </a:solidFill>
          </a:ln>
        </p:spPr>
      </p:cxnSp>
      <p:cxnSp>
        <p:nvCxnSpPr>
          <p:cNvPr id="176" name="Connector 176"/>
          <p:cNvCxnSpPr/>
          <p:nvPr/>
        </p:nvCxnSpPr>
        <p:spPr>
          <a:xfrm>
            <a:off x="5903595" y="3205704"/>
            <a:ext cx="127635" cy="21022"/>
          </a:xfrm>
          <a:prstGeom prst="line">
            <a:avLst/>
          </a:prstGeom>
          <a:ln w="50800">
            <a:solidFill>
              <a:srgbClr val="D71920"/>
            </a:solidFill>
          </a:ln>
        </p:spPr>
      </p:cxnSp>
      <p:cxnSp>
        <p:nvCxnSpPr>
          <p:cNvPr id="177" name="Connector 177"/>
          <p:cNvCxnSpPr/>
          <p:nvPr/>
        </p:nvCxnSpPr>
        <p:spPr>
          <a:xfrm>
            <a:off x="6031230" y="3226726"/>
            <a:ext cx="127635" cy="27050"/>
          </a:xfrm>
          <a:prstGeom prst="line">
            <a:avLst/>
          </a:prstGeom>
          <a:ln w="50800">
            <a:solidFill>
              <a:srgbClr val="D71920"/>
            </a:solidFill>
          </a:ln>
        </p:spPr>
      </p:cxnSp>
      <p:cxnSp>
        <p:nvCxnSpPr>
          <p:cNvPr id="178" name="Connector 178"/>
          <p:cNvCxnSpPr/>
          <p:nvPr/>
        </p:nvCxnSpPr>
        <p:spPr>
          <a:xfrm>
            <a:off x="6158865" y="3253776"/>
            <a:ext cx="127635" cy="32746"/>
          </a:xfrm>
          <a:prstGeom prst="line">
            <a:avLst/>
          </a:prstGeom>
          <a:ln w="50800">
            <a:solidFill>
              <a:srgbClr val="D71920"/>
            </a:solidFill>
          </a:ln>
        </p:spPr>
      </p:cxnSp>
      <p:cxnSp>
        <p:nvCxnSpPr>
          <p:cNvPr id="179" name="Connector 179"/>
          <p:cNvCxnSpPr/>
          <p:nvPr/>
        </p:nvCxnSpPr>
        <p:spPr>
          <a:xfrm>
            <a:off x="6286500" y="3286522"/>
            <a:ext cx="127635" cy="38063"/>
          </a:xfrm>
          <a:prstGeom prst="line">
            <a:avLst/>
          </a:prstGeom>
          <a:ln w="50800">
            <a:solidFill>
              <a:srgbClr val="D71920"/>
            </a:solidFill>
          </a:ln>
        </p:spPr>
      </p:cxnSp>
      <p:cxnSp>
        <p:nvCxnSpPr>
          <p:cNvPr id="180" name="Connector 180"/>
          <p:cNvCxnSpPr/>
          <p:nvPr/>
        </p:nvCxnSpPr>
        <p:spPr>
          <a:xfrm>
            <a:off x="6414135" y="3324585"/>
            <a:ext cx="127635" cy="42962"/>
          </a:xfrm>
          <a:prstGeom prst="line">
            <a:avLst/>
          </a:prstGeom>
          <a:ln w="50800">
            <a:solidFill>
              <a:srgbClr val="D71920"/>
            </a:solidFill>
          </a:ln>
        </p:spPr>
      </p:cxnSp>
      <p:cxnSp>
        <p:nvCxnSpPr>
          <p:cNvPr id="181" name="Connector 181"/>
          <p:cNvCxnSpPr/>
          <p:nvPr/>
        </p:nvCxnSpPr>
        <p:spPr>
          <a:xfrm>
            <a:off x="6541770" y="3367547"/>
            <a:ext cx="127635" cy="47409"/>
          </a:xfrm>
          <a:prstGeom prst="line">
            <a:avLst/>
          </a:prstGeom>
          <a:ln w="50800">
            <a:solidFill>
              <a:srgbClr val="D71920"/>
            </a:solidFill>
          </a:ln>
        </p:spPr>
      </p:cxnSp>
      <p:cxnSp>
        <p:nvCxnSpPr>
          <p:cNvPr id="182" name="Connector 182"/>
          <p:cNvCxnSpPr/>
          <p:nvPr/>
        </p:nvCxnSpPr>
        <p:spPr>
          <a:xfrm>
            <a:off x="6669405" y="3414957"/>
            <a:ext cx="127635" cy="51375"/>
          </a:xfrm>
          <a:prstGeom prst="line">
            <a:avLst/>
          </a:prstGeom>
          <a:ln w="50800">
            <a:solidFill>
              <a:srgbClr val="D71920"/>
            </a:solidFill>
          </a:ln>
        </p:spPr>
      </p:cxnSp>
      <p:cxnSp>
        <p:nvCxnSpPr>
          <p:cNvPr id="183" name="Connector 183"/>
          <p:cNvCxnSpPr/>
          <p:nvPr/>
        </p:nvCxnSpPr>
        <p:spPr>
          <a:xfrm>
            <a:off x="6797040" y="3466331"/>
            <a:ext cx="127635" cy="54834"/>
          </a:xfrm>
          <a:prstGeom prst="line">
            <a:avLst/>
          </a:prstGeom>
          <a:ln w="50800">
            <a:solidFill>
              <a:srgbClr val="D71920"/>
            </a:solidFill>
          </a:ln>
        </p:spPr>
      </p:cxnSp>
      <p:cxnSp>
        <p:nvCxnSpPr>
          <p:cNvPr id="184" name="Connector 184"/>
          <p:cNvCxnSpPr/>
          <p:nvPr/>
        </p:nvCxnSpPr>
        <p:spPr>
          <a:xfrm>
            <a:off x="6924675" y="3521165"/>
            <a:ext cx="127635" cy="57769"/>
          </a:xfrm>
          <a:prstGeom prst="line">
            <a:avLst/>
          </a:prstGeom>
          <a:ln w="50800">
            <a:solidFill>
              <a:srgbClr val="D71920"/>
            </a:solidFill>
          </a:ln>
        </p:spPr>
      </p:cxnSp>
      <p:cxnSp>
        <p:nvCxnSpPr>
          <p:cNvPr id="185" name="Connector 185"/>
          <p:cNvCxnSpPr/>
          <p:nvPr/>
        </p:nvCxnSpPr>
        <p:spPr>
          <a:xfrm>
            <a:off x="7052310" y="3578933"/>
            <a:ext cx="127635" cy="60166"/>
          </a:xfrm>
          <a:prstGeom prst="line">
            <a:avLst/>
          </a:prstGeom>
          <a:ln w="50800">
            <a:solidFill>
              <a:srgbClr val="D71920"/>
            </a:solidFill>
          </a:ln>
        </p:spPr>
      </p:cxnSp>
      <p:cxnSp>
        <p:nvCxnSpPr>
          <p:cNvPr id="186" name="Connector 186"/>
          <p:cNvCxnSpPr/>
          <p:nvPr/>
        </p:nvCxnSpPr>
        <p:spPr>
          <a:xfrm>
            <a:off x="7179945" y="3639100"/>
            <a:ext cx="127635" cy="62020"/>
          </a:xfrm>
          <a:prstGeom prst="line">
            <a:avLst/>
          </a:prstGeom>
          <a:ln w="50800">
            <a:solidFill>
              <a:srgbClr val="D71920"/>
            </a:solidFill>
          </a:ln>
        </p:spPr>
      </p:cxnSp>
      <p:cxnSp>
        <p:nvCxnSpPr>
          <p:cNvPr id="187" name="Connector 187"/>
          <p:cNvCxnSpPr/>
          <p:nvPr/>
        </p:nvCxnSpPr>
        <p:spPr>
          <a:xfrm>
            <a:off x="7307580" y="3701119"/>
            <a:ext cx="127635" cy="63328"/>
          </a:xfrm>
          <a:prstGeom prst="line">
            <a:avLst/>
          </a:prstGeom>
          <a:ln w="50800">
            <a:solidFill>
              <a:srgbClr val="D71920"/>
            </a:solidFill>
          </a:ln>
        </p:spPr>
      </p:cxnSp>
      <p:cxnSp>
        <p:nvCxnSpPr>
          <p:cNvPr id="188" name="Connector 188"/>
          <p:cNvCxnSpPr/>
          <p:nvPr/>
        </p:nvCxnSpPr>
        <p:spPr>
          <a:xfrm>
            <a:off x="7435215" y="3764447"/>
            <a:ext cx="127635" cy="64094"/>
          </a:xfrm>
          <a:prstGeom prst="line">
            <a:avLst/>
          </a:prstGeom>
          <a:ln w="50800">
            <a:solidFill>
              <a:srgbClr val="D71920"/>
            </a:solidFill>
          </a:ln>
        </p:spPr>
      </p:cxnSp>
      <p:cxnSp>
        <p:nvCxnSpPr>
          <p:cNvPr id="189" name="Connector 189"/>
          <p:cNvCxnSpPr/>
          <p:nvPr/>
        </p:nvCxnSpPr>
        <p:spPr>
          <a:xfrm>
            <a:off x="7562850" y="3828541"/>
            <a:ext cx="127635" cy="64329"/>
          </a:xfrm>
          <a:prstGeom prst="line">
            <a:avLst/>
          </a:prstGeom>
          <a:ln w="50800">
            <a:solidFill>
              <a:srgbClr val="D71920"/>
            </a:solidFill>
          </a:ln>
        </p:spPr>
      </p:cxnSp>
      <p:cxnSp>
        <p:nvCxnSpPr>
          <p:cNvPr id="190" name="Connector 190"/>
          <p:cNvCxnSpPr/>
          <p:nvPr/>
        </p:nvCxnSpPr>
        <p:spPr>
          <a:xfrm>
            <a:off x="7690485" y="3892871"/>
            <a:ext cx="127635" cy="64048"/>
          </a:xfrm>
          <a:prstGeom prst="line">
            <a:avLst/>
          </a:prstGeom>
          <a:ln w="50800">
            <a:solidFill>
              <a:srgbClr val="D71920"/>
            </a:solidFill>
          </a:ln>
        </p:spPr>
      </p:cxnSp>
      <p:cxnSp>
        <p:nvCxnSpPr>
          <p:cNvPr id="191" name="Connector 191"/>
          <p:cNvCxnSpPr/>
          <p:nvPr/>
        </p:nvCxnSpPr>
        <p:spPr>
          <a:xfrm>
            <a:off x="7818120" y="3956919"/>
            <a:ext cx="127635" cy="63271"/>
          </a:xfrm>
          <a:prstGeom prst="line">
            <a:avLst/>
          </a:prstGeom>
          <a:ln w="50800">
            <a:solidFill>
              <a:srgbClr val="D71920"/>
            </a:solidFill>
          </a:ln>
        </p:spPr>
      </p:cxnSp>
      <p:cxnSp>
        <p:nvCxnSpPr>
          <p:cNvPr id="192" name="Connector 192"/>
          <p:cNvCxnSpPr/>
          <p:nvPr/>
        </p:nvCxnSpPr>
        <p:spPr>
          <a:xfrm>
            <a:off x="7945755" y="4020189"/>
            <a:ext cx="127635" cy="62022"/>
          </a:xfrm>
          <a:prstGeom prst="line">
            <a:avLst/>
          </a:prstGeom>
          <a:ln w="50800">
            <a:solidFill>
              <a:srgbClr val="D71920"/>
            </a:solidFill>
          </a:ln>
        </p:spPr>
      </p:cxnSp>
      <p:cxnSp>
        <p:nvCxnSpPr>
          <p:cNvPr id="193" name="Connector 193"/>
          <p:cNvCxnSpPr/>
          <p:nvPr/>
        </p:nvCxnSpPr>
        <p:spPr>
          <a:xfrm>
            <a:off x="8073390" y="4082212"/>
            <a:ext cx="127635" cy="60333"/>
          </a:xfrm>
          <a:prstGeom prst="line">
            <a:avLst/>
          </a:prstGeom>
          <a:ln w="50800">
            <a:solidFill>
              <a:srgbClr val="D71920"/>
            </a:solidFill>
          </a:ln>
        </p:spPr>
      </p:cxnSp>
      <p:cxnSp>
        <p:nvCxnSpPr>
          <p:cNvPr id="194" name="Connector 194"/>
          <p:cNvCxnSpPr/>
          <p:nvPr/>
        </p:nvCxnSpPr>
        <p:spPr>
          <a:xfrm>
            <a:off x="8201025" y="4142545"/>
            <a:ext cx="127635" cy="58238"/>
          </a:xfrm>
          <a:prstGeom prst="line">
            <a:avLst/>
          </a:prstGeom>
          <a:ln w="50800">
            <a:solidFill>
              <a:srgbClr val="D71920"/>
            </a:solidFill>
          </a:ln>
        </p:spPr>
      </p:cxnSp>
      <p:cxnSp>
        <p:nvCxnSpPr>
          <p:cNvPr id="195" name="Connector 195"/>
          <p:cNvCxnSpPr/>
          <p:nvPr/>
        </p:nvCxnSpPr>
        <p:spPr>
          <a:xfrm>
            <a:off x="8328660" y="4200783"/>
            <a:ext cx="127635" cy="55774"/>
          </a:xfrm>
          <a:prstGeom prst="line">
            <a:avLst/>
          </a:prstGeom>
          <a:ln w="50800">
            <a:solidFill>
              <a:srgbClr val="D71920"/>
            </a:solidFill>
          </a:ln>
        </p:spPr>
      </p:cxnSp>
      <p:cxnSp>
        <p:nvCxnSpPr>
          <p:cNvPr id="196" name="Connector 196"/>
          <p:cNvCxnSpPr/>
          <p:nvPr/>
        </p:nvCxnSpPr>
        <p:spPr>
          <a:xfrm>
            <a:off x="8456295" y="4256557"/>
            <a:ext cx="127635" cy="52985"/>
          </a:xfrm>
          <a:prstGeom prst="line">
            <a:avLst/>
          </a:prstGeom>
          <a:ln w="50800">
            <a:solidFill>
              <a:srgbClr val="D71920"/>
            </a:solidFill>
          </a:ln>
        </p:spPr>
      </p:cxnSp>
      <p:cxnSp>
        <p:nvCxnSpPr>
          <p:cNvPr id="197" name="Connector 197"/>
          <p:cNvCxnSpPr/>
          <p:nvPr/>
        </p:nvCxnSpPr>
        <p:spPr>
          <a:xfrm>
            <a:off x="8583930" y="4309542"/>
            <a:ext cx="127635" cy="49914"/>
          </a:xfrm>
          <a:prstGeom prst="line">
            <a:avLst/>
          </a:prstGeom>
          <a:ln w="50800">
            <a:solidFill>
              <a:srgbClr val="D71920"/>
            </a:solidFill>
          </a:ln>
        </p:spPr>
      </p:cxnSp>
      <p:cxnSp>
        <p:nvCxnSpPr>
          <p:cNvPr id="198" name="Connector 198"/>
          <p:cNvCxnSpPr/>
          <p:nvPr/>
        </p:nvCxnSpPr>
        <p:spPr>
          <a:xfrm>
            <a:off x="8711565" y="4359456"/>
            <a:ext cx="127635" cy="46610"/>
          </a:xfrm>
          <a:prstGeom prst="line">
            <a:avLst/>
          </a:prstGeom>
          <a:ln w="50800">
            <a:solidFill>
              <a:srgbClr val="D71920"/>
            </a:solidFill>
          </a:ln>
        </p:spPr>
      </p:cxnSp>
      <p:cxnSp>
        <p:nvCxnSpPr>
          <p:cNvPr id="199" name="Connector 199"/>
          <p:cNvCxnSpPr/>
          <p:nvPr/>
        </p:nvCxnSpPr>
        <p:spPr>
          <a:xfrm>
            <a:off x="8839200" y="4406066"/>
            <a:ext cx="127635" cy="43123"/>
          </a:xfrm>
          <a:prstGeom prst="line">
            <a:avLst/>
          </a:prstGeom>
          <a:ln w="50800">
            <a:solidFill>
              <a:srgbClr val="D71920"/>
            </a:solidFill>
          </a:ln>
        </p:spPr>
      </p:cxnSp>
      <p:cxnSp>
        <p:nvCxnSpPr>
          <p:cNvPr id="200" name="Connector 200"/>
          <p:cNvCxnSpPr/>
          <p:nvPr/>
        </p:nvCxnSpPr>
        <p:spPr>
          <a:xfrm>
            <a:off x="8966835" y="4449189"/>
            <a:ext cx="127635" cy="39503"/>
          </a:xfrm>
          <a:prstGeom prst="line">
            <a:avLst/>
          </a:prstGeom>
          <a:ln w="50800">
            <a:solidFill>
              <a:srgbClr val="D71920"/>
            </a:solidFill>
          </a:ln>
        </p:spPr>
      </p:cxnSp>
      <p:cxnSp>
        <p:nvCxnSpPr>
          <p:cNvPr id="201" name="Connector 201"/>
          <p:cNvCxnSpPr/>
          <p:nvPr/>
        </p:nvCxnSpPr>
        <p:spPr>
          <a:xfrm>
            <a:off x="9094470" y="4488692"/>
            <a:ext cx="127635" cy="35804"/>
          </a:xfrm>
          <a:prstGeom prst="line">
            <a:avLst/>
          </a:prstGeom>
          <a:ln w="50800">
            <a:solidFill>
              <a:srgbClr val="D71920"/>
            </a:solidFill>
          </a:ln>
        </p:spPr>
      </p:cxnSp>
      <p:cxnSp>
        <p:nvCxnSpPr>
          <p:cNvPr id="202" name="Connector 202"/>
          <p:cNvCxnSpPr/>
          <p:nvPr/>
        </p:nvCxnSpPr>
        <p:spPr>
          <a:xfrm>
            <a:off x="9222105" y="4524496"/>
            <a:ext cx="127635" cy="32079"/>
          </a:xfrm>
          <a:prstGeom prst="line">
            <a:avLst/>
          </a:prstGeom>
          <a:ln w="50800">
            <a:solidFill>
              <a:srgbClr val="D71920"/>
            </a:solidFill>
          </a:ln>
        </p:spPr>
      </p:cxnSp>
      <p:cxnSp>
        <p:nvCxnSpPr>
          <p:cNvPr id="203" name="Connector 203"/>
          <p:cNvCxnSpPr/>
          <p:nvPr/>
        </p:nvCxnSpPr>
        <p:spPr>
          <a:xfrm>
            <a:off x="9349740" y="4556575"/>
            <a:ext cx="127635" cy="28378"/>
          </a:xfrm>
          <a:prstGeom prst="line">
            <a:avLst/>
          </a:prstGeom>
          <a:ln w="50800">
            <a:solidFill>
              <a:srgbClr val="D71920"/>
            </a:solidFill>
          </a:ln>
        </p:spPr>
      </p:cxnSp>
      <p:cxnSp>
        <p:nvCxnSpPr>
          <p:cNvPr id="204" name="Connector 204"/>
          <p:cNvCxnSpPr/>
          <p:nvPr/>
        </p:nvCxnSpPr>
        <p:spPr>
          <a:xfrm>
            <a:off x="9477375" y="4584953"/>
            <a:ext cx="127635" cy="24754"/>
          </a:xfrm>
          <a:prstGeom prst="line">
            <a:avLst/>
          </a:prstGeom>
          <a:ln w="50800">
            <a:solidFill>
              <a:srgbClr val="D71920"/>
            </a:solidFill>
          </a:ln>
        </p:spPr>
      </p:cxnSp>
      <p:cxnSp>
        <p:nvCxnSpPr>
          <p:cNvPr id="205" name="Connector 205"/>
          <p:cNvCxnSpPr/>
          <p:nvPr/>
        </p:nvCxnSpPr>
        <p:spPr>
          <a:xfrm>
            <a:off x="9605010" y="4609707"/>
            <a:ext cx="127635" cy="21254"/>
          </a:xfrm>
          <a:prstGeom prst="line">
            <a:avLst/>
          </a:prstGeom>
          <a:ln w="50800">
            <a:solidFill>
              <a:srgbClr val="D71920"/>
            </a:solidFill>
          </a:ln>
        </p:spPr>
      </p:cxnSp>
      <p:cxnSp>
        <p:nvCxnSpPr>
          <p:cNvPr id="206" name="Connector 206"/>
          <p:cNvCxnSpPr/>
          <p:nvPr/>
        </p:nvCxnSpPr>
        <p:spPr>
          <a:xfrm>
            <a:off x="9732645" y="4630961"/>
            <a:ext cx="127635" cy="17926"/>
          </a:xfrm>
          <a:prstGeom prst="line">
            <a:avLst/>
          </a:prstGeom>
          <a:ln w="50800">
            <a:solidFill>
              <a:srgbClr val="D71920"/>
            </a:solidFill>
          </a:ln>
        </p:spPr>
      </p:cxnSp>
      <p:cxnSp>
        <p:nvCxnSpPr>
          <p:cNvPr id="207" name="Connector 207"/>
          <p:cNvCxnSpPr/>
          <p:nvPr/>
        </p:nvCxnSpPr>
        <p:spPr>
          <a:xfrm>
            <a:off x="9860280" y="4648887"/>
            <a:ext cx="127635" cy="14811"/>
          </a:xfrm>
          <a:prstGeom prst="line">
            <a:avLst/>
          </a:prstGeom>
          <a:ln w="50800">
            <a:solidFill>
              <a:srgbClr val="D71920"/>
            </a:solidFill>
          </a:ln>
        </p:spPr>
      </p:cxnSp>
      <p:cxnSp>
        <p:nvCxnSpPr>
          <p:cNvPr id="208" name="Connector 208"/>
          <p:cNvCxnSpPr/>
          <p:nvPr/>
        </p:nvCxnSpPr>
        <p:spPr>
          <a:xfrm>
            <a:off x="9987915" y="4663699"/>
            <a:ext cx="127635" cy="11948"/>
          </a:xfrm>
          <a:prstGeom prst="line">
            <a:avLst/>
          </a:prstGeom>
          <a:ln w="50800">
            <a:solidFill>
              <a:srgbClr val="D71920"/>
            </a:solidFill>
          </a:ln>
        </p:spPr>
      </p:cxnSp>
      <p:cxnSp>
        <p:nvCxnSpPr>
          <p:cNvPr id="209" name="Connector 209"/>
          <p:cNvCxnSpPr/>
          <p:nvPr/>
        </p:nvCxnSpPr>
        <p:spPr>
          <a:xfrm>
            <a:off x="10115550" y="4675647"/>
            <a:ext cx="127635" cy="9368"/>
          </a:xfrm>
          <a:prstGeom prst="line">
            <a:avLst/>
          </a:prstGeom>
          <a:ln w="50800">
            <a:solidFill>
              <a:srgbClr val="D71920"/>
            </a:solidFill>
          </a:ln>
        </p:spPr>
      </p:cxnSp>
      <p:cxnSp>
        <p:nvCxnSpPr>
          <p:cNvPr id="210" name="Connector 210"/>
          <p:cNvCxnSpPr/>
          <p:nvPr/>
        </p:nvCxnSpPr>
        <p:spPr>
          <a:xfrm>
            <a:off x="10243185" y="4685014"/>
            <a:ext cx="127635" cy="7096"/>
          </a:xfrm>
          <a:prstGeom prst="line">
            <a:avLst/>
          </a:prstGeom>
          <a:ln w="50800">
            <a:solidFill>
              <a:srgbClr val="D71920"/>
            </a:solidFill>
          </a:ln>
        </p:spPr>
      </p:cxnSp>
      <p:cxnSp>
        <p:nvCxnSpPr>
          <p:cNvPr id="211" name="Connector 211"/>
          <p:cNvCxnSpPr/>
          <p:nvPr/>
        </p:nvCxnSpPr>
        <p:spPr>
          <a:xfrm>
            <a:off x="10370820" y="4692111"/>
            <a:ext cx="127635" cy="5151"/>
          </a:xfrm>
          <a:prstGeom prst="line">
            <a:avLst/>
          </a:prstGeom>
          <a:ln w="50800">
            <a:solidFill>
              <a:srgbClr val="D71920"/>
            </a:solidFill>
          </a:ln>
        </p:spPr>
      </p:cxnSp>
      <p:cxnSp>
        <p:nvCxnSpPr>
          <p:cNvPr id="212" name="Connector 212"/>
          <p:cNvCxnSpPr/>
          <p:nvPr/>
        </p:nvCxnSpPr>
        <p:spPr>
          <a:xfrm>
            <a:off x="10498455" y="4697261"/>
            <a:ext cx="127635" cy="3541"/>
          </a:xfrm>
          <a:prstGeom prst="line">
            <a:avLst/>
          </a:prstGeom>
          <a:ln w="50800">
            <a:solidFill>
              <a:srgbClr val="D71920"/>
            </a:solidFill>
          </a:ln>
        </p:spPr>
      </p:cxnSp>
      <p:cxnSp>
        <p:nvCxnSpPr>
          <p:cNvPr id="213" name="Connector 213"/>
          <p:cNvCxnSpPr/>
          <p:nvPr/>
        </p:nvCxnSpPr>
        <p:spPr>
          <a:xfrm>
            <a:off x="10626090" y="4700802"/>
            <a:ext cx="127635" cy="2265"/>
          </a:xfrm>
          <a:prstGeom prst="line">
            <a:avLst/>
          </a:prstGeom>
          <a:ln w="50800">
            <a:solidFill>
              <a:srgbClr val="D71920"/>
            </a:solidFill>
          </a:ln>
        </p:spPr>
      </p:cxnSp>
      <p:cxnSp>
        <p:nvCxnSpPr>
          <p:cNvPr id="214" name="Connector 214"/>
          <p:cNvCxnSpPr/>
          <p:nvPr/>
        </p:nvCxnSpPr>
        <p:spPr>
          <a:xfrm>
            <a:off x="10753725" y="4703067"/>
            <a:ext cx="127635" cy="1310"/>
          </a:xfrm>
          <a:prstGeom prst="line">
            <a:avLst/>
          </a:prstGeom>
          <a:ln w="50800">
            <a:solidFill>
              <a:srgbClr val="D71920"/>
            </a:solidFill>
          </a:ln>
        </p:spPr>
      </p:cxnSp>
      <p:cxnSp>
        <p:nvCxnSpPr>
          <p:cNvPr id="215" name="Connector 215"/>
          <p:cNvCxnSpPr/>
          <p:nvPr/>
        </p:nvCxnSpPr>
        <p:spPr>
          <a:xfrm>
            <a:off x="10881360" y="4704377"/>
            <a:ext cx="127635" cy="653"/>
          </a:xfrm>
          <a:prstGeom prst="line">
            <a:avLst/>
          </a:prstGeom>
          <a:ln w="50800">
            <a:solidFill>
              <a:srgbClr val="D71920"/>
            </a:solidFill>
          </a:ln>
        </p:spPr>
      </p:cxnSp>
      <p:cxnSp>
        <p:nvCxnSpPr>
          <p:cNvPr id="216" name="Connector 216"/>
          <p:cNvCxnSpPr/>
          <p:nvPr/>
        </p:nvCxnSpPr>
        <p:spPr>
          <a:xfrm>
            <a:off x="11008995" y="4705030"/>
            <a:ext cx="127635" cy="254"/>
          </a:xfrm>
          <a:prstGeom prst="line">
            <a:avLst/>
          </a:prstGeom>
          <a:ln w="50800">
            <a:solidFill>
              <a:srgbClr val="D71920"/>
            </a:solidFill>
          </a:ln>
        </p:spPr>
      </p:cxnSp>
      <p:cxnSp>
        <p:nvCxnSpPr>
          <p:cNvPr id="217" name="Connector 217"/>
          <p:cNvCxnSpPr/>
          <p:nvPr/>
        </p:nvCxnSpPr>
        <p:spPr>
          <a:xfrm>
            <a:off x="11136630" y="4705284"/>
            <a:ext cx="127635" cy="61"/>
          </a:xfrm>
          <a:prstGeom prst="line">
            <a:avLst/>
          </a:prstGeom>
          <a:ln w="50800">
            <a:solidFill>
              <a:srgbClr val="D71920"/>
            </a:solidFill>
          </a:ln>
        </p:spPr>
      </p:cxnSp>
      <p:cxnSp>
        <p:nvCxnSpPr>
          <p:cNvPr id="218" name="Connector 218"/>
          <p:cNvCxnSpPr/>
          <p:nvPr/>
        </p:nvCxnSpPr>
        <p:spPr>
          <a:xfrm>
            <a:off x="11264265" y="4705346"/>
            <a:ext cx="127635" cy="4"/>
          </a:xfrm>
          <a:prstGeom prst="line">
            <a:avLst/>
          </a:prstGeom>
          <a:ln w="50800">
            <a:solidFill>
              <a:srgbClr val="D71920"/>
            </a:solidFill>
          </a:ln>
        </p:spPr>
      </p:cxnSp>
      <p:cxnSp>
        <p:nvCxnSpPr>
          <p:cNvPr id="219" name="Connector 219"/>
          <p:cNvCxnSpPr/>
          <p:nvPr/>
        </p:nvCxnSpPr>
        <p:spPr>
          <a:xfrm>
            <a:off x="5265420" y="1981200"/>
            <a:ext cx="0" cy="2724150"/>
          </a:xfrm>
          <a:prstGeom prst="line">
            <a:avLst/>
          </a:prstGeom>
          <a:ln w="25400">
            <a:solidFill>
              <a:srgbClr val="B46B13"/>
            </a:solidFill>
          </a:ln>
        </p:spPr>
      </p:cxnSp>
      <p:sp>
        <p:nvSpPr>
          <p:cNvPr id="220" name="Text 220"/>
          <p:cNvSpPr txBox="1"/>
          <p:nvPr/>
        </p:nvSpPr>
        <p:spPr>
          <a:xfrm>
            <a:off x="4541520" y="1714500"/>
            <a:ext cx="1447800" cy="190500"/>
          </a:xfrm>
          <a:prstGeom prst="rect">
            <a:avLst/>
          </a:prstGeom>
          <a:noFill/>
          <a:ln>
            <a:noFill/>
          </a:ln>
        </p:spPr>
        <p:txBody>
          <a:bodyPr wrap="square" anchor="t" lIns="0" rIns="0" tIns="0" bIns="0"/>
          <a:lstStyle/>
          <a:p>
            <a:pPr algn="ctr"/>
            <a:r>
              <a:rPr lang="en-US" sz="1100" b="1">
                <a:solidFill>
                  <a:srgbClr val="B46B13"/>
                </a:solidFill>
                <a:latin typeface="Arial"/>
              </a:rPr>
              <a:t>reference p = 0.40</a:t>
            </a:r>
            <a:endParaRPr lang="en-US" sz="1100"/>
          </a:p>
        </p:txBody>
      </p:sp>
      <p:sp>
        <p:nvSpPr>
          <p:cNvPr id="221" name="Text 221"/>
          <p:cNvSpPr txBox="1"/>
          <p:nvPr/>
        </p:nvSpPr>
        <p:spPr>
          <a:xfrm>
            <a:off x="1181100" y="1695450"/>
            <a:ext cx="1809750" cy="190500"/>
          </a:xfrm>
          <a:prstGeom prst="rect">
            <a:avLst/>
          </a:prstGeom>
          <a:noFill/>
          <a:ln>
            <a:noFill/>
          </a:ln>
        </p:spPr>
        <p:txBody>
          <a:bodyPr wrap="square" anchor="t" lIns="0" rIns="0" tIns="0" bIns="0"/>
          <a:lstStyle/>
          <a:p>
            <a:pPr algn="l"/>
            <a:r>
              <a:rPr lang="en-US" sz="1100" b="1">
                <a:solidFill>
                  <a:srgbClr val="5D6873"/>
                </a:solidFill>
                <a:latin typeface="Arial"/>
              </a:rPr>
              <a:t>probability density f(p)</a:t>
            </a:r>
            <a:endParaRPr lang="en-US" sz="1100"/>
          </a:p>
        </p:txBody>
      </p:sp>
      <p:sp>
        <p:nvSpPr>
          <p:cNvPr id="222" name="Text 222"/>
          <p:cNvSpPr txBox="1"/>
          <p:nvPr/>
        </p:nvSpPr>
        <p:spPr>
          <a:xfrm>
            <a:off x="2705100" y="5086350"/>
            <a:ext cx="7162800" cy="209550"/>
          </a:xfrm>
          <a:prstGeom prst="rect">
            <a:avLst/>
          </a:prstGeom>
          <a:noFill/>
          <a:ln>
            <a:noFill/>
          </a:ln>
        </p:spPr>
        <p:txBody>
          <a:bodyPr wrap="square" anchor="t" lIns="0" rIns="0" tIns="0" bIns="0"/>
          <a:lstStyle/>
          <a:p>
            <a:pPr algn="ctr"/>
            <a:r>
              <a:rPr lang="en-US" sz="1200" b="1">
                <a:solidFill>
                  <a:srgbClr val="17212B"/>
                </a:solidFill>
                <a:latin typeface="Arial"/>
              </a:rPr>
              <a:t>latent review-elevated rate p</a:t>
            </a:r>
            <a:endParaRPr lang="en-US" sz="1200"/>
          </a:p>
        </p:txBody>
      </p:sp>
      <p:cxnSp>
        <p:nvCxnSpPr>
          <p:cNvPr id="223" name="Connector 223"/>
          <p:cNvCxnSpPr/>
          <p:nvPr/>
        </p:nvCxnSpPr>
        <p:spPr>
          <a:xfrm>
            <a:off x="1371600" y="2381250"/>
            <a:ext cx="323850" cy="0"/>
          </a:xfrm>
          <a:prstGeom prst="line">
            <a:avLst/>
          </a:prstGeom>
          <a:ln w="38100">
            <a:solidFill>
              <a:srgbClr val="2A5B84"/>
            </a:solidFill>
          </a:ln>
        </p:spPr>
      </p:cxnSp>
      <p:sp>
        <p:nvSpPr>
          <p:cNvPr id="224" name="Text 224"/>
          <p:cNvSpPr txBox="1"/>
          <p:nvPr/>
        </p:nvSpPr>
        <p:spPr>
          <a:xfrm>
            <a:off x="1771650" y="2266950"/>
            <a:ext cx="2381250" cy="228600"/>
          </a:xfrm>
          <a:prstGeom prst="rect">
            <a:avLst/>
          </a:prstGeom>
          <a:noFill/>
          <a:ln>
            <a:noFill/>
          </a:ln>
        </p:spPr>
        <p:txBody>
          <a:bodyPr wrap="square" anchor="t" lIns="0" rIns="0" tIns="0" bIns="0"/>
          <a:lstStyle/>
          <a:p>
            <a:pPr algn="l"/>
            <a:r>
              <a:rPr lang="en-US" sz="1200" b="1">
                <a:solidFill>
                  <a:srgbClr val="2A5B84"/>
                </a:solidFill>
                <a:latin typeface="Arial"/>
              </a:rPr>
              <a:t>prior Beta(1, 4), mean 0.20</a:t>
            </a:r>
            <a:endParaRPr lang="en-US" sz="1200"/>
          </a:p>
        </p:txBody>
      </p:sp>
      <p:cxnSp>
        <p:nvCxnSpPr>
          <p:cNvPr id="225" name="Connector 225"/>
          <p:cNvCxnSpPr/>
          <p:nvPr/>
        </p:nvCxnSpPr>
        <p:spPr>
          <a:xfrm>
            <a:off x="1371600" y="2705100"/>
            <a:ext cx="323850" cy="0"/>
          </a:xfrm>
          <a:prstGeom prst="line">
            <a:avLst/>
          </a:prstGeom>
          <a:ln w="50800">
            <a:solidFill>
              <a:srgbClr val="D71920"/>
            </a:solidFill>
          </a:ln>
        </p:spPr>
      </p:cxnSp>
      <p:sp>
        <p:nvSpPr>
          <p:cNvPr id="226" name="Text 226"/>
          <p:cNvSpPr txBox="1"/>
          <p:nvPr/>
        </p:nvSpPr>
        <p:spPr>
          <a:xfrm>
            <a:off x="1771650" y="2590800"/>
            <a:ext cx="2857500" cy="228600"/>
          </a:xfrm>
          <a:prstGeom prst="rect">
            <a:avLst/>
          </a:prstGeom>
          <a:noFill/>
          <a:ln>
            <a:noFill/>
          </a:ln>
        </p:spPr>
        <p:txBody>
          <a:bodyPr wrap="square" anchor="t" lIns="0" rIns="0" tIns="0" bIns="0"/>
          <a:lstStyle/>
          <a:p>
            <a:pPr algn="l"/>
            <a:r>
              <a:rPr lang="en-US" sz="1200" b="1">
                <a:solidFill>
                  <a:srgbClr val="981B1E"/>
                </a:solidFill>
                <a:latin typeface="Arial"/>
              </a:rPr>
              <a:t>posterior Beta(4, 5), mean 0.44</a:t>
            </a:r>
            <a:endParaRPr lang="en-US" sz="1200"/>
          </a:p>
        </p:txBody>
      </p:sp>
      <p:sp>
        <p:nvSpPr>
          <p:cNvPr id="227" name="Text 227"/>
          <p:cNvSpPr txBox="1"/>
          <p:nvPr/>
        </p:nvSpPr>
        <p:spPr>
          <a:xfrm>
            <a:off x="8124444" y="2647950"/>
            <a:ext cx="2381250" cy="495300"/>
          </a:xfrm>
          <a:prstGeom prst="rect">
            <a:avLst/>
          </a:prstGeom>
          <a:noFill/>
          <a:ln>
            <a:noFill/>
          </a:ln>
        </p:spPr>
        <p:txBody>
          <a:bodyPr wrap="square" anchor="t" lIns="0" rIns="0" tIns="0" bIns="0"/>
          <a:lstStyle/>
          <a:p>
            <a:pPr algn="ctr"/>
            <a:r>
              <a:rPr lang="en-US" sz="1300" b="1">
                <a:solidFill>
                  <a:srgbClr val="981B1E"/>
                </a:solidFill>
                <a:latin typeface="Arial"/>
              </a:rPr>
              <a:t>shaded posterior mass</a:t>
            </a:r>
            <a:endParaRPr lang="en-US" sz="1300"/>
          </a:p>
          <a:p>
            <a:pPr algn="ctr"/>
            <a:r>
              <a:rPr lang="en-US" sz="1300" b="1">
                <a:solidFill>
                  <a:srgbClr val="981B1E"/>
                </a:solidFill>
                <a:latin typeface="Arial"/>
              </a:rPr>
              <a:t>P(p &gt; 0.40) = 0.594</a:t>
            </a:r>
            <a:endParaRPr lang="en-US" sz="1300"/>
          </a:p>
        </p:txBody>
      </p:sp>
      <p:sp>
        <p:nvSpPr>
          <p:cNvPr id="228" name="Shape 228"/>
          <p:cNvSpPr/>
          <p:nvPr/>
        </p:nvSpPr>
        <p:spPr>
          <a:xfrm>
            <a:off x="876300" y="5543550"/>
            <a:ext cx="10439400" cy="571500"/>
          </a:xfrm>
          <a:prstGeom prst="rect">
            <a:avLst/>
          </a:prstGeom>
          <a:solidFill>
            <a:srgbClr val="F4F6F8"/>
          </a:solidFill>
          <a:ln w="12700">
            <a:solidFill>
              <a:srgbClr val="D9DEE3"/>
            </a:solidFill>
          </a:ln>
        </p:spPr>
      </p:sp>
      <p:sp>
        <p:nvSpPr>
          <p:cNvPr id="229" name="Text 229"/>
          <p:cNvSpPr txBox="1"/>
          <p:nvPr/>
        </p:nvSpPr>
        <p:spPr>
          <a:xfrm>
            <a:off x="1123950" y="5657850"/>
            <a:ext cx="9944100" cy="323850"/>
          </a:xfrm>
          <a:prstGeom prst="rect">
            <a:avLst/>
          </a:prstGeom>
          <a:noFill/>
          <a:ln>
            <a:noFill/>
          </a:ln>
        </p:spPr>
        <p:txBody>
          <a:bodyPr wrap="square" anchor="ctr" lIns="0" rIns="0" tIns="0" bIns="0"/>
          <a:lstStyle/>
          <a:p>
            <a:pPr algn="ctr"/>
            <a:r>
              <a:rPr lang="en-US" sz="1400" b="1">
                <a:solidFill>
                  <a:srgbClr val="981B1E"/>
                </a:solidFill>
                <a:latin typeface="Arial"/>
              </a:rPr>
              <a:t>The shaded tail is P(p &gt; 0.40), not a probability of fraud or money laundering</a:t>
            </a:r>
            <a:endParaRPr lang="en-US" sz="1400"/>
          </a:p>
        </p:txBody>
      </p:sp>
      <p:cxnSp>
        <p:nvCxnSpPr>
          <p:cNvPr id="230" name="Connector 230"/>
          <p:cNvCxnSpPr/>
          <p:nvPr/>
        </p:nvCxnSpPr>
        <p:spPr>
          <a:xfrm>
            <a:off x="552450" y="6419850"/>
            <a:ext cx="11087100" cy="0"/>
          </a:xfrm>
          <a:prstGeom prst="line">
            <a:avLst/>
          </a:prstGeom>
          <a:ln w="12700">
            <a:solidFill>
              <a:srgbClr val="BFC5CB"/>
            </a:solidFill>
          </a:ln>
        </p:spPr>
      </p:cxnSp>
      <p:sp>
        <p:nvSpPr>
          <p:cNvPr id="231" name="Text 231"/>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TECHNICAL APPENDIX</a:t>
            </a:r>
            <a:endParaRPr lang="en-US" sz="1000"/>
          </a:p>
        </p:txBody>
      </p:sp>
      <p:sp>
        <p:nvSpPr>
          <p:cNvPr id="232" name="Text 232"/>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C</a:t>
            </a:r>
            <a:endParaRPr 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APPENDIX D · FUZZY INFERENCE</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One overlapping partition turns prior-adjusted ratios into graded activation</a:t>
            </a:r>
            <a:endParaRPr lang="en-US" sz="3000"/>
          </a:p>
        </p:txBody>
      </p:sp>
      <p:cxnSp>
        <p:nvCxnSpPr>
          <p:cNvPr id="4" name="Connector 4"/>
          <p:cNvCxnSpPr/>
          <p:nvPr/>
        </p:nvCxnSpPr>
        <p:spPr>
          <a:xfrm>
            <a:off x="1276350" y="1828800"/>
            <a:ext cx="0" cy="1181100"/>
          </a:xfrm>
          <a:prstGeom prst="line">
            <a:avLst/>
          </a:prstGeom>
          <a:ln w="12700">
            <a:solidFill>
              <a:srgbClr val="384754"/>
            </a:solidFill>
          </a:ln>
        </p:spPr>
      </p:cxnSp>
      <p:cxnSp>
        <p:nvCxnSpPr>
          <p:cNvPr id="5" name="Connector 5"/>
          <p:cNvCxnSpPr/>
          <p:nvPr/>
        </p:nvCxnSpPr>
        <p:spPr>
          <a:xfrm>
            <a:off x="1276350" y="3009900"/>
            <a:ext cx="10096500" cy="0"/>
          </a:xfrm>
          <a:prstGeom prst="line">
            <a:avLst/>
          </a:prstGeom>
          <a:ln w="12700">
            <a:solidFill>
              <a:srgbClr val="384754"/>
            </a:solidFill>
          </a:ln>
        </p:spPr>
      </p:cxnSp>
      <p:sp>
        <p:nvSpPr>
          <p:cNvPr id="6" name="Text 6"/>
          <p:cNvSpPr txBox="1"/>
          <p:nvPr/>
        </p:nvSpPr>
        <p:spPr>
          <a:xfrm>
            <a:off x="590550" y="1524000"/>
            <a:ext cx="11010900" cy="209550"/>
          </a:xfrm>
          <a:prstGeom prst="rect">
            <a:avLst/>
          </a:prstGeom>
          <a:noFill/>
          <a:ln>
            <a:noFill/>
          </a:ln>
        </p:spPr>
        <p:txBody>
          <a:bodyPr wrap="square" anchor="t" lIns="0" rIns="0" tIns="0" bIns="0"/>
          <a:lstStyle/>
          <a:p>
            <a:pPr algn="ctr"/>
            <a:r>
              <a:rPr lang="en-US" sz="1400" b="1">
                <a:solidFill>
                  <a:srgbClr val="17212B"/>
                </a:solidFill>
                <a:latin typeface="Arial"/>
              </a:rPr>
              <a:t>Shared low / medium / high partition over every effective ratio</a:t>
            </a:r>
            <a:endParaRPr lang="en-US" sz="1400"/>
          </a:p>
        </p:txBody>
      </p:sp>
      <p:sp>
        <p:nvSpPr>
          <p:cNvPr id="7" name="Text 7"/>
          <p:cNvSpPr txBox="1"/>
          <p:nvPr/>
        </p:nvSpPr>
        <p:spPr>
          <a:xfrm>
            <a:off x="781050" y="1752600"/>
            <a:ext cx="381000" cy="171450"/>
          </a:xfrm>
          <a:prstGeom prst="rect">
            <a:avLst/>
          </a:prstGeom>
          <a:noFill/>
          <a:ln>
            <a:noFill/>
          </a:ln>
        </p:spPr>
        <p:txBody>
          <a:bodyPr wrap="square" anchor="t" lIns="0" rIns="0" tIns="0" bIns="0"/>
          <a:lstStyle/>
          <a:p>
            <a:pPr algn="r"/>
            <a:r>
              <a:rPr lang="en-US" sz="1000" b="0">
                <a:solidFill>
                  <a:srgbClr val="5D6873"/>
                </a:solidFill>
                <a:latin typeface="Arial"/>
              </a:rPr>
              <a:t>1</a:t>
            </a:r>
            <a:endParaRPr lang="en-US" sz="1000"/>
          </a:p>
        </p:txBody>
      </p:sp>
      <p:sp>
        <p:nvSpPr>
          <p:cNvPr id="8" name="Text 8"/>
          <p:cNvSpPr txBox="1"/>
          <p:nvPr/>
        </p:nvSpPr>
        <p:spPr>
          <a:xfrm>
            <a:off x="781050" y="2933700"/>
            <a:ext cx="381000" cy="171450"/>
          </a:xfrm>
          <a:prstGeom prst="rect">
            <a:avLst/>
          </a:prstGeom>
          <a:noFill/>
          <a:ln>
            <a:noFill/>
          </a:ln>
        </p:spPr>
        <p:txBody>
          <a:bodyPr wrap="square" anchor="t" lIns="0" rIns="0" tIns="0" bIns="0"/>
          <a:lstStyle/>
          <a:p>
            <a:pPr algn="r"/>
            <a:r>
              <a:rPr lang="en-US" sz="1000" b="0">
                <a:solidFill>
                  <a:srgbClr val="5D6873"/>
                </a:solidFill>
                <a:latin typeface="Arial"/>
              </a:rPr>
              <a:t>0</a:t>
            </a:r>
            <a:endParaRPr lang="en-US" sz="1000"/>
          </a:p>
        </p:txBody>
      </p:sp>
      <p:cxnSp>
        <p:nvCxnSpPr>
          <p:cNvPr id="9" name="Connector 9"/>
          <p:cNvCxnSpPr/>
          <p:nvPr/>
        </p:nvCxnSpPr>
        <p:spPr>
          <a:xfrm>
            <a:off x="1276350" y="1828800"/>
            <a:ext cx="1009650" cy="0"/>
          </a:xfrm>
          <a:prstGeom prst="line">
            <a:avLst/>
          </a:prstGeom>
          <a:ln w="50800">
            <a:solidFill>
              <a:srgbClr val="2A5B84"/>
            </a:solidFill>
          </a:ln>
        </p:spPr>
      </p:cxnSp>
      <p:cxnSp>
        <p:nvCxnSpPr>
          <p:cNvPr id="10" name="Connector 10"/>
          <p:cNvCxnSpPr/>
          <p:nvPr/>
        </p:nvCxnSpPr>
        <p:spPr>
          <a:xfrm>
            <a:off x="2286000" y="1828800"/>
            <a:ext cx="2019300" cy="1181100"/>
          </a:xfrm>
          <a:prstGeom prst="line">
            <a:avLst/>
          </a:prstGeom>
          <a:ln w="50800">
            <a:solidFill>
              <a:srgbClr val="2A5B84"/>
            </a:solidFill>
          </a:ln>
        </p:spPr>
      </p:cxnSp>
      <p:cxnSp>
        <p:nvCxnSpPr>
          <p:cNvPr id="11" name="Connector 11"/>
          <p:cNvCxnSpPr/>
          <p:nvPr/>
        </p:nvCxnSpPr>
        <p:spPr>
          <a:xfrm flipV="1">
            <a:off x="2286000" y="1828800"/>
            <a:ext cx="2019300" cy="1181100"/>
          </a:xfrm>
          <a:prstGeom prst="line">
            <a:avLst/>
          </a:prstGeom>
          <a:ln w="50800">
            <a:solidFill>
              <a:srgbClr val="B46B13"/>
            </a:solidFill>
          </a:ln>
        </p:spPr>
      </p:cxnSp>
      <p:cxnSp>
        <p:nvCxnSpPr>
          <p:cNvPr id="12" name="Connector 12"/>
          <p:cNvCxnSpPr/>
          <p:nvPr/>
        </p:nvCxnSpPr>
        <p:spPr>
          <a:xfrm>
            <a:off x="4305300" y="1828800"/>
            <a:ext cx="3028950" cy="1181100"/>
          </a:xfrm>
          <a:prstGeom prst="line">
            <a:avLst/>
          </a:prstGeom>
          <a:ln w="50800">
            <a:solidFill>
              <a:srgbClr val="B46B13"/>
            </a:solidFill>
          </a:ln>
        </p:spPr>
      </p:cxnSp>
      <p:cxnSp>
        <p:nvCxnSpPr>
          <p:cNvPr id="13" name="Connector 13"/>
          <p:cNvCxnSpPr/>
          <p:nvPr/>
        </p:nvCxnSpPr>
        <p:spPr>
          <a:xfrm flipV="1">
            <a:off x="4305300" y="1828800"/>
            <a:ext cx="3028950" cy="1181100"/>
          </a:xfrm>
          <a:prstGeom prst="line">
            <a:avLst/>
          </a:prstGeom>
          <a:ln w="50800">
            <a:solidFill>
              <a:srgbClr val="1F7A5A"/>
            </a:solidFill>
          </a:ln>
        </p:spPr>
      </p:cxnSp>
      <p:cxnSp>
        <p:nvCxnSpPr>
          <p:cNvPr id="14" name="Connector 14"/>
          <p:cNvCxnSpPr/>
          <p:nvPr/>
        </p:nvCxnSpPr>
        <p:spPr>
          <a:xfrm>
            <a:off x="7334250" y="1828800"/>
            <a:ext cx="4038600" cy="0"/>
          </a:xfrm>
          <a:prstGeom prst="line">
            <a:avLst/>
          </a:prstGeom>
          <a:ln w="50800">
            <a:solidFill>
              <a:srgbClr val="1F7A5A"/>
            </a:solidFill>
          </a:ln>
        </p:spPr>
      </p:cxnSp>
      <p:sp>
        <p:nvSpPr>
          <p:cNvPr id="15" name="Text 15"/>
          <p:cNvSpPr txBox="1"/>
          <p:nvPr/>
        </p:nvSpPr>
        <p:spPr>
          <a:xfrm>
            <a:off x="1478280" y="1924050"/>
            <a:ext cx="914400" cy="190500"/>
          </a:xfrm>
          <a:prstGeom prst="rect">
            <a:avLst/>
          </a:prstGeom>
          <a:noFill/>
          <a:ln>
            <a:noFill/>
          </a:ln>
        </p:spPr>
        <p:txBody>
          <a:bodyPr wrap="square" anchor="t" lIns="0" rIns="0" tIns="0" bIns="0"/>
          <a:lstStyle/>
          <a:p>
            <a:pPr algn="l"/>
            <a:r>
              <a:rPr lang="en-US" sz="1100" b="1">
                <a:solidFill>
                  <a:srgbClr val="2A5B84"/>
                </a:solidFill>
                <a:latin typeface="Arial"/>
              </a:rPr>
              <a:t>LOW</a:t>
            </a:r>
            <a:endParaRPr lang="en-US" sz="1100"/>
          </a:p>
        </p:txBody>
      </p:sp>
      <p:sp>
        <p:nvSpPr>
          <p:cNvPr id="16" name="Text 16"/>
          <p:cNvSpPr txBox="1"/>
          <p:nvPr/>
        </p:nvSpPr>
        <p:spPr>
          <a:xfrm>
            <a:off x="3800475" y="1924050"/>
            <a:ext cx="1238250" cy="190500"/>
          </a:xfrm>
          <a:prstGeom prst="rect">
            <a:avLst/>
          </a:prstGeom>
          <a:noFill/>
          <a:ln>
            <a:noFill/>
          </a:ln>
        </p:spPr>
        <p:txBody>
          <a:bodyPr wrap="square" anchor="t" lIns="0" rIns="0" tIns="0" bIns="0"/>
          <a:lstStyle/>
          <a:p>
            <a:pPr algn="ctr"/>
            <a:r>
              <a:rPr lang="en-US" sz="1100" b="1">
                <a:solidFill>
                  <a:srgbClr val="B46B13"/>
                </a:solidFill>
                <a:latin typeface="Arial"/>
              </a:rPr>
              <a:t>MEDIUM</a:t>
            </a:r>
            <a:endParaRPr lang="en-US" sz="1100"/>
          </a:p>
        </p:txBody>
      </p:sp>
      <p:sp>
        <p:nvSpPr>
          <p:cNvPr id="17" name="Text 17"/>
          <p:cNvSpPr txBox="1"/>
          <p:nvPr/>
        </p:nvSpPr>
        <p:spPr>
          <a:xfrm>
            <a:off x="8141970" y="1924050"/>
            <a:ext cx="914400" cy="190500"/>
          </a:xfrm>
          <a:prstGeom prst="rect">
            <a:avLst/>
          </a:prstGeom>
          <a:noFill/>
          <a:ln>
            <a:noFill/>
          </a:ln>
        </p:spPr>
        <p:txBody>
          <a:bodyPr wrap="square" anchor="t" lIns="0" rIns="0" tIns="0" bIns="0"/>
          <a:lstStyle/>
          <a:p>
            <a:pPr algn="ctr"/>
            <a:r>
              <a:rPr lang="en-US" sz="1100" b="1">
                <a:solidFill>
                  <a:srgbClr val="1F7A5A"/>
                </a:solidFill>
                <a:latin typeface="Arial"/>
              </a:rPr>
              <a:t>HIGH</a:t>
            </a:r>
            <a:endParaRPr lang="en-US" sz="1100"/>
          </a:p>
        </p:txBody>
      </p:sp>
      <p:cxnSp>
        <p:nvCxnSpPr>
          <p:cNvPr id="18" name="Connector 18"/>
          <p:cNvCxnSpPr/>
          <p:nvPr/>
        </p:nvCxnSpPr>
        <p:spPr>
          <a:xfrm>
            <a:off x="1276350" y="3009900"/>
            <a:ext cx="0" cy="66675"/>
          </a:xfrm>
          <a:prstGeom prst="line">
            <a:avLst/>
          </a:prstGeom>
          <a:ln w="12700">
            <a:solidFill>
              <a:srgbClr val="384754"/>
            </a:solidFill>
          </a:ln>
        </p:spPr>
      </p:cxnSp>
      <p:sp>
        <p:nvSpPr>
          <p:cNvPr id="19" name="Text 19"/>
          <p:cNvSpPr txBox="1"/>
          <p:nvPr/>
        </p:nvSpPr>
        <p:spPr>
          <a:xfrm>
            <a:off x="990600" y="3105150"/>
            <a:ext cx="571500" cy="171450"/>
          </a:xfrm>
          <a:prstGeom prst="rect">
            <a:avLst/>
          </a:prstGeom>
          <a:noFill/>
          <a:ln>
            <a:noFill/>
          </a:ln>
        </p:spPr>
        <p:txBody>
          <a:bodyPr wrap="square" anchor="t" lIns="0" rIns="0" tIns="0" bIns="0"/>
          <a:lstStyle/>
          <a:p>
            <a:pPr algn="ctr"/>
            <a:r>
              <a:rPr lang="en-US" sz="900" b="0">
                <a:solidFill>
                  <a:srgbClr val="5D6873"/>
                </a:solidFill>
                <a:latin typeface="Arial"/>
              </a:rPr>
              <a:t>0.00</a:t>
            </a:r>
            <a:endParaRPr lang="en-US" sz="900"/>
          </a:p>
        </p:txBody>
      </p:sp>
      <p:cxnSp>
        <p:nvCxnSpPr>
          <p:cNvPr id="20" name="Connector 20"/>
          <p:cNvCxnSpPr/>
          <p:nvPr/>
        </p:nvCxnSpPr>
        <p:spPr>
          <a:xfrm>
            <a:off x="2286000" y="3009900"/>
            <a:ext cx="0" cy="66675"/>
          </a:xfrm>
          <a:prstGeom prst="line">
            <a:avLst/>
          </a:prstGeom>
          <a:ln w="12700">
            <a:solidFill>
              <a:srgbClr val="384754"/>
            </a:solidFill>
          </a:ln>
        </p:spPr>
      </p:cxnSp>
      <p:sp>
        <p:nvSpPr>
          <p:cNvPr id="21" name="Text 21"/>
          <p:cNvSpPr txBox="1"/>
          <p:nvPr/>
        </p:nvSpPr>
        <p:spPr>
          <a:xfrm>
            <a:off x="2000250" y="3105150"/>
            <a:ext cx="571500" cy="171450"/>
          </a:xfrm>
          <a:prstGeom prst="rect">
            <a:avLst/>
          </a:prstGeom>
          <a:noFill/>
          <a:ln>
            <a:noFill/>
          </a:ln>
        </p:spPr>
        <p:txBody>
          <a:bodyPr wrap="square" anchor="t" lIns="0" rIns="0" tIns="0" bIns="0"/>
          <a:lstStyle/>
          <a:p>
            <a:pPr algn="ctr"/>
            <a:r>
              <a:rPr lang="en-US" sz="900" b="0">
                <a:solidFill>
                  <a:srgbClr val="5D6873"/>
                </a:solidFill>
                <a:latin typeface="Arial"/>
              </a:rPr>
              <a:t>0.10</a:t>
            </a:r>
            <a:endParaRPr lang="en-US" sz="900"/>
          </a:p>
        </p:txBody>
      </p:sp>
      <p:cxnSp>
        <p:nvCxnSpPr>
          <p:cNvPr id="22" name="Connector 22"/>
          <p:cNvCxnSpPr/>
          <p:nvPr/>
        </p:nvCxnSpPr>
        <p:spPr>
          <a:xfrm>
            <a:off x="4305300" y="3009900"/>
            <a:ext cx="0" cy="66675"/>
          </a:xfrm>
          <a:prstGeom prst="line">
            <a:avLst/>
          </a:prstGeom>
          <a:ln w="12700">
            <a:solidFill>
              <a:srgbClr val="384754"/>
            </a:solidFill>
          </a:ln>
        </p:spPr>
      </p:cxnSp>
      <p:sp>
        <p:nvSpPr>
          <p:cNvPr id="23" name="Text 23"/>
          <p:cNvSpPr txBox="1"/>
          <p:nvPr/>
        </p:nvSpPr>
        <p:spPr>
          <a:xfrm>
            <a:off x="4019550" y="3105150"/>
            <a:ext cx="571500" cy="171450"/>
          </a:xfrm>
          <a:prstGeom prst="rect">
            <a:avLst/>
          </a:prstGeom>
          <a:noFill/>
          <a:ln>
            <a:noFill/>
          </a:ln>
        </p:spPr>
        <p:txBody>
          <a:bodyPr wrap="square" anchor="t" lIns="0" rIns="0" tIns="0" bIns="0"/>
          <a:lstStyle/>
          <a:p>
            <a:pPr algn="ctr"/>
            <a:r>
              <a:rPr lang="en-US" sz="900" b="0">
                <a:solidFill>
                  <a:srgbClr val="5D6873"/>
                </a:solidFill>
                <a:latin typeface="Arial"/>
              </a:rPr>
              <a:t>0.30</a:t>
            </a:r>
            <a:endParaRPr lang="en-US" sz="900"/>
          </a:p>
        </p:txBody>
      </p:sp>
      <p:cxnSp>
        <p:nvCxnSpPr>
          <p:cNvPr id="24" name="Connector 24"/>
          <p:cNvCxnSpPr/>
          <p:nvPr/>
        </p:nvCxnSpPr>
        <p:spPr>
          <a:xfrm>
            <a:off x="7334250" y="3009900"/>
            <a:ext cx="0" cy="66675"/>
          </a:xfrm>
          <a:prstGeom prst="line">
            <a:avLst/>
          </a:prstGeom>
          <a:ln w="12700">
            <a:solidFill>
              <a:srgbClr val="384754"/>
            </a:solidFill>
          </a:ln>
        </p:spPr>
      </p:cxnSp>
      <p:sp>
        <p:nvSpPr>
          <p:cNvPr id="25" name="Text 25"/>
          <p:cNvSpPr txBox="1"/>
          <p:nvPr/>
        </p:nvSpPr>
        <p:spPr>
          <a:xfrm>
            <a:off x="7048500" y="3105150"/>
            <a:ext cx="571500" cy="171450"/>
          </a:xfrm>
          <a:prstGeom prst="rect">
            <a:avLst/>
          </a:prstGeom>
          <a:noFill/>
          <a:ln>
            <a:noFill/>
          </a:ln>
        </p:spPr>
        <p:txBody>
          <a:bodyPr wrap="square" anchor="t" lIns="0" rIns="0" tIns="0" bIns="0"/>
          <a:lstStyle/>
          <a:p>
            <a:pPr algn="ctr"/>
            <a:r>
              <a:rPr lang="en-US" sz="900" b="0">
                <a:solidFill>
                  <a:srgbClr val="5D6873"/>
                </a:solidFill>
                <a:latin typeface="Arial"/>
              </a:rPr>
              <a:t>0.60</a:t>
            </a:r>
            <a:endParaRPr lang="en-US" sz="900"/>
          </a:p>
        </p:txBody>
      </p:sp>
      <p:cxnSp>
        <p:nvCxnSpPr>
          <p:cNvPr id="26" name="Connector 26"/>
          <p:cNvCxnSpPr/>
          <p:nvPr/>
        </p:nvCxnSpPr>
        <p:spPr>
          <a:xfrm>
            <a:off x="11372850" y="3009900"/>
            <a:ext cx="0" cy="66675"/>
          </a:xfrm>
          <a:prstGeom prst="line">
            <a:avLst/>
          </a:prstGeom>
          <a:ln w="12700">
            <a:solidFill>
              <a:srgbClr val="384754"/>
            </a:solidFill>
          </a:ln>
        </p:spPr>
      </p:cxnSp>
      <p:sp>
        <p:nvSpPr>
          <p:cNvPr id="27" name="Text 27"/>
          <p:cNvSpPr txBox="1"/>
          <p:nvPr/>
        </p:nvSpPr>
        <p:spPr>
          <a:xfrm>
            <a:off x="11087100" y="3105150"/>
            <a:ext cx="571500" cy="171450"/>
          </a:xfrm>
          <a:prstGeom prst="rect">
            <a:avLst/>
          </a:prstGeom>
          <a:noFill/>
          <a:ln>
            <a:noFill/>
          </a:ln>
        </p:spPr>
        <p:txBody>
          <a:bodyPr wrap="square" anchor="t" lIns="0" rIns="0" tIns="0" bIns="0"/>
          <a:lstStyle/>
          <a:p>
            <a:pPr algn="ctr"/>
            <a:r>
              <a:rPr lang="en-US" sz="900" b="0">
                <a:solidFill>
                  <a:srgbClr val="5D6873"/>
                </a:solidFill>
                <a:latin typeface="Arial"/>
              </a:rPr>
              <a:t>1.00</a:t>
            </a:r>
            <a:endParaRPr lang="en-US" sz="900"/>
          </a:p>
        </p:txBody>
      </p:sp>
      <p:sp>
        <p:nvSpPr>
          <p:cNvPr id="28" name="Shape 28"/>
          <p:cNvSpPr/>
          <p:nvPr/>
        </p:nvSpPr>
        <p:spPr>
          <a:xfrm>
            <a:off x="590550" y="3638550"/>
            <a:ext cx="2419350" cy="609600"/>
          </a:xfrm>
          <a:prstGeom prst="roundRect">
            <a:avLst/>
          </a:prstGeom>
          <a:solidFill>
            <a:srgbClr val="FFFFFF"/>
          </a:solidFill>
          <a:ln w="25400">
            <a:solidFill>
              <a:srgbClr val="D71920"/>
            </a:solidFill>
          </a:ln>
        </p:spPr>
      </p:sp>
      <p:sp>
        <p:nvSpPr>
          <p:cNvPr id="29" name="Text 29"/>
          <p:cNvSpPr txBox="1"/>
          <p:nvPr/>
        </p:nvSpPr>
        <p:spPr>
          <a:xfrm>
            <a:off x="723900" y="3733800"/>
            <a:ext cx="2152650" cy="209550"/>
          </a:xfrm>
          <a:prstGeom prst="rect">
            <a:avLst/>
          </a:prstGeom>
          <a:noFill/>
          <a:ln>
            <a:noFill/>
          </a:ln>
        </p:spPr>
        <p:txBody>
          <a:bodyPr wrap="square" anchor="t" lIns="0" rIns="0" tIns="0" bIns="0"/>
          <a:lstStyle/>
          <a:p>
            <a:pPr algn="ctr"/>
            <a:r>
              <a:rPr lang="en-US" sz="1300" b="1">
                <a:solidFill>
                  <a:srgbClr val="D71920"/>
                </a:solidFill>
                <a:latin typeface="Arial"/>
              </a:rPr>
              <a:t>CRYPTO</a:t>
            </a:r>
            <a:endParaRPr lang="en-US" sz="1300"/>
          </a:p>
        </p:txBody>
      </p:sp>
      <p:sp>
        <p:nvSpPr>
          <p:cNvPr id="30" name="Text 30"/>
          <p:cNvSpPr txBox="1"/>
          <p:nvPr/>
        </p:nvSpPr>
        <p:spPr>
          <a:xfrm>
            <a:off x="723900" y="3981450"/>
            <a:ext cx="2152650" cy="171450"/>
          </a:xfrm>
          <a:prstGeom prst="rect">
            <a:avLst/>
          </a:prstGeom>
          <a:noFill/>
          <a:ln>
            <a:noFill/>
          </a:ln>
        </p:spPr>
        <p:txBody>
          <a:bodyPr wrap="square" anchor="t" lIns="0" rIns="0" tIns="0" bIns="0"/>
          <a:lstStyle/>
          <a:p>
            <a:pPr algn="ctr"/>
            <a:r>
              <a:rPr lang="en-US" sz="1100" b="0">
                <a:solidFill>
                  <a:srgbClr val="5D6873"/>
                </a:solidFill>
                <a:latin typeface="Arial"/>
              </a:rPr>
              <a:t>weight 0.10</a:t>
            </a:r>
            <a:endParaRPr lang="en-US" sz="1100"/>
          </a:p>
        </p:txBody>
      </p:sp>
      <p:sp>
        <p:nvSpPr>
          <p:cNvPr id="31" name="Shape 31"/>
          <p:cNvSpPr/>
          <p:nvPr/>
        </p:nvSpPr>
        <p:spPr>
          <a:xfrm>
            <a:off x="3371850" y="3638550"/>
            <a:ext cx="2419350" cy="609600"/>
          </a:xfrm>
          <a:prstGeom prst="roundRect">
            <a:avLst/>
          </a:prstGeom>
          <a:solidFill>
            <a:srgbClr val="FFFFFF"/>
          </a:solidFill>
          <a:ln w="25400">
            <a:solidFill>
              <a:srgbClr val="B46B13"/>
            </a:solidFill>
          </a:ln>
        </p:spPr>
      </p:sp>
      <p:sp>
        <p:nvSpPr>
          <p:cNvPr id="32" name="Text 32"/>
          <p:cNvSpPr txBox="1"/>
          <p:nvPr/>
        </p:nvSpPr>
        <p:spPr>
          <a:xfrm>
            <a:off x="3505200" y="3733800"/>
            <a:ext cx="2152650" cy="209550"/>
          </a:xfrm>
          <a:prstGeom prst="rect">
            <a:avLst/>
          </a:prstGeom>
          <a:noFill/>
          <a:ln>
            <a:noFill/>
          </a:ln>
        </p:spPr>
        <p:txBody>
          <a:bodyPr wrap="square" anchor="t" lIns="0" rIns="0" tIns="0" bIns="0"/>
          <a:lstStyle/>
          <a:p>
            <a:pPr algn="ctr"/>
            <a:r>
              <a:rPr lang="en-US" sz="1300" b="1">
                <a:solidFill>
                  <a:srgbClr val="B46B13"/>
                </a:solidFill>
                <a:latin typeface="Arial"/>
              </a:rPr>
              <a:t>INCOMPLETE</a:t>
            </a:r>
            <a:endParaRPr lang="en-US" sz="1300"/>
          </a:p>
        </p:txBody>
      </p:sp>
      <p:sp>
        <p:nvSpPr>
          <p:cNvPr id="33" name="Text 33"/>
          <p:cNvSpPr txBox="1"/>
          <p:nvPr/>
        </p:nvSpPr>
        <p:spPr>
          <a:xfrm>
            <a:off x="3505200" y="3981450"/>
            <a:ext cx="2152650" cy="171450"/>
          </a:xfrm>
          <a:prstGeom prst="rect">
            <a:avLst/>
          </a:prstGeom>
          <a:noFill/>
          <a:ln>
            <a:noFill/>
          </a:ln>
        </p:spPr>
        <p:txBody>
          <a:bodyPr wrap="square" anchor="t" lIns="0" rIns="0" tIns="0" bIns="0"/>
          <a:lstStyle/>
          <a:p>
            <a:pPr algn="ctr"/>
            <a:r>
              <a:rPr lang="en-US" sz="1100" b="0">
                <a:solidFill>
                  <a:srgbClr val="5D6873"/>
                </a:solidFill>
                <a:latin typeface="Arial"/>
              </a:rPr>
              <a:t>weight 0.10</a:t>
            </a:r>
            <a:endParaRPr lang="en-US" sz="1100"/>
          </a:p>
        </p:txBody>
      </p:sp>
      <p:sp>
        <p:nvSpPr>
          <p:cNvPr id="34" name="Shape 34"/>
          <p:cNvSpPr/>
          <p:nvPr/>
        </p:nvSpPr>
        <p:spPr>
          <a:xfrm>
            <a:off x="6153150" y="3638550"/>
            <a:ext cx="2419350" cy="609600"/>
          </a:xfrm>
          <a:prstGeom prst="roundRect">
            <a:avLst/>
          </a:prstGeom>
          <a:solidFill>
            <a:srgbClr val="FFFFFF"/>
          </a:solidFill>
          <a:ln w="25400">
            <a:solidFill>
              <a:srgbClr val="2A5B84"/>
            </a:solidFill>
          </a:ln>
        </p:spPr>
      </p:sp>
      <p:sp>
        <p:nvSpPr>
          <p:cNvPr id="35" name="Text 35"/>
          <p:cNvSpPr txBox="1"/>
          <p:nvPr/>
        </p:nvSpPr>
        <p:spPr>
          <a:xfrm>
            <a:off x="6286500" y="3733800"/>
            <a:ext cx="2152650" cy="209550"/>
          </a:xfrm>
          <a:prstGeom prst="rect">
            <a:avLst/>
          </a:prstGeom>
          <a:noFill/>
          <a:ln>
            <a:noFill/>
          </a:ln>
        </p:spPr>
        <p:txBody>
          <a:bodyPr wrap="square" anchor="t" lIns="0" rIns="0" tIns="0" bIns="0"/>
          <a:lstStyle/>
          <a:p>
            <a:pPr algn="ctr"/>
            <a:r>
              <a:rPr lang="en-US" sz="1300" b="1">
                <a:solidFill>
                  <a:srgbClr val="2A5B84"/>
                </a:solidFill>
                <a:latin typeface="Arial"/>
              </a:rPr>
              <a:t>CROSS-BORDER</a:t>
            </a:r>
            <a:endParaRPr lang="en-US" sz="1300"/>
          </a:p>
        </p:txBody>
      </p:sp>
      <p:sp>
        <p:nvSpPr>
          <p:cNvPr id="36" name="Text 36"/>
          <p:cNvSpPr txBox="1"/>
          <p:nvPr/>
        </p:nvSpPr>
        <p:spPr>
          <a:xfrm>
            <a:off x="6286500" y="3981450"/>
            <a:ext cx="2152650" cy="171450"/>
          </a:xfrm>
          <a:prstGeom prst="rect">
            <a:avLst/>
          </a:prstGeom>
          <a:noFill/>
          <a:ln>
            <a:noFill/>
          </a:ln>
        </p:spPr>
        <p:txBody>
          <a:bodyPr wrap="square" anchor="t" lIns="0" rIns="0" tIns="0" bIns="0"/>
          <a:lstStyle/>
          <a:p>
            <a:pPr algn="ctr"/>
            <a:r>
              <a:rPr lang="en-US" sz="1100" b="0">
                <a:solidFill>
                  <a:srgbClr val="5D6873"/>
                </a:solidFill>
                <a:latin typeface="Arial"/>
              </a:rPr>
              <a:t>weight 0.2625</a:t>
            </a:r>
            <a:endParaRPr lang="en-US" sz="1100"/>
          </a:p>
        </p:txBody>
      </p:sp>
      <p:sp>
        <p:nvSpPr>
          <p:cNvPr id="37" name="Shape 37"/>
          <p:cNvSpPr/>
          <p:nvPr/>
        </p:nvSpPr>
        <p:spPr>
          <a:xfrm>
            <a:off x="8934450" y="3638550"/>
            <a:ext cx="2419350" cy="609600"/>
          </a:xfrm>
          <a:prstGeom prst="roundRect">
            <a:avLst/>
          </a:prstGeom>
          <a:solidFill>
            <a:srgbClr val="FFFFFF"/>
          </a:solidFill>
          <a:ln w="25400">
            <a:solidFill>
              <a:srgbClr val="1F7A5A"/>
            </a:solidFill>
          </a:ln>
        </p:spPr>
      </p:sp>
      <p:sp>
        <p:nvSpPr>
          <p:cNvPr id="38" name="Text 38"/>
          <p:cNvSpPr txBox="1"/>
          <p:nvPr/>
        </p:nvSpPr>
        <p:spPr>
          <a:xfrm>
            <a:off x="9067800" y="3733800"/>
            <a:ext cx="2152650" cy="209550"/>
          </a:xfrm>
          <a:prstGeom prst="rect">
            <a:avLst/>
          </a:prstGeom>
          <a:noFill/>
          <a:ln>
            <a:noFill/>
          </a:ln>
        </p:spPr>
        <p:txBody>
          <a:bodyPr wrap="square" anchor="t" lIns="0" rIns="0" tIns="0" bIns="0"/>
          <a:lstStyle/>
          <a:p>
            <a:pPr algn="ctr"/>
            <a:r>
              <a:rPr lang="en-US" sz="1300" b="1">
                <a:solidFill>
                  <a:srgbClr val="1F7A5A"/>
                </a:solidFill>
                <a:latin typeface="Arial"/>
              </a:rPr>
              <a:t>SOURCE RISK</a:t>
            </a:r>
            <a:endParaRPr lang="en-US" sz="1300"/>
          </a:p>
        </p:txBody>
      </p:sp>
      <p:sp>
        <p:nvSpPr>
          <p:cNvPr id="39" name="Text 39"/>
          <p:cNvSpPr txBox="1"/>
          <p:nvPr/>
        </p:nvSpPr>
        <p:spPr>
          <a:xfrm>
            <a:off x="9067800" y="3981450"/>
            <a:ext cx="2152650" cy="171450"/>
          </a:xfrm>
          <a:prstGeom prst="rect">
            <a:avLst/>
          </a:prstGeom>
          <a:noFill/>
          <a:ln>
            <a:noFill/>
          </a:ln>
        </p:spPr>
        <p:txBody>
          <a:bodyPr wrap="square" anchor="t" lIns="0" rIns="0" tIns="0" bIns="0"/>
          <a:lstStyle/>
          <a:p>
            <a:pPr algn="ctr"/>
            <a:r>
              <a:rPr lang="en-US" sz="1100" b="0">
                <a:solidFill>
                  <a:srgbClr val="5D6873"/>
                </a:solidFill>
                <a:latin typeface="Arial"/>
              </a:rPr>
              <a:t>weight 0.4875</a:t>
            </a:r>
            <a:endParaRPr lang="en-US" sz="1100"/>
          </a:p>
        </p:txBody>
      </p:sp>
      <p:sp>
        <p:nvSpPr>
          <p:cNvPr id="40" name="Shape 40"/>
          <p:cNvSpPr/>
          <p:nvPr/>
        </p:nvSpPr>
        <p:spPr>
          <a:xfrm>
            <a:off x="590550" y="4495800"/>
            <a:ext cx="4762500" cy="1581150"/>
          </a:xfrm>
          <a:prstGeom prst="roundRect">
            <a:avLst/>
          </a:prstGeom>
          <a:solidFill>
            <a:srgbClr val="F4F6F8"/>
          </a:solidFill>
          <a:ln w="12700">
            <a:solidFill>
              <a:srgbClr val="D9DEE3"/>
            </a:solidFill>
          </a:ln>
        </p:spPr>
      </p:sp>
      <p:sp>
        <p:nvSpPr>
          <p:cNvPr id="41" name="Text 41"/>
          <p:cNvSpPr txBox="1"/>
          <p:nvPr/>
        </p:nvSpPr>
        <p:spPr>
          <a:xfrm>
            <a:off x="781050" y="4629150"/>
            <a:ext cx="4381500" cy="209550"/>
          </a:xfrm>
          <a:prstGeom prst="rect">
            <a:avLst/>
          </a:prstGeom>
          <a:noFill/>
          <a:ln>
            <a:noFill/>
          </a:ln>
        </p:spPr>
        <p:txBody>
          <a:bodyPr wrap="square" anchor="t" lIns="0" rIns="0" tIns="0" bIns="0"/>
          <a:lstStyle/>
          <a:p>
            <a:pPr algn="l"/>
            <a:r>
              <a:rPr lang="en-US" sz="1100" b="1" spc="60">
                <a:solidFill>
                  <a:srgbClr val="981B1E"/>
                </a:solidFill>
                <a:latin typeface="Arial"/>
              </a:rPr>
              <a:t>1 · PRIOR-ADJUSTED FEATURE</a:t>
            </a:r>
            <a:endParaRPr lang="en-US" sz="1100"/>
          </a:p>
        </p:txBody>
      </p:sp>
      <p:sp>
        <p:nvSpPr>
          <p:cNvPr id="42" name="Text 42"/>
          <p:cNvSpPr txBox="1"/>
          <p:nvPr/>
        </p:nvSpPr>
        <p:spPr>
          <a:xfrm>
            <a:off x="781050" y="4895850"/>
            <a:ext cx="4381500" cy="285750"/>
          </a:xfrm>
          <a:prstGeom prst="rect">
            <a:avLst/>
          </a:prstGeom>
          <a:noFill/>
          <a:ln>
            <a:noFill/>
          </a:ln>
        </p:spPr>
        <p:txBody>
          <a:bodyPr wrap="square" anchor="t" lIns="0" rIns="0" tIns="0" bIns="0"/>
          <a:lstStyle/>
          <a:p>
            <a:pPr algn="l"/>
            <a:r>
              <a:rPr lang="en-US" sz="1500" b="1">
                <a:solidFill>
                  <a:srgbClr val="17212B"/>
                </a:solidFill>
                <a:latin typeface="Arial"/>
              </a:rPr>
              <a:t>r_eff = positives / (observations + 2)</a:t>
            </a:r>
            <a:endParaRPr lang="en-US" sz="1500"/>
          </a:p>
        </p:txBody>
      </p:sp>
      <p:sp>
        <p:nvSpPr>
          <p:cNvPr id="43" name="Text 43"/>
          <p:cNvSpPr txBox="1"/>
          <p:nvPr/>
        </p:nvSpPr>
        <p:spPr>
          <a:xfrm>
            <a:off x="781050" y="5219700"/>
            <a:ext cx="4381500" cy="228600"/>
          </a:xfrm>
          <a:prstGeom prst="rect">
            <a:avLst/>
          </a:prstGeom>
          <a:noFill/>
          <a:ln>
            <a:noFill/>
          </a:ln>
        </p:spPr>
        <p:txBody>
          <a:bodyPr wrap="square" anchor="t" lIns="0" rIns="0" tIns="0" bIns="0"/>
          <a:lstStyle/>
          <a:p>
            <a:pPr algn="l"/>
            <a:r>
              <a:rPr lang="en-US" sz="1100" b="1" spc="60">
                <a:solidFill>
                  <a:srgbClr val="981B1E"/>
                </a:solidFill>
                <a:latin typeface="Arial"/>
              </a:rPr>
              <a:t>2 · ACTIVATION</a:t>
            </a:r>
            <a:endParaRPr lang="en-US" sz="1100"/>
          </a:p>
        </p:txBody>
      </p:sp>
      <p:sp>
        <p:nvSpPr>
          <p:cNvPr id="44" name="Text 44"/>
          <p:cNvSpPr txBox="1"/>
          <p:nvPr/>
        </p:nvSpPr>
        <p:spPr>
          <a:xfrm>
            <a:off x="781050" y="5486400"/>
            <a:ext cx="4381500" cy="266700"/>
          </a:xfrm>
          <a:prstGeom prst="rect">
            <a:avLst/>
          </a:prstGeom>
          <a:noFill/>
          <a:ln>
            <a:noFill/>
          </a:ln>
        </p:spPr>
        <p:txBody>
          <a:bodyPr wrap="square" anchor="t" lIns="0" rIns="0" tIns="0" bIns="0"/>
          <a:lstStyle/>
          <a:p>
            <a:pPr algn="l"/>
            <a:r>
              <a:rPr lang="en-US" sz="1500" b="1">
                <a:solidFill>
                  <a:srgbClr val="17212B"/>
                </a:solidFill>
                <a:latin typeface="Arial"/>
              </a:rPr>
              <a:t>degree = 0.5 × μmedium + μhigh</a:t>
            </a:r>
            <a:endParaRPr lang="en-US" sz="1500"/>
          </a:p>
        </p:txBody>
      </p:sp>
      <p:sp>
        <p:nvSpPr>
          <p:cNvPr id="45" name="Text 45"/>
          <p:cNvSpPr txBox="1"/>
          <p:nvPr/>
        </p:nvSpPr>
        <p:spPr>
          <a:xfrm>
            <a:off x="781050" y="5810250"/>
            <a:ext cx="4381500" cy="171450"/>
          </a:xfrm>
          <a:prstGeom prst="rect">
            <a:avLst/>
          </a:prstGeom>
          <a:noFill/>
          <a:ln>
            <a:noFill/>
          </a:ln>
        </p:spPr>
        <p:txBody>
          <a:bodyPr wrap="square" anchor="t" lIns="0" rIns="0" tIns="0" bIns="0"/>
          <a:lstStyle/>
          <a:p>
            <a:pPr algn="l"/>
            <a:r>
              <a:rPr lang="en-US" sz="1050" b="0">
                <a:solidFill>
                  <a:srgbClr val="5D6873"/>
                </a:solidFill>
                <a:latin typeface="Arial"/>
              </a:rPr>
              <a:t>Add-two zero-positive prior · thresholds 0.10 / 0.30 / 0.60</a:t>
            </a:r>
            <a:endParaRPr lang="en-US" sz="1050"/>
          </a:p>
        </p:txBody>
      </p:sp>
      <p:sp>
        <p:nvSpPr>
          <p:cNvPr id="46" name="Shape 46"/>
          <p:cNvSpPr/>
          <p:nvPr/>
        </p:nvSpPr>
        <p:spPr>
          <a:xfrm>
            <a:off x="5581650" y="4495800"/>
            <a:ext cx="6019800" cy="1581150"/>
          </a:xfrm>
          <a:prstGeom prst="roundRect">
            <a:avLst/>
          </a:prstGeom>
          <a:solidFill>
            <a:srgbClr val="FFFFFF"/>
          </a:solidFill>
          <a:ln w="12700">
            <a:solidFill>
              <a:srgbClr val="D9DEE3"/>
            </a:solidFill>
          </a:ln>
        </p:spPr>
      </p:sp>
      <p:sp>
        <p:nvSpPr>
          <p:cNvPr id="47" name="Text 47"/>
          <p:cNvSpPr txBox="1"/>
          <p:nvPr/>
        </p:nvSpPr>
        <p:spPr>
          <a:xfrm>
            <a:off x="5772150" y="4629150"/>
            <a:ext cx="5638800" cy="209550"/>
          </a:xfrm>
          <a:prstGeom prst="rect">
            <a:avLst/>
          </a:prstGeom>
          <a:noFill/>
          <a:ln>
            <a:noFill/>
          </a:ln>
        </p:spPr>
        <p:txBody>
          <a:bodyPr wrap="square" anchor="t" lIns="0" rIns="0" tIns="0" bIns="0"/>
          <a:lstStyle/>
          <a:p>
            <a:pPr algn="l"/>
            <a:r>
              <a:rPr lang="en-US" sz="1100" b="1" spc="60">
                <a:solidFill>
                  <a:srgbClr val="981B1E"/>
                </a:solidFill>
                <a:latin typeface="Arial"/>
              </a:rPr>
              <a:t>3 · FIXED MONOTONE SURFACE</a:t>
            </a:r>
            <a:endParaRPr lang="en-US" sz="1100"/>
          </a:p>
        </p:txBody>
      </p:sp>
      <p:sp>
        <p:nvSpPr>
          <p:cNvPr id="48" name="Text 48"/>
          <p:cNvSpPr txBox="1"/>
          <p:nvPr/>
        </p:nvSpPr>
        <p:spPr>
          <a:xfrm>
            <a:off x="5772150" y="4914900"/>
            <a:ext cx="5638800" cy="552450"/>
          </a:xfrm>
          <a:prstGeom prst="rect">
            <a:avLst/>
          </a:prstGeom>
          <a:noFill/>
          <a:ln>
            <a:noFill/>
          </a:ln>
        </p:spPr>
        <p:txBody>
          <a:bodyPr wrap="square" anchor="t" lIns="0" rIns="0" tIns="0" bIns="0"/>
          <a:lstStyle/>
          <a:p>
            <a:pPr algn="l"/>
            <a:r>
              <a:rPr lang="en-US" sz="1350" b="1">
                <a:solidFill>
                  <a:srgbClr val="17212B"/>
                </a:solidFill>
                <a:latin typeface="Arial"/>
              </a:rPr>
              <a:t>score = clamp₀₋₁(0.05 + 0.10·crypto + 0.10·incomplete</a:t>
            </a:r>
            <a:endParaRPr lang="en-US" sz="1350"/>
          </a:p>
          <a:p>
            <a:pPr algn="l"/>
            <a:r>
              <a:rPr lang="en-US" sz="1350" b="1">
                <a:solidFill>
                  <a:srgbClr val="17212B"/>
                </a:solidFill>
                <a:latin typeface="Arial"/>
              </a:rPr>
              <a:t>+ 0.2625·cross-border + 0.4875·source-risk)</a:t>
            </a:r>
            <a:endParaRPr lang="en-US" sz="1350"/>
          </a:p>
        </p:txBody>
      </p:sp>
      <p:sp>
        <p:nvSpPr>
          <p:cNvPr id="49" name="Text 49"/>
          <p:cNvSpPr txBox="1"/>
          <p:nvPr/>
        </p:nvSpPr>
        <p:spPr>
          <a:xfrm>
            <a:off x="5772150" y="5524500"/>
            <a:ext cx="5638800" cy="228600"/>
          </a:xfrm>
          <a:prstGeom prst="rect">
            <a:avLst/>
          </a:prstGeom>
          <a:noFill/>
          <a:ln>
            <a:noFill/>
          </a:ln>
        </p:spPr>
        <p:txBody>
          <a:bodyPr wrap="square" anchor="t" lIns="0" rIns="0" tIns="0" bIns="0"/>
          <a:lstStyle/>
          <a:p>
            <a:pPr algn="l"/>
            <a:r>
              <a:rPr lang="en-US" sz="1100" b="0">
                <a:solidFill>
                  <a:srgbClr val="5D6873"/>
                </a:solidFill>
                <a:latin typeface="Arial"/>
              </a:rPr>
              <a:t>Coupled min(cross-border, source-risk) is retained for diagnosis</a:t>
            </a:r>
            <a:endParaRPr lang="en-US" sz="1100"/>
          </a:p>
        </p:txBody>
      </p:sp>
      <p:sp>
        <p:nvSpPr>
          <p:cNvPr id="50" name="Text 50"/>
          <p:cNvSpPr txBox="1"/>
          <p:nvPr/>
        </p:nvSpPr>
        <p:spPr>
          <a:xfrm>
            <a:off x="5772150" y="5791200"/>
            <a:ext cx="5638800" cy="171450"/>
          </a:xfrm>
          <a:prstGeom prst="rect">
            <a:avLst/>
          </a:prstGeom>
          <a:noFill/>
          <a:ln>
            <a:noFill/>
          </a:ln>
        </p:spPr>
        <p:txBody>
          <a:bodyPr wrap="square" anchor="t" lIns="0" rIns="0" tIns="0" bIns="0"/>
          <a:lstStyle/>
          <a:p>
            <a:pPr algn="l"/>
            <a:r>
              <a:rPr lang="en-US" sz="1050" b="1">
                <a:solidFill>
                  <a:srgbClr val="981B1E"/>
                </a:solidFill>
                <a:latin typeface="Arial"/>
              </a:rPr>
              <a:t>Its consequent weight is 0: no double counting · not an AML probability</a:t>
            </a:r>
            <a:endParaRPr lang="en-US" sz="1050"/>
          </a:p>
        </p:txBody>
      </p:sp>
      <p:cxnSp>
        <p:nvCxnSpPr>
          <p:cNvPr id="51" name="Connector 51"/>
          <p:cNvCxnSpPr/>
          <p:nvPr/>
        </p:nvCxnSpPr>
        <p:spPr>
          <a:xfrm>
            <a:off x="552450" y="6419850"/>
            <a:ext cx="11087100" cy="0"/>
          </a:xfrm>
          <a:prstGeom prst="line">
            <a:avLst/>
          </a:prstGeom>
          <a:ln w="12700">
            <a:solidFill>
              <a:srgbClr val="BFC5CB"/>
            </a:solidFill>
          </a:ln>
        </p:spPr>
      </p:cxnSp>
      <p:sp>
        <p:nvSpPr>
          <p:cNvPr id="52" name="Text 52"/>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TECHNICAL APPENDIX</a:t>
            </a:r>
            <a:endParaRPr lang="en-US" sz="1000"/>
          </a:p>
        </p:txBody>
      </p:sp>
      <p:sp>
        <p:nvSpPr>
          <p:cNvPr id="53" name="Text 53"/>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D</a:t>
            </a:r>
            <a:endParaRPr lang="en-US"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APPENDIX E · CONDITIONAL DESIGN TARGET</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Late fusion requires comparable semantics before signals can be combined</a:t>
            </a:r>
            <a:endParaRPr lang="en-US" sz="3000"/>
          </a:p>
        </p:txBody>
      </p:sp>
      <p:sp>
        <p:nvSpPr>
          <p:cNvPr id="4" name="Text 4"/>
          <p:cNvSpPr txBox="1"/>
          <p:nvPr/>
        </p:nvSpPr>
        <p:spPr>
          <a:xfrm>
            <a:off x="8991600" y="1066800"/>
            <a:ext cx="2647950" cy="266700"/>
          </a:xfrm>
          <a:prstGeom prst="rect">
            <a:avLst/>
          </a:prstGeom>
          <a:noFill/>
          <a:ln>
            <a:noFill/>
          </a:ln>
        </p:spPr>
        <p:txBody>
          <a:bodyPr wrap="square" anchor="t" lIns="0" rIns="0" tIns="0" bIns="0"/>
          <a:lstStyle/>
          <a:p>
            <a:pPr algn="r"/>
            <a:r>
              <a:rPr lang="en-US" sz="1100" b="1" spc="100">
                <a:solidFill>
                  <a:srgbClr val="D71920"/>
                </a:solidFill>
                <a:latin typeface="Arial"/>
              </a:rPr>
              <a:t>R5 · NOT YET MEASURED</a:t>
            </a:r>
            <a:endParaRPr lang="en-US" sz="1100"/>
          </a:p>
        </p:txBody>
      </p:sp>
      <p:sp>
        <p:nvSpPr>
          <p:cNvPr id="5" name="Shape 5"/>
          <p:cNvSpPr/>
          <p:nvPr/>
        </p:nvSpPr>
        <p:spPr>
          <a:xfrm>
            <a:off x="628650" y="1790700"/>
            <a:ext cx="2571750" cy="609600"/>
          </a:xfrm>
          <a:prstGeom prst="rect">
            <a:avLst/>
          </a:prstGeom>
          <a:solidFill>
            <a:srgbClr val="FFFFFF"/>
          </a:solidFill>
          <a:ln w="25400">
            <a:solidFill>
              <a:srgbClr val="17212B"/>
            </a:solidFill>
          </a:ln>
        </p:spPr>
      </p:sp>
      <p:sp>
        <p:nvSpPr>
          <p:cNvPr id="6" name="Shape 6"/>
          <p:cNvSpPr/>
          <p:nvPr/>
        </p:nvSpPr>
        <p:spPr>
          <a:xfrm>
            <a:off x="628650" y="1790700"/>
            <a:ext cx="76200" cy="609600"/>
          </a:xfrm>
          <a:prstGeom prst="rect">
            <a:avLst/>
          </a:prstGeom>
          <a:solidFill>
            <a:srgbClr val="17212B"/>
          </a:solidFill>
          <a:ln w="12700">
            <a:solidFill>
              <a:srgbClr val="17212B"/>
            </a:solidFill>
          </a:ln>
        </p:spPr>
      </p:sp>
      <p:sp>
        <p:nvSpPr>
          <p:cNvPr id="7" name="Shape 7"/>
          <p:cNvSpPr/>
          <p:nvPr/>
        </p:nvSpPr>
        <p:spPr>
          <a:xfrm>
            <a:off x="800100" y="1895475"/>
            <a:ext cx="400050" cy="400050"/>
          </a:xfrm>
          <a:prstGeom prst="roundRect">
            <a:avLst/>
          </a:prstGeom>
          <a:solidFill>
            <a:srgbClr val="F4F6F8"/>
          </a:solidFill>
          <a:ln w="19050">
            <a:solidFill>
              <a:srgbClr val="17212B"/>
            </a:solidFill>
          </a:ln>
        </p:spPr>
      </p:sp>
      <p:pic>
        <p:nvPicPr>
          <p:cNvPr id="8" name="Picture 8"/>
          <p:cNvPicPr>
            <a:picLocks noChangeAspect="1"/>
          </p:cNvPicPr>
          <p:nvPr/>
        </p:nvPicPr>
        <p:blipFill>
          <a:blip r:embed="rId2"/>
          <a:stretch>
            <a:fillRect/>
          </a:stretch>
        </p:blipFill>
        <p:spPr>
          <a:xfrm>
            <a:off x="904875" y="2000250"/>
            <a:ext cx="190500" cy="190500"/>
          </a:xfrm>
          <a:prstGeom prst="rect">
            <a:avLst/>
          </a:prstGeom>
          <a:ln>
            <a:noFill/>
          </a:ln>
        </p:spPr>
      </p:pic>
      <p:sp>
        <p:nvSpPr>
          <p:cNvPr id="9" name="Text 9"/>
          <p:cNvSpPr txBox="1"/>
          <p:nvPr/>
        </p:nvSpPr>
        <p:spPr>
          <a:xfrm>
            <a:off x="1333500" y="1866900"/>
            <a:ext cx="1657350" cy="190500"/>
          </a:xfrm>
          <a:prstGeom prst="rect">
            <a:avLst/>
          </a:prstGeom>
          <a:noFill/>
          <a:ln>
            <a:noFill/>
          </a:ln>
        </p:spPr>
        <p:txBody>
          <a:bodyPr wrap="square" anchor="t" lIns="0" rIns="0" tIns="0" bIns="0"/>
          <a:lstStyle/>
          <a:p>
            <a:pPr algn="l"/>
            <a:r>
              <a:rPr lang="en-US" sz="1300" b="1">
                <a:solidFill>
                  <a:srgbClr val="17212B"/>
                </a:solidFill>
                <a:latin typeface="Arial"/>
              </a:rPr>
              <a:t>DETERMINISTIC</a:t>
            </a:r>
            <a:endParaRPr lang="en-US" sz="1300"/>
          </a:p>
        </p:txBody>
      </p:sp>
      <p:sp>
        <p:nvSpPr>
          <p:cNvPr id="10" name="Text 10"/>
          <p:cNvSpPr txBox="1"/>
          <p:nvPr/>
        </p:nvSpPr>
        <p:spPr>
          <a:xfrm>
            <a:off x="1333500" y="2114550"/>
            <a:ext cx="1657350" cy="209550"/>
          </a:xfrm>
          <a:prstGeom prst="rect">
            <a:avLst/>
          </a:prstGeom>
          <a:noFill/>
          <a:ln>
            <a:noFill/>
          </a:ln>
        </p:spPr>
        <p:txBody>
          <a:bodyPr wrap="square" anchor="t" lIns="0" rIns="0" tIns="0" bIns="0"/>
          <a:lstStyle/>
          <a:p>
            <a:pPr algn="l"/>
            <a:r>
              <a:rPr lang="en-US" sz="1200" b="0">
                <a:solidFill>
                  <a:srgbClr val="5D6873"/>
                </a:solidFill>
                <a:latin typeface="Arial"/>
              </a:rPr>
              <a:t>source-shaped baseline</a:t>
            </a:r>
            <a:endParaRPr lang="en-US" sz="1200"/>
          </a:p>
        </p:txBody>
      </p:sp>
      <p:cxnSp>
        <p:nvCxnSpPr>
          <p:cNvPr id="11" name="Connector 11"/>
          <p:cNvCxnSpPr/>
          <p:nvPr/>
        </p:nvCxnSpPr>
        <p:spPr>
          <a:xfrm>
            <a:off x="3200400" y="2095500"/>
            <a:ext cx="1085850" cy="0"/>
          </a:xfrm>
          <a:prstGeom prst="line">
            <a:avLst/>
          </a:prstGeom>
          <a:ln w="25400">
            <a:solidFill>
              <a:srgbClr val="17212B"/>
            </a:solidFill>
          </a:ln>
        </p:spPr>
      </p:cxnSp>
      <p:sp>
        <p:nvSpPr>
          <p:cNvPr id="12" name="Shape 12"/>
          <p:cNvSpPr/>
          <p:nvPr/>
        </p:nvSpPr>
        <p:spPr>
          <a:xfrm>
            <a:off x="628650" y="2628900"/>
            <a:ext cx="2571750" cy="609600"/>
          </a:xfrm>
          <a:prstGeom prst="rect">
            <a:avLst/>
          </a:prstGeom>
          <a:solidFill>
            <a:srgbClr val="FFFFFF"/>
          </a:solidFill>
          <a:ln w="25400">
            <a:solidFill>
              <a:srgbClr val="2A5B84"/>
            </a:solidFill>
          </a:ln>
        </p:spPr>
      </p:sp>
      <p:sp>
        <p:nvSpPr>
          <p:cNvPr id="13" name="Shape 13"/>
          <p:cNvSpPr/>
          <p:nvPr/>
        </p:nvSpPr>
        <p:spPr>
          <a:xfrm>
            <a:off x="628650" y="2628900"/>
            <a:ext cx="76200" cy="609600"/>
          </a:xfrm>
          <a:prstGeom prst="rect">
            <a:avLst/>
          </a:prstGeom>
          <a:solidFill>
            <a:srgbClr val="2A5B84"/>
          </a:solidFill>
          <a:ln w="12700">
            <a:solidFill>
              <a:srgbClr val="2A5B84"/>
            </a:solidFill>
          </a:ln>
        </p:spPr>
      </p:sp>
      <p:sp>
        <p:nvSpPr>
          <p:cNvPr id="14" name="Shape 14"/>
          <p:cNvSpPr/>
          <p:nvPr/>
        </p:nvSpPr>
        <p:spPr>
          <a:xfrm>
            <a:off x="800100" y="2733675"/>
            <a:ext cx="400050" cy="400050"/>
          </a:xfrm>
          <a:prstGeom prst="roundRect">
            <a:avLst/>
          </a:prstGeom>
          <a:solidFill>
            <a:srgbClr val="F4F6F8"/>
          </a:solidFill>
          <a:ln w="19050">
            <a:solidFill>
              <a:srgbClr val="2A5B84"/>
            </a:solidFill>
          </a:ln>
        </p:spPr>
      </p:sp>
      <p:pic>
        <p:nvPicPr>
          <p:cNvPr id="15" name="Picture 15"/>
          <p:cNvPicPr>
            <a:picLocks noChangeAspect="1"/>
          </p:cNvPicPr>
          <p:nvPr/>
        </p:nvPicPr>
        <p:blipFill>
          <a:blip r:embed="rId3"/>
          <a:stretch>
            <a:fillRect/>
          </a:stretch>
        </p:blipFill>
        <p:spPr>
          <a:xfrm>
            <a:off x="904875" y="2838450"/>
            <a:ext cx="190500" cy="190500"/>
          </a:xfrm>
          <a:prstGeom prst="rect">
            <a:avLst/>
          </a:prstGeom>
          <a:ln>
            <a:noFill/>
          </a:ln>
        </p:spPr>
      </p:pic>
      <p:sp>
        <p:nvSpPr>
          <p:cNvPr id="16" name="Text 16"/>
          <p:cNvSpPr txBox="1"/>
          <p:nvPr/>
        </p:nvSpPr>
        <p:spPr>
          <a:xfrm>
            <a:off x="1333500" y="2705100"/>
            <a:ext cx="1657350" cy="190500"/>
          </a:xfrm>
          <a:prstGeom prst="rect">
            <a:avLst/>
          </a:prstGeom>
          <a:noFill/>
          <a:ln>
            <a:noFill/>
          </a:ln>
        </p:spPr>
        <p:txBody>
          <a:bodyPr wrap="square" anchor="t" lIns="0" rIns="0" tIns="0" bIns="0"/>
          <a:lstStyle/>
          <a:p>
            <a:pPr algn="l"/>
            <a:r>
              <a:rPr lang="en-US" sz="1300" b="1">
                <a:solidFill>
                  <a:srgbClr val="2A5B84"/>
                </a:solidFill>
                <a:latin typeface="Arial"/>
              </a:rPr>
              <a:t>BAYESIAN</a:t>
            </a:r>
            <a:endParaRPr lang="en-US" sz="1300"/>
          </a:p>
        </p:txBody>
      </p:sp>
      <p:sp>
        <p:nvSpPr>
          <p:cNvPr id="17" name="Text 17"/>
          <p:cNvSpPr txBox="1"/>
          <p:nvPr/>
        </p:nvSpPr>
        <p:spPr>
          <a:xfrm>
            <a:off x="1333500" y="2952750"/>
            <a:ext cx="1657350" cy="209550"/>
          </a:xfrm>
          <a:prstGeom prst="rect">
            <a:avLst/>
          </a:prstGeom>
          <a:noFill/>
          <a:ln>
            <a:noFill/>
          </a:ln>
        </p:spPr>
        <p:txBody>
          <a:bodyPr wrap="square" anchor="t" lIns="0" rIns="0" tIns="0" bIns="0"/>
          <a:lstStyle/>
          <a:p>
            <a:pPr algn="l"/>
            <a:r>
              <a:rPr lang="en-US" sz="1200" b="0">
                <a:solidFill>
                  <a:srgbClr val="5D6873"/>
                </a:solidFill>
                <a:latin typeface="Arial"/>
              </a:rPr>
              <a:t>small-sample posterior</a:t>
            </a:r>
            <a:endParaRPr lang="en-US" sz="1200"/>
          </a:p>
        </p:txBody>
      </p:sp>
      <p:cxnSp>
        <p:nvCxnSpPr>
          <p:cNvPr id="18" name="Connector 18"/>
          <p:cNvCxnSpPr/>
          <p:nvPr/>
        </p:nvCxnSpPr>
        <p:spPr>
          <a:xfrm>
            <a:off x="3200400" y="2933700"/>
            <a:ext cx="1085850" cy="0"/>
          </a:xfrm>
          <a:prstGeom prst="line">
            <a:avLst/>
          </a:prstGeom>
          <a:ln w="25400">
            <a:solidFill>
              <a:srgbClr val="2A5B84"/>
            </a:solidFill>
          </a:ln>
        </p:spPr>
      </p:cxnSp>
      <p:sp>
        <p:nvSpPr>
          <p:cNvPr id="19" name="Shape 19"/>
          <p:cNvSpPr/>
          <p:nvPr/>
        </p:nvSpPr>
        <p:spPr>
          <a:xfrm>
            <a:off x="628650" y="3467100"/>
            <a:ext cx="2571750" cy="609600"/>
          </a:xfrm>
          <a:prstGeom prst="rect">
            <a:avLst/>
          </a:prstGeom>
          <a:solidFill>
            <a:srgbClr val="FFFFFF"/>
          </a:solidFill>
          <a:ln w="25400">
            <a:solidFill>
              <a:srgbClr val="B46B13"/>
            </a:solidFill>
          </a:ln>
        </p:spPr>
      </p:sp>
      <p:sp>
        <p:nvSpPr>
          <p:cNvPr id="20" name="Shape 20"/>
          <p:cNvSpPr/>
          <p:nvPr/>
        </p:nvSpPr>
        <p:spPr>
          <a:xfrm>
            <a:off x="628650" y="3467100"/>
            <a:ext cx="76200" cy="609600"/>
          </a:xfrm>
          <a:prstGeom prst="rect">
            <a:avLst/>
          </a:prstGeom>
          <a:solidFill>
            <a:srgbClr val="B46B13"/>
          </a:solidFill>
          <a:ln w="12700">
            <a:solidFill>
              <a:srgbClr val="B46B13"/>
            </a:solidFill>
          </a:ln>
        </p:spPr>
      </p:sp>
      <p:sp>
        <p:nvSpPr>
          <p:cNvPr id="21" name="Shape 21"/>
          <p:cNvSpPr/>
          <p:nvPr/>
        </p:nvSpPr>
        <p:spPr>
          <a:xfrm>
            <a:off x="800100" y="3571875"/>
            <a:ext cx="400050" cy="400050"/>
          </a:xfrm>
          <a:prstGeom prst="roundRect">
            <a:avLst/>
          </a:prstGeom>
          <a:solidFill>
            <a:srgbClr val="F4F6F8"/>
          </a:solidFill>
          <a:ln w="19050">
            <a:solidFill>
              <a:srgbClr val="B46B13"/>
            </a:solidFill>
          </a:ln>
        </p:spPr>
      </p:sp>
      <p:pic>
        <p:nvPicPr>
          <p:cNvPr id="22" name="Picture 22"/>
          <p:cNvPicPr>
            <a:picLocks noChangeAspect="1"/>
          </p:cNvPicPr>
          <p:nvPr/>
        </p:nvPicPr>
        <p:blipFill>
          <a:blip r:embed="rId4"/>
          <a:stretch>
            <a:fillRect/>
          </a:stretch>
        </p:blipFill>
        <p:spPr>
          <a:xfrm>
            <a:off x="904875" y="3676650"/>
            <a:ext cx="190500" cy="190500"/>
          </a:xfrm>
          <a:prstGeom prst="rect">
            <a:avLst/>
          </a:prstGeom>
          <a:ln>
            <a:noFill/>
          </a:ln>
        </p:spPr>
      </p:pic>
      <p:sp>
        <p:nvSpPr>
          <p:cNvPr id="23" name="Text 23"/>
          <p:cNvSpPr txBox="1"/>
          <p:nvPr/>
        </p:nvSpPr>
        <p:spPr>
          <a:xfrm>
            <a:off x="1333500" y="3543300"/>
            <a:ext cx="1657350" cy="190500"/>
          </a:xfrm>
          <a:prstGeom prst="rect">
            <a:avLst/>
          </a:prstGeom>
          <a:noFill/>
          <a:ln>
            <a:noFill/>
          </a:ln>
        </p:spPr>
        <p:txBody>
          <a:bodyPr wrap="square" anchor="t" lIns="0" rIns="0" tIns="0" bIns="0"/>
          <a:lstStyle/>
          <a:p>
            <a:pPr algn="l"/>
            <a:r>
              <a:rPr lang="en-US" sz="1300" b="1">
                <a:solidFill>
                  <a:srgbClr val="B46B13"/>
                </a:solidFill>
                <a:latin typeface="Arial"/>
              </a:rPr>
              <a:t>FUZZY</a:t>
            </a:r>
            <a:endParaRPr lang="en-US" sz="1300"/>
          </a:p>
        </p:txBody>
      </p:sp>
      <p:sp>
        <p:nvSpPr>
          <p:cNvPr id="24" name="Text 24"/>
          <p:cNvSpPr txBox="1"/>
          <p:nvPr/>
        </p:nvSpPr>
        <p:spPr>
          <a:xfrm>
            <a:off x="1333500" y="3790950"/>
            <a:ext cx="1657350" cy="209550"/>
          </a:xfrm>
          <a:prstGeom prst="rect">
            <a:avLst/>
          </a:prstGeom>
          <a:noFill/>
          <a:ln>
            <a:noFill/>
          </a:ln>
        </p:spPr>
        <p:txBody>
          <a:bodyPr wrap="square" anchor="t" lIns="0" rIns="0" tIns="0" bIns="0"/>
          <a:lstStyle/>
          <a:p>
            <a:pPr algn="l"/>
            <a:r>
              <a:rPr lang="en-US" sz="1200" b="0">
                <a:solidFill>
                  <a:srgbClr val="5D6873"/>
                </a:solidFill>
                <a:latin typeface="Arial"/>
              </a:rPr>
              <a:t>graded rule activation</a:t>
            </a:r>
            <a:endParaRPr lang="en-US" sz="1200"/>
          </a:p>
        </p:txBody>
      </p:sp>
      <p:cxnSp>
        <p:nvCxnSpPr>
          <p:cNvPr id="25" name="Connector 25"/>
          <p:cNvCxnSpPr/>
          <p:nvPr/>
        </p:nvCxnSpPr>
        <p:spPr>
          <a:xfrm>
            <a:off x="3200400" y="3771900"/>
            <a:ext cx="1085850" cy="0"/>
          </a:xfrm>
          <a:prstGeom prst="line">
            <a:avLst/>
          </a:prstGeom>
          <a:ln w="25400">
            <a:solidFill>
              <a:srgbClr val="B46B13"/>
            </a:solidFill>
          </a:ln>
        </p:spPr>
      </p:cxnSp>
      <p:sp>
        <p:nvSpPr>
          <p:cNvPr id="26" name="Shape 26"/>
          <p:cNvSpPr/>
          <p:nvPr/>
        </p:nvSpPr>
        <p:spPr>
          <a:xfrm>
            <a:off x="628650" y="4305300"/>
            <a:ext cx="2571750" cy="609600"/>
          </a:xfrm>
          <a:prstGeom prst="rect">
            <a:avLst/>
          </a:prstGeom>
          <a:solidFill>
            <a:srgbClr val="FFFFFF"/>
          </a:solidFill>
          <a:ln w="25400">
            <a:solidFill>
              <a:srgbClr val="1F7A5A"/>
            </a:solidFill>
          </a:ln>
        </p:spPr>
      </p:sp>
      <p:sp>
        <p:nvSpPr>
          <p:cNvPr id="27" name="Shape 27"/>
          <p:cNvSpPr/>
          <p:nvPr/>
        </p:nvSpPr>
        <p:spPr>
          <a:xfrm>
            <a:off x="628650" y="4305300"/>
            <a:ext cx="76200" cy="609600"/>
          </a:xfrm>
          <a:prstGeom prst="rect">
            <a:avLst/>
          </a:prstGeom>
          <a:solidFill>
            <a:srgbClr val="1F7A5A"/>
          </a:solidFill>
          <a:ln w="12700">
            <a:solidFill>
              <a:srgbClr val="1F7A5A"/>
            </a:solidFill>
          </a:ln>
        </p:spPr>
      </p:sp>
      <p:sp>
        <p:nvSpPr>
          <p:cNvPr id="28" name="Shape 28"/>
          <p:cNvSpPr/>
          <p:nvPr/>
        </p:nvSpPr>
        <p:spPr>
          <a:xfrm>
            <a:off x="800100" y="4410075"/>
            <a:ext cx="400050" cy="400050"/>
          </a:xfrm>
          <a:prstGeom prst="roundRect">
            <a:avLst/>
          </a:prstGeom>
          <a:solidFill>
            <a:srgbClr val="F4F6F8"/>
          </a:solidFill>
          <a:ln w="19050">
            <a:solidFill>
              <a:srgbClr val="1F7A5A"/>
            </a:solidFill>
          </a:ln>
        </p:spPr>
      </p:sp>
      <p:pic>
        <p:nvPicPr>
          <p:cNvPr id="29" name="Picture 29"/>
          <p:cNvPicPr>
            <a:picLocks noChangeAspect="1"/>
          </p:cNvPicPr>
          <p:nvPr/>
        </p:nvPicPr>
        <p:blipFill>
          <a:blip r:embed="rId5"/>
          <a:stretch>
            <a:fillRect/>
          </a:stretch>
        </p:blipFill>
        <p:spPr>
          <a:xfrm>
            <a:off x="904875" y="4514850"/>
            <a:ext cx="190500" cy="190500"/>
          </a:xfrm>
          <a:prstGeom prst="rect">
            <a:avLst/>
          </a:prstGeom>
          <a:ln>
            <a:noFill/>
          </a:ln>
        </p:spPr>
      </p:pic>
      <p:sp>
        <p:nvSpPr>
          <p:cNvPr id="30" name="Text 30"/>
          <p:cNvSpPr txBox="1"/>
          <p:nvPr/>
        </p:nvSpPr>
        <p:spPr>
          <a:xfrm>
            <a:off x="1333500" y="4381500"/>
            <a:ext cx="1657350" cy="190500"/>
          </a:xfrm>
          <a:prstGeom prst="rect">
            <a:avLst/>
          </a:prstGeom>
          <a:noFill/>
          <a:ln>
            <a:noFill/>
          </a:ln>
        </p:spPr>
        <p:txBody>
          <a:bodyPr wrap="square" anchor="t" lIns="0" rIns="0" tIns="0" bIns="0"/>
          <a:lstStyle/>
          <a:p>
            <a:pPr algn="l"/>
            <a:r>
              <a:rPr lang="en-US" sz="1300" b="1">
                <a:solidFill>
                  <a:srgbClr val="1F7A5A"/>
                </a:solidFill>
                <a:latin typeface="Arial"/>
              </a:rPr>
              <a:t>RANDOM FOREST</a:t>
            </a:r>
            <a:endParaRPr lang="en-US" sz="1300"/>
          </a:p>
        </p:txBody>
      </p:sp>
      <p:sp>
        <p:nvSpPr>
          <p:cNvPr id="31" name="Text 31"/>
          <p:cNvSpPr txBox="1"/>
          <p:nvPr/>
        </p:nvSpPr>
        <p:spPr>
          <a:xfrm>
            <a:off x="1333500" y="4629150"/>
            <a:ext cx="1657350" cy="209550"/>
          </a:xfrm>
          <a:prstGeom prst="rect">
            <a:avLst/>
          </a:prstGeom>
          <a:noFill/>
          <a:ln>
            <a:noFill/>
          </a:ln>
        </p:spPr>
        <p:txBody>
          <a:bodyPr wrap="square" anchor="t" lIns="0" rIns="0" tIns="0" bIns="0"/>
          <a:lstStyle/>
          <a:p>
            <a:pPr algn="l"/>
            <a:r>
              <a:rPr lang="en-US" sz="1200" b="0">
                <a:solidFill>
                  <a:srgbClr val="5D6873"/>
                </a:solidFill>
                <a:latin typeface="Arial"/>
              </a:rPr>
              <a:t>learned tree votes</a:t>
            </a:r>
            <a:endParaRPr lang="en-US" sz="1200"/>
          </a:p>
        </p:txBody>
      </p:sp>
      <p:cxnSp>
        <p:nvCxnSpPr>
          <p:cNvPr id="32" name="Connector 32"/>
          <p:cNvCxnSpPr/>
          <p:nvPr/>
        </p:nvCxnSpPr>
        <p:spPr>
          <a:xfrm>
            <a:off x="3200400" y="4610100"/>
            <a:ext cx="1085850" cy="0"/>
          </a:xfrm>
          <a:prstGeom prst="line">
            <a:avLst/>
          </a:prstGeom>
          <a:ln w="25400">
            <a:solidFill>
              <a:srgbClr val="1F7A5A"/>
            </a:solidFill>
          </a:ln>
        </p:spPr>
      </p:cxnSp>
      <p:cxnSp>
        <p:nvCxnSpPr>
          <p:cNvPr id="33" name="Connector 33"/>
          <p:cNvCxnSpPr/>
          <p:nvPr/>
        </p:nvCxnSpPr>
        <p:spPr>
          <a:xfrm>
            <a:off x="4286250" y="2095500"/>
            <a:ext cx="0" cy="2514600"/>
          </a:xfrm>
          <a:prstGeom prst="line">
            <a:avLst/>
          </a:prstGeom>
          <a:ln w="38100">
            <a:solidFill>
              <a:srgbClr val="384754"/>
            </a:solidFill>
          </a:ln>
        </p:spPr>
      </p:cxnSp>
      <p:cxnSp>
        <p:nvCxnSpPr>
          <p:cNvPr id="34" name="Connector 34"/>
          <p:cNvCxnSpPr/>
          <p:nvPr/>
        </p:nvCxnSpPr>
        <p:spPr>
          <a:xfrm>
            <a:off x="4286250" y="3352800"/>
            <a:ext cx="552450" cy="0"/>
          </a:xfrm>
          <a:prstGeom prst="line">
            <a:avLst/>
          </a:prstGeom>
          <a:ln w="38100">
            <a:solidFill>
              <a:srgbClr val="384754"/>
            </a:solidFill>
            <a:tailEnd type="triangle"/>
          </a:ln>
        </p:spPr>
      </p:cxnSp>
      <p:sp>
        <p:nvSpPr>
          <p:cNvPr id="35" name="Shape 35"/>
          <p:cNvSpPr/>
          <p:nvPr/>
        </p:nvSpPr>
        <p:spPr>
          <a:xfrm>
            <a:off x="4838700" y="2590800"/>
            <a:ext cx="2076450" cy="1524000"/>
          </a:xfrm>
          <a:prstGeom prst="rect">
            <a:avLst/>
          </a:prstGeom>
          <a:solidFill>
            <a:srgbClr val="F4F6F8"/>
          </a:solidFill>
          <a:ln w="25400">
            <a:solidFill>
              <a:srgbClr val="384754"/>
            </a:solidFill>
          </a:ln>
        </p:spPr>
      </p:sp>
      <p:sp>
        <p:nvSpPr>
          <p:cNvPr id="36" name="Shape 36"/>
          <p:cNvSpPr/>
          <p:nvPr/>
        </p:nvSpPr>
        <p:spPr>
          <a:xfrm>
            <a:off x="5610225" y="2724150"/>
            <a:ext cx="533400" cy="533400"/>
          </a:xfrm>
          <a:prstGeom prst="roundRect">
            <a:avLst/>
          </a:prstGeom>
          <a:solidFill>
            <a:srgbClr val="FFFFFF"/>
          </a:solidFill>
          <a:ln w="19050">
            <a:solidFill>
              <a:srgbClr val="384754"/>
            </a:solidFill>
          </a:ln>
        </p:spPr>
      </p:sp>
      <p:pic>
        <p:nvPicPr>
          <p:cNvPr id="37" name="Picture 37"/>
          <p:cNvPicPr>
            <a:picLocks noChangeAspect="1"/>
          </p:cNvPicPr>
          <p:nvPr/>
        </p:nvPicPr>
        <p:blipFill>
          <a:blip r:embed="rId6"/>
          <a:stretch>
            <a:fillRect/>
          </a:stretch>
        </p:blipFill>
        <p:spPr>
          <a:xfrm>
            <a:off x="5743575" y="2857500"/>
            <a:ext cx="266700" cy="266700"/>
          </a:xfrm>
          <a:prstGeom prst="rect">
            <a:avLst/>
          </a:prstGeom>
          <a:ln>
            <a:noFill/>
          </a:ln>
        </p:spPr>
      </p:pic>
      <p:sp>
        <p:nvSpPr>
          <p:cNvPr id="38" name="Text 38"/>
          <p:cNvSpPr txBox="1"/>
          <p:nvPr/>
        </p:nvSpPr>
        <p:spPr>
          <a:xfrm>
            <a:off x="5048250" y="3314700"/>
            <a:ext cx="1657350" cy="400050"/>
          </a:xfrm>
          <a:prstGeom prst="rect">
            <a:avLst/>
          </a:prstGeom>
          <a:noFill/>
          <a:ln>
            <a:noFill/>
          </a:ln>
        </p:spPr>
        <p:txBody>
          <a:bodyPr wrap="square" anchor="t" lIns="0" rIns="0" tIns="0" bIns="0"/>
          <a:lstStyle/>
          <a:p>
            <a:pPr algn="ctr"/>
            <a:r>
              <a:rPr lang="en-US" sz="1400" b="1">
                <a:solidFill>
                  <a:srgbClr val="17212B"/>
                </a:solidFill>
                <a:latin typeface="Arial"/>
              </a:rPr>
              <a:t>SEMANTIC</a:t>
            </a:r>
            <a:endParaRPr lang="en-US" sz="1400"/>
          </a:p>
          <a:p>
            <a:pPr algn="ctr"/>
            <a:r>
              <a:rPr lang="en-US" sz="1400" b="1">
                <a:solidFill>
                  <a:srgbClr val="17212B"/>
                </a:solidFill>
                <a:latin typeface="Arial"/>
              </a:rPr>
              <a:t>ALIGNMENT</a:t>
            </a:r>
            <a:endParaRPr lang="en-US" sz="1400"/>
          </a:p>
        </p:txBody>
      </p:sp>
      <p:sp>
        <p:nvSpPr>
          <p:cNvPr id="39" name="Text 39"/>
          <p:cNvSpPr txBox="1"/>
          <p:nvPr/>
        </p:nvSpPr>
        <p:spPr>
          <a:xfrm>
            <a:off x="5048250" y="3829050"/>
            <a:ext cx="1657350" cy="171450"/>
          </a:xfrm>
          <a:prstGeom prst="rect">
            <a:avLst/>
          </a:prstGeom>
          <a:noFill/>
          <a:ln>
            <a:noFill/>
          </a:ln>
        </p:spPr>
        <p:txBody>
          <a:bodyPr wrap="square" anchor="t" lIns="0" rIns="0" tIns="0" bIns="0"/>
          <a:lstStyle/>
          <a:p>
            <a:pPr algn="ctr"/>
            <a:r>
              <a:rPr lang="en-US" sz="1000" b="0">
                <a:solidFill>
                  <a:srgbClr val="5D6873"/>
                </a:solidFill>
                <a:latin typeface="Arial"/>
              </a:rPr>
              <a:t>aligned target and scale</a:t>
            </a:r>
            <a:endParaRPr lang="en-US" sz="1000"/>
          </a:p>
        </p:txBody>
      </p:sp>
      <p:cxnSp>
        <p:nvCxnSpPr>
          <p:cNvPr id="40" name="Connector 40"/>
          <p:cNvCxnSpPr/>
          <p:nvPr/>
        </p:nvCxnSpPr>
        <p:spPr>
          <a:xfrm>
            <a:off x="6915150" y="3352800"/>
            <a:ext cx="666750" cy="0"/>
          </a:xfrm>
          <a:prstGeom prst="line">
            <a:avLst/>
          </a:prstGeom>
          <a:ln w="38100">
            <a:solidFill>
              <a:srgbClr val="D71920"/>
            </a:solidFill>
            <a:tailEnd type="triangle"/>
          </a:ln>
        </p:spPr>
      </p:cxnSp>
      <p:sp>
        <p:nvSpPr>
          <p:cNvPr id="41" name="Shape 41"/>
          <p:cNvSpPr/>
          <p:nvPr/>
        </p:nvSpPr>
        <p:spPr>
          <a:xfrm>
            <a:off x="7581900" y="2590800"/>
            <a:ext cx="1809750" cy="1524000"/>
          </a:xfrm>
          <a:prstGeom prst="rect">
            <a:avLst/>
          </a:prstGeom>
          <a:solidFill>
            <a:srgbClr val="FCEBEC"/>
          </a:solidFill>
          <a:ln w="38100">
            <a:solidFill>
              <a:srgbClr val="D71920"/>
            </a:solidFill>
          </a:ln>
        </p:spPr>
      </p:sp>
      <p:sp>
        <p:nvSpPr>
          <p:cNvPr id="42" name="Shape 42"/>
          <p:cNvSpPr/>
          <p:nvPr/>
        </p:nvSpPr>
        <p:spPr>
          <a:xfrm>
            <a:off x="8220075" y="2743200"/>
            <a:ext cx="533400" cy="533400"/>
          </a:xfrm>
          <a:prstGeom prst="roundRect">
            <a:avLst/>
          </a:prstGeom>
          <a:solidFill>
            <a:srgbClr val="FFFFFF"/>
          </a:solidFill>
          <a:ln w="19050">
            <a:solidFill>
              <a:srgbClr val="981B1E"/>
            </a:solidFill>
          </a:ln>
        </p:spPr>
      </p:sp>
      <p:pic>
        <p:nvPicPr>
          <p:cNvPr id="43" name="Picture 43"/>
          <p:cNvPicPr>
            <a:picLocks noChangeAspect="1"/>
          </p:cNvPicPr>
          <p:nvPr/>
        </p:nvPicPr>
        <p:blipFill>
          <a:blip r:embed="rId7"/>
          <a:stretch>
            <a:fillRect/>
          </a:stretch>
        </p:blipFill>
        <p:spPr>
          <a:xfrm>
            <a:off x="8353425" y="2876550"/>
            <a:ext cx="266700" cy="266700"/>
          </a:xfrm>
          <a:prstGeom prst="rect">
            <a:avLst/>
          </a:prstGeom>
          <a:ln>
            <a:noFill/>
          </a:ln>
        </p:spPr>
      </p:pic>
      <p:sp>
        <p:nvSpPr>
          <p:cNvPr id="44" name="Text 44"/>
          <p:cNvSpPr txBox="1"/>
          <p:nvPr/>
        </p:nvSpPr>
        <p:spPr>
          <a:xfrm>
            <a:off x="7791450" y="3314700"/>
            <a:ext cx="1390650" cy="419100"/>
          </a:xfrm>
          <a:prstGeom prst="rect">
            <a:avLst/>
          </a:prstGeom>
          <a:noFill/>
          <a:ln>
            <a:noFill/>
          </a:ln>
        </p:spPr>
        <p:txBody>
          <a:bodyPr wrap="square" anchor="t" lIns="0" rIns="0" tIns="0" bIns="0"/>
          <a:lstStyle/>
          <a:p>
            <a:pPr algn="ctr"/>
            <a:r>
              <a:rPr lang="en-US" sz="1500" b="1">
                <a:solidFill>
                  <a:srgbClr val="981B1E"/>
                </a:solidFill>
                <a:latin typeface="Arial"/>
              </a:rPr>
              <a:t>LATE</a:t>
            </a:r>
            <a:endParaRPr lang="en-US" sz="1500"/>
          </a:p>
          <a:p>
            <a:pPr algn="ctr"/>
            <a:r>
              <a:rPr lang="en-US" sz="1500" b="1">
                <a:solidFill>
                  <a:srgbClr val="981B1E"/>
                </a:solidFill>
                <a:latin typeface="Arial"/>
              </a:rPr>
              <a:t>FUSION</a:t>
            </a:r>
            <a:endParaRPr lang="en-US" sz="1500"/>
          </a:p>
        </p:txBody>
      </p:sp>
      <p:sp>
        <p:nvSpPr>
          <p:cNvPr id="45" name="Text 45"/>
          <p:cNvSpPr txBox="1"/>
          <p:nvPr/>
        </p:nvSpPr>
        <p:spPr>
          <a:xfrm>
            <a:off x="7791450" y="3829050"/>
            <a:ext cx="1390650" cy="171450"/>
          </a:xfrm>
          <a:prstGeom prst="rect">
            <a:avLst/>
          </a:prstGeom>
          <a:noFill/>
          <a:ln>
            <a:noFill/>
          </a:ln>
        </p:spPr>
        <p:txBody>
          <a:bodyPr wrap="square" anchor="t" lIns="0" rIns="0" tIns="0" bIns="0"/>
          <a:lstStyle/>
          <a:p>
            <a:pPr algn="ctr"/>
            <a:r>
              <a:rPr lang="en-US" sz="1000" b="0">
                <a:solidFill>
                  <a:srgbClr val="17212B"/>
                </a:solidFill>
                <a:latin typeface="Arial"/>
              </a:rPr>
              <a:t>weighting and arbitration</a:t>
            </a:r>
            <a:endParaRPr lang="en-US" sz="1000"/>
          </a:p>
        </p:txBody>
      </p:sp>
      <p:cxnSp>
        <p:nvCxnSpPr>
          <p:cNvPr id="46" name="Connector 46"/>
          <p:cNvCxnSpPr/>
          <p:nvPr/>
        </p:nvCxnSpPr>
        <p:spPr>
          <a:xfrm>
            <a:off x="9391650" y="3352800"/>
            <a:ext cx="609600" cy="0"/>
          </a:xfrm>
          <a:prstGeom prst="line">
            <a:avLst/>
          </a:prstGeom>
          <a:ln w="38100">
            <a:solidFill>
              <a:srgbClr val="D71920"/>
            </a:solidFill>
            <a:tailEnd type="triangle"/>
          </a:ln>
        </p:spPr>
      </p:cxnSp>
      <p:sp>
        <p:nvSpPr>
          <p:cNvPr id="47" name="Shape 47"/>
          <p:cNvSpPr/>
          <p:nvPr/>
        </p:nvSpPr>
        <p:spPr>
          <a:xfrm>
            <a:off x="10001250" y="2781300"/>
            <a:ext cx="1638300" cy="1143000"/>
          </a:xfrm>
          <a:prstGeom prst="rect">
            <a:avLst/>
          </a:prstGeom>
          <a:solidFill>
            <a:srgbClr val="17212B"/>
          </a:solidFill>
          <a:ln w="25400">
            <a:solidFill>
              <a:srgbClr val="17212B"/>
            </a:solidFill>
          </a:ln>
        </p:spPr>
      </p:sp>
      <p:pic>
        <p:nvPicPr>
          <p:cNvPr id="48" name="Picture 48"/>
          <p:cNvPicPr>
            <a:picLocks noChangeAspect="1"/>
          </p:cNvPicPr>
          <p:nvPr/>
        </p:nvPicPr>
        <p:blipFill>
          <a:blip r:embed="rId8"/>
          <a:stretch>
            <a:fillRect/>
          </a:stretch>
        </p:blipFill>
        <p:spPr>
          <a:xfrm>
            <a:off x="10591800" y="2914650"/>
            <a:ext cx="457200" cy="457200"/>
          </a:xfrm>
          <a:prstGeom prst="rect">
            <a:avLst/>
          </a:prstGeom>
          <a:ln>
            <a:noFill/>
          </a:ln>
        </p:spPr>
      </p:pic>
      <p:sp>
        <p:nvSpPr>
          <p:cNvPr id="49" name="Text 49"/>
          <p:cNvSpPr txBox="1"/>
          <p:nvPr/>
        </p:nvSpPr>
        <p:spPr>
          <a:xfrm>
            <a:off x="10191750" y="3409950"/>
            <a:ext cx="1257300" cy="228600"/>
          </a:xfrm>
          <a:prstGeom prst="rect">
            <a:avLst/>
          </a:prstGeom>
          <a:noFill/>
          <a:ln>
            <a:noFill/>
          </a:ln>
        </p:spPr>
        <p:txBody>
          <a:bodyPr wrap="square" anchor="t" lIns="0" rIns="0" tIns="0" bIns="0"/>
          <a:lstStyle/>
          <a:p>
            <a:pPr algn="ctr"/>
            <a:r>
              <a:rPr lang="en-US" sz="1500" b="1">
                <a:solidFill>
                  <a:srgbClr val="FFFFFF"/>
                </a:solidFill>
                <a:latin typeface="Arial"/>
              </a:rPr>
              <a:t>ONE SIGNAL</a:t>
            </a:r>
            <a:endParaRPr lang="en-US" sz="1500"/>
          </a:p>
        </p:txBody>
      </p:sp>
      <p:sp>
        <p:nvSpPr>
          <p:cNvPr id="50" name="Text 50"/>
          <p:cNvSpPr txBox="1"/>
          <p:nvPr/>
        </p:nvSpPr>
        <p:spPr>
          <a:xfrm>
            <a:off x="10191750" y="3676650"/>
            <a:ext cx="1257300" cy="171450"/>
          </a:xfrm>
          <a:prstGeom prst="rect">
            <a:avLst/>
          </a:prstGeom>
          <a:noFill/>
          <a:ln>
            <a:noFill/>
          </a:ln>
        </p:spPr>
        <p:txBody>
          <a:bodyPr wrap="square" anchor="t" lIns="0" rIns="0" tIns="0" bIns="0"/>
          <a:lstStyle/>
          <a:p>
            <a:pPr algn="ctr"/>
            <a:r>
              <a:rPr lang="en-US" sz="1000" b="0">
                <a:solidFill>
                  <a:srgbClr val="DDE3E8"/>
                </a:solidFill>
                <a:latin typeface="Arial"/>
              </a:rPr>
              <a:t>evidence retained</a:t>
            </a:r>
            <a:endParaRPr lang="en-US" sz="1000"/>
          </a:p>
        </p:txBody>
      </p:sp>
      <p:sp>
        <p:nvSpPr>
          <p:cNvPr id="51" name="Shape 51"/>
          <p:cNvSpPr/>
          <p:nvPr/>
        </p:nvSpPr>
        <p:spPr>
          <a:xfrm>
            <a:off x="3162300" y="5219700"/>
            <a:ext cx="8324850" cy="742950"/>
          </a:xfrm>
          <a:prstGeom prst="rect">
            <a:avLst/>
          </a:prstGeom>
          <a:solidFill>
            <a:srgbClr val="EAF1F7"/>
          </a:solidFill>
          <a:ln w="12700">
            <a:solidFill>
              <a:srgbClr val="2A5B84"/>
            </a:solidFill>
          </a:ln>
        </p:spPr>
      </p:sp>
      <p:sp>
        <p:nvSpPr>
          <p:cNvPr id="52" name="Text 52"/>
          <p:cNvSpPr txBox="1"/>
          <p:nvPr/>
        </p:nvSpPr>
        <p:spPr>
          <a:xfrm>
            <a:off x="3429000" y="5353050"/>
            <a:ext cx="7791450" cy="457200"/>
          </a:xfrm>
          <a:prstGeom prst="rect">
            <a:avLst/>
          </a:prstGeom>
          <a:noFill/>
          <a:ln>
            <a:noFill/>
          </a:ln>
        </p:spPr>
        <p:txBody>
          <a:bodyPr wrap="square" anchor="ctr" lIns="0" rIns="0" tIns="0" bIns="0"/>
          <a:lstStyle/>
          <a:p>
            <a:pPr algn="ctr"/>
            <a:r>
              <a:rPr lang="en-US" sz="1500" b="1">
                <a:solidFill>
                  <a:srgbClr val="17212B"/>
                </a:solidFill>
                <a:latin typeface="Arial"/>
              </a:rPr>
              <a:t>Hypothesis: complementary blind spots may improve robustness. A frozen benchmark must measure that gain.</a:t>
            </a:r>
            <a:endParaRPr lang="en-US" sz="1500"/>
          </a:p>
        </p:txBody>
      </p:sp>
      <p:cxnSp>
        <p:nvCxnSpPr>
          <p:cNvPr id="53" name="Connector 53"/>
          <p:cNvCxnSpPr/>
          <p:nvPr/>
        </p:nvCxnSpPr>
        <p:spPr>
          <a:xfrm>
            <a:off x="552450" y="6419850"/>
            <a:ext cx="11087100" cy="0"/>
          </a:xfrm>
          <a:prstGeom prst="line">
            <a:avLst/>
          </a:prstGeom>
          <a:ln w="12700">
            <a:solidFill>
              <a:srgbClr val="BFC5CB"/>
            </a:solidFill>
          </a:ln>
        </p:spPr>
      </p:cxnSp>
      <p:sp>
        <p:nvSpPr>
          <p:cNvPr id="54" name="Text 54"/>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TECHNICAL APPENDIX</a:t>
            </a:r>
            <a:endParaRPr lang="en-US" sz="1000"/>
          </a:p>
        </p:txBody>
      </p:sp>
      <p:sp>
        <p:nvSpPr>
          <p:cNvPr id="55" name="Text 55"/>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E</a:t>
            </a:r>
            <a:endParaRPr lang="en-US"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APPENDIX F · DELIVERED R5 DETECTOR</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A Random Forest averages many bounded tree votes behind the same detector port</a:t>
            </a:r>
            <a:endParaRPr lang="en-US" sz="3000"/>
          </a:p>
        </p:txBody>
      </p:sp>
      <p:sp>
        <p:nvSpPr>
          <p:cNvPr id="4" name="Text 4"/>
          <p:cNvSpPr txBox="1"/>
          <p:nvPr/>
        </p:nvSpPr>
        <p:spPr>
          <a:xfrm>
            <a:off x="8991600" y="1066800"/>
            <a:ext cx="2647950" cy="266700"/>
          </a:xfrm>
          <a:prstGeom prst="rect">
            <a:avLst/>
          </a:prstGeom>
          <a:noFill/>
          <a:ln>
            <a:noFill/>
          </a:ln>
        </p:spPr>
        <p:txBody>
          <a:bodyPr wrap="square" anchor="t" lIns="0" rIns="0" tIns="0" bIns="0"/>
          <a:lstStyle/>
          <a:p>
            <a:pPr algn="r"/>
            <a:r>
              <a:rPr lang="en-US" sz="1100" b="1" spc="100">
                <a:solidFill>
                  <a:srgbClr val="1F7A5A"/>
                </a:solidFill>
                <a:latin typeface="Arial"/>
              </a:rPr>
              <a:t>R5 · DELIVERED</a:t>
            </a:r>
            <a:endParaRPr lang="en-US" sz="1100"/>
          </a:p>
        </p:txBody>
      </p:sp>
      <p:cxnSp>
        <p:nvCxnSpPr>
          <p:cNvPr id="5" name="Connector 5"/>
          <p:cNvCxnSpPr/>
          <p:nvPr/>
        </p:nvCxnSpPr>
        <p:spPr>
          <a:xfrm flipH="1">
            <a:off x="1314450" y="2533650"/>
            <a:ext cx="742950" cy="685800"/>
          </a:xfrm>
          <a:prstGeom prst="line">
            <a:avLst/>
          </a:prstGeom>
          <a:ln w="25400">
            <a:solidFill>
              <a:srgbClr val="2A5B84"/>
            </a:solidFill>
            <a:tailEnd type="triangle"/>
          </a:ln>
        </p:spPr>
      </p:cxnSp>
      <p:cxnSp>
        <p:nvCxnSpPr>
          <p:cNvPr id="6" name="Connector 6"/>
          <p:cNvCxnSpPr/>
          <p:nvPr/>
        </p:nvCxnSpPr>
        <p:spPr>
          <a:xfrm>
            <a:off x="2057400" y="2533650"/>
            <a:ext cx="742950" cy="685800"/>
          </a:xfrm>
          <a:prstGeom prst="line">
            <a:avLst/>
          </a:prstGeom>
          <a:ln w="25400">
            <a:solidFill>
              <a:srgbClr val="2A5B84"/>
            </a:solidFill>
            <a:tailEnd type="triangle"/>
          </a:ln>
        </p:spPr>
      </p:cxnSp>
      <p:cxnSp>
        <p:nvCxnSpPr>
          <p:cNvPr id="7" name="Connector 7"/>
          <p:cNvCxnSpPr/>
          <p:nvPr/>
        </p:nvCxnSpPr>
        <p:spPr>
          <a:xfrm flipH="1">
            <a:off x="990600" y="3505200"/>
            <a:ext cx="323850" cy="533400"/>
          </a:xfrm>
          <a:prstGeom prst="line">
            <a:avLst/>
          </a:prstGeom>
          <a:ln w="25400">
            <a:solidFill>
              <a:srgbClr val="2A5B84"/>
            </a:solidFill>
            <a:tailEnd type="triangle"/>
          </a:ln>
        </p:spPr>
      </p:cxnSp>
      <p:cxnSp>
        <p:nvCxnSpPr>
          <p:cNvPr id="8" name="Connector 8"/>
          <p:cNvCxnSpPr/>
          <p:nvPr/>
        </p:nvCxnSpPr>
        <p:spPr>
          <a:xfrm>
            <a:off x="1314450" y="3505200"/>
            <a:ext cx="323850" cy="533400"/>
          </a:xfrm>
          <a:prstGeom prst="line">
            <a:avLst/>
          </a:prstGeom>
          <a:ln w="25400">
            <a:solidFill>
              <a:srgbClr val="2A5B84"/>
            </a:solidFill>
            <a:tailEnd type="triangle"/>
          </a:ln>
        </p:spPr>
      </p:cxnSp>
      <p:sp>
        <p:nvSpPr>
          <p:cNvPr id="9" name="Shape 9"/>
          <p:cNvSpPr/>
          <p:nvPr/>
        </p:nvSpPr>
        <p:spPr>
          <a:xfrm>
            <a:off x="819150" y="2038350"/>
            <a:ext cx="2476500" cy="514350"/>
          </a:xfrm>
          <a:prstGeom prst="roundRect">
            <a:avLst/>
          </a:prstGeom>
          <a:solidFill>
            <a:srgbClr val="FFFFFF"/>
          </a:solidFill>
          <a:ln w="25400">
            <a:solidFill>
              <a:srgbClr val="2A5B84"/>
            </a:solidFill>
          </a:ln>
        </p:spPr>
      </p:sp>
      <p:sp>
        <p:nvSpPr>
          <p:cNvPr id="10" name="Text 10"/>
          <p:cNvSpPr txBox="1"/>
          <p:nvPr/>
        </p:nvSpPr>
        <p:spPr>
          <a:xfrm>
            <a:off x="914400" y="2171700"/>
            <a:ext cx="2286000" cy="247650"/>
          </a:xfrm>
          <a:prstGeom prst="rect">
            <a:avLst/>
          </a:prstGeom>
          <a:noFill/>
          <a:ln>
            <a:noFill/>
          </a:ln>
        </p:spPr>
        <p:txBody>
          <a:bodyPr wrap="square" anchor="t" lIns="0" rIns="0" tIns="0" bIns="0"/>
          <a:lstStyle/>
          <a:p>
            <a:pPr algn="ctr"/>
            <a:r>
              <a:rPr lang="en-US" sz="1300" b="1">
                <a:solidFill>
                  <a:srgbClr val="17212B"/>
                </a:solidFill>
                <a:latin typeface="Arial"/>
              </a:rPr>
              <a:t>cross-border ratio &gt; t₁</a:t>
            </a:r>
            <a:endParaRPr lang="en-US" sz="1300"/>
          </a:p>
        </p:txBody>
      </p:sp>
      <p:sp>
        <p:nvSpPr>
          <p:cNvPr id="11" name="Shape 11"/>
          <p:cNvSpPr/>
          <p:nvPr/>
        </p:nvSpPr>
        <p:spPr>
          <a:xfrm>
            <a:off x="628650" y="3219450"/>
            <a:ext cx="1371600" cy="476250"/>
          </a:xfrm>
          <a:prstGeom prst="roundRect">
            <a:avLst/>
          </a:prstGeom>
          <a:solidFill>
            <a:srgbClr val="F4F6F8"/>
          </a:solidFill>
          <a:ln w="12700">
            <a:solidFill>
              <a:srgbClr val="2A5B84"/>
            </a:solidFill>
          </a:ln>
        </p:spPr>
      </p:sp>
      <p:sp>
        <p:nvSpPr>
          <p:cNvPr id="12" name="Text 12"/>
          <p:cNvSpPr txBox="1"/>
          <p:nvPr/>
        </p:nvSpPr>
        <p:spPr>
          <a:xfrm>
            <a:off x="704850" y="3343275"/>
            <a:ext cx="1219200" cy="228600"/>
          </a:xfrm>
          <a:prstGeom prst="rect">
            <a:avLst/>
          </a:prstGeom>
          <a:noFill/>
          <a:ln>
            <a:noFill/>
          </a:ln>
        </p:spPr>
        <p:txBody>
          <a:bodyPr wrap="square" anchor="t" lIns="0" rIns="0" tIns="0" bIns="0"/>
          <a:lstStyle/>
          <a:p>
            <a:pPr algn="ctr"/>
            <a:r>
              <a:rPr lang="en-US" sz="1100" b="1">
                <a:solidFill>
                  <a:srgbClr val="17212B"/>
                </a:solidFill>
                <a:latin typeface="Arial"/>
              </a:rPr>
              <a:t>crypto ratio &gt; t₂</a:t>
            </a:r>
            <a:endParaRPr lang="en-US" sz="1100"/>
          </a:p>
        </p:txBody>
      </p:sp>
      <p:sp>
        <p:nvSpPr>
          <p:cNvPr id="13" name="Shape 13"/>
          <p:cNvSpPr/>
          <p:nvPr/>
        </p:nvSpPr>
        <p:spPr>
          <a:xfrm>
            <a:off x="647700" y="4019550"/>
            <a:ext cx="609600" cy="609600"/>
          </a:xfrm>
          <a:prstGeom prst="ellipse">
            <a:avLst/>
          </a:prstGeom>
          <a:solidFill>
            <a:srgbClr val="FFFFFF"/>
          </a:solidFill>
          <a:ln w="25400">
            <a:solidFill>
              <a:srgbClr val="2A5B84"/>
            </a:solidFill>
          </a:ln>
        </p:spPr>
      </p:sp>
      <p:sp>
        <p:nvSpPr>
          <p:cNvPr id="14" name="Text 14"/>
          <p:cNvSpPr txBox="1"/>
          <p:nvPr/>
        </p:nvSpPr>
        <p:spPr>
          <a:xfrm>
            <a:off x="647700" y="4200525"/>
            <a:ext cx="609600" cy="228600"/>
          </a:xfrm>
          <a:prstGeom prst="rect">
            <a:avLst/>
          </a:prstGeom>
          <a:noFill/>
          <a:ln>
            <a:noFill/>
          </a:ln>
        </p:spPr>
        <p:txBody>
          <a:bodyPr wrap="square" anchor="t" lIns="0" rIns="0" tIns="0" bIns="0"/>
          <a:lstStyle/>
          <a:p>
            <a:pPr algn="ctr"/>
            <a:r>
              <a:rPr lang="en-US" sz="1600" b="1">
                <a:solidFill>
                  <a:srgbClr val="2A5B84"/>
                </a:solidFill>
                <a:latin typeface="Arial"/>
              </a:rPr>
              <a:t>0</a:t>
            </a:r>
            <a:endParaRPr lang="en-US" sz="1600"/>
          </a:p>
        </p:txBody>
      </p:sp>
      <p:sp>
        <p:nvSpPr>
          <p:cNvPr id="15" name="Shape 15"/>
          <p:cNvSpPr/>
          <p:nvPr/>
        </p:nvSpPr>
        <p:spPr>
          <a:xfrm>
            <a:off x="1371600" y="4019550"/>
            <a:ext cx="609600" cy="609600"/>
          </a:xfrm>
          <a:prstGeom prst="ellipse">
            <a:avLst/>
          </a:prstGeom>
          <a:solidFill>
            <a:srgbClr val="2A5B84"/>
          </a:solidFill>
          <a:ln w="25400">
            <a:solidFill>
              <a:srgbClr val="2A5B84"/>
            </a:solidFill>
          </a:ln>
        </p:spPr>
      </p:sp>
      <p:sp>
        <p:nvSpPr>
          <p:cNvPr id="16" name="Text 16"/>
          <p:cNvSpPr txBox="1"/>
          <p:nvPr/>
        </p:nvSpPr>
        <p:spPr>
          <a:xfrm>
            <a:off x="1371600" y="4200525"/>
            <a:ext cx="609600" cy="228600"/>
          </a:xfrm>
          <a:prstGeom prst="rect">
            <a:avLst/>
          </a:prstGeom>
          <a:noFill/>
          <a:ln>
            <a:noFill/>
          </a:ln>
        </p:spPr>
        <p:txBody>
          <a:bodyPr wrap="square" anchor="t" lIns="0" rIns="0" tIns="0" bIns="0"/>
          <a:lstStyle/>
          <a:p>
            <a:pPr algn="ctr"/>
            <a:r>
              <a:rPr lang="en-US" sz="1600" b="1">
                <a:solidFill>
                  <a:srgbClr val="FFFFFF"/>
                </a:solidFill>
                <a:latin typeface="Arial"/>
              </a:rPr>
              <a:t>1</a:t>
            </a:r>
            <a:endParaRPr lang="en-US" sz="1600"/>
          </a:p>
        </p:txBody>
      </p:sp>
      <p:sp>
        <p:nvSpPr>
          <p:cNvPr id="17" name="Shape 17"/>
          <p:cNvSpPr/>
          <p:nvPr/>
        </p:nvSpPr>
        <p:spPr>
          <a:xfrm>
            <a:off x="2495550" y="3219450"/>
            <a:ext cx="609600" cy="609600"/>
          </a:xfrm>
          <a:prstGeom prst="ellipse">
            <a:avLst/>
          </a:prstGeom>
          <a:solidFill>
            <a:srgbClr val="2A5B84"/>
          </a:solidFill>
          <a:ln w="25400">
            <a:solidFill>
              <a:srgbClr val="2A5B84"/>
            </a:solidFill>
          </a:ln>
        </p:spPr>
      </p:sp>
      <p:sp>
        <p:nvSpPr>
          <p:cNvPr id="18" name="Text 18"/>
          <p:cNvSpPr txBox="1"/>
          <p:nvPr/>
        </p:nvSpPr>
        <p:spPr>
          <a:xfrm>
            <a:off x="2495550" y="3400425"/>
            <a:ext cx="609600" cy="228600"/>
          </a:xfrm>
          <a:prstGeom prst="rect">
            <a:avLst/>
          </a:prstGeom>
          <a:noFill/>
          <a:ln>
            <a:noFill/>
          </a:ln>
        </p:spPr>
        <p:txBody>
          <a:bodyPr wrap="square" anchor="t" lIns="0" rIns="0" tIns="0" bIns="0"/>
          <a:lstStyle/>
          <a:p>
            <a:pPr algn="ctr"/>
            <a:r>
              <a:rPr lang="en-US" sz="1600" b="1">
                <a:solidFill>
                  <a:srgbClr val="FFFFFF"/>
                </a:solidFill>
                <a:latin typeface="Arial"/>
              </a:rPr>
              <a:t>1</a:t>
            </a:r>
            <a:endParaRPr lang="en-US" sz="1600"/>
          </a:p>
        </p:txBody>
      </p:sp>
      <p:cxnSp>
        <p:nvCxnSpPr>
          <p:cNvPr id="19" name="Connector 19"/>
          <p:cNvCxnSpPr/>
          <p:nvPr/>
        </p:nvCxnSpPr>
        <p:spPr>
          <a:xfrm flipH="1">
            <a:off x="4552950" y="2533650"/>
            <a:ext cx="742950" cy="685800"/>
          </a:xfrm>
          <a:prstGeom prst="line">
            <a:avLst/>
          </a:prstGeom>
          <a:ln w="25400">
            <a:solidFill>
              <a:srgbClr val="B46B13"/>
            </a:solidFill>
            <a:tailEnd type="triangle"/>
          </a:ln>
        </p:spPr>
      </p:cxnSp>
      <p:cxnSp>
        <p:nvCxnSpPr>
          <p:cNvPr id="20" name="Connector 20"/>
          <p:cNvCxnSpPr/>
          <p:nvPr/>
        </p:nvCxnSpPr>
        <p:spPr>
          <a:xfrm>
            <a:off x="5295900" y="2533650"/>
            <a:ext cx="742950" cy="685800"/>
          </a:xfrm>
          <a:prstGeom prst="line">
            <a:avLst/>
          </a:prstGeom>
          <a:ln w="25400">
            <a:solidFill>
              <a:srgbClr val="B46B13"/>
            </a:solidFill>
            <a:tailEnd type="triangle"/>
          </a:ln>
        </p:spPr>
      </p:cxnSp>
      <p:cxnSp>
        <p:nvCxnSpPr>
          <p:cNvPr id="21" name="Connector 21"/>
          <p:cNvCxnSpPr/>
          <p:nvPr/>
        </p:nvCxnSpPr>
        <p:spPr>
          <a:xfrm flipH="1">
            <a:off x="4229100" y="3505200"/>
            <a:ext cx="323850" cy="533400"/>
          </a:xfrm>
          <a:prstGeom prst="line">
            <a:avLst/>
          </a:prstGeom>
          <a:ln w="25400">
            <a:solidFill>
              <a:srgbClr val="B46B13"/>
            </a:solidFill>
            <a:tailEnd type="triangle"/>
          </a:ln>
        </p:spPr>
      </p:cxnSp>
      <p:cxnSp>
        <p:nvCxnSpPr>
          <p:cNvPr id="22" name="Connector 22"/>
          <p:cNvCxnSpPr/>
          <p:nvPr/>
        </p:nvCxnSpPr>
        <p:spPr>
          <a:xfrm>
            <a:off x="4552950" y="3505200"/>
            <a:ext cx="323850" cy="533400"/>
          </a:xfrm>
          <a:prstGeom prst="line">
            <a:avLst/>
          </a:prstGeom>
          <a:ln w="25400">
            <a:solidFill>
              <a:srgbClr val="B46B13"/>
            </a:solidFill>
            <a:tailEnd type="triangle"/>
          </a:ln>
        </p:spPr>
      </p:cxnSp>
      <p:sp>
        <p:nvSpPr>
          <p:cNvPr id="23" name="Shape 23"/>
          <p:cNvSpPr/>
          <p:nvPr/>
        </p:nvSpPr>
        <p:spPr>
          <a:xfrm>
            <a:off x="4057650" y="2038350"/>
            <a:ext cx="2476500" cy="514350"/>
          </a:xfrm>
          <a:prstGeom prst="roundRect">
            <a:avLst/>
          </a:prstGeom>
          <a:solidFill>
            <a:srgbClr val="FFFFFF"/>
          </a:solidFill>
          <a:ln w="25400">
            <a:solidFill>
              <a:srgbClr val="B46B13"/>
            </a:solidFill>
          </a:ln>
        </p:spPr>
      </p:sp>
      <p:sp>
        <p:nvSpPr>
          <p:cNvPr id="24" name="Text 24"/>
          <p:cNvSpPr txBox="1"/>
          <p:nvPr/>
        </p:nvSpPr>
        <p:spPr>
          <a:xfrm>
            <a:off x="4152900" y="2171700"/>
            <a:ext cx="2286000" cy="247650"/>
          </a:xfrm>
          <a:prstGeom prst="rect">
            <a:avLst/>
          </a:prstGeom>
          <a:noFill/>
          <a:ln>
            <a:noFill/>
          </a:ln>
        </p:spPr>
        <p:txBody>
          <a:bodyPr wrap="square" anchor="t" lIns="0" rIns="0" tIns="0" bIns="0"/>
          <a:lstStyle/>
          <a:p>
            <a:pPr algn="ctr"/>
            <a:r>
              <a:rPr lang="en-US" sz="1300" b="1">
                <a:solidFill>
                  <a:srgbClr val="17212B"/>
                </a:solidFill>
                <a:latin typeface="Arial"/>
              </a:rPr>
              <a:t>incomplete ratio &gt; t₃</a:t>
            </a:r>
            <a:endParaRPr lang="en-US" sz="1300"/>
          </a:p>
        </p:txBody>
      </p:sp>
      <p:sp>
        <p:nvSpPr>
          <p:cNvPr id="25" name="Shape 25"/>
          <p:cNvSpPr/>
          <p:nvPr/>
        </p:nvSpPr>
        <p:spPr>
          <a:xfrm>
            <a:off x="3867150" y="3219450"/>
            <a:ext cx="1371600" cy="476250"/>
          </a:xfrm>
          <a:prstGeom prst="roundRect">
            <a:avLst/>
          </a:prstGeom>
          <a:solidFill>
            <a:srgbClr val="F4F6F8"/>
          </a:solidFill>
          <a:ln w="12700">
            <a:solidFill>
              <a:srgbClr val="B46B13"/>
            </a:solidFill>
          </a:ln>
        </p:spPr>
      </p:sp>
      <p:sp>
        <p:nvSpPr>
          <p:cNvPr id="26" name="Text 26"/>
          <p:cNvSpPr txBox="1"/>
          <p:nvPr/>
        </p:nvSpPr>
        <p:spPr>
          <a:xfrm>
            <a:off x="3943350" y="3343275"/>
            <a:ext cx="1219200" cy="228600"/>
          </a:xfrm>
          <a:prstGeom prst="rect">
            <a:avLst/>
          </a:prstGeom>
          <a:noFill/>
          <a:ln>
            <a:noFill/>
          </a:ln>
        </p:spPr>
        <p:txBody>
          <a:bodyPr wrap="square" anchor="t" lIns="0" rIns="0" tIns="0" bIns="0"/>
          <a:lstStyle/>
          <a:p>
            <a:pPr algn="ctr"/>
            <a:r>
              <a:rPr lang="en-US" sz="1100" b="1">
                <a:solidFill>
                  <a:srgbClr val="17212B"/>
                </a:solidFill>
                <a:latin typeface="Arial"/>
              </a:rPr>
              <a:t>activity volume &gt; t₄</a:t>
            </a:r>
            <a:endParaRPr lang="en-US" sz="1100"/>
          </a:p>
        </p:txBody>
      </p:sp>
      <p:sp>
        <p:nvSpPr>
          <p:cNvPr id="27" name="Shape 27"/>
          <p:cNvSpPr/>
          <p:nvPr/>
        </p:nvSpPr>
        <p:spPr>
          <a:xfrm>
            <a:off x="3886200" y="4019550"/>
            <a:ext cx="609600" cy="609600"/>
          </a:xfrm>
          <a:prstGeom prst="ellipse">
            <a:avLst/>
          </a:prstGeom>
          <a:solidFill>
            <a:srgbClr val="FFFFFF"/>
          </a:solidFill>
          <a:ln w="25400">
            <a:solidFill>
              <a:srgbClr val="B46B13"/>
            </a:solidFill>
          </a:ln>
        </p:spPr>
      </p:sp>
      <p:sp>
        <p:nvSpPr>
          <p:cNvPr id="28" name="Text 28"/>
          <p:cNvSpPr txBox="1"/>
          <p:nvPr/>
        </p:nvSpPr>
        <p:spPr>
          <a:xfrm>
            <a:off x="3886200" y="4200525"/>
            <a:ext cx="609600" cy="228600"/>
          </a:xfrm>
          <a:prstGeom prst="rect">
            <a:avLst/>
          </a:prstGeom>
          <a:noFill/>
          <a:ln>
            <a:noFill/>
          </a:ln>
        </p:spPr>
        <p:txBody>
          <a:bodyPr wrap="square" anchor="t" lIns="0" rIns="0" tIns="0" bIns="0"/>
          <a:lstStyle/>
          <a:p>
            <a:pPr algn="ctr"/>
            <a:r>
              <a:rPr lang="en-US" sz="1600" b="1">
                <a:solidFill>
                  <a:srgbClr val="B46B13"/>
                </a:solidFill>
                <a:latin typeface="Arial"/>
              </a:rPr>
              <a:t>0</a:t>
            </a:r>
            <a:endParaRPr lang="en-US" sz="1600"/>
          </a:p>
        </p:txBody>
      </p:sp>
      <p:sp>
        <p:nvSpPr>
          <p:cNvPr id="29" name="Shape 29"/>
          <p:cNvSpPr/>
          <p:nvPr/>
        </p:nvSpPr>
        <p:spPr>
          <a:xfrm>
            <a:off x="4610100" y="4019550"/>
            <a:ext cx="609600" cy="609600"/>
          </a:xfrm>
          <a:prstGeom prst="ellipse">
            <a:avLst/>
          </a:prstGeom>
          <a:solidFill>
            <a:srgbClr val="B46B13"/>
          </a:solidFill>
          <a:ln w="25400">
            <a:solidFill>
              <a:srgbClr val="B46B13"/>
            </a:solidFill>
          </a:ln>
        </p:spPr>
      </p:sp>
      <p:sp>
        <p:nvSpPr>
          <p:cNvPr id="30" name="Text 30"/>
          <p:cNvSpPr txBox="1"/>
          <p:nvPr/>
        </p:nvSpPr>
        <p:spPr>
          <a:xfrm>
            <a:off x="4610100" y="4200525"/>
            <a:ext cx="609600" cy="228600"/>
          </a:xfrm>
          <a:prstGeom prst="rect">
            <a:avLst/>
          </a:prstGeom>
          <a:noFill/>
          <a:ln>
            <a:noFill/>
          </a:ln>
        </p:spPr>
        <p:txBody>
          <a:bodyPr wrap="square" anchor="t" lIns="0" rIns="0" tIns="0" bIns="0"/>
          <a:lstStyle/>
          <a:p>
            <a:pPr algn="ctr"/>
            <a:r>
              <a:rPr lang="en-US" sz="1600" b="1">
                <a:solidFill>
                  <a:srgbClr val="FFFFFF"/>
                </a:solidFill>
                <a:latin typeface="Arial"/>
              </a:rPr>
              <a:t>1</a:t>
            </a:r>
            <a:endParaRPr lang="en-US" sz="1600"/>
          </a:p>
        </p:txBody>
      </p:sp>
      <p:sp>
        <p:nvSpPr>
          <p:cNvPr id="31" name="Shape 31"/>
          <p:cNvSpPr/>
          <p:nvPr/>
        </p:nvSpPr>
        <p:spPr>
          <a:xfrm>
            <a:off x="5734050" y="3219450"/>
            <a:ext cx="609600" cy="609600"/>
          </a:xfrm>
          <a:prstGeom prst="ellipse">
            <a:avLst/>
          </a:prstGeom>
          <a:solidFill>
            <a:srgbClr val="B46B13"/>
          </a:solidFill>
          <a:ln w="25400">
            <a:solidFill>
              <a:srgbClr val="B46B13"/>
            </a:solidFill>
          </a:ln>
        </p:spPr>
      </p:sp>
      <p:sp>
        <p:nvSpPr>
          <p:cNvPr id="32" name="Text 32"/>
          <p:cNvSpPr txBox="1"/>
          <p:nvPr/>
        </p:nvSpPr>
        <p:spPr>
          <a:xfrm>
            <a:off x="5734050" y="3400425"/>
            <a:ext cx="609600" cy="228600"/>
          </a:xfrm>
          <a:prstGeom prst="rect">
            <a:avLst/>
          </a:prstGeom>
          <a:noFill/>
          <a:ln>
            <a:noFill/>
          </a:ln>
        </p:spPr>
        <p:txBody>
          <a:bodyPr wrap="square" anchor="t" lIns="0" rIns="0" tIns="0" bIns="0"/>
          <a:lstStyle/>
          <a:p>
            <a:pPr algn="ctr"/>
            <a:r>
              <a:rPr lang="en-US" sz="1600" b="1">
                <a:solidFill>
                  <a:srgbClr val="FFFFFF"/>
                </a:solidFill>
                <a:latin typeface="Arial"/>
              </a:rPr>
              <a:t>1</a:t>
            </a:r>
            <a:endParaRPr lang="en-US" sz="1600"/>
          </a:p>
        </p:txBody>
      </p:sp>
      <p:cxnSp>
        <p:nvCxnSpPr>
          <p:cNvPr id="33" name="Connector 33"/>
          <p:cNvCxnSpPr/>
          <p:nvPr/>
        </p:nvCxnSpPr>
        <p:spPr>
          <a:xfrm flipH="1">
            <a:off x="7791450" y="2533650"/>
            <a:ext cx="742950" cy="685800"/>
          </a:xfrm>
          <a:prstGeom prst="line">
            <a:avLst/>
          </a:prstGeom>
          <a:ln w="25400">
            <a:solidFill>
              <a:srgbClr val="1F7A5A"/>
            </a:solidFill>
            <a:tailEnd type="triangle"/>
          </a:ln>
        </p:spPr>
      </p:cxnSp>
      <p:cxnSp>
        <p:nvCxnSpPr>
          <p:cNvPr id="34" name="Connector 34"/>
          <p:cNvCxnSpPr/>
          <p:nvPr/>
        </p:nvCxnSpPr>
        <p:spPr>
          <a:xfrm>
            <a:off x="8534400" y="2533650"/>
            <a:ext cx="742950" cy="685800"/>
          </a:xfrm>
          <a:prstGeom prst="line">
            <a:avLst/>
          </a:prstGeom>
          <a:ln w="25400">
            <a:solidFill>
              <a:srgbClr val="1F7A5A"/>
            </a:solidFill>
            <a:tailEnd type="triangle"/>
          </a:ln>
        </p:spPr>
      </p:cxnSp>
      <p:cxnSp>
        <p:nvCxnSpPr>
          <p:cNvPr id="35" name="Connector 35"/>
          <p:cNvCxnSpPr/>
          <p:nvPr/>
        </p:nvCxnSpPr>
        <p:spPr>
          <a:xfrm flipH="1">
            <a:off x="7467600" y="3505200"/>
            <a:ext cx="323850" cy="533400"/>
          </a:xfrm>
          <a:prstGeom prst="line">
            <a:avLst/>
          </a:prstGeom>
          <a:ln w="25400">
            <a:solidFill>
              <a:srgbClr val="1F7A5A"/>
            </a:solidFill>
            <a:tailEnd type="triangle"/>
          </a:ln>
        </p:spPr>
      </p:cxnSp>
      <p:cxnSp>
        <p:nvCxnSpPr>
          <p:cNvPr id="36" name="Connector 36"/>
          <p:cNvCxnSpPr/>
          <p:nvPr/>
        </p:nvCxnSpPr>
        <p:spPr>
          <a:xfrm>
            <a:off x="7791450" y="3505200"/>
            <a:ext cx="323850" cy="533400"/>
          </a:xfrm>
          <a:prstGeom prst="line">
            <a:avLst/>
          </a:prstGeom>
          <a:ln w="25400">
            <a:solidFill>
              <a:srgbClr val="1F7A5A"/>
            </a:solidFill>
            <a:tailEnd type="triangle"/>
          </a:ln>
        </p:spPr>
      </p:cxnSp>
      <p:sp>
        <p:nvSpPr>
          <p:cNvPr id="37" name="Shape 37"/>
          <p:cNvSpPr/>
          <p:nvPr/>
        </p:nvSpPr>
        <p:spPr>
          <a:xfrm>
            <a:off x="7296150" y="2038350"/>
            <a:ext cx="2476500" cy="514350"/>
          </a:xfrm>
          <a:prstGeom prst="roundRect">
            <a:avLst/>
          </a:prstGeom>
          <a:solidFill>
            <a:srgbClr val="FFFFFF"/>
          </a:solidFill>
          <a:ln w="25400">
            <a:solidFill>
              <a:srgbClr val="1F7A5A"/>
            </a:solidFill>
          </a:ln>
        </p:spPr>
      </p:sp>
      <p:sp>
        <p:nvSpPr>
          <p:cNvPr id="38" name="Text 38"/>
          <p:cNvSpPr txBox="1"/>
          <p:nvPr/>
        </p:nvSpPr>
        <p:spPr>
          <a:xfrm>
            <a:off x="7391400" y="2171700"/>
            <a:ext cx="2286000" cy="247650"/>
          </a:xfrm>
          <a:prstGeom prst="rect">
            <a:avLst/>
          </a:prstGeom>
          <a:noFill/>
          <a:ln>
            <a:noFill/>
          </a:ln>
        </p:spPr>
        <p:txBody>
          <a:bodyPr wrap="square" anchor="t" lIns="0" rIns="0" tIns="0" bIns="0"/>
          <a:lstStyle/>
          <a:p>
            <a:pPr algn="ctr"/>
            <a:r>
              <a:rPr lang="en-US" sz="1300" b="1">
                <a:solidFill>
                  <a:srgbClr val="17212B"/>
                </a:solidFill>
                <a:latin typeface="Arial"/>
              </a:rPr>
              <a:t>crypto ratio &gt; t₅</a:t>
            </a:r>
            <a:endParaRPr lang="en-US" sz="1300"/>
          </a:p>
        </p:txBody>
      </p:sp>
      <p:sp>
        <p:nvSpPr>
          <p:cNvPr id="39" name="Shape 39"/>
          <p:cNvSpPr/>
          <p:nvPr/>
        </p:nvSpPr>
        <p:spPr>
          <a:xfrm>
            <a:off x="7105650" y="3219450"/>
            <a:ext cx="1371600" cy="476250"/>
          </a:xfrm>
          <a:prstGeom prst="roundRect">
            <a:avLst/>
          </a:prstGeom>
          <a:solidFill>
            <a:srgbClr val="F4F6F8"/>
          </a:solidFill>
          <a:ln w="12700">
            <a:solidFill>
              <a:srgbClr val="1F7A5A"/>
            </a:solidFill>
          </a:ln>
        </p:spPr>
      </p:sp>
      <p:sp>
        <p:nvSpPr>
          <p:cNvPr id="40" name="Text 40"/>
          <p:cNvSpPr txBox="1"/>
          <p:nvPr/>
        </p:nvSpPr>
        <p:spPr>
          <a:xfrm>
            <a:off x="7181850" y="3343275"/>
            <a:ext cx="1219200" cy="228600"/>
          </a:xfrm>
          <a:prstGeom prst="rect">
            <a:avLst/>
          </a:prstGeom>
          <a:noFill/>
          <a:ln>
            <a:noFill/>
          </a:ln>
        </p:spPr>
        <p:txBody>
          <a:bodyPr wrap="square" anchor="t" lIns="0" rIns="0" tIns="0" bIns="0"/>
          <a:lstStyle/>
          <a:p>
            <a:pPr algn="ctr"/>
            <a:r>
              <a:rPr lang="en-US" sz="1100" b="1">
                <a:solidFill>
                  <a:srgbClr val="17212B"/>
                </a:solidFill>
                <a:latin typeface="Arial"/>
              </a:rPr>
              <a:t>cross-border ratio &gt; t₆</a:t>
            </a:r>
            <a:endParaRPr lang="en-US" sz="1100"/>
          </a:p>
        </p:txBody>
      </p:sp>
      <p:sp>
        <p:nvSpPr>
          <p:cNvPr id="41" name="Shape 41"/>
          <p:cNvSpPr/>
          <p:nvPr/>
        </p:nvSpPr>
        <p:spPr>
          <a:xfrm>
            <a:off x="7124700" y="4019550"/>
            <a:ext cx="609600" cy="609600"/>
          </a:xfrm>
          <a:prstGeom prst="ellipse">
            <a:avLst/>
          </a:prstGeom>
          <a:solidFill>
            <a:srgbClr val="FFFFFF"/>
          </a:solidFill>
          <a:ln w="25400">
            <a:solidFill>
              <a:srgbClr val="1F7A5A"/>
            </a:solidFill>
          </a:ln>
        </p:spPr>
      </p:sp>
      <p:sp>
        <p:nvSpPr>
          <p:cNvPr id="42" name="Text 42"/>
          <p:cNvSpPr txBox="1"/>
          <p:nvPr/>
        </p:nvSpPr>
        <p:spPr>
          <a:xfrm>
            <a:off x="7124700" y="4200525"/>
            <a:ext cx="609600" cy="228600"/>
          </a:xfrm>
          <a:prstGeom prst="rect">
            <a:avLst/>
          </a:prstGeom>
          <a:noFill/>
          <a:ln>
            <a:noFill/>
          </a:ln>
        </p:spPr>
        <p:txBody>
          <a:bodyPr wrap="square" anchor="t" lIns="0" rIns="0" tIns="0" bIns="0"/>
          <a:lstStyle/>
          <a:p>
            <a:pPr algn="ctr"/>
            <a:r>
              <a:rPr lang="en-US" sz="1600" b="1">
                <a:solidFill>
                  <a:srgbClr val="1F7A5A"/>
                </a:solidFill>
                <a:latin typeface="Arial"/>
              </a:rPr>
              <a:t>0</a:t>
            </a:r>
            <a:endParaRPr lang="en-US" sz="1600"/>
          </a:p>
        </p:txBody>
      </p:sp>
      <p:sp>
        <p:nvSpPr>
          <p:cNvPr id="43" name="Shape 43"/>
          <p:cNvSpPr/>
          <p:nvPr/>
        </p:nvSpPr>
        <p:spPr>
          <a:xfrm>
            <a:off x="7848600" y="4019550"/>
            <a:ext cx="609600" cy="609600"/>
          </a:xfrm>
          <a:prstGeom prst="ellipse">
            <a:avLst/>
          </a:prstGeom>
          <a:solidFill>
            <a:srgbClr val="1F7A5A"/>
          </a:solidFill>
          <a:ln w="25400">
            <a:solidFill>
              <a:srgbClr val="1F7A5A"/>
            </a:solidFill>
          </a:ln>
        </p:spPr>
      </p:sp>
      <p:sp>
        <p:nvSpPr>
          <p:cNvPr id="44" name="Text 44"/>
          <p:cNvSpPr txBox="1"/>
          <p:nvPr/>
        </p:nvSpPr>
        <p:spPr>
          <a:xfrm>
            <a:off x="7848600" y="4200525"/>
            <a:ext cx="609600" cy="228600"/>
          </a:xfrm>
          <a:prstGeom prst="rect">
            <a:avLst/>
          </a:prstGeom>
          <a:noFill/>
          <a:ln>
            <a:noFill/>
          </a:ln>
        </p:spPr>
        <p:txBody>
          <a:bodyPr wrap="square" anchor="t" lIns="0" rIns="0" tIns="0" bIns="0"/>
          <a:lstStyle/>
          <a:p>
            <a:pPr algn="ctr"/>
            <a:r>
              <a:rPr lang="en-US" sz="1600" b="1">
                <a:solidFill>
                  <a:srgbClr val="FFFFFF"/>
                </a:solidFill>
                <a:latin typeface="Arial"/>
              </a:rPr>
              <a:t>1</a:t>
            </a:r>
            <a:endParaRPr lang="en-US" sz="1600"/>
          </a:p>
        </p:txBody>
      </p:sp>
      <p:sp>
        <p:nvSpPr>
          <p:cNvPr id="45" name="Shape 45"/>
          <p:cNvSpPr/>
          <p:nvPr/>
        </p:nvSpPr>
        <p:spPr>
          <a:xfrm>
            <a:off x="8972550" y="3219450"/>
            <a:ext cx="609600" cy="609600"/>
          </a:xfrm>
          <a:prstGeom prst="ellipse">
            <a:avLst/>
          </a:prstGeom>
          <a:solidFill>
            <a:srgbClr val="1F7A5A"/>
          </a:solidFill>
          <a:ln w="25400">
            <a:solidFill>
              <a:srgbClr val="1F7A5A"/>
            </a:solidFill>
          </a:ln>
        </p:spPr>
      </p:sp>
      <p:sp>
        <p:nvSpPr>
          <p:cNvPr id="46" name="Text 46"/>
          <p:cNvSpPr txBox="1"/>
          <p:nvPr/>
        </p:nvSpPr>
        <p:spPr>
          <a:xfrm>
            <a:off x="8972550" y="3400425"/>
            <a:ext cx="609600" cy="228600"/>
          </a:xfrm>
          <a:prstGeom prst="rect">
            <a:avLst/>
          </a:prstGeom>
          <a:noFill/>
          <a:ln>
            <a:noFill/>
          </a:ln>
        </p:spPr>
        <p:txBody>
          <a:bodyPr wrap="square" anchor="t" lIns="0" rIns="0" tIns="0" bIns="0"/>
          <a:lstStyle/>
          <a:p>
            <a:pPr algn="ctr"/>
            <a:r>
              <a:rPr lang="en-US" sz="1600" b="1">
                <a:solidFill>
                  <a:srgbClr val="FFFFFF"/>
                </a:solidFill>
                <a:latin typeface="Arial"/>
              </a:rPr>
              <a:t>1</a:t>
            </a:r>
            <a:endParaRPr lang="en-US" sz="1600"/>
          </a:p>
        </p:txBody>
      </p:sp>
      <p:cxnSp>
        <p:nvCxnSpPr>
          <p:cNvPr id="47" name="Connector 47"/>
          <p:cNvCxnSpPr/>
          <p:nvPr/>
        </p:nvCxnSpPr>
        <p:spPr>
          <a:xfrm>
            <a:off x="2057400" y="4629150"/>
            <a:ext cx="0" cy="514350"/>
          </a:xfrm>
          <a:prstGeom prst="line">
            <a:avLst/>
          </a:prstGeom>
          <a:ln w="25400">
            <a:solidFill>
              <a:srgbClr val="D71920"/>
            </a:solidFill>
            <a:tailEnd type="triangle"/>
          </a:ln>
        </p:spPr>
      </p:cxnSp>
      <p:cxnSp>
        <p:nvCxnSpPr>
          <p:cNvPr id="48" name="Connector 48"/>
          <p:cNvCxnSpPr/>
          <p:nvPr/>
        </p:nvCxnSpPr>
        <p:spPr>
          <a:xfrm>
            <a:off x="5295900" y="4629150"/>
            <a:ext cx="0" cy="514350"/>
          </a:xfrm>
          <a:prstGeom prst="line">
            <a:avLst/>
          </a:prstGeom>
          <a:ln w="25400">
            <a:solidFill>
              <a:srgbClr val="D71920"/>
            </a:solidFill>
            <a:tailEnd type="triangle"/>
          </a:ln>
        </p:spPr>
      </p:cxnSp>
      <p:cxnSp>
        <p:nvCxnSpPr>
          <p:cNvPr id="49" name="Connector 49"/>
          <p:cNvCxnSpPr/>
          <p:nvPr/>
        </p:nvCxnSpPr>
        <p:spPr>
          <a:xfrm>
            <a:off x="8534400" y="4629150"/>
            <a:ext cx="0" cy="514350"/>
          </a:xfrm>
          <a:prstGeom prst="line">
            <a:avLst/>
          </a:prstGeom>
          <a:ln w="25400">
            <a:solidFill>
              <a:srgbClr val="D71920"/>
            </a:solidFill>
            <a:tailEnd type="triangle"/>
          </a:ln>
        </p:spPr>
      </p:cxnSp>
      <p:sp>
        <p:nvSpPr>
          <p:cNvPr id="50" name="Shape 50"/>
          <p:cNvSpPr/>
          <p:nvPr/>
        </p:nvSpPr>
        <p:spPr>
          <a:xfrm>
            <a:off x="1676400" y="5143500"/>
            <a:ext cx="8001000" cy="685800"/>
          </a:xfrm>
          <a:prstGeom prst="roundRect">
            <a:avLst/>
          </a:prstGeom>
          <a:solidFill>
            <a:srgbClr val="17212B"/>
          </a:solidFill>
          <a:ln w="12700">
            <a:solidFill>
              <a:srgbClr val="17212B"/>
            </a:solidFill>
          </a:ln>
        </p:spPr>
      </p:sp>
      <p:sp>
        <p:nvSpPr>
          <p:cNvPr id="51" name="Text 51"/>
          <p:cNvSpPr txBox="1"/>
          <p:nvPr/>
        </p:nvSpPr>
        <p:spPr>
          <a:xfrm>
            <a:off x="1943100" y="5276850"/>
            <a:ext cx="7467600" cy="419100"/>
          </a:xfrm>
          <a:prstGeom prst="rect">
            <a:avLst/>
          </a:prstGeom>
          <a:noFill/>
          <a:ln>
            <a:noFill/>
          </a:ln>
        </p:spPr>
        <p:txBody>
          <a:bodyPr wrap="square" anchor="ctr" lIns="0" rIns="0" tIns="0" bIns="0"/>
          <a:lstStyle/>
          <a:p>
            <a:pPr algn="ctr"/>
            <a:r>
              <a:rPr lang="en-US" sz="1800" b="1">
                <a:solidFill>
                  <a:srgbClr val="FFFFFF"/>
                </a:solidFill>
                <a:latin typeface="Arial"/>
              </a:rPr>
              <a:t>Forest output = mean of tree votes for REVIEW_ELEVATED</a:t>
            </a:r>
            <a:endParaRPr lang="en-US" sz="1800"/>
          </a:p>
        </p:txBody>
      </p:sp>
      <p:sp>
        <p:nvSpPr>
          <p:cNvPr id="52" name="Text 52"/>
          <p:cNvSpPr txBox="1"/>
          <p:nvPr/>
        </p:nvSpPr>
        <p:spPr>
          <a:xfrm>
            <a:off x="1676400" y="5943600"/>
            <a:ext cx="8001000" cy="228600"/>
          </a:xfrm>
          <a:prstGeom prst="rect">
            <a:avLst/>
          </a:prstGeom>
          <a:noFill/>
          <a:ln>
            <a:noFill/>
          </a:ln>
        </p:spPr>
        <p:txBody>
          <a:bodyPr wrap="square" anchor="t" lIns="0" rIns="0" tIns="0" bIns="0"/>
          <a:lstStyle/>
          <a:p>
            <a:pPr algn="ctr"/>
            <a:r>
              <a:rPr lang="en-US" sz="1400" b="1">
                <a:solidFill>
                  <a:srgbClr val="981B1E"/>
                </a:solidFill>
                <a:latin typeface="Arial"/>
              </a:rPr>
              <a:t>Vote share, not a calibrated probability · synthetic training only</a:t>
            </a:r>
            <a:endParaRPr lang="en-US" sz="1400"/>
          </a:p>
        </p:txBody>
      </p:sp>
      <p:cxnSp>
        <p:nvCxnSpPr>
          <p:cNvPr id="53" name="Connector 53"/>
          <p:cNvCxnSpPr/>
          <p:nvPr/>
        </p:nvCxnSpPr>
        <p:spPr>
          <a:xfrm>
            <a:off x="552450" y="6419850"/>
            <a:ext cx="11087100" cy="0"/>
          </a:xfrm>
          <a:prstGeom prst="line">
            <a:avLst/>
          </a:prstGeom>
          <a:ln w="12700">
            <a:solidFill>
              <a:srgbClr val="BFC5CB"/>
            </a:solidFill>
          </a:ln>
        </p:spPr>
      </p:cxnSp>
      <p:sp>
        <p:nvSpPr>
          <p:cNvPr id="54" name="Text 54"/>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TECHNICAL APPENDIX</a:t>
            </a:r>
            <a:endParaRPr lang="en-US" sz="1000"/>
          </a:p>
        </p:txBody>
      </p:sp>
      <p:sp>
        <p:nvSpPr>
          <p:cNvPr id="55" name="Text 55"/>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F</a:t>
            </a:r>
            <a:endParaRPr lang="en-US"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APPENDIX G · BACKEND DATA FLOW</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Stage 3 backend choice changes execution while preserving context and output contracts</a:t>
            </a:r>
            <a:endParaRPr lang="en-US" sz="3000"/>
          </a:p>
        </p:txBody>
      </p:sp>
      <p:sp>
        <p:nvSpPr>
          <p:cNvPr id="4" name="Text 4"/>
          <p:cNvSpPr txBox="1"/>
          <p:nvPr/>
        </p:nvSpPr>
        <p:spPr>
          <a:xfrm>
            <a:off x="8991600" y="1066800"/>
            <a:ext cx="2647950" cy="266700"/>
          </a:xfrm>
          <a:prstGeom prst="rect">
            <a:avLst/>
          </a:prstGeom>
          <a:noFill/>
          <a:ln>
            <a:noFill/>
          </a:ln>
        </p:spPr>
        <p:txBody>
          <a:bodyPr wrap="square" anchor="t" lIns="0" rIns="0" tIns="0" bIns="0"/>
          <a:lstStyle/>
          <a:p>
            <a:pPr algn="r"/>
            <a:r>
              <a:rPr lang="en-US" sz="1100" b="1" spc="100">
                <a:solidFill>
                  <a:srgbClr val="1F7A5A"/>
                </a:solidFill>
                <a:latin typeface="Arial"/>
              </a:rPr>
              <a:t>R5 · DELIVERED</a:t>
            </a:r>
            <a:endParaRPr lang="en-US" sz="1100"/>
          </a:p>
        </p:txBody>
      </p:sp>
      <p:cxnSp>
        <p:nvCxnSpPr>
          <p:cNvPr id="5" name="Connector 5"/>
          <p:cNvCxnSpPr/>
          <p:nvPr/>
        </p:nvCxnSpPr>
        <p:spPr>
          <a:xfrm>
            <a:off x="2571750" y="3257550"/>
            <a:ext cx="876300" cy="0"/>
          </a:xfrm>
          <a:prstGeom prst="line">
            <a:avLst/>
          </a:prstGeom>
          <a:ln w="38100">
            <a:solidFill>
              <a:srgbClr val="D71920"/>
            </a:solidFill>
            <a:tailEnd type="triangle"/>
          </a:ln>
        </p:spPr>
      </p:cxnSp>
      <p:cxnSp>
        <p:nvCxnSpPr>
          <p:cNvPr id="6" name="Connector 6"/>
          <p:cNvCxnSpPr/>
          <p:nvPr/>
        </p:nvCxnSpPr>
        <p:spPr>
          <a:xfrm flipV="1">
            <a:off x="5429250" y="2247900"/>
            <a:ext cx="781050" cy="1009650"/>
          </a:xfrm>
          <a:prstGeom prst="line">
            <a:avLst/>
          </a:prstGeom>
          <a:ln w="25400">
            <a:solidFill>
              <a:srgbClr val="1F7A5A"/>
            </a:solidFill>
            <a:tailEnd type="triangle"/>
          </a:ln>
        </p:spPr>
      </p:cxnSp>
      <p:cxnSp>
        <p:nvCxnSpPr>
          <p:cNvPr id="7" name="Connector 7"/>
          <p:cNvCxnSpPr/>
          <p:nvPr/>
        </p:nvCxnSpPr>
        <p:spPr>
          <a:xfrm>
            <a:off x="5429250" y="3257550"/>
            <a:ext cx="781050" cy="0"/>
          </a:xfrm>
          <a:prstGeom prst="line">
            <a:avLst/>
          </a:prstGeom>
          <a:ln w="25400">
            <a:solidFill>
              <a:srgbClr val="2A5B84"/>
            </a:solidFill>
            <a:tailEnd type="triangle"/>
          </a:ln>
        </p:spPr>
      </p:cxnSp>
      <p:cxnSp>
        <p:nvCxnSpPr>
          <p:cNvPr id="8" name="Connector 8"/>
          <p:cNvCxnSpPr/>
          <p:nvPr/>
        </p:nvCxnSpPr>
        <p:spPr>
          <a:xfrm>
            <a:off x="5429250" y="3257550"/>
            <a:ext cx="781050" cy="1009650"/>
          </a:xfrm>
          <a:prstGeom prst="line">
            <a:avLst/>
          </a:prstGeom>
          <a:ln w="25400">
            <a:solidFill>
              <a:srgbClr val="B46B13"/>
            </a:solidFill>
            <a:tailEnd type="triangle"/>
          </a:ln>
        </p:spPr>
      </p:cxnSp>
      <p:cxnSp>
        <p:nvCxnSpPr>
          <p:cNvPr id="9" name="Connector 9"/>
          <p:cNvCxnSpPr/>
          <p:nvPr/>
        </p:nvCxnSpPr>
        <p:spPr>
          <a:xfrm>
            <a:off x="8591550" y="2247900"/>
            <a:ext cx="666750" cy="1009650"/>
          </a:xfrm>
          <a:prstGeom prst="line">
            <a:avLst/>
          </a:prstGeom>
          <a:ln w="25400">
            <a:solidFill>
              <a:srgbClr val="1F7A5A"/>
            </a:solidFill>
            <a:tailEnd type="triangle"/>
          </a:ln>
        </p:spPr>
      </p:cxnSp>
      <p:cxnSp>
        <p:nvCxnSpPr>
          <p:cNvPr id="10" name="Connector 10"/>
          <p:cNvCxnSpPr/>
          <p:nvPr/>
        </p:nvCxnSpPr>
        <p:spPr>
          <a:xfrm>
            <a:off x="8591550" y="3257550"/>
            <a:ext cx="666750" cy="0"/>
          </a:xfrm>
          <a:prstGeom prst="line">
            <a:avLst/>
          </a:prstGeom>
          <a:ln w="25400">
            <a:solidFill>
              <a:srgbClr val="2A5B84"/>
            </a:solidFill>
            <a:tailEnd type="triangle"/>
          </a:ln>
        </p:spPr>
      </p:cxnSp>
      <p:cxnSp>
        <p:nvCxnSpPr>
          <p:cNvPr id="11" name="Connector 11"/>
          <p:cNvCxnSpPr/>
          <p:nvPr/>
        </p:nvCxnSpPr>
        <p:spPr>
          <a:xfrm flipV="1">
            <a:off x="8591550" y="3257550"/>
            <a:ext cx="666750" cy="1009650"/>
          </a:xfrm>
          <a:prstGeom prst="line">
            <a:avLst/>
          </a:prstGeom>
          <a:ln w="25400">
            <a:solidFill>
              <a:srgbClr val="B46B13"/>
            </a:solidFill>
            <a:tailEnd type="triangle"/>
          </a:ln>
        </p:spPr>
      </p:cxnSp>
      <p:sp>
        <p:nvSpPr>
          <p:cNvPr id="12" name="Shape 12"/>
          <p:cNvSpPr/>
          <p:nvPr/>
        </p:nvSpPr>
        <p:spPr>
          <a:xfrm>
            <a:off x="571500" y="2495550"/>
            <a:ext cx="2000250" cy="1524000"/>
          </a:xfrm>
          <a:prstGeom prst="roundRect">
            <a:avLst/>
          </a:prstGeom>
          <a:solidFill>
            <a:srgbClr val="F4F6F8"/>
          </a:solidFill>
          <a:ln w="25400">
            <a:solidFill>
              <a:srgbClr val="17212B"/>
            </a:solidFill>
          </a:ln>
        </p:spPr>
      </p:sp>
      <p:sp>
        <p:nvSpPr>
          <p:cNvPr id="13" name="Shape 13"/>
          <p:cNvSpPr/>
          <p:nvPr/>
        </p:nvSpPr>
        <p:spPr>
          <a:xfrm>
            <a:off x="1276350" y="2647950"/>
            <a:ext cx="590550" cy="590550"/>
          </a:xfrm>
          <a:prstGeom prst="roundRect">
            <a:avLst/>
          </a:prstGeom>
          <a:solidFill>
            <a:srgbClr val="FFFFFF"/>
          </a:solidFill>
          <a:ln w="19050">
            <a:solidFill>
              <a:srgbClr val="17212B"/>
            </a:solidFill>
          </a:ln>
        </p:spPr>
      </p:sp>
      <p:pic>
        <p:nvPicPr>
          <p:cNvPr id="14" name="Picture 14"/>
          <p:cNvPicPr>
            <a:picLocks noChangeAspect="1"/>
          </p:cNvPicPr>
          <p:nvPr/>
        </p:nvPicPr>
        <p:blipFill>
          <a:blip r:embed="rId2"/>
          <a:stretch>
            <a:fillRect/>
          </a:stretch>
        </p:blipFill>
        <p:spPr>
          <a:xfrm>
            <a:off x="1428750" y="2800350"/>
            <a:ext cx="285750" cy="285750"/>
          </a:xfrm>
          <a:prstGeom prst="rect">
            <a:avLst/>
          </a:prstGeom>
          <a:ln>
            <a:noFill/>
          </a:ln>
        </p:spPr>
      </p:pic>
      <p:sp>
        <p:nvSpPr>
          <p:cNvPr id="15" name="Text 15"/>
          <p:cNvSpPr txBox="1"/>
          <p:nvPr/>
        </p:nvSpPr>
        <p:spPr>
          <a:xfrm>
            <a:off x="762000" y="3314700"/>
            <a:ext cx="1619250" cy="400050"/>
          </a:xfrm>
          <a:prstGeom prst="rect">
            <a:avLst/>
          </a:prstGeom>
          <a:noFill/>
          <a:ln>
            <a:noFill/>
          </a:ln>
        </p:spPr>
        <p:txBody>
          <a:bodyPr wrap="square" anchor="t" lIns="0" rIns="0" tIns="0" bIns="0"/>
          <a:lstStyle/>
          <a:p>
            <a:pPr algn="ctr"/>
            <a:r>
              <a:rPr lang="en-US" sz="1400" b="1">
                <a:solidFill>
                  <a:srgbClr val="17212B"/>
                </a:solidFill>
                <a:latin typeface="Arial"/>
              </a:rPr>
              <a:t>EVIDENCE</a:t>
            </a:r>
            <a:endParaRPr lang="en-US" sz="1400"/>
          </a:p>
          <a:p>
            <a:pPr algn="ctr"/>
            <a:r>
              <a:rPr lang="en-US" sz="1400" b="1">
                <a:solidFill>
                  <a:srgbClr val="17212B"/>
                </a:solidFill>
                <a:latin typeface="Arial"/>
              </a:rPr>
              <a:t>ENVELOPE</a:t>
            </a:r>
            <a:endParaRPr lang="en-US" sz="1400"/>
          </a:p>
        </p:txBody>
      </p:sp>
      <p:sp>
        <p:nvSpPr>
          <p:cNvPr id="16" name="Text 16"/>
          <p:cNvSpPr txBox="1"/>
          <p:nvPr/>
        </p:nvSpPr>
        <p:spPr>
          <a:xfrm>
            <a:off x="762000" y="3790950"/>
            <a:ext cx="1619250" cy="152400"/>
          </a:xfrm>
          <a:prstGeom prst="rect">
            <a:avLst/>
          </a:prstGeom>
          <a:noFill/>
          <a:ln>
            <a:noFill/>
          </a:ln>
        </p:spPr>
        <p:txBody>
          <a:bodyPr wrap="square" anchor="t" lIns="0" rIns="0" tIns="0" bIns="0"/>
          <a:lstStyle/>
          <a:p>
            <a:pPr algn="ctr"/>
            <a:r>
              <a:rPr lang="en-US" sz="900" b="0">
                <a:solidFill>
                  <a:srgbClr val="5D6873"/>
                </a:solidFill>
                <a:latin typeface="Arial"/>
              </a:rPr>
              <a:t>source, detector, policy</a:t>
            </a:r>
            <a:endParaRPr lang="en-US" sz="900"/>
          </a:p>
        </p:txBody>
      </p:sp>
      <p:sp>
        <p:nvSpPr>
          <p:cNvPr id="17" name="Shape 17"/>
          <p:cNvSpPr/>
          <p:nvPr/>
        </p:nvSpPr>
        <p:spPr>
          <a:xfrm>
            <a:off x="3448050" y="2495550"/>
            <a:ext cx="1981200" cy="1524000"/>
          </a:xfrm>
          <a:prstGeom prst="roundRect">
            <a:avLst/>
          </a:prstGeom>
          <a:solidFill>
            <a:srgbClr val="FCEBEC"/>
          </a:solidFill>
          <a:ln w="25400">
            <a:solidFill>
              <a:srgbClr val="D71920"/>
            </a:solidFill>
          </a:ln>
        </p:spPr>
      </p:sp>
      <p:sp>
        <p:nvSpPr>
          <p:cNvPr id="18" name="Shape 18"/>
          <p:cNvSpPr/>
          <p:nvPr/>
        </p:nvSpPr>
        <p:spPr>
          <a:xfrm>
            <a:off x="4143375" y="2647950"/>
            <a:ext cx="590550" cy="590550"/>
          </a:xfrm>
          <a:prstGeom prst="roundRect">
            <a:avLst/>
          </a:prstGeom>
          <a:solidFill>
            <a:srgbClr val="FFFFFF"/>
          </a:solidFill>
          <a:ln w="19050">
            <a:solidFill>
              <a:srgbClr val="981B1E"/>
            </a:solidFill>
          </a:ln>
        </p:spPr>
      </p:sp>
      <p:pic>
        <p:nvPicPr>
          <p:cNvPr id="19" name="Picture 19"/>
          <p:cNvPicPr>
            <a:picLocks noChangeAspect="1"/>
          </p:cNvPicPr>
          <p:nvPr/>
        </p:nvPicPr>
        <p:blipFill>
          <a:blip r:embed="rId3"/>
          <a:stretch>
            <a:fillRect/>
          </a:stretch>
        </p:blipFill>
        <p:spPr>
          <a:xfrm>
            <a:off x="4295775" y="2800350"/>
            <a:ext cx="285750" cy="285750"/>
          </a:xfrm>
          <a:prstGeom prst="rect">
            <a:avLst/>
          </a:prstGeom>
          <a:ln>
            <a:noFill/>
          </a:ln>
        </p:spPr>
      </p:pic>
      <p:sp>
        <p:nvSpPr>
          <p:cNvPr id="20" name="Text 20"/>
          <p:cNvSpPr txBox="1"/>
          <p:nvPr/>
        </p:nvSpPr>
        <p:spPr>
          <a:xfrm>
            <a:off x="3638550" y="3333750"/>
            <a:ext cx="1600200" cy="266700"/>
          </a:xfrm>
          <a:prstGeom prst="rect">
            <a:avLst/>
          </a:prstGeom>
          <a:noFill/>
          <a:ln>
            <a:noFill/>
          </a:ln>
        </p:spPr>
        <p:txBody>
          <a:bodyPr wrap="square" anchor="t" lIns="0" rIns="0" tIns="0" bIns="0"/>
          <a:lstStyle/>
          <a:p>
            <a:pPr algn="ctr"/>
            <a:r>
              <a:rPr lang="en-US" sz="1400" b="1">
                <a:solidFill>
                  <a:srgbClr val="981B1E"/>
                </a:solidFill>
                <a:latin typeface="Arial"/>
              </a:rPr>
              <a:t>TYPED FACTORY</a:t>
            </a:r>
            <a:endParaRPr lang="en-US" sz="1400"/>
          </a:p>
        </p:txBody>
      </p:sp>
      <p:sp>
        <p:nvSpPr>
          <p:cNvPr id="21" name="Text 21"/>
          <p:cNvSpPr txBox="1"/>
          <p:nvPr/>
        </p:nvSpPr>
        <p:spPr>
          <a:xfrm>
            <a:off x="3638550" y="3676650"/>
            <a:ext cx="1600200" cy="266700"/>
          </a:xfrm>
          <a:prstGeom prst="rect">
            <a:avLst/>
          </a:prstGeom>
          <a:noFill/>
          <a:ln>
            <a:noFill/>
          </a:ln>
        </p:spPr>
        <p:txBody>
          <a:bodyPr wrap="square" anchor="t" lIns="0" rIns="0" tIns="0" bIns="0"/>
          <a:lstStyle/>
          <a:p>
            <a:pPr algn="ctr"/>
            <a:r>
              <a:rPr lang="en-US" sz="1000" b="0">
                <a:solidFill>
                  <a:srgbClr val="17212B"/>
                </a:solidFill>
                <a:latin typeface="Arial"/>
              </a:rPr>
              <a:t>identity and capability checks</a:t>
            </a:r>
            <a:endParaRPr lang="en-US" sz="1000"/>
          </a:p>
        </p:txBody>
      </p:sp>
      <p:sp>
        <p:nvSpPr>
          <p:cNvPr id="22" name="Shape 22"/>
          <p:cNvSpPr/>
          <p:nvPr/>
        </p:nvSpPr>
        <p:spPr>
          <a:xfrm>
            <a:off x="6210300" y="1866900"/>
            <a:ext cx="2381250" cy="762000"/>
          </a:xfrm>
          <a:prstGeom prst="roundRect">
            <a:avLst/>
          </a:prstGeom>
          <a:solidFill>
            <a:srgbClr val="FFFFFF"/>
          </a:solidFill>
          <a:ln w="25400">
            <a:solidFill>
              <a:srgbClr val="1F7A5A"/>
            </a:solidFill>
          </a:ln>
        </p:spPr>
      </p:sp>
      <p:sp>
        <p:nvSpPr>
          <p:cNvPr id="23" name="Shape 23"/>
          <p:cNvSpPr/>
          <p:nvPr/>
        </p:nvSpPr>
        <p:spPr>
          <a:xfrm>
            <a:off x="6343650" y="2009775"/>
            <a:ext cx="476250" cy="476250"/>
          </a:xfrm>
          <a:prstGeom prst="roundRect">
            <a:avLst/>
          </a:prstGeom>
          <a:solidFill>
            <a:srgbClr val="F4F6F8"/>
          </a:solidFill>
          <a:ln w="19050">
            <a:solidFill>
              <a:srgbClr val="1F7A5A"/>
            </a:solidFill>
          </a:ln>
        </p:spPr>
      </p:sp>
      <p:pic>
        <p:nvPicPr>
          <p:cNvPr id="24" name="Picture 24"/>
          <p:cNvPicPr>
            <a:picLocks noChangeAspect="1"/>
          </p:cNvPicPr>
          <p:nvPr/>
        </p:nvPicPr>
        <p:blipFill>
          <a:blip r:embed="rId4"/>
          <a:stretch>
            <a:fillRect/>
          </a:stretch>
        </p:blipFill>
        <p:spPr>
          <a:xfrm>
            <a:off x="6467475" y="2133600"/>
            <a:ext cx="228600" cy="228600"/>
          </a:xfrm>
          <a:prstGeom prst="rect">
            <a:avLst/>
          </a:prstGeom>
          <a:ln>
            <a:noFill/>
          </a:ln>
        </p:spPr>
      </p:pic>
      <p:sp>
        <p:nvSpPr>
          <p:cNvPr id="25" name="Text 25"/>
          <p:cNvSpPr txBox="1"/>
          <p:nvPr/>
        </p:nvSpPr>
        <p:spPr>
          <a:xfrm>
            <a:off x="6972300" y="1962150"/>
            <a:ext cx="1447800" cy="228600"/>
          </a:xfrm>
          <a:prstGeom prst="rect">
            <a:avLst/>
          </a:prstGeom>
          <a:noFill/>
          <a:ln>
            <a:noFill/>
          </a:ln>
        </p:spPr>
        <p:txBody>
          <a:bodyPr wrap="square" anchor="t" lIns="0" rIns="0" tIns="0" bIns="0"/>
          <a:lstStyle/>
          <a:p>
            <a:pPr algn="l"/>
            <a:r>
              <a:rPr lang="en-US" sz="1400" b="1">
                <a:solidFill>
                  <a:srgbClr val="1F7A5A"/>
                </a:solidFill>
                <a:latin typeface="Arial"/>
              </a:rPr>
              <a:t>DETERMINISTIC</a:t>
            </a:r>
            <a:endParaRPr lang="en-US" sz="1400"/>
          </a:p>
        </p:txBody>
      </p:sp>
      <p:sp>
        <p:nvSpPr>
          <p:cNvPr id="26" name="Text 26"/>
          <p:cNvSpPr txBox="1"/>
          <p:nvPr/>
        </p:nvSpPr>
        <p:spPr>
          <a:xfrm>
            <a:off x="6972300" y="2266950"/>
            <a:ext cx="1447800" cy="209550"/>
          </a:xfrm>
          <a:prstGeom prst="rect">
            <a:avLst/>
          </a:prstGeom>
          <a:noFill/>
          <a:ln>
            <a:noFill/>
          </a:ln>
        </p:spPr>
        <p:txBody>
          <a:bodyPr wrap="square" anchor="t" lIns="0" rIns="0" tIns="0" bIns="0"/>
          <a:lstStyle/>
          <a:p>
            <a:pPr algn="l"/>
            <a:r>
              <a:rPr lang="en-US" sz="1200" b="0">
                <a:solidFill>
                  <a:srgbClr val="5D6873"/>
                </a:solidFill>
                <a:latin typeface="Arial"/>
              </a:rPr>
              <a:t>landed baseline</a:t>
            </a:r>
            <a:endParaRPr lang="en-US" sz="1200"/>
          </a:p>
        </p:txBody>
      </p:sp>
      <p:sp>
        <p:nvSpPr>
          <p:cNvPr id="27" name="Shape 27"/>
          <p:cNvSpPr/>
          <p:nvPr/>
        </p:nvSpPr>
        <p:spPr>
          <a:xfrm>
            <a:off x="6210300" y="2876550"/>
            <a:ext cx="2381250" cy="762000"/>
          </a:xfrm>
          <a:prstGeom prst="roundRect">
            <a:avLst/>
          </a:prstGeom>
          <a:solidFill>
            <a:srgbClr val="FFFFFF"/>
          </a:solidFill>
          <a:ln w="25400">
            <a:solidFill>
              <a:srgbClr val="2A5B84"/>
            </a:solidFill>
          </a:ln>
        </p:spPr>
      </p:sp>
      <p:sp>
        <p:nvSpPr>
          <p:cNvPr id="28" name="Shape 28"/>
          <p:cNvSpPr/>
          <p:nvPr/>
        </p:nvSpPr>
        <p:spPr>
          <a:xfrm>
            <a:off x="6343650" y="3019425"/>
            <a:ext cx="476250" cy="476250"/>
          </a:xfrm>
          <a:prstGeom prst="roundRect">
            <a:avLst/>
          </a:prstGeom>
          <a:solidFill>
            <a:srgbClr val="F4F6F8"/>
          </a:solidFill>
          <a:ln w="19050">
            <a:solidFill>
              <a:srgbClr val="2A5B84"/>
            </a:solidFill>
          </a:ln>
        </p:spPr>
      </p:sp>
      <p:pic>
        <p:nvPicPr>
          <p:cNvPr id="29" name="Picture 29"/>
          <p:cNvPicPr>
            <a:picLocks noChangeAspect="1"/>
          </p:cNvPicPr>
          <p:nvPr/>
        </p:nvPicPr>
        <p:blipFill>
          <a:blip r:embed="rId5"/>
          <a:stretch>
            <a:fillRect/>
          </a:stretch>
        </p:blipFill>
        <p:spPr>
          <a:xfrm>
            <a:off x="6467475" y="3143250"/>
            <a:ext cx="228600" cy="228600"/>
          </a:xfrm>
          <a:prstGeom prst="rect">
            <a:avLst/>
          </a:prstGeom>
          <a:ln>
            <a:noFill/>
          </a:ln>
        </p:spPr>
      </p:pic>
      <p:sp>
        <p:nvSpPr>
          <p:cNvPr id="30" name="Text 30"/>
          <p:cNvSpPr txBox="1"/>
          <p:nvPr/>
        </p:nvSpPr>
        <p:spPr>
          <a:xfrm>
            <a:off x="6972300" y="2971800"/>
            <a:ext cx="1447800" cy="228600"/>
          </a:xfrm>
          <a:prstGeom prst="rect">
            <a:avLst/>
          </a:prstGeom>
          <a:noFill/>
          <a:ln>
            <a:noFill/>
          </a:ln>
        </p:spPr>
        <p:txBody>
          <a:bodyPr wrap="square" anchor="t" lIns="0" rIns="0" tIns="0" bIns="0"/>
          <a:lstStyle/>
          <a:p>
            <a:pPr algn="l"/>
            <a:r>
              <a:rPr lang="en-US" sz="1400" b="1">
                <a:solidFill>
                  <a:srgbClr val="2A5B84"/>
                </a:solidFill>
                <a:latin typeface="Arial"/>
              </a:rPr>
              <a:t>OPENAI</a:t>
            </a:r>
            <a:endParaRPr lang="en-US" sz="1400"/>
          </a:p>
        </p:txBody>
      </p:sp>
      <p:sp>
        <p:nvSpPr>
          <p:cNvPr id="31" name="Text 31"/>
          <p:cNvSpPr txBox="1"/>
          <p:nvPr/>
        </p:nvSpPr>
        <p:spPr>
          <a:xfrm>
            <a:off x="6972300" y="3276600"/>
            <a:ext cx="1447800" cy="209550"/>
          </a:xfrm>
          <a:prstGeom prst="rect">
            <a:avLst/>
          </a:prstGeom>
          <a:noFill/>
          <a:ln>
            <a:noFill/>
          </a:ln>
        </p:spPr>
        <p:txBody>
          <a:bodyPr wrap="square" anchor="t" lIns="0" rIns="0" tIns="0" bIns="0"/>
          <a:lstStyle/>
          <a:p>
            <a:pPr algn="l"/>
            <a:r>
              <a:rPr lang="en-US" sz="1200" b="0">
                <a:solidFill>
                  <a:srgbClr val="5D6873"/>
                </a:solidFill>
                <a:latin typeface="Arial"/>
              </a:rPr>
              <a:t>optional adapter</a:t>
            </a:r>
            <a:endParaRPr lang="en-US" sz="1200"/>
          </a:p>
        </p:txBody>
      </p:sp>
      <p:sp>
        <p:nvSpPr>
          <p:cNvPr id="32" name="Shape 32"/>
          <p:cNvSpPr/>
          <p:nvPr/>
        </p:nvSpPr>
        <p:spPr>
          <a:xfrm>
            <a:off x="6210300" y="3886200"/>
            <a:ext cx="2381250" cy="762000"/>
          </a:xfrm>
          <a:prstGeom prst="roundRect">
            <a:avLst/>
          </a:prstGeom>
          <a:solidFill>
            <a:srgbClr val="FFFFFF"/>
          </a:solidFill>
          <a:ln w="25400">
            <a:solidFill>
              <a:srgbClr val="B46B13"/>
            </a:solidFill>
          </a:ln>
        </p:spPr>
      </p:sp>
      <p:sp>
        <p:nvSpPr>
          <p:cNvPr id="33" name="Shape 33"/>
          <p:cNvSpPr/>
          <p:nvPr/>
        </p:nvSpPr>
        <p:spPr>
          <a:xfrm>
            <a:off x="6343650" y="4029075"/>
            <a:ext cx="476250" cy="476250"/>
          </a:xfrm>
          <a:prstGeom prst="roundRect">
            <a:avLst/>
          </a:prstGeom>
          <a:solidFill>
            <a:srgbClr val="F4F6F8"/>
          </a:solidFill>
          <a:ln w="19050">
            <a:solidFill>
              <a:srgbClr val="B46B13"/>
            </a:solidFill>
          </a:ln>
        </p:spPr>
      </p:sp>
      <p:pic>
        <p:nvPicPr>
          <p:cNvPr id="34" name="Picture 34"/>
          <p:cNvPicPr>
            <a:picLocks noChangeAspect="1"/>
          </p:cNvPicPr>
          <p:nvPr/>
        </p:nvPicPr>
        <p:blipFill>
          <a:blip r:embed="rId6"/>
          <a:stretch>
            <a:fillRect/>
          </a:stretch>
        </p:blipFill>
        <p:spPr>
          <a:xfrm>
            <a:off x="6467475" y="4152900"/>
            <a:ext cx="228600" cy="228600"/>
          </a:xfrm>
          <a:prstGeom prst="rect">
            <a:avLst/>
          </a:prstGeom>
          <a:ln>
            <a:noFill/>
          </a:ln>
        </p:spPr>
      </p:pic>
      <p:sp>
        <p:nvSpPr>
          <p:cNvPr id="35" name="Text 35"/>
          <p:cNvSpPr txBox="1"/>
          <p:nvPr/>
        </p:nvSpPr>
        <p:spPr>
          <a:xfrm>
            <a:off x="6972300" y="3981450"/>
            <a:ext cx="1447800" cy="228600"/>
          </a:xfrm>
          <a:prstGeom prst="rect">
            <a:avLst/>
          </a:prstGeom>
          <a:noFill/>
          <a:ln>
            <a:noFill/>
          </a:ln>
        </p:spPr>
        <p:txBody>
          <a:bodyPr wrap="square" anchor="t" lIns="0" rIns="0" tIns="0" bIns="0"/>
          <a:lstStyle/>
          <a:p>
            <a:pPr algn="l"/>
            <a:r>
              <a:rPr lang="en-US" sz="1400" b="1">
                <a:solidFill>
                  <a:srgbClr val="B46B13"/>
                </a:solidFill>
                <a:latin typeface="Arial"/>
              </a:rPr>
              <a:t>LM STUDIO</a:t>
            </a:r>
            <a:endParaRPr lang="en-US" sz="1400"/>
          </a:p>
        </p:txBody>
      </p:sp>
      <p:sp>
        <p:nvSpPr>
          <p:cNvPr id="36" name="Text 36"/>
          <p:cNvSpPr txBox="1"/>
          <p:nvPr/>
        </p:nvSpPr>
        <p:spPr>
          <a:xfrm>
            <a:off x="6972300" y="4286250"/>
            <a:ext cx="1447800" cy="209550"/>
          </a:xfrm>
          <a:prstGeom prst="rect">
            <a:avLst/>
          </a:prstGeom>
          <a:noFill/>
          <a:ln>
            <a:noFill/>
          </a:ln>
        </p:spPr>
        <p:txBody>
          <a:bodyPr wrap="square" anchor="t" lIns="0" rIns="0" tIns="0" bIns="0"/>
          <a:lstStyle/>
          <a:p>
            <a:pPr algn="l"/>
            <a:r>
              <a:rPr lang="en-US" sz="1200" b="0">
                <a:solidFill>
                  <a:srgbClr val="5D6873"/>
                </a:solidFill>
                <a:latin typeface="Arial"/>
              </a:rPr>
              <a:t>delivered local R5</a:t>
            </a:r>
            <a:endParaRPr lang="en-US" sz="1200"/>
          </a:p>
        </p:txBody>
      </p:sp>
      <p:sp>
        <p:nvSpPr>
          <p:cNvPr id="37" name="Shape 37"/>
          <p:cNvSpPr/>
          <p:nvPr/>
        </p:nvSpPr>
        <p:spPr>
          <a:xfrm>
            <a:off x="9258300" y="2495550"/>
            <a:ext cx="2381250" cy="1524000"/>
          </a:xfrm>
          <a:prstGeom prst="roundRect">
            <a:avLst/>
          </a:prstGeom>
          <a:solidFill>
            <a:srgbClr val="17212B"/>
          </a:solidFill>
          <a:ln w="12700">
            <a:solidFill>
              <a:srgbClr val="17212B"/>
            </a:solidFill>
          </a:ln>
        </p:spPr>
      </p:sp>
      <p:pic>
        <p:nvPicPr>
          <p:cNvPr id="38" name="Picture 38"/>
          <p:cNvPicPr>
            <a:picLocks noChangeAspect="1"/>
          </p:cNvPicPr>
          <p:nvPr/>
        </p:nvPicPr>
        <p:blipFill>
          <a:blip r:embed="rId7"/>
          <a:stretch>
            <a:fillRect/>
          </a:stretch>
        </p:blipFill>
        <p:spPr>
          <a:xfrm>
            <a:off x="10201275" y="2647950"/>
            <a:ext cx="495300" cy="495300"/>
          </a:xfrm>
          <a:prstGeom prst="rect">
            <a:avLst/>
          </a:prstGeom>
          <a:ln>
            <a:noFill/>
          </a:ln>
        </p:spPr>
      </p:pic>
      <p:sp>
        <p:nvSpPr>
          <p:cNvPr id="39" name="Text 39"/>
          <p:cNvSpPr txBox="1"/>
          <p:nvPr/>
        </p:nvSpPr>
        <p:spPr>
          <a:xfrm>
            <a:off x="9467850" y="3238500"/>
            <a:ext cx="1962150" cy="266700"/>
          </a:xfrm>
          <a:prstGeom prst="rect">
            <a:avLst/>
          </a:prstGeom>
          <a:noFill/>
          <a:ln>
            <a:noFill/>
          </a:ln>
        </p:spPr>
        <p:txBody>
          <a:bodyPr wrap="square" anchor="t" lIns="0" rIns="0" tIns="0" bIns="0"/>
          <a:lstStyle/>
          <a:p>
            <a:pPr algn="ctr"/>
            <a:r>
              <a:rPr lang="en-US" sz="1600" b="1">
                <a:solidFill>
                  <a:srgbClr val="FFFFFF"/>
                </a:solidFill>
                <a:latin typeface="Arial"/>
              </a:rPr>
              <a:t>ONE OUTPUT</a:t>
            </a:r>
            <a:endParaRPr lang="en-US" sz="1600"/>
          </a:p>
        </p:txBody>
      </p:sp>
      <p:sp>
        <p:nvSpPr>
          <p:cNvPr id="40" name="Text 40"/>
          <p:cNvSpPr txBox="1"/>
          <p:nvPr/>
        </p:nvSpPr>
        <p:spPr>
          <a:xfrm>
            <a:off x="9467850" y="3600450"/>
            <a:ext cx="1962150" cy="266700"/>
          </a:xfrm>
          <a:prstGeom prst="rect">
            <a:avLst/>
          </a:prstGeom>
          <a:noFill/>
          <a:ln>
            <a:noFill/>
          </a:ln>
        </p:spPr>
        <p:txBody>
          <a:bodyPr wrap="square" anchor="t" lIns="0" rIns="0" tIns="0" bIns="0"/>
          <a:lstStyle/>
          <a:p>
            <a:pPr algn="ctr"/>
            <a:r>
              <a:rPr lang="en-US" sz="1100" b="0">
                <a:solidFill>
                  <a:srgbClr val="DDE3E8"/>
                </a:solidFill>
                <a:latin typeface="Arial"/>
              </a:rPr>
              <a:t>severity, findings and provenance</a:t>
            </a:r>
            <a:endParaRPr lang="en-US" sz="1100"/>
          </a:p>
        </p:txBody>
      </p:sp>
      <p:cxnSp>
        <p:nvCxnSpPr>
          <p:cNvPr id="41" name="Connector 41"/>
          <p:cNvCxnSpPr/>
          <p:nvPr/>
        </p:nvCxnSpPr>
        <p:spPr>
          <a:xfrm>
            <a:off x="10448925" y="4019550"/>
            <a:ext cx="0" cy="628650"/>
          </a:xfrm>
          <a:prstGeom prst="line">
            <a:avLst/>
          </a:prstGeom>
          <a:ln w="38100">
            <a:solidFill>
              <a:srgbClr val="D71920"/>
            </a:solidFill>
            <a:tailEnd type="triangle"/>
          </a:ln>
        </p:spPr>
      </p:cxnSp>
      <p:sp>
        <p:nvSpPr>
          <p:cNvPr id="42" name="Shape 42"/>
          <p:cNvSpPr/>
          <p:nvPr/>
        </p:nvSpPr>
        <p:spPr>
          <a:xfrm>
            <a:off x="8896350" y="4648200"/>
            <a:ext cx="3105150" cy="952500"/>
          </a:xfrm>
          <a:prstGeom prst="roundRect">
            <a:avLst/>
          </a:prstGeom>
          <a:solidFill>
            <a:srgbClr val="EAF1F7"/>
          </a:solidFill>
          <a:ln w="25400">
            <a:solidFill>
              <a:srgbClr val="2A5B84"/>
            </a:solidFill>
          </a:ln>
        </p:spPr>
      </p:sp>
      <p:sp>
        <p:nvSpPr>
          <p:cNvPr id="43" name="Shape 43"/>
          <p:cNvSpPr/>
          <p:nvPr/>
        </p:nvSpPr>
        <p:spPr>
          <a:xfrm>
            <a:off x="9086850" y="4876800"/>
            <a:ext cx="495300" cy="495300"/>
          </a:xfrm>
          <a:prstGeom prst="roundRect">
            <a:avLst/>
          </a:prstGeom>
          <a:solidFill>
            <a:srgbClr val="FFFFFF"/>
          </a:solidFill>
          <a:ln w="19050">
            <a:solidFill>
              <a:srgbClr val="2A5B84"/>
            </a:solidFill>
          </a:ln>
        </p:spPr>
      </p:sp>
      <p:pic>
        <p:nvPicPr>
          <p:cNvPr id="44" name="Picture 44"/>
          <p:cNvPicPr>
            <a:picLocks noChangeAspect="1"/>
          </p:cNvPicPr>
          <p:nvPr/>
        </p:nvPicPr>
        <p:blipFill>
          <a:blip r:embed="rId8"/>
          <a:stretch>
            <a:fillRect/>
          </a:stretch>
        </p:blipFill>
        <p:spPr>
          <a:xfrm>
            <a:off x="9210675" y="5000625"/>
            <a:ext cx="247650" cy="247650"/>
          </a:xfrm>
          <a:prstGeom prst="rect">
            <a:avLst/>
          </a:prstGeom>
          <a:ln>
            <a:noFill/>
          </a:ln>
        </p:spPr>
      </p:pic>
      <p:sp>
        <p:nvSpPr>
          <p:cNvPr id="45" name="Text 45"/>
          <p:cNvSpPr txBox="1"/>
          <p:nvPr/>
        </p:nvSpPr>
        <p:spPr>
          <a:xfrm>
            <a:off x="9753600" y="4819650"/>
            <a:ext cx="2000250" cy="590550"/>
          </a:xfrm>
          <a:prstGeom prst="rect">
            <a:avLst/>
          </a:prstGeom>
          <a:noFill/>
          <a:ln>
            <a:noFill/>
          </a:ln>
        </p:spPr>
        <p:txBody>
          <a:bodyPr wrap="square" anchor="ctr" lIns="0" rIns="0" tIns="0" bIns="0"/>
          <a:lstStyle/>
          <a:p>
            <a:pPr algn="ctr"/>
            <a:r>
              <a:rPr lang="en-US" sz="1400" b="1">
                <a:solidFill>
                  <a:srgbClr val="17212B"/>
                </a:solidFill>
                <a:latin typeface="Arial"/>
              </a:rPr>
              <a:t>Validated output</a:t>
            </a:r>
            <a:endParaRPr lang="en-US" sz="1400"/>
          </a:p>
          <a:p>
            <a:pPr algn="ctr"/>
            <a:r>
              <a:rPr lang="en-US" sz="1400" b="1">
                <a:solidFill>
                  <a:srgbClr val="17212B"/>
                </a:solidFill>
                <a:latin typeface="Arial"/>
              </a:rPr>
              <a:t>persisted to history</a:t>
            </a:r>
            <a:endParaRPr lang="en-US" sz="1400"/>
          </a:p>
        </p:txBody>
      </p:sp>
      <p:sp>
        <p:nvSpPr>
          <p:cNvPr id="46" name="Text 46"/>
          <p:cNvSpPr txBox="1"/>
          <p:nvPr/>
        </p:nvSpPr>
        <p:spPr>
          <a:xfrm>
            <a:off x="1028700" y="5810250"/>
            <a:ext cx="7620000" cy="323850"/>
          </a:xfrm>
          <a:prstGeom prst="rect">
            <a:avLst/>
          </a:prstGeom>
          <a:noFill/>
          <a:ln>
            <a:noFill/>
          </a:ln>
        </p:spPr>
        <p:txBody>
          <a:bodyPr wrap="square" anchor="t" lIns="0" rIns="0" tIns="0" bIns="0"/>
          <a:lstStyle/>
          <a:p>
            <a:pPr algn="l"/>
            <a:r>
              <a:rPr lang="en-US" sz="1500" b="1">
                <a:solidFill>
                  <a:srgbClr val="5D6873"/>
                </a:solidFill>
                <a:latin typeface="Arial"/>
              </a:rPr>
              <a:t>Default path sends no customer or policy content outside the local system</a:t>
            </a:r>
            <a:endParaRPr lang="en-US" sz="1500"/>
          </a:p>
        </p:txBody>
      </p:sp>
      <p:cxnSp>
        <p:nvCxnSpPr>
          <p:cNvPr id="47" name="Connector 47"/>
          <p:cNvCxnSpPr/>
          <p:nvPr/>
        </p:nvCxnSpPr>
        <p:spPr>
          <a:xfrm>
            <a:off x="552450" y="6419850"/>
            <a:ext cx="11087100" cy="0"/>
          </a:xfrm>
          <a:prstGeom prst="line">
            <a:avLst/>
          </a:prstGeom>
          <a:ln w="12700">
            <a:solidFill>
              <a:srgbClr val="BFC5CB"/>
            </a:solidFill>
          </a:ln>
        </p:spPr>
      </p:cxnSp>
      <p:sp>
        <p:nvSpPr>
          <p:cNvPr id="48" name="Text 48"/>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TECHNICAL APPENDIX</a:t>
            </a:r>
            <a:endParaRPr lang="en-US" sz="1000"/>
          </a:p>
        </p:txBody>
      </p:sp>
      <p:sp>
        <p:nvSpPr>
          <p:cNvPr id="49" name="Text 49"/>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G</a:t>
            </a:r>
            <a:endParaRPr lang="en-US"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txBox="1"/>
          <p:nvPr/>
        </p:nvSpPr>
        <p:spPr>
          <a:xfrm>
            <a:off x="571500" y="304800"/>
            <a:ext cx="11049000" cy="209550"/>
          </a:xfrm>
          <a:prstGeom prst="rect">
            <a:avLst/>
          </a:prstGeom>
          <a:noFill/>
          <a:ln>
            <a:noFill/>
          </a:ln>
        </p:spPr>
        <p:txBody>
          <a:bodyPr wrap="square" anchor="t" lIns="0" rIns="0" tIns="0" bIns="0"/>
          <a:lstStyle/>
          <a:p>
            <a:pPr algn="l"/>
            <a:r>
              <a:rPr lang="en-US" sz="1100" b="1" spc="180">
                <a:solidFill>
                  <a:srgbClr val="D71920"/>
                </a:solidFill>
                <a:latin typeface="Arial"/>
              </a:rPr>
              <a:t>APPENDIX H · VERIFICATION EVIDENCE</a:t>
            </a:r>
            <a:endParaRPr lang="en-US" sz="1100"/>
          </a:p>
        </p:txBody>
      </p:sp>
      <p:sp>
        <p:nvSpPr>
          <p:cNvPr id="3" name="Text 3"/>
          <p:cNvSpPr txBox="1"/>
          <p:nvPr/>
        </p:nvSpPr>
        <p:spPr>
          <a:xfrm>
            <a:off x="552450" y="552450"/>
            <a:ext cx="11087100" cy="781050"/>
          </a:xfrm>
          <a:prstGeom prst="rect">
            <a:avLst/>
          </a:prstGeom>
          <a:noFill/>
          <a:ln>
            <a:noFill/>
          </a:ln>
        </p:spPr>
        <p:txBody>
          <a:bodyPr wrap="square" anchor="ctr" lIns="0" rIns="0" tIns="0" bIns="0"/>
          <a:lstStyle/>
          <a:p>
            <a:pPr algn="l"/>
            <a:r>
              <a:rPr lang="en-US" sz="3000" b="1">
                <a:solidFill>
                  <a:srgbClr val="17212B"/>
                </a:solidFill>
                <a:latin typeface="Arial"/>
              </a:rPr>
              <a:t>Each behavior maps to the highest boundary that can prove it</a:t>
            </a:r>
            <a:endParaRPr lang="en-US" sz="3000"/>
          </a:p>
        </p:txBody>
      </p:sp>
      <p:sp>
        <p:nvSpPr>
          <p:cNvPr id="4" name="Text 4"/>
          <p:cNvSpPr txBox="1"/>
          <p:nvPr/>
        </p:nvSpPr>
        <p:spPr>
          <a:xfrm>
            <a:off x="666750" y="1562100"/>
            <a:ext cx="4095750" cy="209550"/>
          </a:xfrm>
          <a:prstGeom prst="rect">
            <a:avLst/>
          </a:prstGeom>
          <a:noFill/>
          <a:ln>
            <a:noFill/>
          </a:ln>
        </p:spPr>
        <p:txBody>
          <a:bodyPr wrap="square" anchor="t" lIns="0" rIns="0" tIns="0" bIns="0"/>
          <a:lstStyle/>
          <a:p>
            <a:pPr algn="l"/>
            <a:r>
              <a:rPr lang="en-US" sz="1100" b="1" spc="90">
                <a:solidFill>
                  <a:srgbClr val="5D6873"/>
                </a:solidFill>
                <a:latin typeface="Arial"/>
              </a:rPr>
              <a:t>REVIEWER-VISIBLE BEHAVIOR</a:t>
            </a:r>
            <a:endParaRPr lang="en-US" sz="1100"/>
          </a:p>
        </p:txBody>
      </p:sp>
      <p:sp>
        <p:nvSpPr>
          <p:cNvPr id="5" name="Text 5"/>
          <p:cNvSpPr txBox="1"/>
          <p:nvPr/>
        </p:nvSpPr>
        <p:spPr>
          <a:xfrm>
            <a:off x="6858000" y="1562100"/>
            <a:ext cx="4667250" cy="209550"/>
          </a:xfrm>
          <a:prstGeom prst="rect">
            <a:avLst/>
          </a:prstGeom>
          <a:noFill/>
          <a:ln>
            <a:noFill/>
          </a:ln>
        </p:spPr>
        <p:txBody>
          <a:bodyPr wrap="square" anchor="t" lIns="0" rIns="0" tIns="0" bIns="0"/>
          <a:lstStyle/>
          <a:p>
            <a:pPr algn="l"/>
            <a:r>
              <a:rPr lang="en-US" sz="1100" b="1" spc="90">
                <a:solidFill>
                  <a:srgbClr val="5D6873"/>
                </a:solidFill>
                <a:latin typeface="Arial"/>
              </a:rPr>
              <a:t>EVIDENCE BOUNDARY</a:t>
            </a:r>
            <a:endParaRPr lang="en-US" sz="1100"/>
          </a:p>
        </p:txBody>
      </p:sp>
      <p:sp>
        <p:nvSpPr>
          <p:cNvPr id="6" name="Shape 6"/>
          <p:cNvSpPr/>
          <p:nvPr/>
        </p:nvSpPr>
        <p:spPr>
          <a:xfrm>
            <a:off x="666750" y="1943100"/>
            <a:ext cx="4095750" cy="609600"/>
          </a:xfrm>
          <a:prstGeom prst="rect">
            <a:avLst/>
          </a:prstGeom>
          <a:solidFill>
            <a:srgbClr val="FFFFFF"/>
          </a:solidFill>
          <a:ln w="25400">
            <a:solidFill>
              <a:srgbClr val="D71920"/>
            </a:solidFill>
          </a:ln>
        </p:spPr>
      </p:sp>
      <p:sp>
        <p:nvSpPr>
          <p:cNvPr id="7" name="Shape 7"/>
          <p:cNvSpPr/>
          <p:nvPr/>
        </p:nvSpPr>
        <p:spPr>
          <a:xfrm>
            <a:off x="666750" y="1943100"/>
            <a:ext cx="76200" cy="609600"/>
          </a:xfrm>
          <a:prstGeom prst="rect">
            <a:avLst/>
          </a:prstGeom>
          <a:solidFill>
            <a:srgbClr val="D71920"/>
          </a:solidFill>
          <a:ln w="12700">
            <a:solidFill>
              <a:srgbClr val="D71920"/>
            </a:solidFill>
          </a:ln>
        </p:spPr>
      </p:sp>
      <p:sp>
        <p:nvSpPr>
          <p:cNvPr id="8" name="Shape 8"/>
          <p:cNvSpPr/>
          <p:nvPr/>
        </p:nvSpPr>
        <p:spPr>
          <a:xfrm>
            <a:off x="876300" y="2038350"/>
            <a:ext cx="419100" cy="419100"/>
          </a:xfrm>
          <a:prstGeom prst="roundRect">
            <a:avLst/>
          </a:prstGeom>
          <a:solidFill>
            <a:srgbClr val="F4F6F8"/>
          </a:solidFill>
          <a:ln w="19050">
            <a:solidFill>
              <a:srgbClr val="D71920"/>
            </a:solidFill>
          </a:ln>
        </p:spPr>
      </p:sp>
      <p:pic>
        <p:nvPicPr>
          <p:cNvPr id="9" name="Picture 9"/>
          <p:cNvPicPr>
            <a:picLocks noChangeAspect="1"/>
          </p:cNvPicPr>
          <p:nvPr/>
        </p:nvPicPr>
        <p:blipFill>
          <a:blip r:embed="rId2"/>
          <a:stretch>
            <a:fillRect/>
          </a:stretch>
        </p:blipFill>
        <p:spPr>
          <a:xfrm>
            <a:off x="981075" y="2143125"/>
            <a:ext cx="209550" cy="209550"/>
          </a:xfrm>
          <a:prstGeom prst="rect">
            <a:avLst/>
          </a:prstGeom>
          <a:ln>
            <a:noFill/>
          </a:ln>
        </p:spPr>
      </p:pic>
      <p:sp>
        <p:nvSpPr>
          <p:cNvPr id="10" name="Text 10"/>
          <p:cNvSpPr txBox="1"/>
          <p:nvPr/>
        </p:nvSpPr>
        <p:spPr>
          <a:xfrm>
            <a:off x="1447800" y="2057400"/>
            <a:ext cx="3086100" cy="381000"/>
          </a:xfrm>
          <a:prstGeom prst="rect">
            <a:avLst/>
          </a:prstGeom>
          <a:noFill/>
          <a:ln>
            <a:noFill/>
          </a:ln>
        </p:spPr>
        <p:txBody>
          <a:bodyPr wrap="square" anchor="ctr" lIns="0" rIns="0" tIns="0" bIns="0"/>
          <a:lstStyle/>
          <a:p>
            <a:pPr algn="l"/>
            <a:r>
              <a:rPr lang="en-US" sz="1400" b="1">
                <a:solidFill>
                  <a:srgbClr val="17212B"/>
                </a:solidFill>
                <a:latin typeface="Arial"/>
              </a:rPr>
              <a:t>Operator can log in and reopen history</a:t>
            </a:r>
            <a:endParaRPr lang="en-US" sz="1400"/>
          </a:p>
        </p:txBody>
      </p:sp>
      <p:cxnSp>
        <p:nvCxnSpPr>
          <p:cNvPr id="11" name="Connector 11"/>
          <p:cNvCxnSpPr/>
          <p:nvPr/>
        </p:nvCxnSpPr>
        <p:spPr>
          <a:xfrm>
            <a:off x="4762500" y="2247900"/>
            <a:ext cx="2095500" cy="0"/>
          </a:xfrm>
          <a:prstGeom prst="line">
            <a:avLst/>
          </a:prstGeom>
          <a:ln w="38100">
            <a:solidFill>
              <a:srgbClr val="D71920"/>
            </a:solidFill>
            <a:tailEnd type="triangle"/>
          </a:ln>
        </p:spPr>
      </p:cxnSp>
      <p:sp>
        <p:nvSpPr>
          <p:cNvPr id="12" name="Shape 12"/>
          <p:cNvSpPr/>
          <p:nvPr/>
        </p:nvSpPr>
        <p:spPr>
          <a:xfrm>
            <a:off x="6858000" y="1943100"/>
            <a:ext cx="4667250" cy="609600"/>
          </a:xfrm>
          <a:prstGeom prst="rect">
            <a:avLst/>
          </a:prstGeom>
          <a:solidFill>
            <a:srgbClr val="F4F6F8"/>
          </a:solidFill>
          <a:ln w="25400">
            <a:solidFill>
              <a:srgbClr val="D71920"/>
            </a:solidFill>
          </a:ln>
        </p:spPr>
      </p:sp>
      <p:sp>
        <p:nvSpPr>
          <p:cNvPr id="13" name="Shape 13"/>
          <p:cNvSpPr/>
          <p:nvPr/>
        </p:nvSpPr>
        <p:spPr>
          <a:xfrm>
            <a:off x="7067550" y="2038350"/>
            <a:ext cx="419100" cy="419100"/>
          </a:xfrm>
          <a:prstGeom prst="roundRect">
            <a:avLst/>
          </a:prstGeom>
          <a:solidFill>
            <a:srgbClr val="FFFFFF"/>
          </a:solidFill>
          <a:ln w="19050">
            <a:solidFill>
              <a:srgbClr val="D71920"/>
            </a:solidFill>
          </a:ln>
        </p:spPr>
      </p:sp>
      <p:pic>
        <p:nvPicPr>
          <p:cNvPr id="14" name="Picture 14"/>
          <p:cNvPicPr>
            <a:picLocks noChangeAspect="1"/>
          </p:cNvPicPr>
          <p:nvPr/>
        </p:nvPicPr>
        <p:blipFill>
          <a:blip r:embed="rId3"/>
          <a:stretch>
            <a:fillRect/>
          </a:stretch>
        </p:blipFill>
        <p:spPr>
          <a:xfrm>
            <a:off x="7172325" y="2143125"/>
            <a:ext cx="209550" cy="209550"/>
          </a:xfrm>
          <a:prstGeom prst="rect">
            <a:avLst/>
          </a:prstGeom>
          <a:ln>
            <a:noFill/>
          </a:ln>
        </p:spPr>
      </p:pic>
      <p:sp>
        <p:nvSpPr>
          <p:cNvPr id="15" name="Text 15"/>
          <p:cNvSpPr txBox="1"/>
          <p:nvPr/>
        </p:nvSpPr>
        <p:spPr>
          <a:xfrm>
            <a:off x="7639050" y="2057400"/>
            <a:ext cx="3638550" cy="381000"/>
          </a:xfrm>
          <a:prstGeom prst="rect">
            <a:avLst/>
          </a:prstGeom>
          <a:noFill/>
          <a:ln>
            <a:noFill/>
          </a:ln>
        </p:spPr>
        <p:txBody>
          <a:bodyPr wrap="square" anchor="ctr" lIns="0" rIns="0" tIns="0" bIns="0"/>
          <a:lstStyle/>
          <a:p>
            <a:pPr algn="l"/>
            <a:r>
              <a:rPr lang="en-US" sz="1400" b="1">
                <a:solidFill>
                  <a:srgbClr val="D71920"/>
                </a:solidFill>
                <a:latin typeface="Arial"/>
              </a:rPr>
              <a:t>Playwright against the packaged topology</a:t>
            </a:r>
            <a:endParaRPr lang="en-US" sz="1400"/>
          </a:p>
        </p:txBody>
      </p:sp>
      <p:sp>
        <p:nvSpPr>
          <p:cNvPr id="16" name="Shape 16"/>
          <p:cNvSpPr/>
          <p:nvPr/>
        </p:nvSpPr>
        <p:spPr>
          <a:xfrm>
            <a:off x="666750" y="2857500"/>
            <a:ext cx="4095750" cy="609600"/>
          </a:xfrm>
          <a:prstGeom prst="rect">
            <a:avLst/>
          </a:prstGeom>
          <a:solidFill>
            <a:srgbClr val="FFFFFF"/>
          </a:solidFill>
          <a:ln w="25400">
            <a:solidFill>
              <a:srgbClr val="1F7A5A"/>
            </a:solidFill>
          </a:ln>
        </p:spPr>
      </p:sp>
      <p:sp>
        <p:nvSpPr>
          <p:cNvPr id="17" name="Shape 17"/>
          <p:cNvSpPr/>
          <p:nvPr/>
        </p:nvSpPr>
        <p:spPr>
          <a:xfrm>
            <a:off x="666750" y="2857500"/>
            <a:ext cx="76200" cy="609600"/>
          </a:xfrm>
          <a:prstGeom prst="rect">
            <a:avLst/>
          </a:prstGeom>
          <a:solidFill>
            <a:srgbClr val="1F7A5A"/>
          </a:solidFill>
          <a:ln w="12700">
            <a:solidFill>
              <a:srgbClr val="1F7A5A"/>
            </a:solidFill>
          </a:ln>
        </p:spPr>
      </p:sp>
      <p:sp>
        <p:nvSpPr>
          <p:cNvPr id="18" name="Shape 18"/>
          <p:cNvSpPr/>
          <p:nvPr/>
        </p:nvSpPr>
        <p:spPr>
          <a:xfrm>
            <a:off x="876300" y="2952750"/>
            <a:ext cx="419100" cy="419100"/>
          </a:xfrm>
          <a:prstGeom prst="roundRect">
            <a:avLst/>
          </a:prstGeom>
          <a:solidFill>
            <a:srgbClr val="F4F6F8"/>
          </a:solidFill>
          <a:ln w="19050">
            <a:solidFill>
              <a:srgbClr val="1F7A5A"/>
            </a:solidFill>
          </a:ln>
        </p:spPr>
      </p:sp>
      <p:pic>
        <p:nvPicPr>
          <p:cNvPr id="19" name="Picture 19"/>
          <p:cNvPicPr>
            <a:picLocks noChangeAspect="1"/>
          </p:cNvPicPr>
          <p:nvPr/>
        </p:nvPicPr>
        <p:blipFill>
          <a:blip r:embed="rId4"/>
          <a:stretch>
            <a:fillRect/>
          </a:stretch>
        </p:blipFill>
        <p:spPr>
          <a:xfrm>
            <a:off x="981075" y="3057525"/>
            <a:ext cx="209550" cy="209550"/>
          </a:xfrm>
          <a:prstGeom prst="rect">
            <a:avLst/>
          </a:prstGeom>
          <a:ln>
            <a:noFill/>
          </a:ln>
        </p:spPr>
      </p:pic>
      <p:sp>
        <p:nvSpPr>
          <p:cNvPr id="20" name="Text 20"/>
          <p:cNvSpPr txBox="1"/>
          <p:nvPr/>
        </p:nvSpPr>
        <p:spPr>
          <a:xfrm>
            <a:off x="1447800" y="2971800"/>
            <a:ext cx="3086100" cy="381000"/>
          </a:xfrm>
          <a:prstGeom prst="rect">
            <a:avLst/>
          </a:prstGeom>
          <a:noFill/>
          <a:ln>
            <a:noFill/>
          </a:ln>
        </p:spPr>
        <p:txBody>
          <a:bodyPr wrap="square" anchor="ctr" lIns="0" rIns="0" tIns="0" bIns="0"/>
          <a:lstStyle/>
          <a:p>
            <a:pPr algn="l"/>
            <a:r>
              <a:rPr lang="en-US" sz="1400" b="1">
                <a:solidFill>
                  <a:srgbClr val="17212B"/>
                </a:solidFill>
                <a:latin typeface="Arial"/>
              </a:rPr>
              <a:t>Retrieved policy chunks remain attributable</a:t>
            </a:r>
            <a:endParaRPr lang="en-US" sz="1400"/>
          </a:p>
        </p:txBody>
      </p:sp>
      <p:cxnSp>
        <p:nvCxnSpPr>
          <p:cNvPr id="21" name="Connector 21"/>
          <p:cNvCxnSpPr/>
          <p:nvPr/>
        </p:nvCxnSpPr>
        <p:spPr>
          <a:xfrm>
            <a:off x="4762500" y="3162300"/>
            <a:ext cx="2095500" cy="0"/>
          </a:xfrm>
          <a:prstGeom prst="line">
            <a:avLst/>
          </a:prstGeom>
          <a:ln w="38100">
            <a:solidFill>
              <a:srgbClr val="1F7A5A"/>
            </a:solidFill>
            <a:tailEnd type="triangle"/>
          </a:ln>
        </p:spPr>
      </p:cxnSp>
      <p:sp>
        <p:nvSpPr>
          <p:cNvPr id="22" name="Shape 22"/>
          <p:cNvSpPr/>
          <p:nvPr/>
        </p:nvSpPr>
        <p:spPr>
          <a:xfrm>
            <a:off x="6858000" y="2857500"/>
            <a:ext cx="4667250" cy="609600"/>
          </a:xfrm>
          <a:prstGeom prst="rect">
            <a:avLst/>
          </a:prstGeom>
          <a:solidFill>
            <a:srgbClr val="F4F6F8"/>
          </a:solidFill>
          <a:ln w="25400">
            <a:solidFill>
              <a:srgbClr val="1F7A5A"/>
            </a:solidFill>
          </a:ln>
        </p:spPr>
      </p:sp>
      <p:sp>
        <p:nvSpPr>
          <p:cNvPr id="23" name="Shape 23"/>
          <p:cNvSpPr/>
          <p:nvPr/>
        </p:nvSpPr>
        <p:spPr>
          <a:xfrm>
            <a:off x="7067550" y="2952750"/>
            <a:ext cx="419100" cy="419100"/>
          </a:xfrm>
          <a:prstGeom prst="roundRect">
            <a:avLst/>
          </a:prstGeom>
          <a:solidFill>
            <a:srgbClr val="FFFFFF"/>
          </a:solidFill>
          <a:ln w="19050">
            <a:solidFill>
              <a:srgbClr val="1F7A5A"/>
            </a:solidFill>
          </a:ln>
        </p:spPr>
      </p:sp>
      <p:pic>
        <p:nvPicPr>
          <p:cNvPr id="24" name="Picture 24"/>
          <p:cNvPicPr>
            <a:picLocks noChangeAspect="1"/>
          </p:cNvPicPr>
          <p:nvPr/>
        </p:nvPicPr>
        <p:blipFill>
          <a:blip r:embed="rId5"/>
          <a:stretch>
            <a:fillRect/>
          </a:stretch>
        </p:blipFill>
        <p:spPr>
          <a:xfrm>
            <a:off x="7172325" y="3057525"/>
            <a:ext cx="209550" cy="209550"/>
          </a:xfrm>
          <a:prstGeom prst="rect">
            <a:avLst/>
          </a:prstGeom>
          <a:ln>
            <a:noFill/>
          </a:ln>
        </p:spPr>
      </p:pic>
      <p:sp>
        <p:nvSpPr>
          <p:cNvPr id="25" name="Text 25"/>
          <p:cNvSpPr txBox="1"/>
          <p:nvPr/>
        </p:nvSpPr>
        <p:spPr>
          <a:xfrm>
            <a:off x="7639050" y="2971800"/>
            <a:ext cx="3638550" cy="381000"/>
          </a:xfrm>
          <a:prstGeom prst="rect">
            <a:avLst/>
          </a:prstGeom>
          <a:noFill/>
          <a:ln>
            <a:noFill/>
          </a:ln>
        </p:spPr>
        <p:txBody>
          <a:bodyPr wrap="square" anchor="ctr" lIns="0" rIns="0" tIns="0" bIns="0"/>
          <a:lstStyle/>
          <a:p>
            <a:pPr algn="l"/>
            <a:r>
              <a:rPr lang="en-US" sz="1400" b="1">
                <a:solidFill>
                  <a:srgbClr val="1F7A5A"/>
                </a:solidFill>
                <a:latin typeface="Arial"/>
              </a:rPr>
              <a:t>PostgreSQL and pgvector integration</a:t>
            </a:r>
            <a:endParaRPr lang="en-US" sz="1400"/>
          </a:p>
        </p:txBody>
      </p:sp>
      <p:sp>
        <p:nvSpPr>
          <p:cNvPr id="26" name="Shape 26"/>
          <p:cNvSpPr/>
          <p:nvPr/>
        </p:nvSpPr>
        <p:spPr>
          <a:xfrm>
            <a:off x="666750" y="3771900"/>
            <a:ext cx="4095750" cy="609600"/>
          </a:xfrm>
          <a:prstGeom prst="rect">
            <a:avLst/>
          </a:prstGeom>
          <a:solidFill>
            <a:srgbClr val="FFFFFF"/>
          </a:solidFill>
          <a:ln w="25400">
            <a:solidFill>
              <a:srgbClr val="2A5B84"/>
            </a:solidFill>
          </a:ln>
        </p:spPr>
      </p:sp>
      <p:sp>
        <p:nvSpPr>
          <p:cNvPr id="27" name="Shape 27"/>
          <p:cNvSpPr/>
          <p:nvPr/>
        </p:nvSpPr>
        <p:spPr>
          <a:xfrm>
            <a:off x="666750" y="3771900"/>
            <a:ext cx="76200" cy="609600"/>
          </a:xfrm>
          <a:prstGeom prst="rect">
            <a:avLst/>
          </a:prstGeom>
          <a:solidFill>
            <a:srgbClr val="2A5B84"/>
          </a:solidFill>
          <a:ln w="12700">
            <a:solidFill>
              <a:srgbClr val="2A5B84"/>
            </a:solidFill>
          </a:ln>
        </p:spPr>
      </p:sp>
      <p:sp>
        <p:nvSpPr>
          <p:cNvPr id="28" name="Shape 28"/>
          <p:cNvSpPr/>
          <p:nvPr/>
        </p:nvSpPr>
        <p:spPr>
          <a:xfrm>
            <a:off x="876300" y="3867150"/>
            <a:ext cx="419100" cy="419100"/>
          </a:xfrm>
          <a:prstGeom prst="roundRect">
            <a:avLst/>
          </a:prstGeom>
          <a:solidFill>
            <a:srgbClr val="F4F6F8"/>
          </a:solidFill>
          <a:ln w="19050">
            <a:solidFill>
              <a:srgbClr val="2A5B84"/>
            </a:solidFill>
          </a:ln>
        </p:spPr>
      </p:sp>
      <p:pic>
        <p:nvPicPr>
          <p:cNvPr id="29" name="Picture 29"/>
          <p:cNvPicPr>
            <a:picLocks noChangeAspect="1"/>
          </p:cNvPicPr>
          <p:nvPr/>
        </p:nvPicPr>
        <p:blipFill>
          <a:blip r:embed="rId6"/>
          <a:stretch>
            <a:fillRect/>
          </a:stretch>
        </p:blipFill>
        <p:spPr>
          <a:xfrm>
            <a:off x="981075" y="3971925"/>
            <a:ext cx="209550" cy="209550"/>
          </a:xfrm>
          <a:prstGeom prst="rect">
            <a:avLst/>
          </a:prstGeom>
          <a:ln>
            <a:noFill/>
          </a:ln>
        </p:spPr>
      </p:pic>
      <p:sp>
        <p:nvSpPr>
          <p:cNvPr id="30" name="Text 30"/>
          <p:cNvSpPr txBox="1"/>
          <p:nvPr/>
        </p:nvSpPr>
        <p:spPr>
          <a:xfrm>
            <a:off x="1447800" y="3886200"/>
            <a:ext cx="3086100" cy="381000"/>
          </a:xfrm>
          <a:prstGeom prst="rect">
            <a:avLst/>
          </a:prstGeom>
          <a:noFill/>
          <a:ln>
            <a:noFill/>
          </a:ln>
        </p:spPr>
        <p:txBody>
          <a:bodyPr wrap="square" anchor="ctr" lIns="0" rIns="0" tIns="0" bIns="0"/>
          <a:lstStyle/>
          <a:p>
            <a:pPr algn="l"/>
            <a:r>
              <a:rPr lang="en-US" sz="1400" b="1">
                <a:solidFill>
                  <a:srgbClr val="17212B"/>
                </a:solidFill>
                <a:latin typeface="Arial"/>
              </a:rPr>
              <a:t>Adapters preserve the application contract</a:t>
            </a:r>
            <a:endParaRPr lang="en-US" sz="1400"/>
          </a:p>
        </p:txBody>
      </p:sp>
      <p:cxnSp>
        <p:nvCxnSpPr>
          <p:cNvPr id="31" name="Connector 31"/>
          <p:cNvCxnSpPr/>
          <p:nvPr/>
        </p:nvCxnSpPr>
        <p:spPr>
          <a:xfrm>
            <a:off x="4762500" y="4076700"/>
            <a:ext cx="2095500" cy="0"/>
          </a:xfrm>
          <a:prstGeom prst="line">
            <a:avLst/>
          </a:prstGeom>
          <a:ln w="38100">
            <a:solidFill>
              <a:srgbClr val="2A5B84"/>
            </a:solidFill>
            <a:tailEnd type="triangle"/>
          </a:ln>
        </p:spPr>
      </p:cxnSp>
      <p:sp>
        <p:nvSpPr>
          <p:cNvPr id="32" name="Shape 32"/>
          <p:cNvSpPr/>
          <p:nvPr/>
        </p:nvSpPr>
        <p:spPr>
          <a:xfrm>
            <a:off x="6858000" y="3771900"/>
            <a:ext cx="4667250" cy="609600"/>
          </a:xfrm>
          <a:prstGeom prst="rect">
            <a:avLst/>
          </a:prstGeom>
          <a:solidFill>
            <a:srgbClr val="F4F6F8"/>
          </a:solidFill>
          <a:ln w="25400">
            <a:solidFill>
              <a:srgbClr val="2A5B84"/>
            </a:solidFill>
          </a:ln>
        </p:spPr>
      </p:sp>
      <p:sp>
        <p:nvSpPr>
          <p:cNvPr id="33" name="Shape 33"/>
          <p:cNvSpPr/>
          <p:nvPr/>
        </p:nvSpPr>
        <p:spPr>
          <a:xfrm>
            <a:off x="7067550" y="3867150"/>
            <a:ext cx="419100" cy="419100"/>
          </a:xfrm>
          <a:prstGeom prst="roundRect">
            <a:avLst/>
          </a:prstGeom>
          <a:solidFill>
            <a:srgbClr val="FFFFFF"/>
          </a:solidFill>
          <a:ln w="19050">
            <a:solidFill>
              <a:srgbClr val="2A5B84"/>
            </a:solidFill>
          </a:ln>
        </p:spPr>
      </p:sp>
      <p:pic>
        <p:nvPicPr>
          <p:cNvPr id="34" name="Picture 34"/>
          <p:cNvPicPr>
            <a:picLocks noChangeAspect="1"/>
          </p:cNvPicPr>
          <p:nvPr/>
        </p:nvPicPr>
        <p:blipFill>
          <a:blip r:embed="rId7"/>
          <a:stretch>
            <a:fillRect/>
          </a:stretch>
        </p:blipFill>
        <p:spPr>
          <a:xfrm>
            <a:off x="7172325" y="3971925"/>
            <a:ext cx="209550" cy="209550"/>
          </a:xfrm>
          <a:prstGeom prst="rect">
            <a:avLst/>
          </a:prstGeom>
          <a:ln>
            <a:noFill/>
          </a:ln>
        </p:spPr>
      </p:pic>
      <p:sp>
        <p:nvSpPr>
          <p:cNvPr id="35" name="Text 35"/>
          <p:cNvSpPr txBox="1"/>
          <p:nvPr/>
        </p:nvSpPr>
        <p:spPr>
          <a:xfrm>
            <a:off x="7639050" y="3886200"/>
            <a:ext cx="3638550" cy="381000"/>
          </a:xfrm>
          <a:prstGeom prst="rect">
            <a:avLst/>
          </a:prstGeom>
          <a:noFill/>
          <a:ln>
            <a:noFill/>
          </a:ln>
        </p:spPr>
        <p:txBody>
          <a:bodyPr wrap="square" anchor="ctr" lIns="0" rIns="0" tIns="0" bIns="0"/>
          <a:lstStyle/>
          <a:p>
            <a:pPr algn="l"/>
            <a:r>
              <a:rPr lang="en-US" sz="1400" b="1">
                <a:solidFill>
                  <a:srgbClr val="2A5B84"/>
                </a:solidFill>
                <a:latin typeface="Arial"/>
              </a:rPr>
              <a:t>Port contract tests across substitutions</a:t>
            </a:r>
            <a:endParaRPr lang="en-US" sz="1400"/>
          </a:p>
        </p:txBody>
      </p:sp>
      <p:sp>
        <p:nvSpPr>
          <p:cNvPr id="36" name="Shape 36"/>
          <p:cNvSpPr/>
          <p:nvPr/>
        </p:nvSpPr>
        <p:spPr>
          <a:xfrm>
            <a:off x="666750" y="4686300"/>
            <a:ext cx="4095750" cy="609600"/>
          </a:xfrm>
          <a:prstGeom prst="rect">
            <a:avLst/>
          </a:prstGeom>
          <a:solidFill>
            <a:srgbClr val="FFFFFF"/>
          </a:solidFill>
          <a:ln w="25400">
            <a:solidFill>
              <a:srgbClr val="17212B"/>
            </a:solidFill>
          </a:ln>
        </p:spPr>
      </p:sp>
      <p:sp>
        <p:nvSpPr>
          <p:cNvPr id="37" name="Shape 37"/>
          <p:cNvSpPr/>
          <p:nvPr/>
        </p:nvSpPr>
        <p:spPr>
          <a:xfrm>
            <a:off x="666750" y="4686300"/>
            <a:ext cx="76200" cy="609600"/>
          </a:xfrm>
          <a:prstGeom prst="rect">
            <a:avLst/>
          </a:prstGeom>
          <a:solidFill>
            <a:srgbClr val="17212B"/>
          </a:solidFill>
          <a:ln w="12700">
            <a:solidFill>
              <a:srgbClr val="17212B"/>
            </a:solidFill>
          </a:ln>
        </p:spPr>
      </p:sp>
      <p:sp>
        <p:nvSpPr>
          <p:cNvPr id="38" name="Shape 38"/>
          <p:cNvSpPr/>
          <p:nvPr/>
        </p:nvSpPr>
        <p:spPr>
          <a:xfrm>
            <a:off x="876300" y="4781550"/>
            <a:ext cx="419100" cy="419100"/>
          </a:xfrm>
          <a:prstGeom prst="roundRect">
            <a:avLst/>
          </a:prstGeom>
          <a:solidFill>
            <a:srgbClr val="F4F6F8"/>
          </a:solidFill>
          <a:ln w="19050">
            <a:solidFill>
              <a:srgbClr val="17212B"/>
            </a:solidFill>
          </a:ln>
        </p:spPr>
      </p:sp>
      <p:pic>
        <p:nvPicPr>
          <p:cNvPr id="39" name="Picture 39"/>
          <p:cNvPicPr>
            <a:picLocks noChangeAspect="1"/>
          </p:cNvPicPr>
          <p:nvPr/>
        </p:nvPicPr>
        <p:blipFill>
          <a:blip r:embed="rId8"/>
          <a:stretch>
            <a:fillRect/>
          </a:stretch>
        </p:blipFill>
        <p:spPr>
          <a:xfrm>
            <a:off x="981075" y="4886325"/>
            <a:ext cx="209550" cy="209550"/>
          </a:xfrm>
          <a:prstGeom prst="rect">
            <a:avLst/>
          </a:prstGeom>
          <a:ln>
            <a:noFill/>
          </a:ln>
        </p:spPr>
      </p:pic>
      <p:sp>
        <p:nvSpPr>
          <p:cNvPr id="40" name="Text 40"/>
          <p:cNvSpPr txBox="1"/>
          <p:nvPr/>
        </p:nvSpPr>
        <p:spPr>
          <a:xfrm>
            <a:off x="1447800" y="4800600"/>
            <a:ext cx="3086100" cy="381000"/>
          </a:xfrm>
          <a:prstGeom prst="rect">
            <a:avLst/>
          </a:prstGeom>
          <a:noFill/>
          <a:ln>
            <a:noFill/>
          </a:ln>
        </p:spPr>
        <p:txBody>
          <a:bodyPr wrap="square" anchor="ctr" lIns="0" rIns="0" tIns="0" bIns="0"/>
          <a:lstStyle/>
          <a:p>
            <a:pPr algn="l"/>
            <a:r>
              <a:rPr lang="en-US" sz="1400" b="1">
                <a:solidFill>
                  <a:srgbClr val="17212B"/>
                </a:solidFill>
                <a:latin typeface="Arial"/>
              </a:rPr>
              <a:t>Scores remain bounded and repeatable</a:t>
            </a:r>
            <a:endParaRPr lang="en-US" sz="1400"/>
          </a:p>
        </p:txBody>
      </p:sp>
      <p:cxnSp>
        <p:nvCxnSpPr>
          <p:cNvPr id="41" name="Connector 41"/>
          <p:cNvCxnSpPr/>
          <p:nvPr/>
        </p:nvCxnSpPr>
        <p:spPr>
          <a:xfrm>
            <a:off x="4762500" y="4991100"/>
            <a:ext cx="2095500" cy="0"/>
          </a:xfrm>
          <a:prstGeom prst="line">
            <a:avLst/>
          </a:prstGeom>
          <a:ln w="38100">
            <a:solidFill>
              <a:srgbClr val="17212B"/>
            </a:solidFill>
            <a:tailEnd type="triangle"/>
          </a:ln>
        </p:spPr>
      </p:cxnSp>
      <p:sp>
        <p:nvSpPr>
          <p:cNvPr id="42" name="Shape 42"/>
          <p:cNvSpPr/>
          <p:nvPr/>
        </p:nvSpPr>
        <p:spPr>
          <a:xfrm>
            <a:off x="6858000" y="4686300"/>
            <a:ext cx="4667250" cy="609600"/>
          </a:xfrm>
          <a:prstGeom prst="rect">
            <a:avLst/>
          </a:prstGeom>
          <a:solidFill>
            <a:srgbClr val="F4F6F8"/>
          </a:solidFill>
          <a:ln w="25400">
            <a:solidFill>
              <a:srgbClr val="17212B"/>
            </a:solidFill>
          </a:ln>
        </p:spPr>
      </p:sp>
      <p:sp>
        <p:nvSpPr>
          <p:cNvPr id="43" name="Shape 43"/>
          <p:cNvSpPr/>
          <p:nvPr/>
        </p:nvSpPr>
        <p:spPr>
          <a:xfrm>
            <a:off x="7067550" y="4781550"/>
            <a:ext cx="419100" cy="419100"/>
          </a:xfrm>
          <a:prstGeom prst="roundRect">
            <a:avLst/>
          </a:prstGeom>
          <a:solidFill>
            <a:srgbClr val="FFFFFF"/>
          </a:solidFill>
          <a:ln w="19050">
            <a:solidFill>
              <a:srgbClr val="17212B"/>
            </a:solidFill>
          </a:ln>
        </p:spPr>
      </p:sp>
      <p:pic>
        <p:nvPicPr>
          <p:cNvPr id="44" name="Picture 44"/>
          <p:cNvPicPr>
            <a:picLocks noChangeAspect="1"/>
          </p:cNvPicPr>
          <p:nvPr/>
        </p:nvPicPr>
        <p:blipFill>
          <a:blip r:embed="rId9"/>
          <a:stretch>
            <a:fillRect/>
          </a:stretch>
        </p:blipFill>
        <p:spPr>
          <a:xfrm>
            <a:off x="7172325" y="4886325"/>
            <a:ext cx="209550" cy="209550"/>
          </a:xfrm>
          <a:prstGeom prst="rect">
            <a:avLst/>
          </a:prstGeom>
          <a:ln>
            <a:noFill/>
          </a:ln>
        </p:spPr>
      </p:pic>
      <p:sp>
        <p:nvSpPr>
          <p:cNvPr id="45" name="Text 45"/>
          <p:cNvSpPr txBox="1"/>
          <p:nvPr/>
        </p:nvSpPr>
        <p:spPr>
          <a:xfrm>
            <a:off x="7639050" y="4800600"/>
            <a:ext cx="3638550" cy="381000"/>
          </a:xfrm>
          <a:prstGeom prst="rect">
            <a:avLst/>
          </a:prstGeom>
          <a:noFill/>
          <a:ln>
            <a:noFill/>
          </a:ln>
        </p:spPr>
        <p:txBody>
          <a:bodyPr wrap="square" anchor="ctr" lIns="0" rIns="0" tIns="0" bIns="0"/>
          <a:lstStyle/>
          <a:p>
            <a:pPr algn="l"/>
            <a:r>
              <a:rPr lang="en-US" sz="1400" b="1">
                <a:solidFill>
                  <a:srgbClr val="17212B"/>
                </a:solidFill>
                <a:latin typeface="Arial"/>
              </a:rPr>
              <a:t>Unit and property tests</a:t>
            </a:r>
            <a:endParaRPr lang="en-US" sz="1400"/>
          </a:p>
        </p:txBody>
      </p:sp>
      <p:sp>
        <p:nvSpPr>
          <p:cNvPr id="46" name="Shape 46"/>
          <p:cNvSpPr/>
          <p:nvPr/>
        </p:nvSpPr>
        <p:spPr>
          <a:xfrm>
            <a:off x="1524000" y="5695950"/>
            <a:ext cx="9144000" cy="457200"/>
          </a:xfrm>
          <a:prstGeom prst="rect">
            <a:avLst/>
          </a:prstGeom>
          <a:solidFill>
            <a:srgbClr val="FFFFFF"/>
          </a:solidFill>
          <a:ln w="12700">
            <a:solidFill>
              <a:srgbClr val="D9DEE3"/>
            </a:solidFill>
          </a:ln>
        </p:spPr>
      </p:sp>
      <p:sp>
        <p:nvSpPr>
          <p:cNvPr id="47" name="Text 47"/>
          <p:cNvSpPr txBox="1"/>
          <p:nvPr/>
        </p:nvSpPr>
        <p:spPr>
          <a:xfrm>
            <a:off x="1733550" y="5810250"/>
            <a:ext cx="8724900" cy="228600"/>
          </a:xfrm>
          <a:prstGeom prst="rect">
            <a:avLst/>
          </a:prstGeom>
          <a:noFill/>
          <a:ln>
            <a:noFill/>
          </a:ln>
        </p:spPr>
        <p:txBody>
          <a:bodyPr wrap="square" anchor="t" lIns="0" rIns="0" tIns="0" bIns="0"/>
          <a:lstStyle/>
          <a:p>
            <a:pPr algn="ctr"/>
            <a:r>
              <a:rPr lang="en-US" sz="1300" b="1">
                <a:solidFill>
                  <a:srgbClr val="981B1E"/>
                </a:solidFill>
                <a:latin typeface="Arial"/>
              </a:rPr>
              <a:t>Traceability: SRS and design IDs, test markers, workflow artifact and exact source SHA</a:t>
            </a:r>
            <a:endParaRPr lang="en-US" sz="1300"/>
          </a:p>
        </p:txBody>
      </p:sp>
      <p:cxnSp>
        <p:nvCxnSpPr>
          <p:cNvPr id="48" name="Connector 48"/>
          <p:cNvCxnSpPr/>
          <p:nvPr/>
        </p:nvCxnSpPr>
        <p:spPr>
          <a:xfrm>
            <a:off x="552450" y="6419850"/>
            <a:ext cx="11087100" cy="0"/>
          </a:xfrm>
          <a:prstGeom prst="line">
            <a:avLst/>
          </a:prstGeom>
          <a:ln w="12700">
            <a:solidFill>
              <a:srgbClr val="BFC5CB"/>
            </a:solidFill>
          </a:ln>
        </p:spPr>
      </p:cxnSp>
      <p:sp>
        <p:nvSpPr>
          <p:cNvPr id="49" name="Text 49"/>
          <p:cNvSpPr txBox="1"/>
          <p:nvPr/>
        </p:nvSpPr>
        <p:spPr>
          <a:xfrm>
            <a:off x="571500" y="6496050"/>
            <a:ext cx="4953000" cy="171450"/>
          </a:xfrm>
          <a:prstGeom prst="rect">
            <a:avLst/>
          </a:prstGeom>
          <a:noFill/>
          <a:ln>
            <a:noFill/>
          </a:ln>
        </p:spPr>
        <p:txBody>
          <a:bodyPr wrap="square" anchor="t" lIns="0" rIns="0" tIns="0" bIns="0"/>
          <a:lstStyle/>
          <a:p>
            <a:pPr algn="l"/>
            <a:r>
              <a:rPr lang="en-US" sz="1000" b="1" spc="120">
                <a:solidFill>
                  <a:srgbClr val="5D6873"/>
                </a:solidFill>
                <a:latin typeface="Arial"/>
              </a:rPr>
              <a:t>TECHNICAL APPENDIX</a:t>
            </a:r>
            <a:endParaRPr lang="en-US" sz="1000"/>
          </a:p>
        </p:txBody>
      </p:sp>
      <p:sp>
        <p:nvSpPr>
          <p:cNvPr id="50" name="Text 50"/>
          <p:cNvSpPr txBox="1"/>
          <p:nvPr/>
        </p:nvSpPr>
        <p:spPr>
          <a:xfrm>
            <a:off x="11049000" y="6496050"/>
            <a:ext cx="571500" cy="171450"/>
          </a:xfrm>
          <a:prstGeom prst="rect">
            <a:avLst/>
          </a:prstGeom>
          <a:noFill/>
          <a:ln>
            <a:noFill/>
          </a:ln>
        </p:spPr>
        <p:txBody>
          <a:bodyPr wrap="square" anchor="t" lIns="0" rIns="0" tIns="0" bIns="0"/>
          <a:lstStyle/>
          <a:p>
            <a:pPr algn="r"/>
            <a:r>
              <a:rPr lang="en-US" sz="1000" b="0">
                <a:solidFill>
                  <a:srgbClr val="5D6873"/>
                </a:solidFill>
                <a:latin typeface="Arial"/>
              </a:rPr>
              <a:t>H</a:t>
            </a:r>
            <a:endParaRPr lang="en-US" sz="1000"/>
          </a:p>
        </p:txBody>
      </p:sp>
    </p:spTree>
  </p:cSld>
  <p:clrMapOvr>
    <a:masterClrMapping/>
  </p:clrMapOvr>
</p:sld>
</file>

<file path=ppt/theme/theme1.xml><?xml version="1.0" encoding="utf-8"?>
<a:theme xmlns:a="http://schemas.openxmlformats.org/drawingml/2006/main" name="SpecGraph">
  <a:themeElements>
    <a:clrScheme name="SpecGraph">
      <a:dk1>
        <a:srgbClr val="101820"/>
      </a:dk1>
      <a:lt1>
        <a:srgbClr val="FFFFFF"/>
      </a:lt1>
      <a:dk2>
        <a:srgbClr val="17212B"/>
      </a:dk2>
      <a:lt2>
        <a:srgbClr val="F4F6F8"/>
      </a:lt2>
      <a:accent1>
        <a:srgbClr val="D71920"/>
      </a:accent1>
      <a:accent2>
        <a:srgbClr val="2A5B84"/>
      </a:accent2>
      <a:accent3>
        <a:srgbClr val="1F7A5A"/>
      </a:accent3>
      <a:accent4>
        <a:srgbClr val="B46B13"/>
      </a:accent4>
      <a:accent5>
        <a:srgbClr val="667984"/>
      </a:accent5>
      <a:accent6>
        <a:srgbClr val="977176"/>
      </a:accent6>
      <a:hlink>
        <a:srgbClr val="0563C1"/>
      </a:hlink>
      <a:folHlink>
        <a:srgbClr val="954F72"/>
      </a:folHlink>
    </a:clrScheme>
    <a:fontScheme name="Arial">
      <a:majorFont>
        <a:latin typeface="Arial"/>
        <a:ea typeface=""/>
        <a:cs typeface=""/>
      </a:majorFont>
      <a:minorFont>
        <a:latin typeface="Arial"/>
        <a:ea typeface=""/>
        <a:cs typeface=""/>
      </a:minorFont>
    </a:fontScheme>
    <a:fmtScheme name="SpecGraph">
      <a:fillStyleLst>
        <a:solidFill>
          <a:srgbClr val="D71920"/>
        </a:solidFill>
        <a:solidFill>
          <a:srgbClr val="17212B"/>
        </a:solidFill>
        <a:solidFill>
          <a:srgbClr val="F4F6F8"/>
        </a:solidFill>
      </a:fillStyleLst>
      <a:lnStyleLst>
        <a:ln w="12700">
          <a:solidFill>
            <a:srgbClr val="17212B"/>
          </a:solidFill>
        </a:ln>
        <a:ln w="25400">
          <a:solidFill>
            <a:srgbClr val="D71920"/>
          </a:solidFill>
        </a:ln>
        <a:ln w="12700">
          <a:solidFill>
            <a:srgbClr val="D9DEE3"/>
          </a:solidFill>
        </a:ln>
      </a:lnStyleLst>
      <a:effectStyleLst>
        <a:effectStyle>
          <a:effectLst/>
        </a:effectStyle>
        <a:effectStyle>
          <a:effectLst/>
        </a:effectStyle>
        <a:effectStyle>
          <a:effectLst/>
        </a:effectStyle>
      </a:effectStyleLst>
      <a:bgFillStyleLst>
        <a:solidFill>
          <a:srgbClr val="FFFFFF"/>
        </a:solidFill>
        <a:solidFill>
          <a:srgbClr val="F4F6F8"/>
        </a:solidFill>
        <a:solidFill>
          <a:srgbClr val="101820"/>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22</Slides>
  <Notes>22</Notes>
  <Company/>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Activity Analytics</dc:title>
  <dc:subject>Swissquote pilot presentation</dc:subject>
  <dc:creator>Nicolas Cazin</dc:creator>
  <cp:keywords>SpecGraph; reviewable AI engineering; GitHub control plane</cp:keywords>
  <dc:description>Working presentation deck with speaker guardrails and technical appendix.</dc:description>
  <cp:lastModifiedBy>Nicolas Cazin</cp:lastModifiedBy>
  <dcterms:created xsi:type="dcterms:W3CDTF">2026-09-04T08:00:00Z</dcterms:created>
  <dcterms:modified xsi:type="dcterms:W3CDTF">2026-09-04T08:00:00Z</dcterms:modified>
</cp:coreProperties>
</file>